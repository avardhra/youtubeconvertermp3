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49"/>
  </p:notesMasterIdLst>
  <p:sldIdLst>
    <p:sldId id="256" r:id="rId2"/>
    <p:sldId id="257" r:id="rId3"/>
    <p:sldId id="261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26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336" r:id="rId43"/>
    <p:sldId id="337" r:id="rId44"/>
    <p:sldId id="338" r:id="rId45"/>
    <p:sldId id="339" r:id="rId46"/>
    <p:sldId id="340" r:id="rId47"/>
    <p:sldId id="341" r:id="rId48"/>
  </p:sldIdLst>
  <p:sldSz cx="9144000" cy="5143500" type="screen16x9"/>
  <p:notesSz cx="6858000" cy="9144000"/>
  <p:embeddedFontLst>
    <p:embeddedFont>
      <p:font typeface="Hanken Grotesk" pitchFamily="2" charset="77"/>
      <p:regular r:id="rId50"/>
      <p:bold r:id="rId51"/>
      <p:italic r:id="rId52"/>
      <p:boldItalic r:id="rId53"/>
    </p:embeddedFont>
    <p:embeddedFont>
      <p:font typeface="Raleway Black" pitchFamily="2" charset="77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DC9C12-13C3-427B-B50E-1C3D4F8C5AD2}">
  <a:tblStyle styleId="{41DC9C12-13C3-427B-B50E-1C3D4F8C5A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BF4544-FA5A-43D9-B672-1B4FEF5A12F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7823" autoAdjust="0"/>
  </p:normalViewPr>
  <p:slideViewPr>
    <p:cSldViewPr snapToGrid="0">
      <p:cViewPr varScale="1">
        <p:scale>
          <a:sx n="107" d="100"/>
          <a:sy n="107" d="100"/>
        </p:scale>
        <p:origin x="2208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Data </a:t>
            </a:r>
            <a:r>
              <a:rPr lang="en-US" dirty="0" err="1"/>
              <a:t>terstruktur</a:t>
            </a:r>
            <a:r>
              <a:rPr lang="en-US" dirty="0"/>
              <a:t>: </a:t>
            </a:r>
            <a:r>
              <a:rPr lang="en-ID" dirty="0"/>
              <a:t>data yang </a:t>
            </a:r>
            <a:r>
              <a:rPr lang="en-ID" dirty="0" err="1"/>
              <a:t>memiliki</a:t>
            </a:r>
            <a:r>
              <a:rPr lang="en-ID" dirty="0"/>
              <a:t> format dan </a:t>
            </a:r>
            <a:r>
              <a:rPr lang="en-ID" dirty="0" err="1"/>
              <a:t>skema</a:t>
            </a:r>
            <a:r>
              <a:rPr lang="en-ID" dirty="0"/>
              <a:t> yang </a:t>
            </a:r>
            <a:r>
              <a:rPr lang="en-ID" dirty="0" err="1"/>
              <a:t>jelas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disimpan</a:t>
            </a:r>
            <a:r>
              <a:rPr lang="en-ID" dirty="0"/>
              <a:t> dan </a:t>
            </a:r>
            <a:r>
              <a:rPr lang="en-ID" dirty="0" err="1"/>
              <a:t>diproses</a:t>
            </a:r>
            <a:r>
              <a:rPr lang="en-ID" dirty="0"/>
              <a:t> oleh </a:t>
            </a:r>
            <a:r>
              <a:rPr lang="en-ID" dirty="0" err="1"/>
              <a:t>sistem</a:t>
            </a:r>
            <a:r>
              <a:rPr lang="en-ID" dirty="0"/>
              <a:t> basis data.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Data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terstruktur</a:t>
            </a:r>
            <a:r>
              <a:rPr lang="en-US" dirty="0"/>
              <a:t>: </a:t>
            </a:r>
            <a:r>
              <a:rPr lang="en-ID" dirty="0"/>
              <a:t>data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format </a:t>
            </a:r>
            <a:r>
              <a:rPr lang="en-ID" dirty="0" err="1"/>
              <a:t>baku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skema</a:t>
            </a:r>
            <a:r>
              <a:rPr lang="en-ID" dirty="0"/>
              <a:t> yang </a:t>
            </a:r>
            <a:r>
              <a:rPr lang="en-ID" dirty="0" err="1"/>
              <a:t>tetap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teknik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pengelolaannya</a:t>
            </a:r>
            <a:r>
              <a:rPr lang="en-ID" dirty="0"/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F5604432-07DF-3C7D-FA82-14C820F08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37B2CDC0-D417-344A-D725-8F338B8E23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FF6308BB-604D-47B9-B177-4D2DA41F53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Basis data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data, </a:t>
            </a:r>
            <a:r>
              <a:rPr lang="en-ID" dirty="0" err="1"/>
              <a:t>tetapi</a:t>
            </a:r>
            <a:r>
              <a:rPr lang="en-ID" dirty="0"/>
              <a:t> juga </a:t>
            </a:r>
            <a:r>
              <a:rPr lang="en-ID" b="1" dirty="0" err="1"/>
              <a:t>struktur</a:t>
            </a:r>
            <a:r>
              <a:rPr lang="en-ID" b="1" dirty="0"/>
              <a:t> dan </a:t>
            </a:r>
            <a:r>
              <a:rPr lang="en-ID" b="1" dirty="0" err="1"/>
              <a:t>makna</a:t>
            </a:r>
            <a:r>
              <a:rPr lang="en-ID" dirty="0"/>
              <a:t> yang </a:t>
            </a:r>
            <a:r>
              <a:rPr lang="en-ID" dirty="0" err="1"/>
              <a:t>membuat</a:t>
            </a:r>
            <a:r>
              <a:rPr lang="en-ID" dirty="0"/>
              <a:t> data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berguna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130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350D356C-4D22-8239-496C-A12B7A00B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EB535A7F-0A34-CC2F-61FC-9FD48A3F20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63A9CEDA-6516-5345-5D13-D1A828F0B5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b="1" dirty="0"/>
              <a:t>Summarized data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data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b="1" dirty="0" err="1"/>
              <a:t>diringkas</a:t>
            </a:r>
            <a:r>
              <a:rPr lang="en-ID" b="1" dirty="0"/>
              <a:t> </a:t>
            </a:r>
            <a:r>
              <a:rPr lang="en-ID" b="1" dirty="0" err="1"/>
              <a:t>atau</a:t>
            </a:r>
            <a:r>
              <a:rPr lang="en-ID" b="1" dirty="0"/>
              <a:t> </a:t>
            </a:r>
            <a:r>
              <a:rPr lang="en-ID" b="1" dirty="0" err="1"/>
              <a:t>diagregasi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data </a:t>
            </a:r>
            <a:r>
              <a:rPr lang="en-ID" dirty="0" err="1"/>
              <a:t>mentah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dipahami</a:t>
            </a:r>
            <a:r>
              <a:rPr lang="en-ID" dirty="0"/>
              <a:t> dan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b="1" dirty="0" err="1"/>
              <a:t>informasi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dan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296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24AC662B-8EA8-1989-19C4-F36AAEB83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C0E08616-ED81-3407-BBC0-F5FE1ACAB1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7D44E77F-ABFF-0A5B-D1F9-3FB52CF581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Data types: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yang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disimpan</a:t>
            </a:r>
            <a:r>
              <a:rPr lang="en-US" dirty="0"/>
              <a:t> (</a:t>
            </a:r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, </a:t>
            </a:r>
            <a:r>
              <a:rPr lang="en-US" dirty="0" err="1"/>
              <a:t>teks</a:t>
            </a:r>
            <a:r>
              <a:rPr lang="en-US" dirty="0"/>
              <a:t>, </a:t>
            </a:r>
            <a:r>
              <a:rPr lang="en-US" dirty="0" err="1"/>
              <a:t>tanggal</a:t>
            </a:r>
            <a:r>
              <a:rPr lang="en-US" dirty="0"/>
              <a:t>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Field sizes: </a:t>
            </a:r>
            <a:r>
              <a:rPr lang="en-US" dirty="0" err="1"/>
              <a:t>menentukan</a:t>
            </a:r>
            <a:r>
              <a:rPr lang="en-US" dirty="0"/>
              <a:t> batas </a:t>
            </a:r>
            <a:r>
              <a:rPr lang="en-US" dirty="0" err="1"/>
              <a:t>panjang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data (</a:t>
            </a:r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dirty="0" err="1"/>
              <a:t>maksimal</a:t>
            </a:r>
            <a:r>
              <a:rPr lang="en-US" dirty="0"/>
              <a:t> 20 </a:t>
            </a:r>
            <a:r>
              <a:rPr lang="en-US" dirty="0" err="1"/>
              <a:t>karakter</a:t>
            </a:r>
            <a:r>
              <a:rPr lang="en-US" dirty="0"/>
              <a:t>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Allowable values: </a:t>
            </a:r>
            <a:r>
              <a:rPr lang="en-US" dirty="0" err="1"/>
              <a:t>membatasi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yang </a:t>
            </a:r>
            <a:r>
              <a:rPr lang="en-US" dirty="0" err="1"/>
              <a:t>diizinkan</a:t>
            </a:r>
            <a:r>
              <a:rPr lang="en-US" dirty="0"/>
              <a:t> agar data </a:t>
            </a:r>
            <a:r>
              <a:rPr lang="en-US" dirty="0" err="1"/>
              <a:t>tetap</a:t>
            </a:r>
            <a:r>
              <a:rPr lang="en-US" dirty="0"/>
              <a:t> valid (</a:t>
            </a:r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≥ 0)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Data context: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makna</a:t>
            </a:r>
            <a:r>
              <a:rPr lang="en-US" dirty="0"/>
              <a:t> dan </a:t>
            </a:r>
            <a:r>
              <a:rPr lang="en-US" dirty="0" err="1"/>
              <a:t>penggunaan</a:t>
            </a:r>
            <a:r>
              <a:rPr lang="en-US" dirty="0"/>
              <a:t> data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domain </a:t>
            </a:r>
            <a:r>
              <a:rPr lang="en-US" dirty="0" err="1"/>
              <a:t>tertentu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3942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490DA5E4-F713-D964-0C8A-C5654CC4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6BCF25B1-0DA5-41E7-DC17-12F64FF6AB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9CCD3B27-AEAB-7731-4421-D1F11344AC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/>
              <a:t>Data </a:t>
            </a:r>
            <a:r>
              <a:rPr lang="en-ID" dirty="0" err="1"/>
              <a:t>Perbankan</a:t>
            </a:r>
            <a:r>
              <a:rPr lang="en-ID" dirty="0"/>
              <a:t>, yang </a:t>
            </a:r>
            <a:r>
              <a:rPr lang="en-ID" dirty="0" err="1"/>
              <a:t>mengelola</a:t>
            </a:r>
            <a:r>
              <a:rPr lang="en-ID" dirty="0"/>
              <a:t> data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keuangan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Maskapai</a:t>
            </a:r>
            <a:r>
              <a:rPr lang="en-ID" dirty="0"/>
              <a:t> </a:t>
            </a:r>
            <a:r>
              <a:rPr lang="en-ID" dirty="0" err="1"/>
              <a:t>penerbangan</a:t>
            </a:r>
            <a:r>
              <a:rPr lang="en-ID" dirty="0"/>
              <a:t>, yang </a:t>
            </a:r>
            <a:r>
              <a:rPr lang="en-ID" dirty="0" err="1"/>
              <a:t>menangani</a:t>
            </a:r>
            <a:r>
              <a:rPr lang="en-ID" dirty="0"/>
              <a:t> data </a:t>
            </a:r>
            <a:r>
              <a:rPr lang="en-ID" dirty="0" err="1"/>
              <a:t>reservasi</a:t>
            </a:r>
            <a:r>
              <a:rPr lang="en-ID" dirty="0"/>
              <a:t> dan </a:t>
            </a:r>
            <a:r>
              <a:rPr lang="en-ID" dirty="0" err="1"/>
              <a:t>jadwal</a:t>
            </a:r>
            <a:r>
              <a:rPr lang="en-ID" dirty="0"/>
              <a:t> </a:t>
            </a:r>
            <a:r>
              <a:rPr lang="en-ID" dirty="0" err="1"/>
              <a:t>penerbangan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Perguruan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, yang </a:t>
            </a:r>
            <a:r>
              <a:rPr lang="en-ID" dirty="0" err="1"/>
              <a:t>menyimpan</a:t>
            </a:r>
            <a:r>
              <a:rPr lang="en-ID" dirty="0"/>
              <a:t> data </a:t>
            </a:r>
            <a:r>
              <a:rPr lang="en-ID" dirty="0" err="1"/>
              <a:t>pendaftaran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 dan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akademik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Bidang</a:t>
            </a:r>
            <a:r>
              <a:rPr lang="en-ID" dirty="0"/>
              <a:t> </a:t>
            </a:r>
            <a:r>
              <a:rPr lang="en-ID" dirty="0" err="1"/>
              <a:t>penjualan</a:t>
            </a:r>
            <a:r>
              <a:rPr lang="en-ID" dirty="0"/>
              <a:t>, yang </a:t>
            </a:r>
            <a:r>
              <a:rPr lang="en-ID" dirty="0" err="1"/>
              <a:t>mengelola</a:t>
            </a:r>
            <a:r>
              <a:rPr lang="en-ID" dirty="0"/>
              <a:t> data </a:t>
            </a:r>
            <a:r>
              <a:rPr lang="en-ID" dirty="0" err="1"/>
              <a:t>pelanggan</a:t>
            </a:r>
            <a:r>
              <a:rPr lang="en-ID" dirty="0"/>
              <a:t>, </a:t>
            </a:r>
            <a:r>
              <a:rPr lang="en-ID" dirty="0" err="1"/>
              <a:t>produk</a:t>
            </a:r>
            <a:r>
              <a:rPr lang="en-ID" dirty="0"/>
              <a:t>, dan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pembelian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Perdagangan</a:t>
            </a:r>
            <a:r>
              <a:rPr lang="en-ID" dirty="0"/>
              <a:t> daring, yang </a:t>
            </a:r>
            <a:r>
              <a:rPr lang="en-ID" dirty="0" err="1"/>
              <a:t>memproses</a:t>
            </a:r>
            <a:r>
              <a:rPr lang="en-ID" dirty="0"/>
              <a:t> data </a:t>
            </a:r>
            <a:r>
              <a:rPr lang="en-ID" dirty="0" err="1"/>
              <a:t>pelacakan</a:t>
            </a:r>
            <a:r>
              <a:rPr lang="en-ID" dirty="0"/>
              <a:t> </a:t>
            </a:r>
            <a:r>
              <a:rPr lang="en-ID" dirty="0" err="1"/>
              <a:t>pesanan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rekomendasi</a:t>
            </a:r>
            <a:r>
              <a:rPr lang="en-ID" dirty="0"/>
              <a:t> yang </a:t>
            </a:r>
            <a:r>
              <a:rPr lang="en-ID" dirty="0" err="1"/>
              <a:t>dipersonalisasi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Manufaktur</a:t>
            </a:r>
            <a:r>
              <a:rPr lang="en-ID" dirty="0"/>
              <a:t>, yang </a:t>
            </a:r>
            <a:r>
              <a:rPr lang="en-ID" dirty="0" err="1"/>
              <a:t>menangani</a:t>
            </a:r>
            <a:r>
              <a:rPr lang="en-ID" dirty="0"/>
              <a:t> data </a:t>
            </a:r>
            <a:r>
              <a:rPr lang="en-ID" dirty="0" err="1"/>
              <a:t>produksi</a:t>
            </a:r>
            <a:r>
              <a:rPr lang="en-ID" dirty="0"/>
              <a:t>, </a:t>
            </a:r>
            <a:r>
              <a:rPr lang="en-ID" dirty="0" err="1"/>
              <a:t>persediaan</a:t>
            </a:r>
            <a:r>
              <a:rPr lang="en-ID" dirty="0"/>
              <a:t>, </a:t>
            </a:r>
            <a:r>
              <a:rPr lang="en-ID" dirty="0" err="1"/>
              <a:t>pesanan</a:t>
            </a:r>
            <a:r>
              <a:rPr lang="en-ID" dirty="0"/>
              <a:t>, dan </a:t>
            </a:r>
            <a:r>
              <a:rPr lang="en-ID" dirty="0" err="1"/>
              <a:t>rantai</a:t>
            </a:r>
            <a:r>
              <a:rPr lang="en-ID" dirty="0"/>
              <a:t> </a:t>
            </a:r>
            <a:r>
              <a:rPr lang="en-ID" dirty="0" err="1"/>
              <a:t>pasok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Sumber</a:t>
            </a:r>
            <a:r>
              <a:rPr lang="en-ID" dirty="0"/>
              <a:t> </a:t>
            </a:r>
            <a:r>
              <a:rPr lang="en-ID" dirty="0" err="1"/>
              <a:t>daya</a:t>
            </a:r>
            <a:r>
              <a:rPr lang="en-ID" dirty="0"/>
              <a:t> </a:t>
            </a:r>
            <a:r>
              <a:rPr lang="en-ID" dirty="0" err="1"/>
              <a:t>manusia</a:t>
            </a:r>
            <a:r>
              <a:rPr lang="en-ID" dirty="0"/>
              <a:t>, yang </a:t>
            </a:r>
            <a:r>
              <a:rPr lang="en-ID" dirty="0" err="1"/>
              <a:t>menyimpan</a:t>
            </a:r>
            <a:r>
              <a:rPr lang="en-ID" dirty="0"/>
              <a:t> data </a:t>
            </a:r>
            <a:r>
              <a:rPr lang="en-ID" dirty="0" err="1"/>
              <a:t>pegawai</a:t>
            </a:r>
            <a:r>
              <a:rPr lang="en-ID" dirty="0"/>
              <a:t>, </a:t>
            </a:r>
            <a:r>
              <a:rPr lang="en-ID" dirty="0" err="1"/>
              <a:t>gaji</a:t>
            </a:r>
            <a:r>
              <a:rPr lang="en-ID" dirty="0"/>
              <a:t>, dan </a:t>
            </a:r>
            <a:r>
              <a:rPr lang="en-ID" dirty="0" err="1"/>
              <a:t>potongan</a:t>
            </a:r>
            <a:r>
              <a:rPr lang="en-ID" dirty="0"/>
              <a:t> </a:t>
            </a:r>
            <a:r>
              <a:rPr lang="en-ID" dirty="0" err="1"/>
              <a:t>pajak</a:t>
            </a:r>
            <a:r>
              <a:rPr lang="en-ID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ID" sz="1100" dirty="0" err="1"/>
              <a:t>Aplikasi-aplikasi</a:t>
            </a:r>
            <a:r>
              <a:rPr lang="en-ID" sz="1100" dirty="0"/>
              <a:t> </a:t>
            </a:r>
            <a:r>
              <a:rPr lang="en-ID" sz="1100" dirty="0" err="1"/>
              <a:t>ini</a:t>
            </a:r>
            <a:r>
              <a:rPr lang="en-ID" sz="1100" dirty="0"/>
              <a:t> </a:t>
            </a:r>
            <a:r>
              <a:rPr lang="en-ID" sz="1100" dirty="0" err="1"/>
              <a:t>menyentuh</a:t>
            </a:r>
            <a:r>
              <a:rPr lang="en-ID" sz="1100" dirty="0"/>
              <a:t> </a:t>
            </a:r>
            <a:r>
              <a:rPr lang="en-ID" sz="1100" dirty="0" err="1"/>
              <a:t>hampir</a:t>
            </a:r>
            <a:r>
              <a:rPr lang="en-ID" sz="1100" dirty="0"/>
              <a:t> </a:t>
            </a:r>
            <a:r>
              <a:rPr lang="en-ID" sz="1100" dirty="0" err="1"/>
              <a:t>seluruh</a:t>
            </a:r>
            <a:r>
              <a:rPr lang="en-ID" sz="1100" dirty="0"/>
              <a:t> </a:t>
            </a:r>
            <a:r>
              <a:rPr lang="en-ID" sz="1100" dirty="0" err="1"/>
              <a:t>aspek</a:t>
            </a:r>
            <a:r>
              <a:rPr lang="en-ID" sz="1100" dirty="0"/>
              <a:t> </a:t>
            </a:r>
            <a:r>
              <a:rPr lang="en-ID" sz="1100" dirty="0" err="1"/>
              <a:t>kehidupan</a:t>
            </a:r>
            <a:r>
              <a:rPr lang="en-ID" sz="1100" dirty="0"/>
              <a:t> </a:t>
            </a:r>
            <a:r>
              <a:rPr lang="en-ID" sz="1100" dirty="0" err="1"/>
              <a:t>manusia</a:t>
            </a:r>
            <a:r>
              <a:rPr lang="en-ID" sz="1100" dirty="0"/>
              <a:t>, </a:t>
            </a:r>
            <a:r>
              <a:rPr lang="en-ID" sz="1100" dirty="0" err="1"/>
              <a:t>baik</a:t>
            </a:r>
            <a:r>
              <a:rPr lang="en-ID" sz="1100" dirty="0"/>
              <a:t> </a:t>
            </a:r>
            <a:r>
              <a:rPr lang="en-ID" sz="1100" dirty="0" err="1"/>
              <a:t>dalam</a:t>
            </a:r>
            <a:r>
              <a:rPr lang="en-ID" sz="1100" dirty="0"/>
              <a:t> </a:t>
            </a:r>
            <a:r>
              <a:rPr lang="en-ID" sz="1100" dirty="0" err="1"/>
              <a:t>konteks</a:t>
            </a:r>
            <a:r>
              <a:rPr lang="en-ID" sz="1100" dirty="0"/>
              <a:t> </a:t>
            </a:r>
            <a:r>
              <a:rPr lang="en-ID" sz="1100" dirty="0" err="1"/>
              <a:t>ekonomi</a:t>
            </a:r>
            <a:r>
              <a:rPr lang="en-ID" sz="1100" dirty="0"/>
              <a:t>, </a:t>
            </a:r>
            <a:r>
              <a:rPr lang="en-ID" sz="1100" dirty="0" err="1"/>
              <a:t>pendidikan</a:t>
            </a:r>
            <a:r>
              <a:rPr lang="en-ID" sz="1100" dirty="0"/>
              <a:t>, </a:t>
            </a:r>
            <a:r>
              <a:rPr lang="en-ID" sz="1100" dirty="0" err="1"/>
              <a:t>industri</a:t>
            </a:r>
            <a:r>
              <a:rPr lang="en-ID" sz="1100" dirty="0"/>
              <a:t>, </a:t>
            </a:r>
            <a:r>
              <a:rPr lang="en-ID" sz="1100" dirty="0" err="1"/>
              <a:t>maupun</a:t>
            </a:r>
            <a:r>
              <a:rPr lang="en-ID" sz="1100" dirty="0"/>
              <a:t> </a:t>
            </a:r>
            <a:r>
              <a:rPr lang="en-ID" sz="1100" dirty="0" err="1"/>
              <a:t>layanan</a:t>
            </a:r>
            <a:r>
              <a:rPr lang="en-ID" sz="1100" dirty="0"/>
              <a:t> </a:t>
            </a:r>
            <a:r>
              <a:rPr lang="en-ID" sz="1100" dirty="0" err="1"/>
              <a:t>publik</a:t>
            </a:r>
            <a:r>
              <a:rPr lang="en-ID" sz="1100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9027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49C29004-0DB9-EECD-39BF-70489874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25D34FA5-225F-B706-9E4C-2E4FC88BA4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A10B7183-DAAB-0433-D30A-F699645424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Penambahan</a:t>
            </a:r>
            <a:r>
              <a:rPr lang="en-ID" dirty="0"/>
              <a:t> data </a:t>
            </a:r>
            <a:r>
              <a:rPr lang="en-ID" dirty="0" err="1"/>
              <a:t>akademik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memasukkan</a:t>
            </a:r>
            <a:r>
              <a:rPr lang="en-ID" dirty="0"/>
              <a:t> data </a:t>
            </a:r>
            <a:r>
              <a:rPr lang="en-ID" dirty="0" err="1"/>
              <a:t>mahasiswa</a:t>
            </a:r>
            <a:r>
              <a:rPr lang="en-ID" dirty="0"/>
              <a:t>, </a:t>
            </a:r>
            <a:r>
              <a:rPr lang="en-ID" dirty="0" err="1"/>
              <a:t>dosen</a:t>
            </a:r>
            <a:r>
              <a:rPr lang="en-ID" dirty="0"/>
              <a:t>, dan </a:t>
            </a:r>
            <a:r>
              <a:rPr lang="en-ID" dirty="0" err="1"/>
              <a:t>mata</a:t>
            </a:r>
            <a:r>
              <a:rPr lang="en-ID" dirty="0"/>
              <a:t> </a:t>
            </a:r>
            <a:r>
              <a:rPr lang="en-ID" dirty="0" err="1"/>
              <a:t>kuliah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Pengelolaan</a:t>
            </a:r>
            <a:r>
              <a:rPr lang="en-ID" dirty="0"/>
              <a:t> </a:t>
            </a:r>
            <a:r>
              <a:rPr lang="en-ID" dirty="0" err="1"/>
              <a:t>registrasi</a:t>
            </a:r>
            <a:r>
              <a:rPr lang="en-ID" dirty="0"/>
              <a:t> </a:t>
            </a:r>
            <a:r>
              <a:rPr lang="en-ID" dirty="0" err="1"/>
              <a:t>perkuliahan</a:t>
            </a:r>
            <a:r>
              <a:rPr lang="en-ID" dirty="0"/>
              <a:t>, </a:t>
            </a:r>
            <a:r>
              <a:rPr lang="en-ID" dirty="0" err="1"/>
              <a:t>termasuk</a:t>
            </a:r>
            <a:r>
              <a:rPr lang="en-ID" dirty="0"/>
              <a:t> </a:t>
            </a:r>
            <a:r>
              <a:rPr lang="en-ID" dirty="0" err="1"/>
              <a:t>pendaftaran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mata</a:t>
            </a:r>
            <a:r>
              <a:rPr lang="en-ID" dirty="0"/>
              <a:t> </a:t>
            </a:r>
            <a:r>
              <a:rPr lang="en-ID" dirty="0" err="1"/>
              <a:t>kuliah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pembuatan</a:t>
            </a:r>
            <a:r>
              <a:rPr lang="en-ID" dirty="0"/>
              <a:t> daftar </a:t>
            </a:r>
            <a:r>
              <a:rPr lang="en-ID" dirty="0" err="1"/>
              <a:t>peserta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Pengelolaan</a:t>
            </a:r>
            <a:r>
              <a:rPr lang="en-ID" dirty="0"/>
              <a:t> </a:t>
            </a:r>
            <a:r>
              <a:rPr lang="en-ID" dirty="0" err="1"/>
              <a:t>penilaian</a:t>
            </a:r>
            <a:r>
              <a:rPr lang="en-ID" dirty="0"/>
              <a:t> </a:t>
            </a:r>
            <a:r>
              <a:rPr lang="en-ID" dirty="0" err="1"/>
              <a:t>akademik</a:t>
            </a:r>
            <a:r>
              <a:rPr lang="en-ID" dirty="0"/>
              <a:t>, </a:t>
            </a:r>
            <a:r>
              <a:rPr lang="en-ID" dirty="0" err="1"/>
              <a:t>meliputi</a:t>
            </a:r>
            <a:r>
              <a:rPr lang="en-ID" dirty="0"/>
              <a:t> </a:t>
            </a:r>
            <a:r>
              <a:rPr lang="en-ID" dirty="0" err="1"/>
              <a:t>pemberian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kepada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, </a:t>
            </a:r>
            <a:r>
              <a:rPr lang="en-ID" dirty="0" err="1"/>
              <a:t>perhitungan</a:t>
            </a:r>
            <a:r>
              <a:rPr lang="en-ID" dirty="0"/>
              <a:t> </a:t>
            </a:r>
            <a:r>
              <a:rPr lang="en-ID" dirty="0" err="1"/>
              <a:t>indeks</a:t>
            </a:r>
            <a:r>
              <a:rPr lang="en-ID" dirty="0"/>
              <a:t> </a:t>
            </a:r>
            <a:r>
              <a:rPr lang="en-ID" dirty="0" err="1"/>
              <a:t>prestasi</a:t>
            </a:r>
            <a:r>
              <a:rPr lang="en-ID" dirty="0"/>
              <a:t> (IP/IPK), dan </a:t>
            </a:r>
            <a:r>
              <a:rPr lang="en-ID" dirty="0" err="1"/>
              <a:t>pembuatan</a:t>
            </a:r>
            <a:r>
              <a:rPr lang="en-ID" dirty="0"/>
              <a:t> </a:t>
            </a:r>
            <a:r>
              <a:rPr lang="en-ID" dirty="0" err="1"/>
              <a:t>transkrip</a:t>
            </a:r>
            <a:r>
              <a:rPr lang="en-ID" dirty="0"/>
              <a:t> </a:t>
            </a:r>
            <a:r>
              <a:rPr lang="en-ID" dirty="0" err="1"/>
              <a:t>akademik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ID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ID" dirty="0"/>
              <a:t>Pada </a:t>
            </a: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perkembangan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, </a:t>
            </a:r>
            <a:r>
              <a:rPr lang="en-ID" dirty="0" err="1"/>
              <a:t>aplikasi-aplikasi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b="1" dirty="0" err="1"/>
              <a:t>dibangun</a:t>
            </a:r>
            <a:r>
              <a:rPr lang="en-ID" b="1" dirty="0"/>
              <a:t> </a:t>
            </a:r>
            <a:r>
              <a:rPr lang="en-ID" b="1" dirty="0" err="1"/>
              <a:t>secara</a:t>
            </a:r>
            <a:r>
              <a:rPr lang="en-ID" b="1" dirty="0"/>
              <a:t> </a:t>
            </a:r>
            <a:r>
              <a:rPr lang="en-ID" b="1" dirty="0" err="1"/>
              <a:t>langsung</a:t>
            </a:r>
            <a:r>
              <a:rPr lang="en-ID" b="1" dirty="0"/>
              <a:t> di </a:t>
            </a:r>
            <a:r>
              <a:rPr lang="en-ID" b="1" dirty="0" err="1"/>
              <a:t>atas</a:t>
            </a:r>
            <a:r>
              <a:rPr lang="en-ID" b="1" dirty="0"/>
              <a:t> </a:t>
            </a:r>
            <a:r>
              <a:rPr lang="en-ID" b="1" dirty="0" err="1"/>
              <a:t>sistem</a:t>
            </a:r>
            <a:r>
              <a:rPr lang="en-ID" b="1" dirty="0"/>
              <a:t> </a:t>
            </a:r>
            <a:r>
              <a:rPr lang="en-ID" b="1" dirty="0" err="1"/>
              <a:t>berkas</a:t>
            </a:r>
            <a:r>
              <a:rPr lang="en-ID" b="1" dirty="0"/>
              <a:t> (file system)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dukungan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basis data </a:t>
            </a:r>
            <a:r>
              <a:rPr lang="en-ID" dirty="0" err="1"/>
              <a:t>terintegrasi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pengelolaan</a:t>
            </a:r>
            <a:r>
              <a:rPr lang="en-ID" dirty="0"/>
              <a:t> data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bersifat</a:t>
            </a:r>
            <a:r>
              <a:rPr lang="en-ID" dirty="0"/>
              <a:t> </a:t>
            </a:r>
            <a:r>
              <a:rPr lang="en-ID" dirty="0" err="1"/>
              <a:t>terbatas</a:t>
            </a:r>
            <a:r>
              <a:rPr lang="en-ID" dirty="0"/>
              <a:t> dan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efisien</a:t>
            </a:r>
            <a:r>
              <a:rPr lang="en-ID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4177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693C3C22-9B7F-3890-98DC-7A4D0B619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BDB2BBE0-7A7A-E3F0-F891-0F79391DE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1EC8D88F-6368-FDDD-242D-17E9DDFCBA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departemen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perusahaan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dan </a:t>
            </a:r>
            <a:r>
              <a:rPr lang="en-ID" dirty="0" err="1"/>
              <a:t>mengelola</a:t>
            </a:r>
            <a:r>
              <a:rPr lang="en-ID" dirty="0"/>
              <a:t> </a:t>
            </a:r>
            <a:r>
              <a:rPr lang="en-ID" dirty="0" err="1"/>
              <a:t>berkas</a:t>
            </a:r>
            <a:r>
              <a:rPr lang="en-ID" dirty="0"/>
              <a:t> data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terpisah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aplikasinya</a:t>
            </a:r>
            <a:r>
              <a:rPr lang="en-ID" dirty="0"/>
              <a:t> masing-masing.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/>
              <a:t>Data yang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tersimpan</a:t>
            </a:r>
            <a:r>
              <a:rPr lang="en-ID" dirty="0"/>
              <a:t> </a:t>
            </a:r>
            <a:r>
              <a:rPr lang="en-ID" dirty="0" err="1"/>
              <a:t>berulang</a:t>
            </a:r>
            <a:r>
              <a:rPr lang="en-ID" dirty="0"/>
              <a:t> kali pada </a:t>
            </a:r>
            <a:r>
              <a:rPr lang="en-ID" dirty="0" err="1"/>
              <a:t>berkas</a:t>
            </a:r>
            <a:r>
              <a:rPr lang="en-ID" dirty="0"/>
              <a:t> yang </a:t>
            </a:r>
            <a:r>
              <a:rPr lang="en-ID" dirty="0" err="1"/>
              <a:t>berbeda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redundansi</a:t>
            </a:r>
            <a:r>
              <a:rPr lang="en-ID" dirty="0"/>
              <a:t> dan </a:t>
            </a:r>
            <a:r>
              <a:rPr lang="en-ID" dirty="0" err="1"/>
              <a:t>inkonsistensi</a:t>
            </a:r>
            <a:r>
              <a:rPr lang="en-ID" dirty="0"/>
              <a:t> data.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Ketergantungan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berkas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data </a:t>
            </a:r>
            <a:r>
              <a:rPr lang="en-ID" dirty="0" err="1"/>
              <a:t>sulit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memodifikasi</a:t>
            </a:r>
            <a:r>
              <a:rPr lang="en-ID" dirty="0"/>
              <a:t> program.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Pengelolaan</a:t>
            </a:r>
            <a:r>
              <a:rPr lang="en-ID" dirty="0"/>
              <a:t> dan </a:t>
            </a:r>
            <a:r>
              <a:rPr lang="en-ID" dirty="0" err="1"/>
              <a:t>pertukaran</a:t>
            </a:r>
            <a:r>
              <a:rPr lang="en-ID" dirty="0"/>
              <a:t> data </a:t>
            </a:r>
            <a:r>
              <a:rPr lang="en-ID" dirty="0" err="1"/>
              <a:t>antarbagian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efisien</a:t>
            </a:r>
            <a:r>
              <a:rPr lang="en-ID" dirty="0"/>
              <a:t>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terkoordinasi</a:t>
            </a:r>
            <a:r>
              <a:rPr lang="en-ID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1067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D8E8ECDD-3846-4E29-CD69-614CAB0EA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67B08E57-12C0-15E8-118A-0C2F5B5E2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F9B3F60B-76CF-E97A-BDD2-C1DB808FEF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Pendekatan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dirty="0" err="1"/>
              <a:t>berkas</a:t>
            </a:r>
            <a:r>
              <a:rPr lang="en-ID" dirty="0"/>
              <a:t> </a:t>
            </a:r>
            <a:r>
              <a:rPr lang="en-ID" b="1" dirty="0" err="1"/>
              <a:t>tidak</a:t>
            </a:r>
            <a:r>
              <a:rPr lang="en-ID" b="1" dirty="0"/>
              <a:t> </a:t>
            </a:r>
            <a:r>
              <a:rPr lang="en-ID" b="1" dirty="0" err="1"/>
              <a:t>mampu</a:t>
            </a:r>
            <a:r>
              <a:rPr lang="en-ID" b="1" dirty="0"/>
              <a:t> </a:t>
            </a:r>
            <a:r>
              <a:rPr lang="en-ID" b="1" dirty="0" err="1"/>
              <a:t>menangani</a:t>
            </a:r>
            <a:r>
              <a:rPr lang="en-ID" b="1" dirty="0"/>
              <a:t> data </a:t>
            </a:r>
            <a:r>
              <a:rPr lang="en-ID" b="1" dirty="0" err="1"/>
              <a:t>secara</a:t>
            </a:r>
            <a:r>
              <a:rPr lang="en-ID" b="1" dirty="0"/>
              <a:t> </a:t>
            </a:r>
            <a:r>
              <a:rPr lang="en-ID" b="1" dirty="0" err="1"/>
              <a:t>konsisten</a:t>
            </a:r>
            <a:r>
              <a:rPr lang="en-ID" b="1" dirty="0"/>
              <a:t>, </a:t>
            </a:r>
            <a:r>
              <a:rPr lang="en-ID" b="1" dirty="0" err="1"/>
              <a:t>efisien</a:t>
            </a:r>
            <a:r>
              <a:rPr lang="en-ID" b="1" dirty="0"/>
              <a:t>, dan </a:t>
            </a:r>
            <a:r>
              <a:rPr lang="en-ID" b="1" dirty="0" err="1"/>
              <a:t>fleksibel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</a:t>
            </a:r>
            <a:r>
              <a:rPr lang="en-ID" dirty="0" err="1"/>
              <a:t>perlunya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basis data.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Permasalahan</a:t>
            </a:r>
            <a:r>
              <a:rPr lang="en-ID" dirty="0"/>
              <a:t> yang </a:t>
            </a:r>
            <a:r>
              <a:rPr lang="en-ID" dirty="0" err="1"/>
              <a:t>ditimbulkan</a:t>
            </a:r>
            <a:r>
              <a:rPr lang="en-ID" dirty="0"/>
              <a:t>:</a:t>
            </a:r>
          </a:p>
          <a:p>
            <a:pPr marL="457200" indent="-298450">
              <a:buFont typeface="Wingdings" panose="05000000000000000000" pitchFamily="2" charset="2"/>
              <a:buChar char="§"/>
            </a:pPr>
            <a:r>
              <a:rPr lang="en-ID" b="1" dirty="0" err="1"/>
              <a:t>Pemborosan</a:t>
            </a:r>
            <a:r>
              <a:rPr lang="en-ID" b="1" dirty="0"/>
              <a:t> </a:t>
            </a:r>
            <a:r>
              <a:rPr lang="en-ID" b="1" dirty="0" err="1"/>
              <a:t>ruang</a:t>
            </a:r>
            <a:r>
              <a:rPr lang="en-ID" b="1" dirty="0"/>
              <a:t> </a:t>
            </a:r>
            <a:r>
              <a:rPr lang="en-ID" b="1" dirty="0" err="1"/>
              <a:t>penyimpanan</a:t>
            </a:r>
            <a:br>
              <a:rPr lang="en-ID" dirty="0"/>
            </a:br>
            <a:r>
              <a:rPr lang="en-ID" dirty="0" err="1"/>
              <a:t>Penyimpanan</a:t>
            </a:r>
            <a:r>
              <a:rPr lang="en-ID" dirty="0"/>
              <a:t> data </a:t>
            </a:r>
            <a:r>
              <a:rPr lang="en-ID" dirty="0" err="1"/>
              <a:t>ganda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 media </a:t>
            </a:r>
            <a:r>
              <a:rPr lang="en-ID" dirty="0" err="1"/>
              <a:t>penyimpanan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efisien</a:t>
            </a:r>
            <a:r>
              <a:rPr lang="en-ID" dirty="0"/>
              <a:t>.</a:t>
            </a:r>
          </a:p>
          <a:p>
            <a:pPr marL="457200" indent="-298450">
              <a:buFont typeface="Wingdings" panose="05000000000000000000" pitchFamily="2" charset="2"/>
              <a:buChar char="§"/>
            </a:pPr>
            <a:r>
              <a:rPr lang="en-ID" b="1" dirty="0" err="1"/>
              <a:t>Meningkatnya</a:t>
            </a:r>
            <a:r>
              <a:rPr lang="en-ID" b="1" dirty="0"/>
              <a:t> </a:t>
            </a:r>
            <a:r>
              <a:rPr lang="en-ID" b="1" dirty="0" err="1"/>
              <a:t>beban</a:t>
            </a:r>
            <a:r>
              <a:rPr lang="en-ID" b="1" dirty="0"/>
              <a:t> </a:t>
            </a:r>
            <a:r>
              <a:rPr lang="en-ID" b="1" dirty="0" err="1"/>
              <a:t>pemeliharaan</a:t>
            </a:r>
            <a:r>
              <a:rPr lang="en-ID" b="1" dirty="0"/>
              <a:t> </a:t>
            </a:r>
            <a:r>
              <a:rPr lang="en-ID" b="1" dirty="0" err="1"/>
              <a:t>sistem</a:t>
            </a:r>
            <a:br>
              <a:rPr lang="en-ID" dirty="0"/>
            </a:br>
            <a:r>
              <a:rPr lang="en-ID" dirty="0" err="1"/>
              <a:t>Banyaknya</a:t>
            </a:r>
            <a:r>
              <a:rPr lang="en-ID" dirty="0"/>
              <a:t> </a:t>
            </a:r>
            <a:r>
              <a:rPr lang="en-ID" dirty="0" err="1"/>
              <a:t>salinan</a:t>
            </a:r>
            <a:r>
              <a:rPr lang="en-ID" dirty="0"/>
              <a:t> data </a:t>
            </a:r>
            <a:r>
              <a:rPr lang="en-ID" dirty="0" err="1"/>
              <a:t>memperbesar</a:t>
            </a:r>
            <a:r>
              <a:rPr lang="en-ID" dirty="0"/>
              <a:t> </a:t>
            </a:r>
            <a:r>
              <a:rPr lang="en-ID" dirty="0" err="1"/>
              <a:t>usaha</a:t>
            </a:r>
            <a:r>
              <a:rPr lang="en-ID" dirty="0"/>
              <a:t> dan </a:t>
            </a:r>
            <a:r>
              <a:rPr lang="en-ID" dirty="0" err="1"/>
              <a:t>waktu</a:t>
            </a:r>
            <a:r>
              <a:rPr lang="en-ID" dirty="0"/>
              <a:t> yang </a:t>
            </a:r>
            <a:r>
              <a:rPr lang="en-ID" dirty="0" err="1"/>
              <a:t>diperlukan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memperbarui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memelihara</a:t>
            </a:r>
            <a:r>
              <a:rPr lang="en-ID" dirty="0"/>
              <a:t> data.</a:t>
            </a:r>
          </a:p>
          <a:p>
            <a:pPr marL="457200" indent="-298450">
              <a:buFont typeface="Wingdings" panose="05000000000000000000" pitchFamily="2" charset="2"/>
              <a:buChar char="§"/>
            </a:pPr>
            <a:r>
              <a:rPr lang="en-ID" b="1" dirty="0" err="1"/>
              <a:t>Permasalahan</a:t>
            </a:r>
            <a:r>
              <a:rPr lang="en-ID" b="1" dirty="0"/>
              <a:t> </a:t>
            </a:r>
            <a:r>
              <a:rPr lang="en-ID" b="1" dirty="0" err="1"/>
              <a:t>utama</a:t>
            </a:r>
            <a:r>
              <a:rPr lang="en-ID" b="1" dirty="0"/>
              <a:t>: </a:t>
            </a:r>
            <a:r>
              <a:rPr lang="en-ID" b="1" dirty="0" err="1"/>
              <a:t>perubahan</a:t>
            </a:r>
            <a:r>
              <a:rPr lang="en-ID" b="1" dirty="0"/>
              <a:t> data </a:t>
            </a:r>
            <a:r>
              <a:rPr lang="en-ID" b="1" dirty="0" err="1"/>
              <a:t>menyebabkan</a:t>
            </a:r>
            <a:r>
              <a:rPr lang="en-ID" b="1" dirty="0"/>
              <a:t> </a:t>
            </a:r>
            <a:r>
              <a:rPr lang="en-ID" b="1" dirty="0" err="1"/>
              <a:t>inkonsistensi</a:t>
            </a:r>
            <a:br>
              <a:rPr lang="en-ID" dirty="0"/>
            </a:br>
            <a:r>
              <a:rPr lang="en-ID" dirty="0" err="1"/>
              <a:t>Perubahan</a:t>
            </a:r>
            <a:r>
              <a:rPr lang="en-ID" dirty="0"/>
              <a:t> data pada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berkas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 </a:t>
            </a:r>
            <a:r>
              <a:rPr lang="en-ID" dirty="0" err="1"/>
              <a:t>memperbarui</a:t>
            </a:r>
            <a:r>
              <a:rPr lang="en-ID" dirty="0"/>
              <a:t> </a:t>
            </a:r>
            <a:r>
              <a:rPr lang="en-ID" dirty="0" err="1"/>
              <a:t>berkas</a:t>
            </a:r>
            <a:r>
              <a:rPr lang="en-ID" dirty="0"/>
              <a:t> lain,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menimbulkan</a:t>
            </a:r>
            <a:r>
              <a:rPr lang="en-ID" dirty="0"/>
              <a:t> </a:t>
            </a:r>
            <a:r>
              <a:rPr lang="en-ID" dirty="0" err="1"/>
              <a:t>ketidaksesuaian</a:t>
            </a:r>
            <a:r>
              <a:rPr lang="en-ID" dirty="0"/>
              <a:t> data.</a:t>
            </a:r>
          </a:p>
          <a:p>
            <a:pPr marL="457200" indent="-298450">
              <a:buFont typeface="Wingdings" panose="05000000000000000000" pitchFamily="2" charset="2"/>
              <a:buChar char="§"/>
            </a:pPr>
            <a:r>
              <a:rPr lang="en-ID" b="1" dirty="0" err="1"/>
              <a:t>Menurunnya</a:t>
            </a:r>
            <a:r>
              <a:rPr lang="en-ID" b="1" dirty="0"/>
              <a:t> </a:t>
            </a:r>
            <a:r>
              <a:rPr lang="en-ID" b="1" dirty="0" err="1"/>
              <a:t>integritas</a:t>
            </a:r>
            <a:r>
              <a:rPr lang="en-ID" b="1" dirty="0"/>
              <a:t> data</a:t>
            </a:r>
            <a:br>
              <a:rPr lang="en-ID" dirty="0"/>
            </a:br>
            <a:r>
              <a:rPr lang="en-ID" dirty="0" err="1"/>
              <a:t>Inkonsistensi</a:t>
            </a:r>
            <a:r>
              <a:rPr lang="en-ID" dirty="0"/>
              <a:t> data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melanggar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kebenaran</a:t>
            </a:r>
            <a:r>
              <a:rPr lang="en-ID" dirty="0"/>
              <a:t> dan </a:t>
            </a:r>
            <a:r>
              <a:rPr lang="en-ID" dirty="0" err="1"/>
              <a:t>keandalan</a:t>
            </a:r>
            <a:r>
              <a:rPr lang="en-ID" dirty="0"/>
              <a:t> data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.</a:t>
            </a:r>
          </a:p>
          <a:p>
            <a:pPr marL="457200" indent="-298450">
              <a:buFont typeface="Wingdings" panose="05000000000000000000" pitchFamily="2" charset="2"/>
              <a:buChar char="§"/>
            </a:pPr>
            <a:r>
              <a:rPr lang="en-ID" b="1" dirty="0" err="1"/>
              <a:t>Kesulitan</a:t>
            </a:r>
            <a:r>
              <a:rPr lang="en-ID" b="1" dirty="0"/>
              <a:t> </a:t>
            </a:r>
            <a:r>
              <a:rPr lang="en-ID" b="1" dirty="0" err="1"/>
              <a:t>dalam</a:t>
            </a:r>
            <a:r>
              <a:rPr lang="en-ID" b="1" dirty="0"/>
              <a:t> </a:t>
            </a:r>
            <a:r>
              <a:rPr lang="en-ID" b="1" dirty="0" err="1"/>
              <a:t>mengakses</a:t>
            </a:r>
            <a:r>
              <a:rPr lang="en-ID" b="1" dirty="0"/>
              <a:t> data</a:t>
            </a:r>
            <a:br>
              <a:rPr lang="en-ID" dirty="0"/>
            </a:br>
            <a:r>
              <a:rPr lang="en-ID" dirty="0"/>
              <a:t>Akses data </a:t>
            </a:r>
            <a:r>
              <a:rPr lang="en-ID" dirty="0" err="1"/>
              <a:t>memerlukan</a:t>
            </a:r>
            <a:r>
              <a:rPr lang="en-ID" dirty="0"/>
              <a:t> proses yang </a:t>
            </a:r>
            <a:r>
              <a:rPr lang="en-ID" dirty="0" err="1"/>
              <a:t>kompleks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lama.</a:t>
            </a:r>
          </a:p>
          <a:p>
            <a:pPr marL="457200" indent="-298450">
              <a:buFont typeface="Wingdings" panose="05000000000000000000" pitchFamily="2" charset="2"/>
              <a:buChar char="§"/>
            </a:pPr>
            <a:r>
              <a:rPr lang="en-ID" b="1" dirty="0" err="1"/>
              <a:t>Kebutuhan</a:t>
            </a:r>
            <a:r>
              <a:rPr lang="en-ID" b="1" dirty="0"/>
              <a:t> </a:t>
            </a:r>
            <a:r>
              <a:rPr lang="en-ID" b="1" dirty="0" err="1"/>
              <a:t>pembuatan</a:t>
            </a:r>
            <a:r>
              <a:rPr lang="en-ID" b="1" dirty="0"/>
              <a:t> program </a:t>
            </a:r>
            <a:r>
              <a:rPr lang="en-ID" b="1" dirty="0" err="1"/>
              <a:t>baru</a:t>
            </a:r>
            <a:r>
              <a:rPr lang="en-ID" b="1" dirty="0"/>
              <a:t> </a:t>
            </a:r>
            <a:r>
              <a:rPr lang="en-ID" b="1" dirty="0" err="1"/>
              <a:t>untuk</a:t>
            </a:r>
            <a:r>
              <a:rPr lang="en-ID" b="1" dirty="0"/>
              <a:t> </a:t>
            </a:r>
            <a:r>
              <a:rPr lang="en-ID" b="1" dirty="0" err="1"/>
              <a:t>setiap</a:t>
            </a:r>
            <a:r>
              <a:rPr lang="en-ID" b="1" dirty="0"/>
              <a:t> </a:t>
            </a:r>
            <a:r>
              <a:rPr lang="en-ID" b="1" dirty="0" err="1"/>
              <a:t>tugas</a:t>
            </a:r>
            <a:r>
              <a:rPr lang="en-ID" b="1" dirty="0"/>
              <a:t> </a:t>
            </a:r>
            <a:r>
              <a:rPr lang="en-ID" b="1" dirty="0" err="1"/>
              <a:t>baru</a:t>
            </a:r>
            <a:br>
              <a:rPr lang="en-ID" dirty="0"/>
            </a:b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tambahan</a:t>
            </a:r>
            <a:r>
              <a:rPr lang="en-ID" dirty="0"/>
              <a:t> </a:t>
            </a:r>
            <a:r>
              <a:rPr lang="en-ID" dirty="0" err="1"/>
              <a:t>mengharuskan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 program </a:t>
            </a:r>
            <a:r>
              <a:rPr lang="en-ID" dirty="0" err="1"/>
              <a:t>baru</a:t>
            </a:r>
            <a:r>
              <a:rPr lang="en-ID" dirty="0"/>
              <a:t>,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efisien</a:t>
            </a:r>
            <a:r>
              <a:rPr lang="en-ID" dirty="0"/>
              <a:t> dan </a:t>
            </a:r>
            <a:r>
              <a:rPr lang="en-ID" dirty="0" err="1"/>
              <a:t>sulit</a:t>
            </a:r>
            <a:r>
              <a:rPr lang="en-ID" dirty="0"/>
              <a:t> </a:t>
            </a:r>
            <a:r>
              <a:rPr lang="en-ID" dirty="0" err="1"/>
              <a:t>diskalakan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1166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984DA623-7E24-13C3-AB72-66BD5E9AA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BBD9FDE2-C58E-48AD-B5F7-165C86FC66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028C5A42-222D-83FD-8AA8-9E89C4FD66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Ketergantungan</a:t>
            </a:r>
            <a:r>
              <a:rPr lang="en-ID" dirty="0"/>
              <a:t> yang </a:t>
            </a:r>
            <a:r>
              <a:rPr lang="en-ID" dirty="0" err="1"/>
              <a:t>kuat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program dan data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b="1" dirty="0" err="1"/>
              <a:t>tidak</a:t>
            </a:r>
            <a:r>
              <a:rPr lang="en-ID" b="1" dirty="0"/>
              <a:t> </a:t>
            </a:r>
            <a:r>
              <a:rPr lang="en-ID" b="1" dirty="0" err="1"/>
              <a:t>fleksibel</a:t>
            </a:r>
            <a:r>
              <a:rPr lang="en-ID" b="1" dirty="0"/>
              <a:t>, </a:t>
            </a:r>
            <a:r>
              <a:rPr lang="en-ID" b="1" dirty="0" err="1"/>
              <a:t>sulit</a:t>
            </a:r>
            <a:r>
              <a:rPr lang="en-ID" b="1" dirty="0"/>
              <a:t> </a:t>
            </a:r>
            <a:r>
              <a:rPr lang="en-ID" b="1" dirty="0" err="1"/>
              <a:t>dipelihara</a:t>
            </a:r>
            <a:r>
              <a:rPr lang="en-ID" b="1" dirty="0"/>
              <a:t>, dan </a:t>
            </a:r>
            <a:r>
              <a:rPr lang="en-ID" b="1" dirty="0" err="1"/>
              <a:t>sulit</a:t>
            </a:r>
            <a:r>
              <a:rPr lang="en-ID" b="1" dirty="0"/>
              <a:t> </a:t>
            </a:r>
            <a:r>
              <a:rPr lang="en-ID" b="1" dirty="0" err="1"/>
              <a:t>dikembangkan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alasan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munculnya</a:t>
            </a:r>
            <a:r>
              <a:rPr lang="en-ID" dirty="0"/>
              <a:t> </a:t>
            </a:r>
            <a:r>
              <a:rPr lang="en-ID" b="1" dirty="0" err="1"/>
              <a:t>pendekatan</a:t>
            </a:r>
            <a:r>
              <a:rPr lang="en-ID" b="1" dirty="0"/>
              <a:t> </a:t>
            </a:r>
            <a:r>
              <a:rPr lang="en-ID" b="1" dirty="0" err="1"/>
              <a:t>sistem</a:t>
            </a:r>
            <a:r>
              <a:rPr lang="en-ID" b="1" dirty="0"/>
              <a:t> basis data</a:t>
            </a:r>
            <a:r>
              <a:rPr lang="en-ID" dirty="0"/>
              <a:t>.</a:t>
            </a:r>
            <a:endParaRPr lang="en-ID" sz="11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sz="1100" dirty="0" err="1"/>
              <a:t>Struktur</a:t>
            </a:r>
            <a:r>
              <a:rPr lang="en-ID" sz="1100" dirty="0"/>
              <a:t> data dan </a:t>
            </a:r>
            <a:r>
              <a:rPr lang="en-ID" sz="1100" dirty="0" err="1"/>
              <a:t>cara</a:t>
            </a:r>
            <a:r>
              <a:rPr lang="en-ID" sz="1100" dirty="0"/>
              <a:t> </a:t>
            </a:r>
            <a:r>
              <a:rPr lang="en-ID" sz="1100" dirty="0" err="1"/>
              <a:t>penyimpanannya</a:t>
            </a:r>
            <a:r>
              <a:rPr lang="en-ID" sz="1100" dirty="0"/>
              <a:t> </a:t>
            </a:r>
            <a:r>
              <a:rPr lang="en-ID" sz="1100" dirty="0" err="1"/>
              <a:t>tertanam</a:t>
            </a:r>
            <a:r>
              <a:rPr lang="en-ID" sz="1100" dirty="0"/>
              <a:t> </a:t>
            </a:r>
            <a:r>
              <a:rPr lang="en-ID" sz="1100" dirty="0" err="1"/>
              <a:t>langsung</a:t>
            </a:r>
            <a:r>
              <a:rPr lang="en-ID" sz="1100" dirty="0"/>
              <a:t> di </a:t>
            </a:r>
            <a:r>
              <a:rPr lang="en-ID" sz="1100" dirty="0" err="1"/>
              <a:t>dalam</a:t>
            </a:r>
            <a:r>
              <a:rPr lang="en-ID" sz="1100" dirty="0"/>
              <a:t> </a:t>
            </a:r>
            <a:r>
              <a:rPr lang="en-ID" sz="1100" dirty="0" err="1"/>
              <a:t>kode</a:t>
            </a:r>
            <a:r>
              <a:rPr lang="en-ID" sz="1100" dirty="0"/>
              <a:t> program, </a:t>
            </a:r>
            <a:r>
              <a:rPr lang="en-ID" sz="1100" dirty="0" err="1"/>
              <a:t>sehingga</a:t>
            </a:r>
            <a:r>
              <a:rPr lang="en-ID" sz="1100" dirty="0"/>
              <a:t> </a:t>
            </a:r>
            <a:r>
              <a:rPr lang="en-ID" sz="1100" dirty="0" err="1"/>
              <a:t>setiap</a:t>
            </a:r>
            <a:r>
              <a:rPr lang="en-ID" sz="1100" dirty="0"/>
              <a:t> </a:t>
            </a:r>
            <a:r>
              <a:rPr lang="en-ID" sz="1100" dirty="0" err="1"/>
              <a:t>perubahan</a:t>
            </a:r>
            <a:r>
              <a:rPr lang="en-ID" sz="1100" dirty="0"/>
              <a:t> pada data </a:t>
            </a:r>
            <a:r>
              <a:rPr lang="en-ID" sz="1100" dirty="0" err="1"/>
              <a:t>mengharuskan</a:t>
            </a:r>
            <a:r>
              <a:rPr lang="en-ID" sz="1100" dirty="0"/>
              <a:t> </a:t>
            </a:r>
            <a:r>
              <a:rPr lang="en-ID" sz="1100" dirty="0" err="1"/>
              <a:t>perubahan</a:t>
            </a:r>
            <a:r>
              <a:rPr lang="en-ID" sz="1100" dirty="0"/>
              <a:t> pada program </a:t>
            </a:r>
            <a:r>
              <a:rPr lang="en-ID" sz="1100" dirty="0" err="1"/>
              <a:t>aplikasi</a:t>
            </a:r>
            <a:r>
              <a:rPr lang="en-ID" sz="1100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sz="1100" dirty="0" err="1"/>
              <a:t>Informasi</a:t>
            </a:r>
            <a:r>
              <a:rPr lang="en-ID" sz="1100" dirty="0"/>
              <a:t> </a:t>
            </a:r>
            <a:r>
              <a:rPr lang="en-ID" sz="1100" dirty="0" err="1"/>
              <a:t>mengenai</a:t>
            </a:r>
            <a:r>
              <a:rPr lang="en-ID" sz="1100" dirty="0"/>
              <a:t> </a:t>
            </a:r>
            <a:r>
              <a:rPr lang="en-ID" sz="1100" dirty="0" err="1"/>
              <a:t>struktur</a:t>
            </a:r>
            <a:r>
              <a:rPr lang="en-ID" sz="1100" dirty="0"/>
              <a:t> data, </a:t>
            </a:r>
            <a:r>
              <a:rPr lang="en-ID" sz="1100" dirty="0" err="1"/>
              <a:t>tipe</a:t>
            </a:r>
            <a:r>
              <a:rPr lang="en-ID" sz="1100" dirty="0"/>
              <a:t> data, dan format </a:t>
            </a:r>
            <a:r>
              <a:rPr lang="en-ID" sz="1100" dirty="0" err="1"/>
              <a:t>berkas</a:t>
            </a:r>
            <a:r>
              <a:rPr lang="en-ID" sz="1100" dirty="0"/>
              <a:t> </a:t>
            </a:r>
            <a:r>
              <a:rPr lang="en-ID" sz="1100" dirty="0" err="1"/>
              <a:t>dikelola</a:t>
            </a:r>
            <a:r>
              <a:rPr lang="en-ID" sz="1100" dirty="0"/>
              <a:t> </a:t>
            </a:r>
            <a:r>
              <a:rPr lang="en-ID" sz="1100" dirty="0" err="1"/>
              <a:t>secara</a:t>
            </a:r>
            <a:r>
              <a:rPr lang="en-ID" sz="1100" dirty="0"/>
              <a:t> </a:t>
            </a:r>
            <a:r>
              <a:rPr lang="en-ID" sz="1100" dirty="0" err="1"/>
              <a:t>terpisah</a:t>
            </a:r>
            <a:r>
              <a:rPr lang="en-ID" sz="1100" dirty="0"/>
              <a:t> oleh masing-masing program.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0936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302470A6-C4BD-3095-BF0A-49D64B6D0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2941CEFD-D760-DA4E-5CD7-5063E84271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A3EA046A-7765-8019-AE38-71FEBB2A8E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dirty="0" err="1"/>
              <a:t>berkas</a:t>
            </a:r>
            <a:r>
              <a:rPr lang="en-ID" dirty="0"/>
              <a:t> </a:t>
            </a:r>
            <a:r>
              <a:rPr lang="en-ID" b="1" dirty="0" err="1"/>
              <a:t>tidak</a:t>
            </a:r>
            <a:r>
              <a:rPr lang="en-ID" b="1" dirty="0"/>
              <a:t> </a:t>
            </a:r>
            <a:r>
              <a:rPr lang="en-ID" b="1" dirty="0" err="1"/>
              <a:t>memiliki</a:t>
            </a:r>
            <a:r>
              <a:rPr lang="en-ID" b="1" dirty="0"/>
              <a:t> </a:t>
            </a:r>
            <a:r>
              <a:rPr lang="en-ID" b="1" dirty="0" err="1"/>
              <a:t>mekanisme</a:t>
            </a:r>
            <a:r>
              <a:rPr lang="en-ID" b="1" dirty="0"/>
              <a:t> </a:t>
            </a:r>
            <a:r>
              <a:rPr lang="en-ID" b="1" dirty="0" err="1"/>
              <a:t>bawaan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menjamin</a:t>
            </a:r>
            <a:r>
              <a:rPr lang="en-ID" dirty="0"/>
              <a:t> </a:t>
            </a:r>
            <a:r>
              <a:rPr lang="en-ID" dirty="0" err="1"/>
              <a:t>atomisitas</a:t>
            </a:r>
            <a:r>
              <a:rPr lang="en-ID" dirty="0"/>
              <a:t>, </a:t>
            </a:r>
            <a:r>
              <a:rPr lang="en-ID" dirty="0" err="1"/>
              <a:t>konsistensi</a:t>
            </a:r>
            <a:r>
              <a:rPr lang="en-ID" dirty="0"/>
              <a:t>, </a:t>
            </a:r>
            <a:r>
              <a:rPr lang="en-ID" dirty="0" err="1"/>
              <a:t>akses</a:t>
            </a:r>
            <a:r>
              <a:rPr lang="en-ID" dirty="0"/>
              <a:t> </a:t>
            </a:r>
            <a:r>
              <a:rPr lang="en-ID" dirty="0" err="1"/>
              <a:t>bersamaan</a:t>
            </a:r>
            <a:r>
              <a:rPr lang="en-ID" dirty="0"/>
              <a:t> yang </a:t>
            </a:r>
            <a:r>
              <a:rPr lang="en-ID" dirty="0" err="1"/>
              <a:t>aman</a:t>
            </a:r>
            <a:r>
              <a:rPr lang="en-ID" dirty="0"/>
              <a:t>, dan </a:t>
            </a:r>
            <a:r>
              <a:rPr lang="en-ID" dirty="0" err="1"/>
              <a:t>keamanan</a:t>
            </a:r>
            <a:r>
              <a:rPr lang="en-ID" dirty="0"/>
              <a:t> data,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dukungan</a:t>
            </a:r>
            <a:r>
              <a:rPr lang="en-ID" dirty="0"/>
              <a:t> </a:t>
            </a:r>
            <a:r>
              <a:rPr lang="en-ID" b="1" dirty="0"/>
              <a:t>DBMS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mengatasi</a:t>
            </a:r>
            <a:r>
              <a:rPr lang="en-ID" dirty="0"/>
              <a:t> </a:t>
            </a:r>
            <a:r>
              <a:rPr lang="en-ID" dirty="0" err="1"/>
              <a:t>permasalahan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</a:t>
            </a:r>
            <a:r>
              <a:rPr lang="en-ID" dirty="0" err="1"/>
              <a:t>pembaruan</a:t>
            </a:r>
            <a:r>
              <a:rPr lang="en-ID" dirty="0"/>
              <a:t> data </a:t>
            </a:r>
            <a:r>
              <a:rPr lang="en-ID" dirty="0" err="1"/>
              <a:t>seharusnya</a:t>
            </a:r>
            <a:r>
              <a:rPr lang="en-ID" dirty="0"/>
              <a:t> </a:t>
            </a:r>
            <a:r>
              <a:rPr lang="en-ID" dirty="0" err="1"/>
              <a:t>diperlakukan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kesatuan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dibagi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dijalankan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lengkap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dijalankan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sekali</a:t>
            </a:r>
            <a:r>
              <a:rPr lang="en-ID" dirty="0"/>
              <a:t>. </a:t>
            </a:r>
            <a:r>
              <a:rPr lang="en-ID" dirty="0" err="1"/>
              <a:t>Apabila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gangguan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kegagalan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listrik</a:t>
            </a:r>
            <a:r>
              <a:rPr lang="en-ID" dirty="0"/>
              <a:t> </a:t>
            </a:r>
            <a:r>
              <a:rPr lang="en-ID" dirty="0" err="1"/>
              <a:t>padam</a:t>
            </a:r>
            <a:r>
              <a:rPr lang="en-ID" dirty="0"/>
              <a:t>, </a:t>
            </a:r>
            <a:r>
              <a:rPr lang="en-ID" dirty="0" err="1"/>
              <a:t>pembaruan</a:t>
            </a:r>
            <a:r>
              <a:rPr lang="en-ID" dirty="0"/>
              <a:t> data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berhenti</a:t>
            </a:r>
            <a:r>
              <a:rPr lang="en-ID" dirty="0"/>
              <a:t> di </a:t>
            </a:r>
            <a:r>
              <a:rPr lang="en-ID" dirty="0" err="1"/>
              <a:t>tengah</a:t>
            </a:r>
            <a:r>
              <a:rPr lang="en-ID" dirty="0"/>
              <a:t> proses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sebagian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yang </a:t>
            </a:r>
            <a:r>
              <a:rPr lang="en-ID" dirty="0" err="1"/>
              <a:t>tersimpan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8532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CD373C8B-2355-64E3-FF83-4F3DD6F7D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76FDA43B-E847-B618-0454-E88F8646B7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37201BBA-72F0-DF16-2801-E5F0FD1F3B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Seluruh</a:t>
            </a:r>
            <a:r>
              <a:rPr lang="en-ID" dirty="0"/>
              <a:t> data </a:t>
            </a:r>
            <a:r>
              <a:rPr lang="en-ID" dirty="0" err="1"/>
              <a:t>disimpan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penyimpanan</a:t>
            </a:r>
            <a:r>
              <a:rPr lang="en-ID" dirty="0"/>
              <a:t> </a:t>
            </a:r>
            <a:r>
              <a:rPr lang="en-ID" dirty="0" err="1"/>
              <a:t>terpusat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bersama</a:t>
            </a:r>
            <a:r>
              <a:rPr lang="en-ID" dirty="0"/>
              <a:t> oleh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dan </a:t>
            </a:r>
            <a:r>
              <a:rPr lang="en-ID" dirty="0" err="1"/>
              <a:t>pengguna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duplikasi</a:t>
            </a:r>
            <a:r>
              <a:rPr lang="en-ID" dirty="0"/>
              <a:t> dan </a:t>
            </a:r>
            <a:r>
              <a:rPr lang="en-ID" dirty="0" err="1"/>
              <a:t>inkonsistensi</a:t>
            </a:r>
            <a:r>
              <a:rPr lang="en-ID" dirty="0"/>
              <a:t> data.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Pengelolaan</a:t>
            </a:r>
            <a:r>
              <a:rPr lang="en-ID" dirty="0"/>
              <a:t> data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oleh masing-masing </a:t>
            </a:r>
            <a:r>
              <a:rPr lang="en-ID" dirty="0" err="1"/>
              <a:t>aplikasi</a:t>
            </a:r>
            <a:r>
              <a:rPr lang="en-ID" dirty="0"/>
              <a:t>, </a:t>
            </a:r>
            <a:r>
              <a:rPr lang="en-ID" dirty="0" err="1"/>
              <a:t>melainkan</a:t>
            </a:r>
            <a:r>
              <a:rPr lang="en-ID" dirty="0"/>
              <a:t> oleh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pengelola</a:t>
            </a:r>
            <a:r>
              <a:rPr lang="en-ID" dirty="0"/>
              <a:t> </a:t>
            </a:r>
            <a:r>
              <a:rPr lang="en-ID" dirty="0" err="1"/>
              <a:t>terpusat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b="1" dirty="0"/>
              <a:t>Database Management System (DBMS)</a:t>
            </a:r>
            <a:r>
              <a:rPr lang="en-ID" dirty="0"/>
              <a:t>, yang </a:t>
            </a:r>
            <a:r>
              <a:rPr lang="en-ID" dirty="0" err="1"/>
              <a:t>bertanggung</a:t>
            </a:r>
            <a:r>
              <a:rPr lang="en-ID" dirty="0"/>
              <a:t> </a:t>
            </a:r>
            <a:r>
              <a:rPr lang="en-ID" dirty="0" err="1"/>
              <a:t>jawab</a:t>
            </a:r>
            <a:r>
              <a:rPr lang="en-ID" dirty="0"/>
              <a:t>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pengendalian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, </a:t>
            </a:r>
            <a:r>
              <a:rPr lang="en-ID" dirty="0" err="1"/>
              <a:t>integritas</a:t>
            </a:r>
            <a:r>
              <a:rPr lang="en-ID" dirty="0"/>
              <a:t>, dan </a:t>
            </a:r>
            <a:r>
              <a:rPr lang="en-ID" dirty="0" err="1"/>
              <a:t>keamanan</a:t>
            </a:r>
            <a:r>
              <a:rPr lang="en-ID" dirty="0"/>
              <a:t> data.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/>
              <a:t>Data </a:t>
            </a:r>
            <a:r>
              <a:rPr lang="en-ID" dirty="0" err="1"/>
              <a:t>disimpan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dan format yang </a:t>
            </a:r>
            <a:r>
              <a:rPr lang="en-ID" dirty="0" err="1"/>
              <a:t>terstandarisasi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memudahkan</a:t>
            </a:r>
            <a:r>
              <a:rPr lang="en-ID" dirty="0"/>
              <a:t> </a:t>
            </a:r>
            <a:r>
              <a:rPr lang="en-ID" dirty="0" err="1"/>
              <a:t>penyimpanan</a:t>
            </a:r>
            <a:r>
              <a:rPr lang="en-ID" dirty="0"/>
              <a:t>, </a:t>
            </a:r>
            <a:r>
              <a:rPr lang="en-ID" dirty="0" err="1"/>
              <a:t>pengambilan</a:t>
            </a:r>
            <a:r>
              <a:rPr lang="en-ID" dirty="0"/>
              <a:t>, </a:t>
            </a:r>
            <a:r>
              <a:rPr lang="en-ID" dirty="0" err="1"/>
              <a:t>pemeliharaan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pemanfaatan</a:t>
            </a:r>
            <a:r>
              <a:rPr lang="en-ID" dirty="0"/>
              <a:t> data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efisien</a:t>
            </a:r>
            <a:r>
              <a:rPr lang="en-ID" dirty="0"/>
              <a:t> oleh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ID" dirty="0" err="1"/>
              <a:t>Pendekatan</a:t>
            </a:r>
            <a:r>
              <a:rPr lang="en-ID" dirty="0"/>
              <a:t> basis data </a:t>
            </a:r>
            <a:r>
              <a:rPr lang="en-ID" dirty="0" err="1"/>
              <a:t>menggantikan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dirty="0" err="1"/>
              <a:t>berkas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b="1" dirty="0" err="1"/>
              <a:t>pengelolaan</a:t>
            </a:r>
            <a:r>
              <a:rPr lang="en-ID" b="1" dirty="0"/>
              <a:t> data </a:t>
            </a:r>
            <a:r>
              <a:rPr lang="en-ID" b="1" dirty="0" err="1"/>
              <a:t>terpusat</a:t>
            </a:r>
            <a:r>
              <a:rPr lang="en-ID" b="1" dirty="0"/>
              <a:t>, </a:t>
            </a:r>
            <a:r>
              <a:rPr lang="en-ID" b="1" dirty="0" err="1"/>
              <a:t>terkontrol</a:t>
            </a:r>
            <a:r>
              <a:rPr lang="en-ID" b="1" dirty="0"/>
              <a:t>, dan </a:t>
            </a:r>
            <a:r>
              <a:rPr lang="en-ID" b="1" dirty="0" err="1"/>
              <a:t>terstandarisasi</a:t>
            </a:r>
            <a:r>
              <a:rPr lang="en-ID" dirty="0"/>
              <a:t>, yang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fondasi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modern.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93781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D87BE72D-4AF8-E791-70F8-E9BD4D602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462ACE8E-5C63-77FA-75C7-A5C39CDD28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0E23FFD9-7A62-04B0-4CB5-BFEE9E3E5E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/>
              <a:t>DBMS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mengelola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</a:t>
            </a:r>
            <a:r>
              <a:rPr lang="en-ID" dirty="0" err="1"/>
              <a:t>daya</a:t>
            </a:r>
            <a:r>
              <a:rPr lang="en-ID" dirty="0"/>
              <a:t> data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yang </a:t>
            </a:r>
            <a:r>
              <a:rPr lang="en-ID" dirty="0" err="1"/>
              <a:t>serupa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mengelola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</a:t>
            </a:r>
            <a:r>
              <a:rPr lang="en-ID" dirty="0" err="1"/>
              <a:t>daya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keras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pengaturan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, </a:t>
            </a:r>
            <a:r>
              <a:rPr lang="en-ID" dirty="0" err="1"/>
              <a:t>pengendalian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, dan </a:t>
            </a:r>
            <a:r>
              <a:rPr lang="en-ID" dirty="0" err="1"/>
              <a:t>optimalisasi</a:t>
            </a:r>
            <a:r>
              <a:rPr lang="en-ID" dirty="0"/>
              <a:t> </a:t>
            </a:r>
            <a:r>
              <a:rPr lang="en-ID" dirty="0" err="1"/>
              <a:t>pemanfaatan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</a:t>
            </a:r>
            <a:r>
              <a:rPr lang="en-ID" dirty="0" err="1"/>
              <a:t>daya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/>
              <a:t>DBMS </a:t>
            </a:r>
            <a:r>
              <a:rPr lang="en-ID" dirty="0" err="1"/>
              <a:t>bertindak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b="1" dirty="0" err="1"/>
              <a:t>perantara</a:t>
            </a:r>
            <a:r>
              <a:rPr lang="en-ID" b="1" dirty="0"/>
              <a:t> </a:t>
            </a:r>
            <a:r>
              <a:rPr lang="en-ID" b="1" dirty="0" err="1"/>
              <a:t>antara</a:t>
            </a:r>
            <a:r>
              <a:rPr lang="en-ID" b="1" dirty="0"/>
              <a:t> </a:t>
            </a:r>
            <a:r>
              <a:rPr lang="en-ID" b="1" dirty="0" err="1"/>
              <a:t>pengguna</a:t>
            </a:r>
            <a:r>
              <a:rPr lang="en-ID" b="1" dirty="0"/>
              <a:t>/</a:t>
            </a:r>
            <a:r>
              <a:rPr lang="en-ID" b="1" dirty="0" err="1"/>
              <a:t>aplikasi</a:t>
            </a:r>
            <a:r>
              <a:rPr lang="en-ID" b="1" dirty="0"/>
              <a:t> dan basis data</a:t>
            </a:r>
            <a:r>
              <a:rPr lang="en-ID" dirty="0"/>
              <a:t>, </a:t>
            </a:r>
            <a:r>
              <a:rPr lang="en-ID" dirty="0" err="1"/>
              <a:t>memastikan</a:t>
            </a:r>
            <a:r>
              <a:rPr lang="en-ID" dirty="0"/>
              <a:t> data </a:t>
            </a:r>
            <a:r>
              <a:rPr lang="en-ID" dirty="0" err="1"/>
              <a:t>dikelola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aman</a:t>
            </a:r>
            <a:r>
              <a:rPr lang="en-ID" dirty="0"/>
              <a:t>, </a:t>
            </a:r>
            <a:r>
              <a:rPr lang="en-ID" dirty="0" err="1"/>
              <a:t>konsisten</a:t>
            </a:r>
            <a:r>
              <a:rPr lang="en-ID" dirty="0"/>
              <a:t>, dan </a:t>
            </a:r>
            <a:r>
              <a:rPr lang="en-ID" dirty="0" err="1"/>
              <a:t>efisien</a:t>
            </a:r>
            <a:r>
              <a:rPr lang="en-ID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33300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C931E2B2-54EC-25AF-AC03-DC6DEAE95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16448000-7A44-FCC7-0F49-511B962E68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7BA7274C-AB2A-E51F-8AF4-C361E768D7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Perubahan</a:t>
            </a:r>
            <a:r>
              <a:rPr lang="en-ID" dirty="0"/>
              <a:t> pada </a:t>
            </a:r>
            <a:r>
              <a:rPr lang="en-ID" dirty="0" err="1"/>
              <a:t>struktur</a:t>
            </a:r>
            <a:r>
              <a:rPr lang="en-ID" dirty="0"/>
              <a:t> data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program </a:t>
            </a:r>
            <a:r>
              <a:rPr lang="en-ID" dirty="0" err="1"/>
              <a:t>aplikasi</a:t>
            </a:r>
            <a:r>
              <a:rPr lang="en-ID" dirty="0"/>
              <a:t> yang </a:t>
            </a:r>
            <a:r>
              <a:rPr lang="en-ID" dirty="0" err="1"/>
              <a:t>mengakses</a:t>
            </a:r>
            <a:r>
              <a:rPr lang="en-ID" dirty="0"/>
              <a:t> data </a:t>
            </a:r>
            <a:r>
              <a:rPr lang="en-ID" dirty="0" err="1"/>
              <a:t>tersebut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fleksibel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sv-SE" dirty="0"/>
              <a:t>Duplikasi data diatur secara sengaja dan terkendali untuk meningkatkan kinerja dan keandalan sistem, tanpa menimbulkan inkonsistensi.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/>
              <a:t>Data yang </a:t>
            </a:r>
            <a:r>
              <a:rPr lang="en-ID" dirty="0" err="1"/>
              <a:t>disimpan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terpusat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kemungkinan</a:t>
            </a:r>
            <a:r>
              <a:rPr lang="en-ID" dirty="0"/>
              <a:t> </a:t>
            </a:r>
            <a:r>
              <a:rPr lang="en-ID" dirty="0" err="1"/>
              <a:t>perbedaan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data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/>
              <a:t>Data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diakses</a:t>
            </a:r>
            <a:r>
              <a:rPr lang="en-ID" dirty="0"/>
              <a:t> dan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bersama</a:t>
            </a:r>
            <a:r>
              <a:rPr lang="en-ID" dirty="0"/>
              <a:t> oleh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dan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hak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yang </a:t>
            </a:r>
            <a:r>
              <a:rPr lang="en-ID" dirty="0" err="1"/>
              <a:t>ditetapkan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Pengembang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menangani</a:t>
            </a:r>
            <a:r>
              <a:rPr lang="en-ID" dirty="0"/>
              <a:t> </a:t>
            </a:r>
            <a:r>
              <a:rPr lang="en-ID" dirty="0" err="1"/>
              <a:t>pengelolaan</a:t>
            </a:r>
            <a:r>
              <a:rPr lang="en-ID" dirty="0"/>
              <a:t> data </a:t>
            </a:r>
            <a:r>
              <a:rPr lang="en-ID" dirty="0" err="1"/>
              <a:t>secara</a:t>
            </a:r>
            <a:r>
              <a:rPr lang="en-ID" dirty="0"/>
              <a:t> detail,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fokus</a:t>
            </a:r>
            <a:r>
              <a:rPr lang="en-ID" dirty="0"/>
              <a:t> pada </a:t>
            </a:r>
            <a:r>
              <a:rPr lang="en-ID" dirty="0" err="1"/>
              <a:t>logika</a:t>
            </a:r>
            <a:r>
              <a:rPr lang="en-ID" dirty="0"/>
              <a:t> </a:t>
            </a:r>
            <a:r>
              <a:rPr lang="en-ID" dirty="0" err="1"/>
              <a:t>bisnis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Standar</a:t>
            </a:r>
            <a:r>
              <a:rPr lang="en-ID" dirty="0"/>
              <a:t> </a:t>
            </a:r>
            <a:r>
              <a:rPr lang="en-ID" dirty="0" err="1"/>
              <a:t>penamaan</a:t>
            </a:r>
            <a:r>
              <a:rPr lang="en-ID" dirty="0"/>
              <a:t>, format data, dan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pengelolaan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diterapkan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terpusat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DBMS.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Mekanisme</a:t>
            </a:r>
            <a:r>
              <a:rPr lang="en-ID" dirty="0"/>
              <a:t> </a:t>
            </a:r>
            <a:r>
              <a:rPr lang="en-ID" dirty="0" err="1"/>
              <a:t>validasi</a:t>
            </a:r>
            <a:r>
              <a:rPr lang="en-ID" dirty="0"/>
              <a:t>, </a:t>
            </a:r>
            <a:r>
              <a:rPr lang="en-ID" dirty="0" err="1"/>
              <a:t>batasan</a:t>
            </a:r>
            <a:r>
              <a:rPr lang="en-ID" dirty="0"/>
              <a:t> </a:t>
            </a:r>
            <a:r>
              <a:rPr lang="en-ID" dirty="0" err="1"/>
              <a:t>integritas</a:t>
            </a:r>
            <a:r>
              <a:rPr lang="en-ID" dirty="0"/>
              <a:t>, dan </a:t>
            </a:r>
            <a:r>
              <a:rPr lang="en-ID" dirty="0" err="1"/>
              <a:t>pengendalian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keakuratan</a:t>
            </a:r>
            <a:r>
              <a:rPr lang="en-ID" dirty="0"/>
              <a:t> dan </a:t>
            </a:r>
            <a:r>
              <a:rPr lang="en-ID" dirty="0" err="1"/>
              <a:t>keandalan</a:t>
            </a:r>
            <a:r>
              <a:rPr lang="en-ID" dirty="0"/>
              <a:t> data.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/>
              <a:t>Data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diakses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dan </a:t>
            </a:r>
            <a:r>
              <a:rPr lang="en-ID" dirty="0" err="1"/>
              <a:t>efisien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operasional</a:t>
            </a:r>
            <a:r>
              <a:rPr lang="en-ID" dirty="0"/>
              <a:t> dan </a:t>
            </a:r>
            <a:r>
              <a:rPr lang="en-ID" dirty="0" err="1"/>
              <a:t>analisis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Perubahan</a:t>
            </a:r>
            <a:r>
              <a:rPr lang="en-ID" dirty="0"/>
              <a:t> pada data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pengelolaan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modifikasi</a:t>
            </a:r>
            <a:r>
              <a:rPr lang="en-ID" dirty="0"/>
              <a:t> pada </a:t>
            </a:r>
            <a:r>
              <a:rPr lang="en-ID" dirty="0" err="1"/>
              <a:t>banyak</a:t>
            </a:r>
            <a:r>
              <a:rPr lang="en-ID" dirty="0"/>
              <a:t> program </a:t>
            </a:r>
            <a:r>
              <a:rPr lang="en-ID" dirty="0" err="1"/>
              <a:t>aplikasi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/>
              <a:t>Data yang </a:t>
            </a:r>
            <a:r>
              <a:rPr lang="en-ID" dirty="0" err="1"/>
              <a:t>konsisten</a:t>
            </a:r>
            <a:r>
              <a:rPr lang="en-ID" dirty="0"/>
              <a:t>, </a:t>
            </a:r>
            <a:r>
              <a:rPr lang="en-ID" dirty="0" err="1"/>
              <a:t>terintegrasi</a:t>
            </a:r>
            <a:r>
              <a:rPr lang="en-ID" dirty="0"/>
              <a:t>, dan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diakses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dan </a:t>
            </a:r>
            <a:r>
              <a:rPr lang="en-ID" dirty="0" err="1"/>
              <a:t>keputusan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tepat</a:t>
            </a:r>
            <a:r>
              <a:rPr lang="en-ID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ID" dirty="0" err="1"/>
              <a:t>Pendekatan</a:t>
            </a:r>
            <a:r>
              <a:rPr lang="en-ID" dirty="0"/>
              <a:t> basis data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b="1" dirty="0" err="1"/>
              <a:t>keunggulan</a:t>
            </a:r>
            <a:r>
              <a:rPr lang="en-ID" b="1" dirty="0"/>
              <a:t> </a:t>
            </a:r>
            <a:r>
              <a:rPr lang="en-ID" b="1" dirty="0" err="1"/>
              <a:t>signifikan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pengelolaan</a:t>
            </a:r>
            <a:r>
              <a:rPr lang="en-ID" dirty="0"/>
              <a:t> data, </a:t>
            </a:r>
            <a:r>
              <a:rPr lang="en-ID" dirty="0" err="1"/>
              <a:t>pengembangan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, dan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dibandingkan</a:t>
            </a:r>
            <a:r>
              <a:rPr lang="en-ID" dirty="0"/>
              <a:t> </a:t>
            </a:r>
            <a:r>
              <a:rPr lang="en-ID" dirty="0" err="1"/>
              <a:t>pendekatan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dirty="0" err="1"/>
              <a:t>berkas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ID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ID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64108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952A419A-E506-B71F-0707-238311310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9571414C-59AB-8D37-502E-BE763CD554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28B8CCC2-A900-6C7A-2047-2E5C922C18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Penerapan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basis data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</a:t>
            </a:r>
            <a:r>
              <a:rPr lang="en-ID" dirty="0" err="1"/>
              <a:t>daya</a:t>
            </a:r>
            <a:r>
              <a:rPr lang="en-ID" dirty="0"/>
              <a:t> </a:t>
            </a:r>
            <a:r>
              <a:rPr lang="en-ID" dirty="0" err="1"/>
              <a:t>manusia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keahlian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i="1" dirty="0"/>
              <a:t>database administrator</a:t>
            </a:r>
            <a:r>
              <a:rPr lang="en-ID" dirty="0"/>
              <a:t> dan </a:t>
            </a:r>
            <a:r>
              <a:rPr lang="en-ID" dirty="0" err="1"/>
              <a:t>pengembang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basis data.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Implementasi</a:t>
            </a:r>
            <a:r>
              <a:rPr lang="en-ID" dirty="0"/>
              <a:t> DBMS </a:t>
            </a:r>
            <a:r>
              <a:rPr lang="en-ID" dirty="0" err="1"/>
              <a:t>melibatkan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,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keras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kompleksitas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konfigurasi</a:t>
            </a:r>
            <a:r>
              <a:rPr lang="en-ID" dirty="0"/>
              <a:t> dan </a:t>
            </a:r>
            <a:r>
              <a:rPr lang="en-ID" dirty="0" err="1"/>
              <a:t>pemeliharaan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Peralihan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lama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dirty="0" err="1"/>
              <a:t>berkas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basis data </a:t>
            </a:r>
            <a:r>
              <a:rPr lang="en-ID" dirty="0" err="1"/>
              <a:t>membutuhkan</a:t>
            </a:r>
            <a:r>
              <a:rPr lang="en-ID" dirty="0"/>
              <a:t> proses </a:t>
            </a:r>
            <a:r>
              <a:rPr lang="en-ID" dirty="0" err="1"/>
              <a:t>migrasi</a:t>
            </a:r>
            <a:r>
              <a:rPr lang="en-ID" dirty="0"/>
              <a:t> data dan </a:t>
            </a:r>
            <a:r>
              <a:rPr lang="en-ID" dirty="0" err="1"/>
              <a:t>penyesuaian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dan </a:t>
            </a:r>
            <a:r>
              <a:rPr lang="en-ID" dirty="0" err="1"/>
              <a:t>biaya</a:t>
            </a:r>
            <a:r>
              <a:rPr lang="en-ID" dirty="0"/>
              <a:t> yang </a:t>
            </a:r>
            <a:r>
              <a:rPr lang="en-ID" dirty="0" err="1"/>
              <a:t>signifikan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Sistem</a:t>
            </a:r>
            <a:r>
              <a:rPr lang="en-ID" dirty="0"/>
              <a:t> basis data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dilengkapi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prosedur</a:t>
            </a:r>
            <a:r>
              <a:rPr lang="en-ID" dirty="0"/>
              <a:t> </a:t>
            </a:r>
            <a:r>
              <a:rPr lang="en-ID" i="1" dirty="0"/>
              <a:t>backup</a:t>
            </a:r>
            <a:r>
              <a:rPr lang="en-ID" dirty="0"/>
              <a:t> dan </a:t>
            </a:r>
            <a:r>
              <a:rPr lang="en-ID" i="1" dirty="0"/>
              <a:t>recovery</a:t>
            </a:r>
            <a:r>
              <a:rPr lang="en-ID" dirty="0"/>
              <a:t> yang </a:t>
            </a:r>
            <a:r>
              <a:rPr lang="en-ID" dirty="0" err="1"/>
              <a:t>jelas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menjamin</a:t>
            </a:r>
            <a:r>
              <a:rPr lang="en-ID" dirty="0"/>
              <a:t> </a:t>
            </a:r>
            <a:r>
              <a:rPr lang="en-ID" dirty="0" err="1"/>
              <a:t>keberlangsungan</a:t>
            </a:r>
            <a:r>
              <a:rPr lang="en-ID" dirty="0"/>
              <a:t> data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kegagalan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pengelolaan</a:t>
            </a:r>
            <a:r>
              <a:rPr lang="en-ID" dirty="0"/>
              <a:t> data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menimbulkan</a:t>
            </a:r>
            <a:r>
              <a:rPr lang="en-ID" dirty="0"/>
              <a:t> </a:t>
            </a:r>
            <a:r>
              <a:rPr lang="en-ID" dirty="0" err="1"/>
              <a:t>perbedaan</a:t>
            </a:r>
            <a:r>
              <a:rPr lang="en-ID" dirty="0"/>
              <a:t> </a:t>
            </a:r>
            <a:r>
              <a:rPr lang="en-ID" dirty="0" err="1"/>
              <a:t>kepentingan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unit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terkait</a:t>
            </a:r>
            <a:r>
              <a:rPr lang="en-ID" dirty="0"/>
              <a:t> </a:t>
            </a:r>
            <a:r>
              <a:rPr lang="en-ID" dirty="0" err="1"/>
              <a:t>kepemilikan</a:t>
            </a:r>
            <a:r>
              <a:rPr lang="en-ID" dirty="0"/>
              <a:t> data, </a:t>
            </a:r>
            <a:r>
              <a:rPr lang="en-ID" dirty="0" err="1"/>
              <a:t>hak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, dan </a:t>
            </a:r>
            <a:r>
              <a:rPr lang="en-ID" dirty="0" err="1"/>
              <a:t>tanggung</a:t>
            </a:r>
            <a:r>
              <a:rPr lang="en-ID" dirty="0"/>
              <a:t> </a:t>
            </a:r>
            <a:r>
              <a:rPr lang="en-ID" dirty="0" err="1"/>
              <a:t>jawab</a:t>
            </a:r>
            <a:r>
              <a:rPr lang="en-ID" dirty="0"/>
              <a:t> </a:t>
            </a:r>
            <a:r>
              <a:rPr lang="en-ID" dirty="0" err="1"/>
              <a:t>pengelolaan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ID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ID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13636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FD4059EC-5D17-95FB-2C86-DF21FF4E4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7EC01A66-2DA0-1603-47CB-2E1C12898C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539376B8-1239-09B0-906B-E93F965CD7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b="1" dirty="0"/>
              <a:t>Tingkat </a:t>
            </a:r>
            <a:r>
              <a:rPr lang="en-ID" b="1" dirty="0" err="1"/>
              <a:t>fisik</a:t>
            </a:r>
            <a:r>
              <a:rPr lang="en-ID" b="1" dirty="0"/>
              <a:t> (</a:t>
            </a:r>
            <a:r>
              <a:rPr lang="en-ID" b="1" i="1" dirty="0"/>
              <a:t>physical level</a:t>
            </a:r>
            <a:r>
              <a:rPr lang="en-ID" b="1" dirty="0"/>
              <a:t>)</a:t>
            </a:r>
            <a:br>
              <a:rPr lang="en-ID" dirty="0"/>
            </a:br>
            <a:r>
              <a:rPr lang="en-ID" dirty="0"/>
              <a:t>Tingkat </a:t>
            </a:r>
            <a:r>
              <a:rPr lang="en-ID" dirty="0" err="1"/>
              <a:t>fisik</a:t>
            </a:r>
            <a:r>
              <a:rPr lang="en-ID" dirty="0"/>
              <a:t> </a:t>
            </a: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record data (</a:t>
            </a:r>
            <a:r>
              <a:rPr lang="en-ID" dirty="0" err="1"/>
              <a:t>misalnya</a:t>
            </a:r>
            <a:r>
              <a:rPr lang="en-ID" dirty="0"/>
              <a:t> data </a:t>
            </a:r>
            <a:r>
              <a:rPr lang="en-ID" dirty="0" err="1"/>
              <a:t>pelanggan</a:t>
            </a:r>
            <a:r>
              <a:rPr lang="en-ID" dirty="0"/>
              <a:t>) </a:t>
            </a:r>
            <a:r>
              <a:rPr lang="en-ID" dirty="0" err="1"/>
              <a:t>disimpan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fisik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media </a:t>
            </a:r>
            <a:r>
              <a:rPr lang="en-ID" dirty="0" err="1"/>
              <a:t>penyimpanan</a:t>
            </a:r>
            <a:r>
              <a:rPr lang="en-ID" dirty="0"/>
              <a:t>, </a:t>
            </a:r>
            <a:r>
              <a:rPr lang="en-ID" dirty="0" err="1"/>
              <a:t>termasuk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penyimpanan</a:t>
            </a:r>
            <a:r>
              <a:rPr lang="en-ID" dirty="0"/>
              <a:t> dan </a:t>
            </a:r>
            <a:r>
              <a:rPr lang="en-ID" dirty="0" err="1"/>
              <a:t>cara</a:t>
            </a:r>
            <a:r>
              <a:rPr lang="en-ID" dirty="0"/>
              <a:t> data </a:t>
            </a:r>
            <a:r>
              <a:rPr lang="en-ID" dirty="0" err="1"/>
              <a:t>diakses</a:t>
            </a:r>
            <a:r>
              <a:rPr lang="en-ID" dirty="0"/>
              <a:t> oleh </a:t>
            </a:r>
            <a:r>
              <a:rPr lang="en-ID" dirty="0" err="1"/>
              <a:t>sistem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b="1" dirty="0"/>
              <a:t>Tingkat </a:t>
            </a:r>
            <a:r>
              <a:rPr lang="en-ID" b="1" dirty="0" err="1"/>
              <a:t>logis</a:t>
            </a:r>
            <a:r>
              <a:rPr lang="en-ID" b="1" dirty="0"/>
              <a:t> (</a:t>
            </a:r>
            <a:r>
              <a:rPr lang="en-ID" b="1" i="1" dirty="0"/>
              <a:t>logical level</a:t>
            </a:r>
            <a:r>
              <a:rPr lang="en-ID" b="1" dirty="0"/>
              <a:t>)</a:t>
            </a:r>
            <a:br>
              <a:rPr lang="en-ID" dirty="0"/>
            </a:br>
            <a:r>
              <a:rPr lang="en-ID" dirty="0"/>
              <a:t>Tingkat </a:t>
            </a:r>
            <a:r>
              <a:rPr lang="en-ID" dirty="0" err="1"/>
              <a:t>logis</a:t>
            </a:r>
            <a:r>
              <a:rPr lang="en-ID" dirty="0"/>
              <a:t> </a:t>
            </a:r>
            <a:r>
              <a:rPr lang="en-ID" dirty="0" err="1"/>
              <a:t>menjelaskan</a:t>
            </a:r>
            <a:r>
              <a:rPr lang="en-ID" dirty="0"/>
              <a:t> data </a:t>
            </a: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yang </a:t>
            </a:r>
            <a:r>
              <a:rPr lang="en-ID" dirty="0" err="1"/>
              <a:t>disimpan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basis data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data </a:t>
            </a:r>
            <a:r>
              <a:rPr lang="en-ID" dirty="0" err="1"/>
              <a:t>tersebut</a:t>
            </a:r>
            <a:r>
              <a:rPr lang="en-ID" dirty="0"/>
              <a:t>,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memperhatikan</a:t>
            </a:r>
            <a:r>
              <a:rPr lang="en-ID" dirty="0"/>
              <a:t> detail </a:t>
            </a:r>
            <a:r>
              <a:rPr lang="en-ID" dirty="0" err="1"/>
              <a:t>penyimpanan</a:t>
            </a:r>
            <a:r>
              <a:rPr lang="en-ID" dirty="0"/>
              <a:t> </a:t>
            </a:r>
            <a:r>
              <a:rPr lang="en-ID" dirty="0" err="1"/>
              <a:t>fisiknya</a:t>
            </a:r>
            <a:r>
              <a:rPr lang="en-ID" dirty="0"/>
              <a:t>. Pada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struktur</a:t>
            </a:r>
            <a:r>
              <a:rPr lang="en-ID" dirty="0"/>
              <a:t> data </a:t>
            </a:r>
            <a:r>
              <a:rPr lang="en-ID" dirty="0" err="1"/>
              <a:t>didefinisikan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konseptual</a:t>
            </a:r>
            <a:r>
              <a:rPr lang="en-ID" dirty="0"/>
              <a:t>, </a:t>
            </a:r>
            <a:r>
              <a:rPr lang="en-ID" dirty="0" err="1"/>
              <a:t>misalnya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definisi</a:t>
            </a:r>
            <a:r>
              <a:rPr lang="en-ID" dirty="0"/>
              <a:t> record </a:t>
            </a:r>
            <a:r>
              <a:rPr lang="en-ID" i="1" dirty="0"/>
              <a:t>instructor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ID, nama, </a:t>
            </a:r>
            <a:r>
              <a:rPr lang="en-ID" dirty="0" err="1"/>
              <a:t>departemen</a:t>
            </a:r>
            <a:r>
              <a:rPr lang="en-ID" dirty="0"/>
              <a:t>, dan </a:t>
            </a:r>
            <a:r>
              <a:rPr lang="en-ID" dirty="0" err="1"/>
              <a:t>gaji</a:t>
            </a:r>
            <a:r>
              <a:rPr lang="en-ID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ingdings" panose="05000000000000000000" pitchFamily="2" charset="2"/>
              <a:buChar char="§"/>
              <a:tabLst/>
              <a:defRPr/>
            </a:pPr>
            <a:r>
              <a:rPr lang="en-ID" b="1" dirty="0"/>
              <a:t>Tingkat </a:t>
            </a:r>
            <a:r>
              <a:rPr lang="en-ID" b="1" dirty="0" err="1"/>
              <a:t>tampilan</a:t>
            </a:r>
            <a:r>
              <a:rPr lang="en-ID" b="1" dirty="0"/>
              <a:t> (</a:t>
            </a:r>
            <a:r>
              <a:rPr lang="en-ID" b="1" i="1" dirty="0"/>
              <a:t>view level</a:t>
            </a:r>
            <a:r>
              <a:rPr lang="en-ID" b="1" dirty="0"/>
              <a:t>)</a:t>
            </a:r>
            <a:br>
              <a:rPr lang="en-ID" dirty="0"/>
            </a:br>
            <a:r>
              <a:rPr lang="en-ID" dirty="0"/>
              <a:t>Tingkat </a:t>
            </a:r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lapisan</a:t>
            </a:r>
            <a:r>
              <a:rPr lang="en-ID" dirty="0"/>
              <a:t> yang </a:t>
            </a:r>
            <a:r>
              <a:rPr lang="en-ID" dirty="0" err="1"/>
              <a:t>berinteraksi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program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, di mana detail </a:t>
            </a:r>
            <a:r>
              <a:rPr lang="en-ID" dirty="0" err="1"/>
              <a:t>tipe</a:t>
            </a:r>
            <a:r>
              <a:rPr lang="en-ID" dirty="0"/>
              <a:t> dan </a:t>
            </a:r>
            <a:r>
              <a:rPr lang="en-ID" dirty="0" err="1"/>
              <a:t>struktur</a:t>
            </a:r>
            <a:r>
              <a:rPr lang="en-ID" dirty="0"/>
              <a:t> data </a:t>
            </a:r>
            <a:r>
              <a:rPr lang="en-ID" dirty="0" err="1"/>
              <a:t>disembunyikan</a:t>
            </a:r>
            <a:r>
              <a:rPr lang="en-ID" dirty="0"/>
              <a:t>. Selain </a:t>
            </a:r>
            <a:r>
              <a:rPr lang="en-ID" dirty="0" err="1"/>
              <a:t>itu</a:t>
            </a:r>
            <a:r>
              <a:rPr lang="en-ID" dirty="0"/>
              <a:t>, </a:t>
            </a:r>
            <a:r>
              <a:rPr lang="en-ID" i="1" dirty="0"/>
              <a:t>view</a:t>
            </a:r>
            <a:r>
              <a:rPr lang="en-ID" dirty="0"/>
              <a:t> juga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menyembunyikan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data </a:t>
            </a:r>
            <a:r>
              <a:rPr lang="en-ID" dirty="0" err="1"/>
              <a:t>gaji</a:t>
            </a:r>
            <a:r>
              <a:rPr lang="en-ID" dirty="0"/>
              <a:t> </a:t>
            </a:r>
            <a:r>
              <a:rPr lang="en-ID" dirty="0" err="1"/>
              <a:t>pegawai</a:t>
            </a:r>
            <a:r>
              <a:rPr lang="en-ID" dirty="0"/>
              <a:t>, guna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dan </a:t>
            </a:r>
            <a:r>
              <a:rPr lang="en-ID" dirty="0" err="1"/>
              <a:t>pembatasan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ID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08176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2BB38E3D-F574-47DA-95FB-E8AD3BFC7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EA795171-EC55-306B-8902-F42F0D4462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647F61E4-8050-6962-B293-0F215FA849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b="1" dirty="0" err="1"/>
              <a:t>Arsitektur</a:t>
            </a:r>
            <a:r>
              <a:rPr lang="en-ID" b="1" dirty="0"/>
              <a:t> </a:t>
            </a:r>
            <a:r>
              <a:rPr lang="en-ID" b="1" dirty="0" err="1"/>
              <a:t>sistem</a:t>
            </a:r>
            <a:r>
              <a:rPr lang="en-ID" b="1" dirty="0"/>
              <a:t> basis data</a:t>
            </a:r>
            <a:r>
              <a:rPr lang="en-ID" dirty="0"/>
              <a:t> yang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data </a:t>
            </a:r>
            <a:r>
              <a:rPr lang="en-ID" dirty="0" err="1"/>
              <a:t>dipandang</a:t>
            </a:r>
            <a:r>
              <a:rPr lang="en-ID" dirty="0"/>
              <a:t> pada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abstraksi</a:t>
            </a:r>
            <a:r>
              <a:rPr lang="en-ID" dirty="0"/>
              <a:t>,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penyimpanan</a:t>
            </a:r>
            <a:r>
              <a:rPr lang="en-ID" dirty="0"/>
              <a:t> </a:t>
            </a:r>
            <a:r>
              <a:rPr lang="en-ID" dirty="0" err="1"/>
              <a:t>fisik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 oleh </a:t>
            </a:r>
            <a:r>
              <a:rPr lang="en-ID" dirty="0" err="1"/>
              <a:t>aplikasi</a:t>
            </a:r>
            <a:r>
              <a:rPr lang="en-ID" dirty="0"/>
              <a:t>.</a:t>
            </a:r>
          </a:p>
          <a:p>
            <a:pPr marL="457200" indent="-298450">
              <a:buFont typeface="Wingdings" panose="05000000000000000000" pitchFamily="2" charset="2"/>
              <a:buChar char="§"/>
            </a:pPr>
            <a:r>
              <a:rPr lang="en-ID" b="1" dirty="0" err="1"/>
              <a:t>Lapisan</a:t>
            </a:r>
            <a:r>
              <a:rPr lang="en-ID" b="1" dirty="0"/>
              <a:t> </a:t>
            </a:r>
            <a:r>
              <a:rPr lang="en-ID" b="1" dirty="0" err="1"/>
              <a:t>fisik</a:t>
            </a:r>
            <a:r>
              <a:rPr lang="en-ID" b="1" dirty="0"/>
              <a:t> (physical level)</a:t>
            </a:r>
            <a:br>
              <a:rPr lang="en-ID" dirty="0"/>
            </a:b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data </a:t>
            </a:r>
            <a:r>
              <a:rPr lang="en-ID" dirty="0" err="1"/>
              <a:t>disimpan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aktual</a:t>
            </a:r>
            <a:r>
              <a:rPr lang="en-ID" dirty="0"/>
              <a:t> di media </a:t>
            </a:r>
            <a:r>
              <a:rPr lang="en-ID" dirty="0" err="1"/>
              <a:t>penyimpanan</a:t>
            </a:r>
            <a:r>
              <a:rPr lang="en-ID" dirty="0"/>
              <a:t>, </a:t>
            </a:r>
            <a:r>
              <a:rPr lang="en-ID" dirty="0" err="1"/>
              <a:t>termasuk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berkas</a:t>
            </a:r>
            <a:r>
              <a:rPr lang="en-ID" dirty="0"/>
              <a:t> dan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data.</a:t>
            </a:r>
          </a:p>
          <a:p>
            <a:pPr marL="457200" indent="-298450">
              <a:buFont typeface="Wingdings" panose="05000000000000000000" pitchFamily="2" charset="2"/>
              <a:buChar char="§"/>
            </a:pPr>
            <a:r>
              <a:rPr lang="en-ID" b="1" dirty="0" err="1"/>
              <a:t>Lapisan</a:t>
            </a:r>
            <a:r>
              <a:rPr lang="en-ID" b="1" dirty="0"/>
              <a:t> </a:t>
            </a:r>
            <a:r>
              <a:rPr lang="en-ID" b="1" dirty="0" err="1"/>
              <a:t>logis</a:t>
            </a:r>
            <a:r>
              <a:rPr lang="en-ID" b="1" dirty="0"/>
              <a:t> (logical level)</a:t>
            </a:r>
            <a:br>
              <a:rPr lang="en-ID" dirty="0"/>
            </a:b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logis</a:t>
            </a:r>
            <a:r>
              <a:rPr lang="en-ID" dirty="0"/>
              <a:t> basis data,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, </a:t>
            </a:r>
            <a:r>
              <a:rPr lang="en-ID" dirty="0" err="1"/>
              <a:t>atribut</a:t>
            </a:r>
            <a:r>
              <a:rPr lang="en-ID" dirty="0"/>
              <a:t>, dan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data,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memperhatikan</a:t>
            </a:r>
            <a:r>
              <a:rPr lang="en-ID" dirty="0"/>
              <a:t> detail </a:t>
            </a:r>
            <a:r>
              <a:rPr lang="en-ID" dirty="0" err="1"/>
              <a:t>penyimpanan</a:t>
            </a:r>
            <a:r>
              <a:rPr lang="en-ID" dirty="0"/>
              <a:t> </a:t>
            </a:r>
            <a:r>
              <a:rPr lang="en-ID" dirty="0" err="1"/>
              <a:t>fisiknya</a:t>
            </a:r>
            <a:r>
              <a:rPr lang="en-ID" dirty="0"/>
              <a:t>.</a:t>
            </a:r>
          </a:p>
          <a:p>
            <a:pPr marL="457200" indent="-298450">
              <a:buFont typeface="Wingdings" panose="05000000000000000000" pitchFamily="2" charset="2"/>
              <a:buChar char="§"/>
            </a:pPr>
            <a:r>
              <a:rPr lang="en-ID" b="1" dirty="0" err="1"/>
              <a:t>Lapisan</a:t>
            </a:r>
            <a:r>
              <a:rPr lang="en-ID" b="1" dirty="0"/>
              <a:t> </a:t>
            </a:r>
            <a:r>
              <a:rPr lang="en-ID" b="1" dirty="0" err="1"/>
              <a:t>tampilan</a:t>
            </a:r>
            <a:r>
              <a:rPr lang="en-ID" b="1" dirty="0"/>
              <a:t> (view level)</a:t>
            </a:r>
            <a:br>
              <a:rPr lang="en-ID" dirty="0"/>
            </a:br>
            <a:r>
              <a:rPr lang="en-ID" dirty="0" err="1"/>
              <a:t>Menyediakan</a:t>
            </a:r>
            <a:r>
              <a:rPr lang="en-ID" dirty="0"/>
              <a:t> </a:t>
            </a:r>
            <a:r>
              <a:rPr lang="en-ID" dirty="0" err="1"/>
              <a:t>representasi</a:t>
            </a:r>
            <a:r>
              <a:rPr lang="en-ID" dirty="0"/>
              <a:t> data yang </a:t>
            </a:r>
            <a:r>
              <a:rPr lang="en-ID" dirty="0" err="1"/>
              <a:t>disesuaikan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, </a:t>
            </a:r>
            <a:r>
              <a:rPr lang="en-ID" dirty="0" err="1"/>
              <a:t>sekaligus</a:t>
            </a:r>
            <a:r>
              <a:rPr lang="en-ID" dirty="0"/>
              <a:t> </a:t>
            </a:r>
            <a:r>
              <a:rPr lang="en-ID" dirty="0" err="1"/>
              <a:t>menyembunyikan</a:t>
            </a:r>
            <a:r>
              <a:rPr lang="en-ID" dirty="0"/>
              <a:t> detail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diperlukan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bersifat</a:t>
            </a:r>
            <a:r>
              <a:rPr lang="en-ID" dirty="0"/>
              <a:t> </a:t>
            </a:r>
            <a:r>
              <a:rPr lang="en-ID" dirty="0" err="1"/>
              <a:t>sensitif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72645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C14255AC-F85B-DC1F-7048-34F214871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2EAF5657-9C3F-532E-2961-F5ECB9AB3B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10535526-9AC7-0EA7-5A98-4F8CD4BD93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Pemisahan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i="1" dirty="0"/>
              <a:t>schema</a:t>
            </a:r>
            <a:r>
              <a:rPr lang="en-ID" dirty="0"/>
              <a:t> dan </a:t>
            </a:r>
            <a:r>
              <a:rPr lang="en-ID" i="1" dirty="0"/>
              <a:t>instance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penerapan</a:t>
            </a:r>
            <a:r>
              <a:rPr lang="en-ID" dirty="0"/>
              <a:t> </a:t>
            </a:r>
            <a:r>
              <a:rPr lang="en-ID" dirty="0" err="1"/>
              <a:t>independensi</a:t>
            </a:r>
            <a:r>
              <a:rPr lang="en-ID" dirty="0"/>
              <a:t> data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basis data </a:t>
            </a:r>
            <a:r>
              <a:rPr lang="en-ID" b="1" dirty="0" err="1"/>
              <a:t>lebih</a:t>
            </a:r>
            <a:r>
              <a:rPr lang="en-ID" b="1" dirty="0"/>
              <a:t> </a:t>
            </a:r>
            <a:r>
              <a:rPr lang="en-ID" b="1" dirty="0" err="1"/>
              <a:t>fleksibel</a:t>
            </a:r>
            <a:r>
              <a:rPr lang="en-ID" b="1" dirty="0"/>
              <a:t>, </a:t>
            </a:r>
            <a:r>
              <a:rPr lang="en-ID" b="1" dirty="0" err="1"/>
              <a:t>mudah</a:t>
            </a:r>
            <a:r>
              <a:rPr lang="en-ID" b="1" dirty="0"/>
              <a:t> </a:t>
            </a:r>
            <a:r>
              <a:rPr lang="en-ID" b="1" dirty="0" err="1"/>
              <a:t>dikembangkan</a:t>
            </a:r>
            <a:r>
              <a:rPr lang="en-ID" b="1" dirty="0"/>
              <a:t>, dan </a:t>
            </a:r>
            <a:r>
              <a:rPr lang="en-ID" b="1" dirty="0" err="1"/>
              <a:t>tahan</a:t>
            </a:r>
            <a:r>
              <a:rPr lang="en-ID" b="1" dirty="0"/>
              <a:t> </a:t>
            </a:r>
            <a:r>
              <a:rPr lang="en-ID" b="1" dirty="0" err="1"/>
              <a:t>terhadap</a:t>
            </a:r>
            <a:r>
              <a:rPr lang="en-ID" b="1" dirty="0"/>
              <a:t> </a:t>
            </a:r>
            <a:r>
              <a:rPr lang="en-ID" b="1" dirty="0" err="1"/>
              <a:t>perubahan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i="1" dirty="0"/>
              <a:t>schema</a:t>
            </a:r>
            <a:r>
              <a:rPr lang="en-ID" dirty="0"/>
              <a:t> dan </a:t>
            </a:r>
            <a:r>
              <a:rPr lang="en-ID" i="1" dirty="0"/>
              <a:t>instance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basis data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kesetaraan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 err="1"/>
              <a:t>tipe</a:t>
            </a:r>
            <a:r>
              <a:rPr lang="en-ID" dirty="0"/>
              <a:t> data dan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i="1" dirty="0"/>
              <a:t>Schema</a:t>
            </a:r>
            <a:r>
              <a:rPr lang="en-ID" dirty="0"/>
              <a:t> </a:t>
            </a:r>
            <a:r>
              <a:rPr lang="en-ID" dirty="0" err="1"/>
              <a:t>menggambarkan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logis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basis data,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data yang </a:t>
            </a:r>
            <a:r>
              <a:rPr lang="en-ID" dirty="0" err="1"/>
              <a:t>disimpan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data </a:t>
            </a:r>
            <a:r>
              <a:rPr lang="en-ID" dirty="0" err="1"/>
              <a:t>tersebut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b="1" dirty="0" err="1"/>
              <a:t>Analogi</a:t>
            </a:r>
            <a:r>
              <a:rPr lang="en-ID" b="1" dirty="0"/>
              <a:t> instance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nilai</a:t>
            </a:r>
            <a:r>
              <a:rPr lang="en-ID" b="1" dirty="0"/>
              <a:t> variable, </a:t>
            </a:r>
            <a:r>
              <a:rPr lang="en-ID" b="0" i="1" dirty="0"/>
              <a:t>i</a:t>
            </a:r>
            <a:r>
              <a:rPr lang="en-ID" i="1" dirty="0"/>
              <a:t>nstance</a:t>
            </a:r>
            <a:r>
              <a:rPr lang="en-ID" dirty="0"/>
              <a:t> </a:t>
            </a:r>
            <a:r>
              <a:rPr lang="en-ID" dirty="0" err="1"/>
              <a:t>setara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,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 </a:t>
            </a:r>
            <a:r>
              <a:rPr lang="en-ID" dirty="0" err="1"/>
              <a:t>seiring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b="1" dirty="0" err="1"/>
              <a:t>Independensi</a:t>
            </a:r>
            <a:r>
              <a:rPr lang="en-ID" b="1" dirty="0"/>
              <a:t> data </a:t>
            </a:r>
            <a:r>
              <a:rPr lang="en-ID" b="1" dirty="0" err="1"/>
              <a:t>fisik</a:t>
            </a:r>
            <a:r>
              <a:rPr lang="en-ID" b="1" dirty="0"/>
              <a:t> (</a:t>
            </a:r>
            <a:r>
              <a:rPr lang="en-ID" b="1" i="1" dirty="0"/>
              <a:t>physical data independence</a:t>
            </a:r>
            <a:r>
              <a:rPr lang="en-ID" b="1" dirty="0"/>
              <a:t>)</a:t>
            </a:r>
            <a:br>
              <a:rPr lang="en-ID" dirty="0"/>
            </a:br>
            <a:r>
              <a:rPr lang="en-ID" dirty="0" err="1"/>
              <a:t>Independensi</a:t>
            </a:r>
            <a:r>
              <a:rPr lang="en-ID" dirty="0"/>
              <a:t> data </a:t>
            </a:r>
            <a:r>
              <a:rPr lang="en-ID" dirty="0" err="1"/>
              <a:t>fisik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skema</a:t>
            </a:r>
            <a:r>
              <a:rPr lang="en-ID" dirty="0"/>
              <a:t> </a:t>
            </a:r>
            <a:r>
              <a:rPr lang="en-ID" dirty="0" err="1"/>
              <a:t>fisik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memengaruhi</a:t>
            </a:r>
            <a:r>
              <a:rPr lang="en-ID" dirty="0"/>
              <a:t> </a:t>
            </a:r>
            <a:r>
              <a:rPr lang="en-ID" dirty="0" err="1"/>
              <a:t>skema</a:t>
            </a:r>
            <a:r>
              <a:rPr lang="en-ID" dirty="0"/>
              <a:t> </a:t>
            </a:r>
            <a:r>
              <a:rPr lang="en-ID" dirty="0" err="1"/>
              <a:t>logis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b="1" dirty="0" err="1"/>
              <a:t>Ketergantungan</a:t>
            </a:r>
            <a:r>
              <a:rPr lang="en-ID" b="1" dirty="0"/>
              <a:t> </a:t>
            </a:r>
            <a:r>
              <a:rPr lang="en-ID" b="1" dirty="0" err="1"/>
              <a:t>aplikasi</a:t>
            </a:r>
            <a:r>
              <a:rPr lang="en-ID" b="1" dirty="0"/>
              <a:t> pada </a:t>
            </a:r>
            <a:r>
              <a:rPr lang="en-ID" b="1" dirty="0" err="1"/>
              <a:t>skema</a:t>
            </a:r>
            <a:r>
              <a:rPr lang="en-ID" b="1" dirty="0"/>
              <a:t> </a:t>
            </a:r>
            <a:r>
              <a:rPr lang="en-ID" b="1" dirty="0" err="1"/>
              <a:t>logis</a:t>
            </a:r>
            <a:br>
              <a:rPr lang="en-ID" dirty="0"/>
            </a:b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berinteraksi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basis data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skema</a:t>
            </a:r>
            <a:r>
              <a:rPr lang="en-ID" dirty="0"/>
              <a:t> </a:t>
            </a:r>
            <a:r>
              <a:rPr lang="en-ID" dirty="0" err="1"/>
              <a:t>logis</a:t>
            </a:r>
            <a:r>
              <a:rPr lang="en-ID" dirty="0"/>
              <a:t>,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data </a:t>
            </a:r>
            <a:r>
              <a:rPr lang="en-ID" dirty="0" err="1"/>
              <a:t>disimpan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fisik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b="1" dirty="0" err="1"/>
              <a:t>Pentingnya</a:t>
            </a:r>
            <a:r>
              <a:rPr lang="en-ID" b="1" dirty="0"/>
              <a:t> </a:t>
            </a:r>
            <a:r>
              <a:rPr lang="en-ID" b="1" dirty="0" err="1"/>
              <a:t>antarmuka</a:t>
            </a:r>
            <a:r>
              <a:rPr lang="en-ID" b="1" dirty="0"/>
              <a:t> yang </a:t>
            </a:r>
            <a:r>
              <a:rPr lang="en-ID" b="1" dirty="0" err="1"/>
              <a:t>terdefinisi</a:t>
            </a:r>
            <a:r>
              <a:rPr lang="en-ID" b="1" dirty="0"/>
              <a:t>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baik</a:t>
            </a:r>
            <a:br>
              <a:rPr lang="en-ID" dirty="0"/>
            </a:br>
            <a:r>
              <a:rPr lang="en-ID" dirty="0" err="1"/>
              <a:t>Antarmuka</a:t>
            </a:r>
            <a:r>
              <a:rPr lang="en-ID" dirty="0"/>
              <a:t> yang </a:t>
            </a:r>
            <a:r>
              <a:rPr lang="en-ID" dirty="0" err="1"/>
              <a:t>jelas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tingkat</a:t>
            </a:r>
            <a:r>
              <a:rPr lang="en-ID" dirty="0"/>
              <a:t> dan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pada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signifikan</a:t>
            </a:r>
            <a:r>
              <a:rPr lang="en-ID" dirty="0"/>
              <a:t> pada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ID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14145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261086BF-85C7-A5C5-E0B7-AC4E515C6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D0AB4E21-9C06-C495-FD38-417AF10A4C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6411FB36-43AD-5AC6-75FD-200BD8E311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/>
              <a:t>Model data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sekumpulan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dan </a:t>
            </a:r>
            <a:r>
              <a:rPr lang="en-ID" dirty="0" err="1"/>
              <a:t>mekanisme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mendefinisikan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dan </a:t>
            </a:r>
            <a:r>
              <a:rPr lang="en-ID" dirty="0" err="1"/>
              <a:t>karakteristik</a:t>
            </a:r>
            <a:r>
              <a:rPr lang="en-ID" dirty="0"/>
              <a:t> data </a:t>
            </a:r>
            <a:r>
              <a:rPr lang="en-ID" dirty="0" err="1"/>
              <a:t>dalam</a:t>
            </a:r>
            <a:r>
              <a:rPr lang="en-ID" dirty="0"/>
              <a:t> basis data.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sz="1100" dirty="0"/>
              <a:t>Model data </a:t>
            </a:r>
            <a:r>
              <a:rPr lang="en-ID" sz="1100" dirty="0" err="1"/>
              <a:t>menjelaskan</a:t>
            </a:r>
            <a:r>
              <a:rPr lang="en-ID" sz="1100" dirty="0"/>
              <a:t> </a:t>
            </a:r>
            <a:r>
              <a:rPr lang="en-ID" sz="1100" dirty="0" err="1"/>
              <a:t>jenis</a:t>
            </a:r>
            <a:r>
              <a:rPr lang="en-ID" sz="1100" dirty="0"/>
              <a:t> data yang </a:t>
            </a:r>
            <a:r>
              <a:rPr lang="en-ID" sz="1100" dirty="0" err="1"/>
              <a:t>disimpan</a:t>
            </a:r>
            <a:r>
              <a:rPr lang="en-ID" sz="1100" dirty="0"/>
              <a:t> dan </a:t>
            </a:r>
            <a:r>
              <a:rPr lang="en-ID" sz="1100" dirty="0" err="1"/>
              <a:t>bagaimana</a:t>
            </a:r>
            <a:r>
              <a:rPr lang="en-ID" sz="1100" dirty="0"/>
              <a:t> data </a:t>
            </a:r>
            <a:r>
              <a:rPr lang="en-ID" sz="1100" dirty="0" err="1"/>
              <a:t>tersebut</a:t>
            </a:r>
            <a:r>
              <a:rPr lang="en-ID" sz="1100" dirty="0"/>
              <a:t> </a:t>
            </a:r>
            <a:r>
              <a:rPr lang="en-ID" sz="1100" dirty="0" err="1"/>
              <a:t>direpresentasikan</a:t>
            </a:r>
            <a:r>
              <a:rPr lang="en-ID" sz="1100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/>
              <a:t>Model data </a:t>
            </a:r>
            <a:r>
              <a:rPr lang="en-ID" dirty="0" err="1"/>
              <a:t>menggambarkan</a:t>
            </a:r>
            <a:r>
              <a:rPr lang="en-ID" dirty="0"/>
              <a:t> </a:t>
            </a:r>
            <a:r>
              <a:rPr lang="en-ID" dirty="0" err="1"/>
              <a:t>keterkaitan</a:t>
            </a:r>
            <a:r>
              <a:rPr lang="en-ID" dirty="0"/>
              <a:t> dan </a:t>
            </a:r>
            <a:r>
              <a:rPr lang="en-ID" dirty="0" err="1"/>
              <a:t>relasi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data </a:t>
            </a:r>
            <a:r>
              <a:rPr lang="en-ID" dirty="0" err="1"/>
              <a:t>dalam</a:t>
            </a:r>
            <a:r>
              <a:rPr lang="en-ID" dirty="0"/>
              <a:t> basis data.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/>
              <a:t>Model data </a:t>
            </a: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makna</a:t>
            </a:r>
            <a:r>
              <a:rPr lang="en-ID" dirty="0"/>
              <a:t> data dan </a:t>
            </a:r>
            <a:r>
              <a:rPr lang="en-ID" dirty="0" err="1"/>
              <a:t>perannya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konteks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domain </a:t>
            </a:r>
            <a:r>
              <a:rPr lang="en-ID" dirty="0" err="1"/>
              <a:t>tertentu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/>
              <a:t>Model data </a:t>
            </a:r>
            <a:r>
              <a:rPr lang="en-ID" dirty="0" err="1"/>
              <a:t>mendefinisikan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batasan</a:t>
            </a:r>
            <a:r>
              <a:rPr lang="en-ID" dirty="0"/>
              <a:t> yang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dipenuhi</a:t>
            </a:r>
            <a:r>
              <a:rPr lang="en-ID" dirty="0"/>
              <a:t> agar data </a:t>
            </a:r>
            <a:r>
              <a:rPr lang="en-ID" dirty="0" err="1"/>
              <a:t>tetap</a:t>
            </a:r>
            <a:r>
              <a:rPr lang="en-ID" dirty="0"/>
              <a:t> valid dan </a:t>
            </a:r>
            <a:r>
              <a:rPr lang="en-ID" dirty="0" err="1"/>
              <a:t>konsisten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ID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/>
              <a:t>Model data yang </a:t>
            </a:r>
            <a:r>
              <a:rPr lang="en-ID" dirty="0" err="1"/>
              <a:t>merepresentasikan</a:t>
            </a:r>
            <a:r>
              <a:rPr lang="en-ID" dirty="0"/>
              <a:t> data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yang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baris dan </a:t>
            </a:r>
            <a:r>
              <a:rPr lang="en-ID" dirty="0" err="1"/>
              <a:t>kolom</a:t>
            </a:r>
            <a:r>
              <a:rPr lang="en-ID" dirty="0"/>
              <a:t>, dan </a:t>
            </a:r>
            <a:r>
              <a:rPr lang="en-ID" dirty="0" err="1"/>
              <a:t>merupakan</a:t>
            </a:r>
            <a:r>
              <a:rPr lang="en-ID" dirty="0"/>
              <a:t> model yang paling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basis data modern.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/>
              <a:t>Model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terutama</a:t>
            </a:r>
            <a:r>
              <a:rPr lang="en-ID" dirty="0"/>
              <a:t> pada </a:t>
            </a: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perancangan</a:t>
            </a:r>
            <a:r>
              <a:rPr lang="en-ID" dirty="0"/>
              <a:t> basis data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memodelkan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, </a:t>
            </a:r>
            <a:r>
              <a:rPr lang="en-ID" dirty="0" err="1"/>
              <a:t>atribut</a:t>
            </a:r>
            <a:r>
              <a:rPr lang="en-ID" dirty="0"/>
              <a:t>, dan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/>
              <a:t>Model yang </a:t>
            </a:r>
            <a:r>
              <a:rPr lang="en-ID" dirty="0" err="1"/>
              <a:t>menggabungkan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 </a:t>
            </a:r>
            <a:r>
              <a:rPr lang="en-ID" dirty="0" err="1"/>
              <a:t>berorientasi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basis data, </a:t>
            </a:r>
            <a:r>
              <a:rPr lang="en-ID" dirty="0" err="1"/>
              <a:t>termasuk</a:t>
            </a:r>
            <a:r>
              <a:rPr lang="en-ID" dirty="0"/>
              <a:t> model </a:t>
            </a:r>
            <a:r>
              <a:rPr lang="en-ID" dirty="0" err="1"/>
              <a:t>berorientasi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dan </a:t>
            </a:r>
            <a:r>
              <a:rPr lang="en-ID" dirty="0" err="1"/>
              <a:t>objek-relasional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/>
              <a:t>Model data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data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sepenuhnya</a:t>
            </a:r>
            <a:r>
              <a:rPr lang="en-ID" dirty="0"/>
              <a:t> </a:t>
            </a:r>
            <a:r>
              <a:rPr lang="en-ID" dirty="0" err="1"/>
              <a:t>kaku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data </a:t>
            </a:r>
            <a:r>
              <a:rPr lang="en-ID" dirty="0" err="1"/>
              <a:t>berbasis</a:t>
            </a:r>
            <a:r>
              <a:rPr lang="en-ID" dirty="0"/>
              <a:t> XML.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ID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ID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ID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ID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ID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ID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19266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049005A2-5189-096B-CED2-B2A05C861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E0A05B3D-F24E-B626-643B-E817DA60AA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3407DB8B-502F-D6AE-68A9-3EC0D9AE88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67496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3D5EE91A-F0E3-0B6E-5968-BF6F550BC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FCCA98CE-131A-098D-7C8D-264E377E74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B58EE72D-67F1-923D-F211-DBD856C4E7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73180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15351B04-38CB-43A8-2491-25DCB0079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B8B600AF-B46E-7109-2F70-6BE7BAA1A9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CF7CC2FB-E79C-C5C6-B27D-8E8B54A94A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/>
              <a:t>DML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mengajukan</a:t>
            </a:r>
            <a:r>
              <a:rPr lang="en-ID" dirty="0"/>
              <a:t> </a:t>
            </a:r>
            <a:r>
              <a:rPr lang="en-ID" dirty="0" err="1"/>
              <a:t>permintaan</a:t>
            </a:r>
            <a:r>
              <a:rPr lang="en-ID" dirty="0"/>
              <a:t> (</a:t>
            </a:r>
            <a:r>
              <a:rPr lang="en-ID" i="1" dirty="0"/>
              <a:t>query</a:t>
            </a:r>
            <a:r>
              <a:rPr lang="en-ID" dirty="0"/>
              <a:t>)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mengambil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data </a:t>
            </a:r>
            <a:r>
              <a:rPr lang="en-ID" dirty="0" err="1"/>
              <a:t>dalam</a:t>
            </a:r>
            <a:r>
              <a:rPr lang="en-ID" dirty="0"/>
              <a:t> basis data.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73594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BBC0769C-9BEC-EA7A-29FF-9D1CCFD8E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F526321A-8C1C-AF7E-EC7B-426B144FF4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83FA4C8C-3C28-2344-A479-79ADE74706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b="1" dirty="0" err="1"/>
              <a:t>Kunci</a:t>
            </a:r>
            <a:r>
              <a:rPr lang="en-ID" b="1" dirty="0"/>
              <a:t> </a:t>
            </a:r>
            <a:r>
              <a:rPr lang="en-ID" b="1" dirty="0" err="1"/>
              <a:t>utama</a:t>
            </a:r>
            <a:r>
              <a:rPr lang="en-ID" b="1" dirty="0"/>
              <a:t> (</a:t>
            </a:r>
            <a:r>
              <a:rPr lang="en-ID" b="1" i="1" dirty="0"/>
              <a:t>primary key</a:t>
            </a:r>
            <a:r>
              <a:rPr lang="en-ID" b="1" dirty="0"/>
              <a:t>)</a:t>
            </a:r>
            <a:br>
              <a:rPr lang="en-ID" dirty="0"/>
            </a:br>
            <a:r>
              <a:rPr lang="en-ID" i="1" dirty="0"/>
              <a:t>Primary key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record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unik</a:t>
            </a:r>
            <a:r>
              <a:rPr lang="en-ID" dirty="0"/>
              <a:t>, </a:t>
            </a:r>
            <a:r>
              <a:rPr lang="en-ID" dirty="0" err="1"/>
              <a:t>misalnya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ID yang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unik</a:t>
            </a:r>
            <a:r>
              <a:rPr lang="en-ID" dirty="0"/>
              <a:t> </a:t>
            </a: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dosen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b="1" dirty="0" err="1"/>
              <a:t>Integritas</a:t>
            </a:r>
            <a:r>
              <a:rPr lang="en-ID" b="1" dirty="0"/>
              <a:t> </a:t>
            </a:r>
            <a:r>
              <a:rPr lang="en-ID" b="1" dirty="0" err="1"/>
              <a:t>referensial</a:t>
            </a:r>
            <a:r>
              <a:rPr lang="en-ID" b="1" dirty="0"/>
              <a:t> (</a:t>
            </a:r>
            <a:r>
              <a:rPr lang="en-ID" b="1" i="1" dirty="0"/>
              <a:t>referential integrity</a:t>
            </a:r>
            <a:r>
              <a:rPr lang="en-ID" b="1" dirty="0"/>
              <a:t>)</a:t>
            </a:r>
            <a:br>
              <a:rPr lang="en-ID" dirty="0"/>
            </a:b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yang </a:t>
            </a:r>
            <a:r>
              <a:rPr lang="en-ID" dirty="0" err="1"/>
              <a:t>mereferensikan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lain </a:t>
            </a:r>
            <a:r>
              <a:rPr lang="en-ID" dirty="0" err="1"/>
              <a:t>benar-benar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pada </a:t>
            </a:r>
            <a:r>
              <a:rPr lang="en-ID" dirty="0" err="1"/>
              <a:t>tabel</a:t>
            </a:r>
            <a:r>
              <a:rPr lang="en-ID" dirty="0"/>
              <a:t> yang </a:t>
            </a:r>
            <a:r>
              <a:rPr lang="en-ID" dirty="0" err="1"/>
              <a:t>dirujuk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b="1" dirty="0" err="1"/>
              <a:t>Contoh</a:t>
            </a:r>
            <a:r>
              <a:rPr lang="en-ID" b="1" dirty="0"/>
              <a:t> </a:t>
            </a:r>
            <a:r>
              <a:rPr lang="en-ID" b="1" dirty="0" err="1"/>
              <a:t>integritas</a:t>
            </a:r>
            <a:r>
              <a:rPr lang="en-ID" b="1" dirty="0"/>
              <a:t> </a:t>
            </a:r>
            <a:r>
              <a:rPr lang="en-ID" b="1" dirty="0" err="1"/>
              <a:t>referensial</a:t>
            </a:r>
            <a:br>
              <a:rPr lang="en-ID" dirty="0"/>
            </a:br>
            <a:r>
              <a:rPr lang="en-ID" dirty="0"/>
              <a:t>Nilai </a:t>
            </a:r>
            <a:r>
              <a:rPr lang="en-ID" i="1" dirty="0" err="1"/>
              <a:t>dept_name</a:t>
            </a:r>
            <a:r>
              <a:rPr lang="en-ID" dirty="0"/>
              <a:t> pada </a:t>
            </a:r>
            <a:r>
              <a:rPr lang="en-ID" dirty="0" err="1"/>
              <a:t>setiap</a:t>
            </a:r>
            <a:r>
              <a:rPr lang="en-ID" dirty="0"/>
              <a:t> record </a:t>
            </a:r>
            <a:r>
              <a:rPr lang="en-ID" dirty="0" err="1"/>
              <a:t>dosen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i="1" dirty="0" err="1"/>
              <a:t>dept_name</a:t>
            </a:r>
            <a:r>
              <a:rPr lang="en-ID" dirty="0"/>
              <a:t> yang </a:t>
            </a:r>
            <a:r>
              <a:rPr lang="en-ID" dirty="0" err="1"/>
              <a:t>terdapat</a:t>
            </a:r>
            <a:r>
              <a:rPr lang="en-ID" dirty="0"/>
              <a:t> pada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departemen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b="1" dirty="0" err="1"/>
              <a:t>Otorisasi</a:t>
            </a:r>
            <a:r>
              <a:rPr lang="en-ID" b="1" dirty="0"/>
              <a:t> (</a:t>
            </a:r>
            <a:r>
              <a:rPr lang="en-ID" b="1" i="1" dirty="0"/>
              <a:t>authorization</a:t>
            </a:r>
            <a:r>
              <a:rPr lang="en-ID" b="1" dirty="0"/>
              <a:t>)</a:t>
            </a:r>
            <a:br>
              <a:rPr lang="en-ID" dirty="0"/>
            </a:br>
            <a:r>
              <a:rPr lang="en-ID" dirty="0"/>
              <a:t>DDL juga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pengaturan</a:t>
            </a:r>
            <a:r>
              <a:rPr lang="en-ID" dirty="0"/>
              <a:t> </a:t>
            </a:r>
            <a:r>
              <a:rPr lang="en-ID" dirty="0" err="1"/>
              <a:t>hak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basis data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menjamin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data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78335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FA2C0778-AD11-B4AA-E3BA-0AB41C960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930EE492-D391-05F8-7034-A19729C960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5762031D-F018-8FD4-5FFA-9A504AA9B8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4233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F7B3734C-04BD-2BBF-34AB-A673E6F9D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FB22B493-478A-0BA6-494F-58033C6A6F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A6C7BC7E-1DF9-AC5D-83BA-27AA51AE20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50717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A93E4AE3-D7B3-BA4A-383B-78C0A89C9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BA07C984-DCB5-5D3E-F64F-6E446EFEDE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E709EAB0-C5C4-544F-6714-EAA553F8B3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/>
              <a:t>Desain basis data yang </a:t>
            </a:r>
            <a:r>
              <a:rPr lang="en-ID" dirty="0" err="1"/>
              <a:t>tampak</a:t>
            </a:r>
            <a:r>
              <a:rPr lang="en-ID" dirty="0"/>
              <a:t> </a:t>
            </a:r>
            <a:r>
              <a:rPr lang="en-ID" dirty="0" err="1"/>
              <a:t>sederhana</a:t>
            </a:r>
            <a:r>
              <a:rPr lang="en-ID" dirty="0"/>
              <a:t> </a:t>
            </a:r>
            <a:r>
              <a:rPr lang="en-ID" b="1" dirty="0" err="1"/>
              <a:t>belum</a:t>
            </a:r>
            <a:r>
              <a:rPr lang="en-ID" b="1" dirty="0"/>
              <a:t> </a:t>
            </a:r>
            <a:r>
              <a:rPr lang="en-ID" b="1" dirty="0" err="1"/>
              <a:t>tentu</a:t>
            </a:r>
            <a:r>
              <a:rPr lang="en-ID" b="1" dirty="0"/>
              <a:t> </a:t>
            </a:r>
            <a:r>
              <a:rPr lang="en-ID" b="1" dirty="0" err="1"/>
              <a:t>bebas</a:t>
            </a:r>
            <a:r>
              <a:rPr lang="en-ID" b="1" dirty="0"/>
              <a:t> </a:t>
            </a:r>
            <a:r>
              <a:rPr lang="en-ID" b="1" dirty="0" err="1"/>
              <a:t>dari</a:t>
            </a:r>
            <a:r>
              <a:rPr lang="en-ID" b="1" dirty="0"/>
              <a:t> </a:t>
            </a:r>
            <a:r>
              <a:rPr lang="en-ID" b="1" dirty="0" err="1"/>
              <a:t>masalah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redundansi</a:t>
            </a:r>
            <a:r>
              <a:rPr lang="en-ID" dirty="0"/>
              <a:t> data, </a:t>
            </a:r>
            <a:r>
              <a:rPr lang="en-ID" dirty="0" err="1"/>
              <a:t>anomali</a:t>
            </a:r>
            <a:r>
              <a:rPr lang="en-ID" dirty="0"/>
              <a:t> </a:t>
            </a:r>
            <a:r>
              <a:rPr lang="en-ID" dirty="0" err="1"/>
              <a:t>pembaruan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ketergantungan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tepat</a:t>
            </a:r>
            <a:r>
              <a:rPr lang="en-ID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72296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0772C5DA-2D62-7FD4-9253-C7610BDF4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DAFFA578-71E4-10C6-85E6-68C478BB34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87540733-D31C-B8CE-A5B2-E64A774A06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dirty="0" err="1"/>
              <a:t>Normalisasi</a:t>
            </a:r>
            <a:r>
              <a:rPr lang="en-ID" dirty="0"/>
              <a:t> </a:t>
            </a:r>
            <a:r>
              <a:rPr lang="en-ID" dirty="0" err="1"/>
              <a:t>menyediakan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dan </a:t>
            </a:r>
            <a:r>
              <a:rPr lang="en-ID" dirty="0" err="1"/>
              <a:t>kriteria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mengenali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redundansi</a:t>
            </a:r>
            <a:r>
              <a:rPr lang="en-ID" dirty="0"/>
              <a:t> data dan </a:t>
            </a:r>
            <a:r>
              <a:rPr lang="en-ID" dirty="0" err="1"/>
              <a:t>anomali</a:t>
            </a:r>
            <a:r>
              <a:rPr lang="en-ID" dirty="0"/>
              <a:t> </a:t>
            </a:r>
            <a:r>
              <a:rPr lang="en-ID" dirty="0" err="1"/>
              <a:t>pembaruan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basis data.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73377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DA5F2B6F-133E-70CF-E8BA-3EB6BF424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C626FC09-BF8B-5ED9-DAF3-B1C319381A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75393588-B864-0709-7C3E-EBBDDDEDBD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01851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32287626-D493-43C1-F769-C1F5A93E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3FDC314F-4EE7-0A03-5AD2-7FF6320746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FD68A3CC-3C5C-D492-A25C-BA63FB3AA9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93348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F516A79D-D915-E916-C7FB-51DD6C9AD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0F156362-2907-401C-99BD-B9C4E26C5F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221DCA7A-2866-7E07-A484-BB49F99617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10751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147FB24B-C909-F054-E175-1C2BB2CFC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A8509CBE-5C5F-1771-DDC5-5780263BA6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C8814B97-C316-6920-4DC8-6C7A756886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76232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CE3D6152-755C-8913-C4B7-09D2A728F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686E92FA-1975-5F83-41DA-9E9EF09277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D22E2F3E-CEAC-7215-3F5E-540300E8FC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b="1" dirty="0" err="1"/>
              <a:t>Interaksi</a:t>
            </a:r>
            <a:r>
              <a:rPr lang="en-ID" b="1" dirty="0"/>
              <a:t>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i="1" dirty="0"/>
              <a:t>file manager</a:t>
            </a:r>
            <a:br>
              <a:rPr lang="en-ID" dirty="0"/>
            </a:br>
            <a:r>
              <a:rPr lang="en-ID" dirty="0"/>
              <a:t>Modul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berkomunikasi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pengelola</a:t>
            </a:r>
            <a:r>
              <a:rPr lang="en-ID" dirty="0"/>
              <a:t> </a:t>
            </a:r>
            <a:r>
              <a:rPr lang="en-ID" dirty="0" err="1"/>
              <a:t>berkas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penyimpanan</a:t>
            </a:r>
            <a:r>
              <a:rPr lang="en-ID" dirty="0"/>
              <a:t> </a:t>
            </a:r>
            <a:r>
              <a:rPr lang="en-ID" dirty="0" err="1"/>
              <a:t>fisik</a:t>
            </a:r>
            <a:r>
              <a:rPr lang="en-ID" dirty="0"/>
              <a:t> data pada media </a:t>
            </a:r>
            <a:r>
              <a:rPr lang="en-ID" dirty="0" err="1"/>
              <a:t>penyimpanan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D" b="1" dirty="0" err="1"/>
              <a:t>Penyimpanan</a:t>
            </a:r>
            <a:r>
              <a:rPr lang="en-ID" b="1" dirty="0"/>
              <a:t>, </a:t>
            </a:r>
            <a:r>
              <a:rPr lang="en-ID" b="1" dirty="0" err="1"/>
              <a:t>pengambilan</a:t>
            </a:r>
            <a:r>
              <a:rPr lang="en-ID" b="1" dirty="0"/>
              <a:t>, dan </a:t>
            </a:r>
            <a:r>
              <a:rPr lang="en-ID" b="1" dirty="0" err="1"/>
              <a:t>pembaruan</a:t>
            </a:r>
            <a:r>
              <a:rPr lang="en-ID" b="1" dirty="0"/>
              <a:t> data </a:t>
            </a:r>
            <a:r>
              <a:rPr lang="en-ID" b="1" dirty="0" err="1"/>
              <a:t>secara</a:t>
            </a:r>
            <a:r>
              <a:rPr lang="en-ID" b="1" dirty="0"/>
              <a:t> </a:t>
            </a:r>
            <a:r>
              <a:rPr lang="en-ID" b="1" dirty="0" err="1"/>
              <a:t>efisien</a:t>
            </a:r>
            <a:br>
              <a:rPr lang="en-ID" dirty="0"/>
            </a:br>
            <a:r>
              <a:rPr lang="en-ID" i="1" dirty="0"/>
              <a:t>Storage manager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</a:t>
            </a:r>
            <a:r>
              <a:rPr lang="en-ID" dirty="0" err="1"/>
              <a:t>penyimpanan</a:t>
            </a:r>
            <a:r>
              <a:rPr lang="en-ID" dirty="0"/>
              <a:t>, </a:t>
            </a:r>
            <a:r>
              <a:rPr lang="en-ID" dirty="0" err="1"/>
              <a:t>pembacaan</a:t>
            </a:r>
            <a:r>
              <a:rPr lang="en-ID" dirty="0"/>
              <a:t>, dan </a:t>
            </a:r>
            <a:r>
              <a:rPr lang="en-ID" dirty="0" err="1"/>
              <a:t>pembaruan</a:t>
            </a:r>
            <a:r>
              <a:rPr lang="en-ID" dirty="0"/>
              <a:t> data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kinerja</a:t>
            </a:r>
            <a:r>
              <a:rPr lang="en-ID" dirty="0"/>
              <a:t> yang optimal.</a:t>
            </a:r>
            <a:endParaRPr lang="en-ID" i="1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21189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4B1C0292-075D-B2E0-7F37-1108774FB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11C1FDCB-1462-FCD5-C8ED-76E743A35E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2228070F-743F-2812-222B-1B36A31856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98967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936DF308-0820-E0B8-357F-EFDF5EC2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27C9844B-991B-BF45-44EA-4C431593EC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06DCE434-B319-2198-D312-AD00145462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63938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D9AD9822-48D7-BB55-585C-1C479A212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DE16C405-2447-4B44-487A-C635B11FB4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0E062470-4FC0-BA65-5698-5E4B59C228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26193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F557959D-E651-B917-0C85-CFC48C004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8041A641-F199-E91A-282D-C3840BE3B6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B835C717-3114-294B-A4FB-3CF889014B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57838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7E7C439C-D68F-4D3F-71D3-2F01EBA25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61F9DCAF-F2E4-6B19-E779-935341C637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476FD6CA-A88D-0C26-E8D2-8C883AAC5B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5157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07D421CA-21BB-4717-0774-B91A8FD45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AFE1EBE3-F8B4-B826-5D62-466A2C21F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AF7F2D53-7BFC-BEB7-A2B1-E768A147A0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864253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4E63E350-28EF-B605-D978-E30C3F308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C3B8557E-CDB7-DDA7-416C-1FE993949B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96D74DFB-E3C5-5D4A-0C47-E0E26188B2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059702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77569242-1B5B-9FF2-F81D-9A8DBD314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CC015C1E-1992-0C4A-817F-B2AC3DAD81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BD42965D-8BB4-8489-FC1D-9659CE07E0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20287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FC089639-0451-35D5-6545-2352FA1CC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8298F1BC-70F8-7557-1585-9E6FDAC34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412EEB61-85A7-4C90-6E5F-19ADC0DEB6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25410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CE1BD53D-A7E7-001C-E82F-E998B2858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7E53889D-4C40-58D6-B55A-72C517E9B8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EFED824F-9D46-F763-EAB7-169E4EA35F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46882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E06FC5A0-8360-F45F-F4FF-EF45CD035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434A3B52-5C5B-B248-2E6D-32C2E5A918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0987CEAF-D535-7DBD-C61A-072BFE8407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789393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B4F86F93-1442-F323-477C-37D3B1597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9F944A1E-195A-6509-1C9C-92C3E973CF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02C6196D-028D-D170-5FA2-0FD40A05E0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080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36C740C5-A2EB-CA4F-9087-CAA0A6A8E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9D445A7F-A162-969A-448B-42D7096ED9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8BA7C415-BB2E-1843-C1B7-BCAAFF9DAA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73922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C3B357D9-C777-1FEE-9BB4-06648252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A4F86279-50F0-80C7-3FD3-B1BB8422EA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CA546DA6-BB8F-CF8C-F9B6-0988BD7485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0395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4" r:id="rId4"/>
    <p:sldLayoutId id="2147483655" r:id="rId5"/>
    <p:sldLayoutId id="2147483656" r:id="rId6"/>
    <p:sldLayoutId id="2147483658" r:id="rId7"/>
    <p:sldLayoutId id="2147483669" r:id="rId8"/>
    <p:sldLayoutId id="214748367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"/>
          <p:cNvSpPr txBox="1">
            <a:spLocks noGrp="1"/>
          </p:cNvSpPr>
          <p:nvPr>
            <p:ph type="ctrTitle"/>
          </p:nvPr>
        </p:nvSpPr>
        <p:spPr>
          <a:xfrm>
            <a:off x="1090944" y="823250"/>
            <a:ext cx="4384800" cy="169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PENGANTAR BASIS DATA</a:t>
            </a:r>
            <a:endParaRPr dirty="0"/>
          </a:p>
        </p:txBody>
      </p:sp>
      <p:sp>
        <p:nvSpPr>
          <p:cNvPr id="663" name="Google Shape;663;p28"/>
          <p:cNvSpPr txBox="1">
            <a:spLocks noGrp="1"/>
          </p:cNvSpPr>
          <p:nvPr>
            <p:ph type="subTitle" idx="1"/>
          </p:nvPr>
        </p:nvSpPr>
        <p:spPr>
          <a:xfrm>
            <a:off x="1136900" y="2621351"/>
            <a:ext cx="4384800" cy="12836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Oleh:</a:t>
            </a:r>
          </a:p>
          <a:p>
            <a:pPr marL="0" lvl="0" indent="0"/>
            <a:r>
              <a:rPr lang="es-ES" b="1" dirty="0"/>
              <a:t>Ir. </a:t>
            </a:r>
            <a:r>
              <a:rPr lang="es-ES" b="1" dirty="0" err="1"/>
              <a:t>Hira</a:t>
            </a:r>
            <a:r>
              <a:rPr lang="es-ES" b="1" dirty="0"/>
              <a:t> </a:t>
            </a:r>
            <a:r>
              <a:rPr lang="es-ES" b="1" dirty="0" err="1"/>
              <a:t>Laksmiwati</a:t>
            </a:r>
            <a:r>
              <a:rPr lang="es-ES" b="1" dirty="0"/>
              <a:t> </a:t>
            </a:r>
            <a:r>
              <a:rPr lang="es-ES" b="1" dirty="0" err="1"/>
              <a:t>Soemitro</a:t>
            </a:r>
            <a:r>
              <a:rPr lang="es-ES" b="1" dirty="0"/>
              <a:t>, </a:t>
            </a:r>
            <a:r>
              <a:rPr lang="es-ES" b="1" dirty="0" err="1"/>
              <a:t>M.Sc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Hartanto Tantriawan, S.Kom., M.Kom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Arief Ichwani, S.Kom., M.Cs</a:t>
            </a:r>
            <a:endParaRPr b="1" dirty="0"/>
          </a:p>
        </p:txBody>
      </p:sp>
      <p:sp>
        <p:nvSpPr>
          <p:cNvPr id="664" name="Google Shape;664;p28"/>
          <p:cNvSpPr/>
          <p:nvPr/>
        </p:nvSpPr>
        <p:spPr>
          <a:xfrm rot="-5400000">
            <a:off x="609335" y="143296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5" name="Google Shape;665;p28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666" name="Google Shape;666;p28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667" name="Google Shape;667;p2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9" name="Google Shape;669;p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0" name="Google Shape;670;p28"/>
            <p:cNvSpPr/>
            <p:nvPr/>
          </p:nvSpPr>
          <p:spPr>
            <a:xfrm>
              <a:off x="7771212" y="2972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674" name="Google Shape;674;p2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2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6" name="Google Shape;676;p2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7" name="Google Shape;677;p28"/>
          <p:cNvSpPr/>
          <p:nvPr/>
        </p:nvSpPr>
        <p:spPr>
          <a:xfrm rot="-5400000">
            <a:off x="8215875" y="805548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28"/>
          <p:cNvGrpSpPr/>
          <p:nvPr/>
        </p:nvGrpSpPr>
        <p:grpSpPr>
          <a:xfrm rot="10800000" flipH="1">
            <a:off x="-2068288" y="305430"/>
            <a:ext cx="4791669" cy="923822"/>
            <a:chOff x="-78438" y="3775205"/>
            <a:chExt cx="4791669" cy="923822"/>
          </a:xfrm>
        </p:grpSpPr>
        <p:cxnSp>
          <p:nvCxnSpPr>
            <p:cNvPr id="679" name="Google Shape;679;p2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2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1" name="Google Shape;681;p2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28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683" name="Google Shape;683;p28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684" name="Google Shape;684;p2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2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2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94" name="Google Shape;694;p28"/>
            <p:cNvSpPr/>
            <p:nvPr/>
          </p:nvSpPr>
          <p:spPr>
            <a:xfrm>
              <a:off x="3329300" y="82325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8BDBD1D-B19A-2CFF-AF17-E22C0572092A}"/>
              </a:ext>
            </a:extLst>
          </p:cNvPr>
          <p:cNvSpPr txBox="1"/>
          <p:nvPr/>
        </p:nvSpPr>
        <p:spPr>
          <a:xfrm>
            <a:off x="1136900" y="4049092"/>
            <a:ext cx="51413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" b="1" dirty="0">
                <a:solidFill>
                  <a:schemeClr val="tx1"/>
                </a:solidFill>
                <a:latin typeface="Hanken Grotesk" charset="0"/>
              </a:rPr>
              <a:t>Program Studi Teknik Informatika</a:t>
            </a:r>
          </a:p>
          <a:p>
            <a:r>
              <a:rPr lang="id" b="1" dirty="0">
                <a:solidFill>
                  <a:schemeClr val="tx1"/>
                </a:solidFill>
                <a:latin typeface="Hanken Grotesk" charset="0"/>
              </a:rPr>
              <a:t>Institut Teknologi Sumatera</a:t>
            </a:r>
            <a:endParaRPr lang="en-US" b="1" dirty="0">
              <a:solidFill>
                <a:schemeClr val="tx1"/>
              </a:solidFill>
              <a:latin typeface="Hanken Grotesk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Hanken Grotesk" charset="0"/>
              </a:rPr>
              <a:t>2026</a:t>
            </a:r>
            <a:endParaRPr lang="en-ID" b="1" dirty="0">
              <a:solidFill>
                <a:schemeClr val="tx1"/>
              </a:solidFill>
              <a:latin typeface="Hanken Grotesk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Capaian</a:t>
            </a:r>
            <a:r>
              <a:rPr lang="en-US" dirty="0"/>
              <a:t> </a:t>
            </a:r>
            <a:r>
              <a:rPr lang="en-US" dirty="0" err="1"/>
              <a:t>Pembelajaran</a:t>
            </a:r>
            <a:endParaRPr dirty="0"/>
          </a:p>
        </p:txBody>
      </p:sp>
      <p:sp>
        <p:nvSpPr>
          <p:cNvPr id="700" name="Google Shape;700;p29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34807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buFont typeface="+mj-lt"/>
              <a:buAutoNum type="arabicPeriod"/>
            </a:pP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manusia</a:t>
            </a:r>
            <a:r>
              <a:rPr lang="en-ID" dirty="0"/>
              <a:t> </a:t>
            </a:r>
            <a:r>
              <a:rPr lang="en-ID" dirty="0" err="1"/>
              <a:t>memperoleh</a:t>
            </a:r>
            <a:r>
              <a:rPr lang="en-ID" dirty="0"/>
              <a:t>, </a:t>
            </a:r>
            <a:r>
              <a:rPr lang="en-ID" dirty="0" err="1"/>
              <a:t>mengelola</a:t>
            </a:r>
            <a:r>
              <a:rPr lang="en-ID" dirty="0"/>
              <a:t>, dan </a:t>
            </a:r>
            <a:r>
              <a:rPr lang="en-ID" dirty="0" err="1"/>
              <a:t>memanfaatkan</a:t>
            </a:r>
            <a:r>
              <a:rPr lang="en-ID" dirty="0"/>
              <a:t> data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dan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D" dirty="0" err="1"/>
              <a:t>Membedakan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konseptual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data, </a:t>
            </a:r>
            <a:r>
              <a:rPr lang="en-ID" dirty="0" err="1"/>
              <a:t>informasi</a:t>
            </a:r>
            <a:r>
              <a:rPr lang="en-ID" dirty="0"/>
              <a:t>, dan </a:t>
            </a:r>
            <a:r>
              <a:rPr lang="en-ID" dirty="0" err="1"/>
              <a:t>pengetahuan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keterkaitan</a:t>
            </a:r>
            <a:r>
              <a:rPr lang="en-ID" dirty="0"/>
              <a:t> </a:t>
            </a:r>
            <a:r>
              <a:rPr lang="en-ID" dirty="0" err="1"/>
              <a:t>diantara</a:t>
            </a:r>
            <a:r>
              <a:rPr lang="en-ID" dirty="0"/>
              <a:t> </a:t>
            </a:r>
            <a:r>
              <a:rPr lang="en-ID" dirty="0" err="1"/>
              <a:t>ketiganya</a:t>
            </a:r>
            <a:r>
              <a:rPr lang="en-ID" dirty="0"/>
              <a:t>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permasalahan</a:t>
            </a:r>
            <a:r>
              <a:rPr lang="en-ID" dirty="0"/>
              <a:t> </a:t>
            </a:r>
            <a:r>
              <a:rPr lang="en-ID" dirty="0" err="1"/>
              <a:t>persistensi</a:t>
            </a:r>
            <a:r>
              <a:rPr lang="en-ID" dirty="0"/>
              <a:t> data yang </a:t>
            </a:r>
            <a:r>
              <a:rPr lang="en-ID" dirty="0" err="1"/>
              <a:t>dihadapi</a:t>
            </a:r>
            <a:r>
              <a:rPr lang="en-ID" dirty="0"/>
              <a:t> oleh </a:t>
            </a:r>
            <a:r>
              <a:rPr lang="en-ID" dirty="0" err="1"/>
              <a:t>organisasi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pengelolaan</a:t>
            </a:r>
            <a:r>
              <a:rPr lang="en-ID" dirty="0"/>
              <a:t> data </a:t>
            </a:r>
            <a:r>
              <a:rPr lang="en-ID" dirty="0" err="1"/>
              <a:t>jangka</a:t>
            </a:r>
            <a:r>
              <a:rPr lang="en-ID" dirty="0"/>
              <a:t> </a:t>
            </a:r>
            <a:r>
              <a:rPr lang="en-ID" dirty="0" err="1"/>
              <a:t>panjang</a:t>
            </a:r>
            <a:r>
              <a:rPr lang="en-ID" dirty="0"/>
              <a:t>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karakteristik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yang </a:t>
            </a:r>
            <a:r>
              <a:rPr lang="en-ID" dirty="0" err="1"/>
              <a:t>membedakan</a:t>
            </a:r>
            <a:r>
              <a:rPr lang="en-ID" dirty="0"/>
              <a:t> </a:t>
            </a:r>
            <a:r>
              <a:rPr lang="en-ID" dirty="0" err="1"/>
              <a:t>pendekatan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basis data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pendekatan</a:t>
            </a:r>
            <a:r>
              <a:rPr lang="en-ID" dirty="0"/>
              <a:t> </a:t>
            </a:r>
            <a:r>
              <a:rPr lang="en-ID" dirty="0" err="1"/>
              <a:t>tradisional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dirty="0" err="1"/>
              <a:t>berkas</a:t>
            </a:r>
            <a:r>
              <a:rPr lang="en-ID" dirty="0"/>
              <a:t> (file-based system).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, </a:t>
            </a:r>
            <a:r>
              <a:rPr lang="en-ID" dirty="0" err="1"/>
              <a:t>fungsi</a:t>
            </a:r>
            <a:r>
              <a:rPr lang="en-ID" dirty="0"/>
              <a:t>, model, </a:t>
            </a:r>
            <a:r>
              <a:rPr lang="en-ID" dirty="0" err="1"/>
              <a:t>komponen</a:t>
            </a:r>
            <a:r>
              <a:rPr lang="en-ID" dirty="0"/>
              <a:t>, </a:t>
            </a:r>
            <a:r>
              <a:rPr lang="en-ID" dirty="0" err="1"/>
              <a:t>aplikasi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penerapan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basis data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kehidupan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fungsi-fungsi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DBMS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peran</a:t>
            </a:r>
            <a:r>
              <a:rPr lang="en-ID" dirty="0"/>
              <a:t> DBMS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pengelolaan</a:t>
            </a:r>
            <a:r>
              <a:rPr lang="en-ID" dirty="0"/>
              <a:t> dan </a:t>
            </a:r>
            <a:r>
              <a:rPr lang="en-ID" dirty="0" err="1"/>
              <a:t>pengamanan</a:t>
            </a:r>
            <a:r>
              <a:rPr lang="en-ID" dirty="0"/>
              <a:t> data.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 err="1"/>
              <a:t>independensi</a:t>
            </a:r>
            <a:r>
              <a:rPr lang="en-ID" dirty="0"/>
              <a:t> data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pentingnya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fleksibilitas</a:t>
            </a:r>
            <a:r>
              <a:rPr lang="en-ID" dirty="0"/>
              <a:t> dan </a:t>
            </a:r>
            <a:r>
              <a:rPr lang="en-ID" dirty="0" err="1"/>
              <a:t>keberlanjutan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basis data.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DEFINISI</a:t>
            </a:r>
            <a:endParaRPr dirty="0"/>
          </a:p>
        </p:txBody>
      </p:sp>
      <p:sp>
        <p:nvSpPr>
          <p:cNvPr id="763" name="Google Shape;763;p33"/>
          <p:cNvSpPr txBox="1">
            <a:spLocks noGrp="1"/>
          </p:cNvSpPr>
          <p:nvPr>
            <p:ph type="subTitle" idx="2"/>
          </p:nvPr>
        </p:nvSpPr>
        <p:spPr>
          <a:xfrm>
            <a:off x="720000" y="1017725"/>
            <a:ext cx="7630370" cy="36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600" b="1" dirty="0"/>
              <a:t>Basis data (database)</a:t>
            </a:r>
          </a:p>
          <a:p>
            <a:pPr marL="180975" lvl="0" indent="0"/>
            <a:r>
              <a:rPr lang="en-ID" sz="1600" dirty="0"/>
              <a:t>Kumpulan data yang </a:t>
            </a:r>
            <a:r>
              <a:rPr lang="en-ID" sz="1600" dirty="0" err="1"/>
              <a:t>tersusun</a:t>
            </a:r>
            <a:r>
              <a:rPr lang="en-ID" sz="1600" dirty="0"/>
              <a:t> </a:t>
            </a: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terorganisir</a:t>
            </a:r>
            <a:r>
              <a:rPr lang="en-ID" sz="1600" dirty="0"/>
              <a:t> dan </a:t>
            </a:r>
            <a:r>
              <a:rPr lang="en-ID" sz="1600" dirty="0" err="1"/>
              <a:t>saling</a:t>
            </a:r>
            <a:r>
              <a:rPr lang="en-ID" sz="1600" dirty="0"/>
              <a:t>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logis</a:t>
            </a:r>
            <a:r>
              <a:rPr lang="en-ID" sz="1600" dirty="0"/>
              <a:t>, yang </a:t>
            </a:r>
            <a:r>
              <a:rPr lang="en-ID" sz="1600" dirty="0" err="1"/>
              <a:t>dirancang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mendukung</a:t>
            </a:r>
            <a:r>
              <a:rPr lang="en-ID" sz="1600" dirty="0"/>
              <a:t> </a:t>
            </a:r>
            <a:r>
              <a:rPr lang="en-ID" sz="1600" dirty="0" err="1"/>
              <a:t>penyimpanan</a:t>
            </a:r>
            <a:r>
              <a:rPr lang="en-ID" sz="1600" dirty="0"/>
              <a:t>, </a:t>
            </a:r>
            <a:r>
              <a:rPr lang="en-ID" sz="1600" dirty="0" err="1"/>
              <a:t>pengelolaan</a:t>
            </a:r>
            <a:r>
              <a:rPr lang="en-ID" sz="1600" dirty="0"/>
              <a:t>, dan </a:t>
            </a:r>
            <a:r>
              <a:rPr lang="en-ID" sz="1600" dirty="0" err="1"/>
              <a:t>pengambilan</a:t>
            </a:r>
            <a:r>
              <a:rPr lang="en-ID" sz="1600" dirty="0"/>
              <a:t> data </a:t>
            </a: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efisien</a:t>
            </a:r>
            <a:r>
              <a:rPr lang="en-ID" sz="16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600" b="1" dirty="0"/>
              <a:t>Data</a:t>
            </a:r>
            <a:br>
              <a:rPr lang="en-ID" sz="1600" dirty="0"/>
            </a:br>
            <a:r>
              <a:rPr lang="en-ID" sz="1600" dirty="0" err="1"/>
              <a:t>Representasi</a:t>
            </a:r>
            <a:r>
              <a:rPr lang="en-ID" sz="1600" dirty="0"/>
              <a:t> </a:t>
            </a:r>
            <a:r>
              <a:rPr lang="en-ID" sz="1600" dirty="0" err="1"/>
              <a:t>tersimpan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objek</a:t>
            </a:r>
            <a:r>
              <a:rPr lang="en-ID" sz="1600" dirty="0"/>
              <a:t>, </a:t>
            </a:r>
            <a:r>
              <a:rPr lang="en-ID" sz="1600" dirty="0" err="1"/>
              <a:t>kejadian</a:t>
            </a:r>
            <a:r>
              <a:rPr lang="en-ID" sz="1600" dirty="0"/>
              <a:t>,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fakta</a:t>
            </a:r>
            <a:r>
              <a:rPr lang="en-ID" sz="1600" dirty="0"/>
              <a:t> yang </a:t>
            </a:r>
            <a:r>
              <a:rPr lang="en-ID" sz="1600" dirty="0" err="1"/>
              <a:t>memiliki</a:t>
            </a:r>
            <a:r>
              <a:rPr lang="en-ID" sz="1600" dirty="0"/>
              <a:t> </a:t>
            </a:r>
            <a:r>
              <a:rPr lang="en-ID" sz="1600" dirty="0" err="1"/>
              <a:t>makna</a:t>
            </a:r>
            <a:r>
              <a:rPr lang="en-ID" sz="1600" dirty="0"/>
              <a:t> dan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diolah</a:t>
            </a:r>
            <a:r>
              <a:rPr lang="en-ID" sz="1600" dirty="0"/>
              <a:t> </a:t>
            </a:r>
            <a:r>
              <a:rPr lang="en-ID" sz="1600" dirty="0" err="1"/>
              <a:t>lebih</a:t>
            </a:r>
            <a:r>
              <a:rPr lang="en-ID" sz="1600" dirty="0"/>
              <a:t> </a:t>
            </a:r>
            <a:r>
              <a:rPr lang="en-ID" sz="1600" dirty="0" err="1"/>
              <a:t>lanjut</a:t>
            </a:r>
            <a:r>
              <a:rPr lang="en-ID" sz="1600" dirty="0"/>
              <a:t> oleh </a:t>
            </a:r>
            <a:r>
              <a:rPr lang="en-ID" sz="1600" dirty="0" err="1"/>
              <a:t>sistem</a:t>
            </a:r>
            <a:r>
              <a:rPr lang="en-ID" sz="1600" dirty="0"/>
              <a:t>.</a:t>
            </a:r>
          </a:p>
          <a:p>
            <a:pPr marL="534988" lvl="0" indent="-268288">
              <a:buFont typeface="Wingdings" panose="05000000000000000000" pitchFamily="2" charset="2"/>
              <a:buChar char="§"/>
            </a:pPr>
            <a:r>
              <a:rPr lang="en-ID" sz="1600" b="1" dirty="0"/>
              <a:t>Data </a:t>
            </a:r>
            <a:r>
              <a:rPr lang="en-ID" sz="1600" b="1" dirty="0" err="1"/>
              <a:t>terstruktur</a:t>
            </a:r>
            <a:r>
              <a:rPr lang="en-ID" sz="1600" b="1" dirty="0"/>
              <a:t>, ex:</a:t>
            </a:r>
            <a:r>
              <a:rPr lang="en-ID" sz="1600" dirty="0"/>
              <a:t> </a:t>
            </a:r>
            <a:r>
              <a:rPr lang="en-ID" sz="1600" dirty="0" err="1"/>
              <a:t>angka</a:t>
            </a:r>
            <a:r>
              <a:rPr lang="en-ID" sz="1600" dirty="0"/>
              <a:t>, </a:t>
            </a:r>
            <a:r>
              <a:rPr lang="en-ID" sz="1600" dirty="0" err="1"/>
              <a:t>teks</a:t>
            </a:r>
            <a:r>
              <a:rPr lang="en-ID" sz="1600" dirty="0"/>
              <a:t>, dan </a:t>
            </a:r>
            <a:r>
              <a:rPr lang="en-ID" sz="1600" dirty="0" err="1"/>
              <a:t>tanggal</a:t>
            </a:r>
            <a:endParaRPr lang="en-ID" sz="1600" dirty="0"/>
          </a:p>
          <a:p>
            <a:pPr marL="534988" lvl="0" indent="-268288">
              <a:buFont typeface="Wingdings" panose="05000000000000000000" pitchFamily="2" charset="2"/>
              <a:buChar char="§"/>
            </a:pPr>
            <a:r>
              <a:rPr lang="en-ID" sz="1600" b="1" dirty="0"/>
              <a:t>Data </a:t>
            </a:r>
            <a:r>
              <a:rPr lang="en-ID" sz="1600" b="1" dirty="0" err="1"/>
              <a:t>tidak</a:t>
            </a:r>
            <a:r>
              <a:rPr lang="en-ID" sz="1600" b="1" dirty="0"/>
              <a:t> </a:t>
            </a:r>
            <a:r>
              <a:rPr lang="en-ID" sz="1600" b="1" dirty="0" err="1"/>
              <a:t>terstruktur</a:t>
            </a:r>
            <a:r>
              <a:rPr lang="en-ID" sz="1600" b="1" dirty="0"/>
              <a:t>, ex: </a:t>
            </a:r>
            <a:r>
              <a:rPr lang="en-ID" sz="1600" dirty="0" err="1"/>
              <a:t>gambar</a:t>
            </a:r>
            <a:r>
              <a:rPr lang="en-ID" sz="1600" dirty="0"/>
              <a:t>, video, dan </a:t>
            </a:r>
            <a:r>
              <a:rPr lang="en-ID" sz="1600" dirty="0" err="1"/>
              <a:t>dokumen</a:t>
            </a:r>
            <a:endParaRPr lang="en-ID" sz="16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600" b="1" dirty="0" err="1"/>
              <a:t>Informasi</a:t>
            </a:r>
            <a:br>
              <a:rPr lang="en-ID" sz="1600" dirty="0"/>
            </a:br>
            <a:r>
              <a:rPr lang="en-ID" sz="1600" dirty="0"/>
              <a:t>Data yang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diproses</a:t>
            </a:r>
            <a:r>
              <a:rPr lang="en-ID" sz="1600" dirty="0"/>
              <a:t>, </a:t>
            </a:r>
            <a:r>
              <a:rPr lang="en-ID" sz="1600" dirty="0" err="1"/>
              <a:t>diorganisasi</a:t>
            </a:r>
            <a:r>
              <a:rPr lang="en-ID" sz="1600" dirty="0"/>
              <a:t>,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diringkas</a:t>
            </a:r>
            <a:r>
              <a:rPr lang="en-ID" sz="1600" dirty="0"/>
              <a:t> </a:t>
            </a:r>
            <a:r>
              <a:rPr lang="en-ID" sz="1600" dirty="0" err="1"/>
              <a:t>sehingga</a:t>
            </a:r>
            <a:r>
              <a:rPr lang="en-ID" sz="1600" dirty="0"/>
              <a:t> </a:t>
            </a:r>
            <a:r>
              <a:rPr lang="en-ID" sz="1600" dirty="0" err="1"/>
              <a:t>meningkatkan</a:t>
            </a:r>
            <a:r>
              <a:rPr lang="en-ID" sz="1600" dirty="0"/>
              <a:t> </a:t>
            </a:r>
            <a:r>
              <a:rPr lang="en-ID" sz="1600" dirty="0" err="1"/>
              <a:t>pemahaman</a:t>
            </a:r>
            <a:r>
              <a:rPr lang="en-ID" sz="1600" dirty="0"/>
              <a:t> dan </a:t>
            </a:r>
            <a:r>
              <a:rPr lang="en-ID" sz="1600" dirty="0" err="1"/>
              <a:t>pengetahuan</a:t>
            </a:r>
            <a:r>
              <a:rPr lang="en-ID" sz="1600" dirty="0"/>
              <a:t> </a:t>
            </a:r>
            <a:r>
              <a:rPr lang="en-ID" sz="1600" dirty="0" err="1"/>
              <a:t>bagi</a:t>
            </a:r>
            <a:r>
              <a:rPr lang="en-ID" sz="1600" dirty="0"/>
              <a:t> </a:t>
            </a:r>
            <a:r>
              <a:rPr lang="en-ID" sz="1600" dirty="0" err="1"/>
              <a:t>pihak</a:t>
            </a:r>
            <a:r>
              <a:rPr lang="en-ID" sz="1600" dirty="0"/>
              <a:t> yang </a:t>
            </a:r>
            <a:r>
              <a:rPr lang="en-ID" sz="1600" dirty="0" err="1"/>
              <a:t>menggunakannya</a:t>
            </a:r>
            <a:r>
              <a:rPr lang="en-ID" sz="16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600" b="1" dirty="0"/>
              <a:t>Metadata</a:t>
            </a:r>
            <a:br>
              <a:rPr lang="en-ID" sz="1600" dirty="0"/>
            </a:br>
            <a:r>
              <a:rPr lang="en-ID" sz="1600" dirty="0"/>
              <a:t>Data yang </a:t>
            </a:r>
            <a:r>
              <a:rPr lang="en-ID" sz="1600" dirty="0" err="1"/>
              <a:t>menjelaskan</a:t>
            </a:r>
            <a:r>
              <a:rPr lang="en-ID" sz="1600" dirty="0"/>
              <a:t> </a:t>
            </a:r>
            <a:r>
              <a:rPr lang="en-ID" sz="1600" dirty="0" err="1"/>
              <a:t>karakteristik</a:t>
            </a:r>
            <a:r>
              <a:rPr lang="en-ID" sz="1600" dirty="0"/>
              <a:t>, </a:t>
            </a:r>
            <a:r>
              <a:rPr lang="en-ID" sz="1600" dirty="0" err="1"/>
              <a:t>struktur</a:t>
            </a:r>
            <a:r>
              <a:rPr lang="en-ID" sz="1600" dirty="0"/>
              <a:t>, dan </a:t>
            </a:r>
            <a:r>
              <a:rPr lang="en-ID" sz="1600" dirty="0" err="1"/>
              <a:t>konteks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data </a:t>
            </a:r>
            <a:r>
              <a:rPr lang="en-ID" sz="1600" dirty="0" err="1"/>
              <a:t>pengguna</a:t>
            </a:r>
            <a:r>
              <a:rPr lang="en-ID" sz="1600" dirty="0"/>
              <a:t>, </a:t>
            </a:r>
            <a:r>
              <a:rPr lang="en-ID" sz="1600" dirty="0" err="1"/>
              <a:t>termasuk</a:t>
            </a:r>
            <a:r>
              <a:rPr lang="en-ID" sz="1600" dirty="0"/>
              <a:t> </a:t>
            </a:r>
            <a:r>
              <a:rPr lang="en-ID" sz="1600" dirty="0" err="1"/>
              <a:t>tipe</a:t>
            </a:r>
            <a:r>
              <a:rPr lang="en-ID" sz="1600" dirty="0"/>
              <a:t> data, </a:t>
            </a:r>
            <a:r>
              <a:rPr lang="en-ID" sz="1600" dirty="0" err="1"/>
              <a:t>ukuran</a:t>
            </a:r>
            <a:r>
              <a:rPr lang="en-ID" sz="1600" dirty="0"/>
              <a:t>, </a:t>
            </a:r>
            <a:r>
              <a:rPr lang="en-ID" sz="1600" dirty="0" err="1"/>
              <a:t>nilai</a:t>
            </a:r>
            <a:r>
              <a:rPr lang="en-ID" sz="1600" dirty="0"/>
              <a:t> yang </a:t>
            </a:r>
            <a:r>
              <a:rPr lang="en-ID" sz="1600" dirty="0" err="1"/>
              <a:t>diperbolehkan</a:t>
            </a:r>
            <a:r>
              <a:rPr lang="en-ID" sz="1600" dirty="0"/>
              <a:t>, </a:t>
            </a:r>
            <a:r>
              <a:rPr lang="en-ID" sz="1600" dirty="0" err="1"/>
              <a:t>serta</a:t>
            </a:r>
            <a:r>
              <a:rPr lang="en-ID" sz="1600" dirty="0"/>
              <a:t> </a:t>
            </a:r>
            <a:r>
              <a:rPr lang="en-ID" sz="1600" dirty="0" err="1"/>
              <a:t>makna</a:t>
            </a:r>
            <a:r>
              <a:rPr lang="en-ID" sz="1600" dirty="0"/>
              <a:t> data </a:t>
            </a:r>
            <a:r>
              <a:rPr lang="en-ID" sz="1600" dirty="0" err="1"/>
              <a:t>tersebut</a:t>
            </a:r>
            <a:r>
              <a:rPr lang="en-ID" sz="16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2B74D9AA-4425-4E87-43DE-397A2D010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2150638E-CA22-48FE-A976-0CEC362DEE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DALAM KONTEKS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9777D332-5290-DF90-F153-09BF53F1103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73192"/>
            <a:ext cx="7630370" cy="38473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4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4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4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4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4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4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4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4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4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4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4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4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Data </a:t>
            </a:r>
            <a:r>
              <a:rPr lang="en-ID" sz="1800" dirty="0" err="1"/>
              <a:t>baru</a:t>
            </a:r>
            <a:r>
              <a:rPr lang="en-ID" sz="1800" dirty="0"/>
              <a:t> </a:t>
            </a:r>
            <a:r>
              <a:rPr lang="en-ID" sz="1800" dirty="0" err="1"/>
              <a:t>memiliki</a:t>
            </a:r>
            <a:r>
              <a:rPr lang="en-ID" sz="1800" dirty="0"/>
              <a:t> </a:t>
            </a:r>
            <a:r>
              <a:rPr lang="en-ID" sz="1800" dirty="0" err="1"/>
              <a:t>makna</a:t>
            </a:r>
            <a:r>
              <a:rPr lang="en-ID" sz="1800" dirty="0"/>
              <a:t> </a:t>
            </a:r>
            <a:r>
              <a:rPr lang="en-ID" sz="1800" dirty="0" err="1"/>
              <a:t>ketika</a:t>
            </a:r>
            <a:r>
              <a:rPr lang="en-ID" sz="1800" dirty="0"/>
              <a:t> </a:t>
            </a:r>
            <a:r>
              <a:rPr lang="en-ID" sz="1800" dirty="0" err="1"/>
              <a:t>ditempatkan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konteks</a:t>
            </a:r>
            <a:r>
              <a:rPr lang="en-ID" sz="1800" dirty="0"/>
              <a:t> </a:t>
            </a:r>
            <a:r>
              <a:rPr lang="en-ID" sz="1800" dirty="0" err="1"/>
              <a:t>tertentu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Tanpa</a:t>
            </a:r>
            <a:r>
              <a:rPr lang="en-ID" sz="1800" dirty="0"/>
              <a:t> </a:t>
            </a:r>
            <a:r>
              <a:rPr lang="en-ID" sz="1800" dirty="0" err="1"/>
              <a:t>konteks</a:t>
            </a:r>
            <a:r>
              <a:rPr lang="en-ID" sz="1800" dirty="0"/>
              <a:t>, data </a:t>
            </a:r>
            <a:r>
              <a:rPr lang="en-ID" sz="1800" dirty="0" err="1"/>
              <a:t>hanyalah</a:t>
            </a:r>
            <a:r>
              <a:rPr lang="en-ID" sz="1800" dirty="0"/>
              <a:t> </a:t>
            </a:r>
            <a:r>
              <a:rPr lang="en-ID" sz="1800" dirty="0" err="1"/>
              <a:t>fakta</a:t>
            </a:r>
            <a:r>
              <a:rPr lang="en-ID" sz="1800" dirty="0"/>
              <a:t> </a:t>
            </a:r>
            <a:r>
              <a:rPr lang="en-ID" sz="1800" dirty="0" err="1"/>
              <a:t>mentah</a:t>
            </a:r>
            <a:r>
              <a:rPr lang="en-ID" sz="1800" dirty="0"/>
              <a:t>;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konteks</a:t>
            </a:r>
            <a:r>
              <a:rPr lang="en-ID" sz="1800" dirty="0"/>
              <a:t>, data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dipahami</a:t>
            </a:r>
            <a:r>
              <a:rPr lang="en-ID" sz="1800" dirty="0"/>
              <a:t>, </a:t>
            </a:r>
            <a:r>
              <a:rPr lang="en-ID" sz="1800" dirty="0" err="1"/>
              <a:t>ditafsirkan</a:t>
            </a:r>
            <a:r>
              <a:rPr lang="en-ID" sz="1800" dirty="0"/>
              <a:t>, dan </a:t>
            </a:r>
            <a:r>
              <a:rPr lang="en-ID" sz="1800" dirty="0" err="1"/>
              <a:t>digunakan</a:t>
            </a:r>
            <a:r>
              <a:rPr lang="en-ID" sz="1800" dirty="0"/>
              <a:t>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tepat</a:t>
            </a:r>
            <a:r>
              <a:rPr lang="en-ID" sz="1800" dirty="0"/>
              <a:t> oleh </a:t>
            </a:r>
            <a:r>
              <a:rPr lang="en-ID" sz="1800" dirty="0" err="1"/>
              <a:t>pengguna</a:t>
            </a:r>
            <a:r>
              <a:rPr lang="en-ID" sz="1800" dirty="0"/>
              <a:t>.</a:t>
            </a:r>
            <a:endParaRPr lang="en-ID" sz="1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400" dirty="0"/>
          </a:p>
        </p:txBody>
      </p:sp>
      <p:pic>
        <p:nvPicPr>
          <p:cNvPr id="2" name="Picture 8" descr="CAP1">
            <a:extLst>
              <a:ext uri="{FF2B5EF4-FFF2-40B4-BE49-F238E27FC236}">
                <a16:creationId xmlns:a16="http://schemas.microsoft.com/office/drawing/2014/main" id="{74101F0B-D8CB-C89A-7853-5161A411B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631" y="978110"/>
            <a:ext cx="4692770" cy="26965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4339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3FEDFBBF-6D8A-E9CF-51CB-504553308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8171ACAE-6CD1-FF2C-DB08-D4FB9FA220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YANG DIAGREGASI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4DEE1192-EE7E-1631-64FF-9BD8CFF17CD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11409"/>
            <a:ext cx="7630370" cy="38473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6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6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6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6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6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6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6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6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6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6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600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Data </a:t>
            </a:r>
            <a:r>
              <a:rPr lang="en-ID" sz="1800" dirty="0" err="1"/>
              <a:t>mentah</a:t>
            </a:r>
            <a:r>
              <a:rPr lang="en-ID" sz="1800" dirty="0"/>
              <a:t> → </a:t>
            </a:r>
            <a:r>
              <a:rPr lang="en-ID" sz="1800" dirty="0" err="1"/>
              <a:t>diolah</a:t>
            </a:r>
            <a:r>
              <a:rPr lang="en-ID" sz="1800" dirty="0"/>
              <a:t> dan </a:t>
            </a:r>
            <a:r>
              <a:rPr lang="en-ID" sz="1800" dirty="0" err="1"/>
              <a:t>diringkas</a:t>
            </a:r>
            <a:r>
              <a:rPr lang="en-ID" sz="1800" dirty="0"/>
              <a:t> → </a:t>
            </a:r>
            <a:r>
              <a:rPr lang="en-ID" sz="1800" dirty="0" err="1"/>
              <a:t>menjadi</a:t>
            </a:r>
            <a:r>
              <a:rPr lang="en-ID" sz="1800" dirty="0"/>
              <a:t> </a:t>
            </a:r>
            <a:r>
              <a:rPr lang="en-ID" sz="1800" dirty="0" err="1"/>
              <a:t>informasi</a:t>
            </a:r>
            <a:r>
              <a:rPr lang="en-ID" sz="1800" dirty="0"/>
              <a:t> yang </a:t>
            </a:r>
            <a:r>
              <a:rPr lang="en-ID" sz="1800" dirty="0" err="1"/>
              <a:t>bermakna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Penyajian</a:t>
            </a:r>
            <a:r>
              <a:rPr lang="en-ID" sz="1800" dirty="0"/>
              <a:t> </a:t>
            </a:r>
            <a:r>
              <a:rPr lang="en-ID" sz="1800" dirty="0" err="1"/>
              <a:t>ringkasan</a:t>
            </a:r>
            <a:r>
              <a:rPr lang="en-ID" sz="1800" dirty="0"/>
              <a:t> (</a:t>
            </a:r>
            <a:r>
              <a:rPr lang="en-ID" sz="1800" dirty="0" err="1"/>
              <a:t>misalnya</a:t>
            </a:r>
            <a:r>
              <a:rPr lang="en-ID" sz="1800" dirty="0"/>
              <a:t> </a:t>
            </a:r>
            <a:r>
              <a:rPr lang="en-ID" sz="1800" dirty="0" err="1"/>
              <a:t>grafik</a:t>
            </a:r>
            <a:r>
              <a:rPr lang="en-ID" sz="1800" dirty="0"/>
              <a:t>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tabel</a:t>
            </a:r>
            <a:r>
              <a:rPr lang="en-ID" sz="1800" dirty="0"/>
              <a:t> </a:t>
            </a:r>
            <a:r>
              <a:rPr lang="en-ID" sz="1800" dirty="0" err="1"/>
              <a:t>rekap</a:t>
            </a:r>
            <a:r>
              <a:rPr lang="en-ID" sz="1800" dirty="0"/>
              <a:t>) </a:t>
            </a:r>
            <a:r>
              <a:rPr lang="en-ID" sz="1800" dirty="0" err="1"/>
              <a:t>membantu</a:t>
            </a:r>
            <a:r>
              <a:rPr lang="en-ID" sz="1800" dirty="0"/>
              <a:t> </a:t>
            </a:r>
            <a:r>
              <a:rPr lang="en-ID" sz="1800" dirty="0" err="1"/>
              <a:t>pengguna</a:t>
            </a:r>
            <a:r>
              <a:rPr lang="en-ID" sz="1800" dirty="0"/>
              <a:t> </a:t>
            </a:r>
            <a:r>
              <a:rPr lang="en-ID" sz="1800" dirty="0" err="1"/>
              <a:t>melihat</a:t>
            </a:r>
            <a:r>
              <a:rPr lang="en-ID" sz="1800" dirty="0"/>
              <a:t> </a:t>
            </a:r>
            <a:r>
              <a:rPr lang="en-ID" sz="1800" dirty="0" err="1"/>
              <a:t>pola</a:t>
            </a:r>
            <a:r>
              <a:rPr lang="en-ID" sz="1800" dirty="0"/>
              <a:t>, </a:t>
            </a:r>
            <a:r>
              <a:rPr lang="en-ID" sz="1800" dirty="0" err="1"/>
              <a:t>tren</a:t>
            </a:r>
            <a:r>
              <a:rPr lang="en-ID" sz="1800" dirty="0"/>
              <a:t>, dan </a:t>
            </a:r>
            <a:r>
              <a:rPr lang="en-ID" sz="1800" dirty="0" err="1"/>
              <a:t>perbandingan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lebih</a:t>
            </a:r>
            <a:r>
              <a:rPr lang="en-ID" sz="1800" dirty="0"/>
              <a:t> </a:t>
            </a:r>
            <a:r>
              <a:rPr lang="en-ID" sz="1800" dirty="0" err="1"/>
              <a:t>cepat</a:t>
            </a:r>
            <a:r>
              <a:rPr lang="en-ID" sz="1800" dirty="0"/>
              <a:t>.</a:t>
            </a:r>
            <a:endParaRPr lang="en-ID" sz="16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600" dirty="0"/>
          </a:p>
        </p:txBody>
      </p:sp>
      <p:pic>
        <p:nvPicPr>
          <p:cNvPr id="3" name="Picture 9" descr="CAP1">
            <a:extLst>
              <a:ext uri="{FF2B5EF4-FFF2-40B4-BE49-F238E27FC236}">
                <a16:creationId xmlns:a16="http://schemas.microsoft.com/office/drawing/2014/main" id="{A37D78CF-E3BD-C09C-1D7A-D52095D9B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630" y="1017725"/>
            <a:ext cx="5477774" cy="27112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0578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B5F1445A-15E5-039B-B2E8-0C7F9178A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E02F0FCC-E49E-64D5-2336-9CA0B13D61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PROPERTI DATA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EB2B3B18-204A-88AB-F48D-CB365CD60BB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73192"/>
            <a:ext cx="7630370" cy="36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endParaRPr lang="en-ID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b="1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Setiap</a:t>
            </a:r>
            <a:r>
              <a:rPr lang="en-ID" sz="1800" dirty="0"/>
              <a:t> data </a:t>
            </a:r>
            <a:r>
              <a:rPr lang="en-ID" sz="1800" dirty="0" err="1"/>
              <a:t>dalam</a:t>
            </a:r>
            <a:r>
              <a:rPr lang="en-ID" sz="1800" dirty="0"/>
              <a:t> basis data </a:t>
            </a:r>
            <a:r>
              <a:rPr lang="en-ID" sz="1800" dirty="0" err="1"/>
              <a:t>memiliki</a:t>
            </a:r>
            <a:r>
              <a:rPr lang="en-ID" sz="1800" dirty="0"/>
              <a:t> </a:t>
            </a:r>
            <a:r>
              <a:rPr lang="en-ID" sz="1800" b="1" dirty="0" err="1"/>
              <a:t>deskripsi</a:t>
            </a:r>
            <a:r>
              <a:rPr lang="en-ID" sz="1800" b="1" dirty="0"/>
              <a:t> </a:t>
            </a:r>
            <a:r>
              <a:rPr lang="en-ID" sz="1800" b="1" dirty="0" err="1"/>
              <a:t>atribut</a:t>
            </a:r>
            <a:r>
              <a:rPr lang="en-ID" sz="1800" dirty="0"/>
              <a:t> yang </a:t>
            </a:r>
            <a:r>
              <a:rPr lang="en-ID" sz="1800" dirty="0" err="1"/>
              <a:t>mendefinisikan</a:t>
            </a:r>
            <a:r>
              <a:rPr lang="en-ID" sz="1800" dirty="0"/>
              <a:t> </a:t>
            </a:r>
            <a:r>
              <a:rPr lang="en-ID" sz="1800" dirty="0" err="1"/>
              <a:t>bagaimana</a:t>
            </a:r>
            <a:r>
              <a:rPr lang="en-ID" sz="1800" dirty="0"/>
              <a:t> data </a:t>
            </a:r>
            <a:r>
              <a:rPr lang="en-ID" sz="1800" dirty="0" err="1"/>
              <a:t>tersebut</a:t>
            </a:r>
            <a:r>
              <a:rPr lang="en-ID" sz="1800" dirty="0"/>
              <a:t> </a:t>
            </a:r>
            <a:r>
              <a:rPr lang="en-ID" sz="1800" dirty="0" err="1"/>
              <a:t>disimpan</a:t>
            </a:r>
            <a:r>
              <a:rPr lang="en-ID" sz="1800" dirty="0"/>
              <a:t>, </a:t>
            </a:r>
            <a:r>
              <a:rPr lang="en-ID" sz="1800" dirty="0" err="1"/>
              <a:t>digunakan</a:t>
            </a:r>
            <a:r>
              <a:rPr lang="en-ID" sz="1800" dirty="0"/>
              <a:t>, dan </a:t>
            </a:r>
            <a:r>
              <a:rPr lang="en-ID" sz="1800" dirty="0" err="1"/>
              <a:t>dipahami</a:t>
            </a:r>
            <a:r>
              <a:rPr lang="en-ID" sz="1800" dirty="0"/>
              <a:t> oleh </a:t>
            </a:r>
            <a:r>
              <a:rPr lang="en-ID" sz="1800" dirty="0" err="1"/>
              <a:t>sistem</a:t>
            </a:r>
            <a:r>
              <a:rPr lang="en-ID" sz="1800" dirty="0"/>
              <a:t> </a:t>
            </a:r>
            <a:r>
              <a:rPr lang="en-ID" sz="1800" dirty="0" err="1"/>
              <a:t>maupun</a:t>
            </a:r>
            <a:r>
              <a:rPr lang="en-ID" sz="1800" dirty="0"/>
              <a:t> </a:t>
            </a:r>
            <a:r>
              <a:rPr lang="en-ID" sz="1800" dirty="0" err="1"/>
              <a:t>pengguna</a:t>
            </a:r>
            <a:r>
              <a:rPr lang="en-ID" sz="1800" dirty="0"/>
              <a:t>.</a:t>
            </a:r>
            <a:endParaRPr lang="en-ID" dirty="0"/>
          </a:p>
        </p:txBody>
      </p:sp>
      <p:pic>
        <p:nvPicPr>
          <p:cNvPr id="2" name="Picture 2058" descr="CAP1">
            <a:extLst>
              <a:ext uri="{FF2B5EF4-FFF2-40B4-BE49-F238E27FC236}">
                <a16:creationId xmlns:a16="http://schemas.microsoft.com/office/drawing/2014/main" id="{DA492AAE-C459-D196-7462-587957B8D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630" y="989495"/>
            <a:ext cx="5451895" cy="2698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779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65C2910E-C7DA-AB08-20F5-08172FD2F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905BAC93-B589-44ED-2BBB-754BDC4C0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MENGAPA SISTEM BASIS DATA?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A8F4410C-6DEF-49E4-6EA2-4E0BC671E22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73192"/>
            <a:ext cx="7630370" cy="36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2000" dirty="0"/>
              <a:t>Sebagian </a:t>
            </a:r>
            <a:r>
              <a:rPr lang="en-ID" sz="2000" dirty="0" err="1"/>
              <a:t>besar</a:t>
            </a:r>
            <a:r>
              <a:rPr lang="en-ID" sz="2000" dirty="0"/>
              <a:t> </a:t>
            </a:r>
            <a:r>
              <a:rPr lang="en-ID" sz="2000" dirty="0" err="1"/>
              <a:t>aplikasi</a:t>
            </a:r>
            <a:r>
              <a:rPr lang="en-ID" sz="2000" dirty="0"/>
              <a:t> modern </a:t>
            </a:r>
            <a:r>
              <a:rPr lang="en-ID" sz="2000" dirty="0" err="1"/>
              <a:t>beroperasi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volume data yang sangat </a:t>
            </a:r>
            <a:r>
              <a:rPr lang="en-ID" sz="2000" dirty="0" err="1"/>
              <a:t>besar</a:t>
            </a:r>
            <a:r>
              <a:rPr lang="en-ID" sz="2000" dirty="0"/>
              <a:t> dan </a:t>
            </a:r>
            <a:r>
              <a:rPr lang="en-ID" sz="2000" dirty="0" err="1"/>
              <a:t>terus</a:t>
            </a:r>
            <a:r>
              <a:rPr lang="en-ID" sz="2000" dirty="0"/>
              <a:t> </a:t>
            </a:r>
            <a:r>
              <a:rPr lang="en-ID" sz="2000" dirty="0" err="1"/>
              <a:t>bertambah</a:t>
            </a:r>
            <a:r>
              <a:rPr lang="en-ID" sz="2000" dirty="0"/>
              <a:t>.</a:t>
            </a:r>
            <a:endParaRPr lang="en-ID" sz="1800" dirty="0"/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Perbankan</a:t>
            </a:r>
            <a:r>
              <a:rPr lang="en-ID" sz="1800" dirty="0"/>
              <a:t>: </a:t>
            </a:r>
            <a:r>
              <a:rPr lang="en-ID" sz="1800" dirty="0" err="1"/>
              <a:t>transaksi</a:t>
            </a:r>
            <a:r>
              <a:rPr lang="en-ID" sz="1800" dirty="0"/>
              <a:t> </a:t>
            </a:r>
            <a:r>
              <a:rPr lang="en-ID" sz="1800" dirty="0" err="1"/>
              <a:t>keuangan</a:t>
            </a:r>
            <a:r>
              <a:rPr lang="en-ID" sz="18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Maskapai</a:t>
            </a:r>
            <a:r>
              <a:rPr lang="en-ID" sz="1800" dirty="0"/>
              <a:t> </a:t>
            </a:r>
            <a:r>
              <a:rPr lang="en-ID" sz="1800" dirty="0" err="1"/>
              <a:t>penerbangan</a:t>
            </a:r>
            <a:r>
              <a:rPr lang="en-ID" sz="1800" dirty="0"/>
              <a:t>: </a:t>
            </a:r>
            <a:r>
              <a:rPr lang="en-ID" sz="1800" dirty="0" err="1"/>
              <a:t>reservasi</a:t>
            </a:r>
            <a:r>
              <a:rPr lang="en-ID" sz="1800" dirty="0"/>
              <a:t> dan </a:t>
            </a:r>
            <a:r>
              <a:rPr lang="en-ID" sz="1800" dirty="0" err="1"/>
              <a:t>jadwal</a:t>
            </a:r>
            <a:r>
              <a:rPr lang="en-ID" sz="1800" dirty="0"/>
              <a:t> </a:t>
            </a:r>
            <a:r>
              <a:rPr lang="en-ID" sz="1800" dirty="0" err="1"/>
              <a:t>penerbangan</a:t>
            </a:r>
            <a:r>
              <a:rPr lang="en-ID" sz="18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Perguruan</a:t>
            </a:r>
            <a:r>
              <a:rPr lang="en-ID" sz="1800" dirty="0"/>
              <a:t> </a:t>
            </a:r>
            <a:r>
              <a:rPr lang="en-ID" sz="1800" dirty="0" err="1"/>
              <a:t>tinggi</a:t>
            </a:r>
            <a:r>
              <a:rPr lang="en-ID" sz="1800" dirty="0"/>
              <a:t>: </a:t>
            </a:r>
            <a:r>
              <a:rPr lang="en-ID" sz="1800" dirty="0" err="1"/>
              <a:t>pendaftaran</a:t>
            </a:r>
            <a:r>
              <a:rPr lang="en-ID" sz="1800" dirty="0"/>
              <a:t> dan </a:t>
            </a:r>
            <a:r>
              <a:rPr lang="en-ID" sz="1800" dirty="0" err="1"/>
              <a:t>nilai</a:t>
            </a:r>
            <a:r>
              <a:rPr lang="en-ID" sz="1800" dirty="0"/>
              <a:t> </a:t>
            </a:r>
            <a:r>
              <a:rPr lang="en-ID" sz="1800" dirty="0" err="1"/>
              <a:t>akademik</a:t>
            </a:r>
            <a:r>
              <a:rPr lang="en-ID" sz="18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/>
              <a:t>Sales: </a:t>
            </a:r>
            <a:r>
              <a:rPr lang="en-ID" sz="1800" dirty="0" err="1"/>
              <a:t>pelanggan</a:t>
            </a:r>
            <a:r>
              <a:rPr lang="en-ID" sz="1800" dirty="0"/>
              <a:t>, </a:t>
            </a:r>
            <a:r>
              <a:rPr lang="en-ID" sz="1800" dirty="0" err="1"/>
              <a:t>produk</a:t>
            </a:r>
            <a:r>
              <a:rPr lang="en-ID" sz="1800" dirty="0"/>
              <a:t>, dan </a:t>
            </a:r>
            <a:r>
              <a:rPr lang="en-ID" sz="1800" dirty="0" err="1"/>
              <a:t>pembelian</a:t>
            </a:r>
            <a:r>
              <a:rPr lang="en-ID" sz="18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Dll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2000" dirty="0"/>
              <a:t>Data yang </a:t>
            </a:r>
            <a:r>
              <a:rPr lang="en-ID" sz="2000" dirty="0" err="1"/>
              <a:t>dikelola</a:t>
            </a:r>
            <a:r>
              <a:rPr lang="en-ID" sz="2000" dirty="0"/>
              <a:t> pada </a:t>
            </a:r>
            <a:r>
              <a:rPr lang="en-ID" sz="2000" dirty="0" err="1"/>
              <a:t>aplikasi-aplikasi</a:t>
            </a:r>
            <a:r>
              <a:rPr lang="en-ID" sz="2000" dirty="0"/>
              <a:t> </a:t>
            </a:r>
            <a:r>
              <a:rPr lang="en-ID" sz="2000" dirty="0" err="1"/>
              <a:t>tersebut</a:t>
            </a:r>
            <a:r>
              <a:rPr lang="en-ID" sz="2000" dirty="0"/>
              <a:t> </a:t>
            </a:r>
            <a:r>
              <a:rPr lang="en-ID" sz="2000" dirty="0" err="1"/>
              <a:t>berukuran</a:t>
            </a:r>
            <a:r>
              <a:rPr lang="en-ID" sz="2000" dirty="0"/>
              <a:t> </a:t>
            </a:r>
            <a:r>
              <a:rPr lang="en-ID" sz="2000" dirty="0" err="1"/>
              <a:t>besar</a:t>
            </a:r>
            <a:r>
              <a:rPr lang="en-ID" sz="2000" dirty="0"/>
              <a:t>, </a:t>
            </a:r>
            <a:r>
              <a:rPr lang="en-ID" sz="2000" dirty="0" err="1"/>
              <a:t>kompleks</a:t>
            </a:r>
            <a:r>
              <a:rPr lang="en-ID" sz="2000" dirty="0"/>
              <a:t>, dan </a:t>
            </a:r>
            <a:r>
              <a:rPr lang="en-ID" sz="2000" dirty="0" err="1"/>
              <a:t>bersifat</a:t>
            </a:r>
            <a:r>
              <a:rPr lang="en-ID" sz="2000" dirty="0"/>
              <a:t> </a:t>
            </a:r>
            <a:r>
              <a:rPr lang="en-ID" sz="2000" dirty="0" err="1"/>
              <a:t>kritis</a:t>
            </a:r>
            <a:r>
              <a:rPr lang="en-ID" sz="2000" dirty="0"/>
              <a:t>, </a:t>
            </a:r>
            <a:r>
              <a:rPr lang="en-ID" sz="2000" dirty="0" err="1"/>
              <a:t>serta</a:t>
            </a:r>
            <a:r>
              <a:rPr lang="en-ID" sz="2000" dirty="0"/>
              <a:t> </a:t>
            </a:r>
            <a:r>
              <a:rPr lang="en-ID" sz="2000" dirty="0" err="1"/>
              <a:t>memerlukan</a:t>
            </a:r>
            <a:r>
              <a:rPr lang="en-ID" sz="2000" dirty="0"/>
              <a:t> </a:t>
            </a:r>
            <a:r>
              <a:rPr lang="en-ID" sz="2000" dirty="0" err="1"/>
              <a:t>pengelolaan</a:t>
            </a:r>
            <a:r>
              <a:rPr lang="en-ID" sz="2000" dirty="0"/>
              <a:t> yang </a:t>
            </a:r>
            <a:r>
              <a:rPr lang="en-ID" sz="2000" dirty="0" err="1"/>
              <a:t>akurat</a:t>
            </a:r>
            <a:r>
              <a:rPr lang="en-ID" sz="2000" dirty="0"/>
              <a:t> dan </a:t>
            </a:r>
            <a:r>
              <a:rPr lang="en-ID" sz="2000" dirty="0" err="1"/>
              <a:t>andal</a:t>
            </a:r>
            <a:r>
              <a:rPr lang="en-ID" sz="2000" dirty="0"/>
              <a:t>. </a:t>
            </a:r>
            <a:endParaRPr lang="en-ID" sz="1800" dirty="0"/>
          </a:p>
        </p:txBody>
      </p:sp>
    </p:spTree>
    <p:extLst>
      <p:ext uri="{BB962C8B-B14F-4D97-AF65-F5344CB8AC3E}">
        <p14:creationId xmlns:p14="http://schemas.microsoft.com/office/powerpoint/2010/main" val="1642895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83BA861B-5382-12EC-2E3C-4353DB51E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E15DC813-176D-B008-E6F1-10BF4477B3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CONTOH APLIKASI PADA UNIVERSITAS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D2119073-C88A-4342-F83C-26A1A6EB9DD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73192"/>
            <a:ext cx="7630370" cy="36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2000" dirty="0" err="1"/>
              <a:t>Contoh</a:t>
            </a:r>
            <a:r>
              <a:rPr lang="en-ID" sz="2000" dirty="0"/>
              <a:t> program </a:t>
            </a:r>
            <a:r>
              <a:rPr lang="en-ID" sz="2000" dirty="0" err="1"/>
              <a:t>aplikasi</a:t>
            </a:r>
            <a:r>
              <a:rPr lang="en-ID" sz="2000" dirty="0"/>
              <a:t> </a:t>
            </a:r>
            <a:r>
              <a:rPr lang="en-ID" sz="2000" dirty="0" err="1"/>
              <a:t>meliputi</a:t>
            </a:r>
            <a:r>
              <a:rPr lang="en-ID" sz="2000" dirty="0"/>
              <a:t>:</a:t>
            </a:r>
            <a:endParaRPr lang="en-ID" sz="1600" dirty="0"/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/>
              <a:t>Data </a:t>
            </a:r>
            <a:r>
              <a:rPr lang="en-ID" sz="1800" dirty="0" err="1"/>
              <a:t>akademik</a:t>
            </a:r>
            <a:r>
              <a:rPr lang="en-ID" sz="1800" dirty="0"/>
              <a:t>: </a:t>
            </a:r>
            <a:r>
              <a:rPr lang="en-ID" sz="1800" dirty="0" err="1"/>
              <a:t>memasukkan</a:t>
            </a:r>
            <a:r>
              <a:rPr lang="en-ID" sz="1800" dirty="0"/>
              <a:t> data </a:t>
            </a:r>
            <a:r>
              <a:rPr lang="en-ID" sz="1800" dirty="0" err="1"/>
              <a:t>mahasiswa</a:t>
            </a:r>
            <a:r>
              <a:rPr lang="en-ID" sz="1800" dirty="0"/>
              <a:t>, </a:t>
            </a:r>
            <a:r>
              <a:rPr lang="en-ID" sz="1800" dirty="0" err="1"/>
              <a:t>dosen</a:t>
            </a:r>
            <a:r>
              <a:rPr lang="en-ID" sz="1800" dirty="0"/>
              <a:t>, dan </a:t>
            </a:r>
            <a:r>
              <a:rPr lang="en-ID" sz="1800" dirty="0" err="1"/>
              <a:t>mata</a:t>
            </a:r>
            <a:r>
              <a:rPr lang="en-ID" sz="1800" dirty="0"/>
              <a:t> </a:t>
            </a:r>
            <a:r>
              <a:rPr lang="en-ID" sz="1800" dirty="0" err="1"/>
              <a:t>kuliah</a:t>
            </a:r>
            <a:r>
              <a:rPr lang="en-ID" sz="1800" dirty="0"/>
              <a:t> </a:t>
            </a:r>
            <a:r>
              <a:rPr lang="en-ID" sz="1800" dirty="0" err="1"/>
              <a:t>ke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sistem</a:t>
            </a:r>
            <a:r>
              <a:rPr lang="en-ID" sz="18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Registrasi</a:t>
            </a:r>
            <a:r>
              <a:rPr lang="en-ID" sz="1800" dirty="0"/>
              <a:t> </a:t>
            </a:r>
            <a:r>
              <a:rPr lang="en-ID" sz="1800" dirty="0" err="1"/>
              <a:t>perkuliahan</a:t>
            </a:r>
            <a:r>
              <a:rPr lang="en-ID" sz="1800" dirty="0"/>
              <a:t>: </a:t>
            </a:r>
            <a:r>
              <a:rPr lang="en-ID" sz="1800" dirty="0" err="1"/>
              <a:t>pendaftaran</a:t>
            </a:r>
            <a:r>
              <a:rPr lang="en-ID" sz="1800" dirty="0"/>
              <a:t> </a:t>
            </a:r>
            <a:r>
              <a:rPr lang="en-ID" sz="1800" dirty="0" err="1"/>
              <a:t>mahasiswa</a:t>
            </a:r>
            <a:r>
              <a:rPr lang="en-ID" sz="1800" dirty="0"/>
              <a:t> </a:t>
            </a:r>
            <a:r>
              <a:rPr lang="en-ID" sz="1800" dirty="0" err="1"/>
              <a:t>ke</a:t>
            </a:r>
            <a:r>
              <a:rPr lang="en-ID" sz="1800" dirty="0"/>
              <a:t> </a:t>
            </a:r>
            <a:r>
              <a:rPr lang="en-ID" sz="1800" dirty="0" err="1"/>
              <a:t>mata</a:t>
            </a:r>
            <a:r>
              <a:rPr lang="en-ID" sz="1800" dirty="0"/>
              <a:t> </a:t>
            </a:r>
            <a:r>
              <a:rPr lang="en-ID" sz="1800" dirty="0" err="1"/>
              <a:t>kuliah</a:t>
            </a:r>
            <a:r>
              <a:rPr lang="en-ID" sz="1800" dirty="0"/>
              <a:t> </a:t>
            </a:r>
            <a:r>
              <a:rPr lang="en-ID" sz="1800" dirty="0" err="1"/>
              <a:t>serta</a:t>
            </a:r>
            <a:r>
              <a:rPr lang="en-ID" sz="1800" dirty="0"/>
              <a:t> </a:t>
            </a:r>
            <a:r>
              <a:rPr lang="en-ID" sz="1800" dirty="0" err="1"/>
              <a:t>pembuatan</a:t>
            </a:r>
            <a:r>
              <a:rPr lang="en-ID" sz="1800" dirty="0"/>
              <a:t> daftar </a:t>
            </a:r>
            <a:r>
              <a:rPr lang="en-ID" sz="1800" dirty="0" err="1"/>
              <a:t>peserta</a:t>
            </a:r>
            <a:r>
              <a:rPr lang="en-ID" sz="1800" dirty="0"/>
              <a:t> </a:t>
            </a:r>
            <a:r>
              <a:rPr lang="en-ID" sz="1800" dirty="0" err="1"/>
              <a:t>kelas</a:t>
            </a:r>
            <a:r>
              <a:rPr lang="en-ID" sz="18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Penilaian</a:t>
            </a:r>
            <a:r>
              <a:rPr lang="en-ID" sz="1800" dirty="0"/>
              <a:t> </a:t>
            </a:r>
            <a:r>
              <a:rPr lang="en-ID" sz="1800" dirty="0" err="1"/>
              <a:t>akademik</a:t>
            </a:r>
            <a:r>
              <a:rPr lang="en-ID" sz="1800" dirty="0"/>
              <a:t>: </a:t>
            </a:r>
            <a:r>
              <a:rPr lang="en-ID" sz="1800" dirty="0" err="1"/>
              <a:t>pemberian</a:t>
            </a:r>
            <a:r>
              <a:rPr lang="en-ID" sz="1800" dirty="0"/>
              <a:t> </a:t>
            </a:r>
            <a:r>
              <a:rPr lang="en-ID" sz="1800" dirty="0" err="1"/>
              <a:t>nilai</a:t>
            </a:r>
            <a:r>
              <a:rPr lang="en-ID" sz="1800" dirty="0"/>
              <a:t> </a:t>
            </a:r>
            <a:r>
              <a:rPr lang="en-ID" sz="1800" dirty="0" err="1"/>
              <a:t>kepada</a:t>
            </a:r>
            <a:r>
              <a:rPr lang="en-ID" sz="1800" dirty="0"/>
              <a:t> </a:t>
            </a:r>
            <a:r>
              <a:rPr lang="en-ID" sz="1800" dirty="0" err="1"/>
              <a:t>mahasiswa</a:t>
            </a:r>
            <a:r>
              <a:rPr lang="en-ID" sz="1800" dirty="0"/>
              <a:t>, </a:t>
            </a:r>
            <a:r>
              <a:rPr lang="en-ID" sz="1800" dirty="0" err="1"/>
              <a:t>perhitungan</a:t>
            </a:r>
            <a:r>
              <a:rPr lang="en-ID" sz="1800" dirty="0"/>
              <a:t> </a:t>
            </a:r>
            <a:r>
              <a:rPr lang="en-ID" sz="1800" dirty="0" err="1"/>
              <a:t>indeks</a:t>
            </a:r>
            <a:r>
              <a:rPr lang="en-ID" sz="1800" dirty="0"/>
              <a:t> </a:t>
            </a:r>
            <a:r>
              <a:rPr lang="en-ID" sz="1800" dirty="0" err="1"/>
              <a:t>prestasi</a:t>
            </a:r>
            <a:r>
              <a:rPr lang="en-ID" sz="1800" dirty="0"/>
              <a:t> (IP/IPK), dan </a:t>
            </a:r>
            <a:r>
              <a:rPr lang="en-ID" sz="1800" dirty="0" err="1"/>
              <a:t>pembuatan</a:t>
            </a:r>
            <a:r>
              <a:rPr lang="en-ID" sz="1800" dirty="0"/>
              <a:t> </a:t>
            </a:r>
            <a:r>
              <a:rPr lang="en-ID" sz="1800" dirty="0" err="1"/>
              <a:t>transkrip</a:t>
            </a:r>
            <a:r>
              <a:rPr lang="en-ID" sz="1800" dirty="0"/>
              <a:t> </a:t>
            </a:r>
            <a:r>
              <a:rPr lang="en-ID" sz="1800" dirty="0" err="1"/>
              <a:t>akademik</a:t>
            </a:r>
            <a:r>
              <a:rPr lang="en-ID" sz="1800" dirty="0"/>
              <a:t>.</a:t>
            </a:r>
            <a:endParaRPr lang="en-ID" sz="16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2000" dirty="0"/>
              <a:t>Pada </a:t>
            </a:r>
            <a:r>
              <a:rPr lang="en-ID" sz="2000" dirty="0" err="1"/>
              <a:t>tahap</a:t>
            </a:r>
            <a:r>
              <a:rPr lang="en-ID" sz="2000" dirty="0"/>
              <a:t> </a:t>
            </a:r>
            <a:r>
              <a:rPr lang="en-ID" sz="2000" dirty="0" err="1"/>
              <a:t>awal</a:t>
            </a:r>
            <a:r>
              <a:rPr lang="en-ID" sz="2000" dirty="0"/>
              <a:t> </a:t>
            </a:r>
            <a:r>
              <a:rPr lang="en-ID" sz="2000" dirty="0" err="1"/>
              <a:t>perkembangan</a:t>
            </a:r>
            <a:r>
              <a:rPr lang="en-ID" sz="2000" dirty="0"/>
              <a:t> </a:t>
            </a:r>
            <a:r>
              <a:rPr lang="en-ID" sz="2000" dirty="0" err="1"/>
              <a:t>sistem</a:t>
            </a:r>
            <a:r>
              <a:rPr lang="en-ID" sz="2000" dirty="0"/>
              <a:t> </a:t>
            </a:r>
            <a:r>
              <a:rPr lang="en-ID" sz="2000" dirty="0" err="1"/>
              <a:t>informasi</a:t>
            </a:r>
            <a:r>
              <a:rPr lang="en-ID" sz="2000" dirty="0"/>
              <a:t>, </a:t>
            </a:r>
            <a:r>
              <a:rPr lang="en-ID" sz="2000" dirty="0" err="1"/>
              <a:t>aplikasi-aplikasi</a:t>
            </a:r>
            <a:r>
              <a:rPr lang="en-ID" sz="2000" dirty="0"/>
              <a:t> </a:t>
            </a:r>
            <a:r>
              <a:rPr lang="en-ID" sz="2000" dirty="0" err="1"/>
              <a:t>tersebut</a:t>
            </a:r>
            <a:r>
              <a:rPr lang="en-ID" sz="2000" dirty="0"/>
              <a:t> </a:t>
            </a:r>
            <a:r>
              <a:rPr lang="en-ID" sz="2000" dirty="0" err="1"/>
              <a:t>dibangun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langsung</a:t>
            </a:r>
            <a:r>
              <a:rPr lang="en-ID" sz="2000" dirty="0"/>
              <a:t> di </a:t>
            </a:r>
            <a:r>
              <a:rPr lang="en-ID" sz="2000" dirty="0" err="1"/>
              <a:t>atas</a:t>
            </a:r>
            <a:r>
              <a:rPr lang="en-ID" sz="2000" dirty="0"/>
              <a:t> </a:t>
            </a:r>
            <a:r>
              <a:rPr lang="en-ID" sz="2000" dirty="0" err="1"/>
              <a:t>sistem</a:t>
            </a:r>
            <a:r>
              <a:rPr lang="en-ID" sz="2000" dirty="0"/>
              <a:t> </a:t>
            </a:r>
            <a:r>
              <a:rPr lang="en-ID" sz="2000" dirty="0" err="1"/>
              <a:t>berkas</a:t>
            </a:r>
            <a:r>
              <a:rPr lang="en-ID" sz="2000" dirty="0"/>
              <a:t> (file system) </a:t>
            </a:r>
            <a:r>
              <a:rPr lang="en-ID" sz="2000" dirty="0" err="1"/>
              <a:t>tanpa</a:t>
            </a:r>
            <a:r>
              <a:rPr lang="en-ID" sz="2000" dirty="0"/>
              <a:t> </a:t>
            </a:r>
            <a:r>
              <a:rPr lang="en-ID" sz="2000" dirty="0" err="1"/>
              <a:t>dukungan</a:t>
            </a:r>
            <a:r>
              <a:rPr lang="en-ID" sz="2000" dirty="0"/>
              <a:t> </a:t>
            </a:r>
            <a:r>
              <a:rPr lang="en-ID" sz="2000" dirty="0" err="1"/>
              <a:t>sistem</a:t>
            </a:r>
            <a:r>
              <a:rPr lang="en-ID" sz="2000" dirty="0"/>
              <a:t> basis data </a:t>
            </a:r>
            <a:r>
              <a:rPr lang="en-ID" sz="2000" dirty="0" err="1"/>
              <a:t>terintegrasi</a:t>
            </a:r>
            <a:r>
              <a:rPr lang="en-ID" sz="2000" dirty="0"/>
              <a:t>.</a:t>
            </a:r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3008480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CBC55499-483F-C8FB-F24E-5D002044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FA2C0DFA-EE6D-4182-3C1A-D2A8C5807C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CONTOH SISTEM PEMROSESAN BERKAS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041183BB-175E-FE07-75A3-789C3C9C1E8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017725"/>
            <a:ext cx="7630370" cy="3847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600" dirty="0" err="1"/>
              <a:t>Contoh</a:t>
            </a:r>
            <a:r>
              <a:rPr lang="en-ID" sz="1600" dirty="0"/>
              <a:t> </a:t>
            </a:r>
            <a:r>
              <a:rPr lang="en-ID" sz="1600" dirty="0" err="1"/>
              <a:t>nyata</a:t>
            </a:r>
            <a:r>
              <a:rPr lang="en-ID" sz="1600" dirty="0"/>
              <a:t> </a:t>
            </a:r>
            <a:r>
              <a:rPr lang="en-ID" sz="1600" dirty="0" err="1"/>
              <a:t>penggunaan</a:t>
            </a:r>
            <a:r>
              <a:rPr lang="en-ID" sz="1600" dirty="0"/>
              <a:t> </a:t>
            </a:r>
            <a:r>
              <a:rPr lang="en-ID" sz="1600" dirty="0" err="1"/>
              <a:t>sistem</a:t>
            </a:r>
            <a:r>
              <a:rPr lang="en-ID" sz="1600" dirty="0"/>
              <a:t> </a:t>
            </a:r>
            <a:r>
              <a:rPr lang="en-ID" sz="1600" dirty="0" err="1"/>
              <a:t>pemrosesan</a:t>
            </a:r>
            <a:r>
              <a:rPr lang="en-ID" sz="1600" dirty="0"/>
              <a:t> </a:t>
            </a:r>
            <a:r>
              <a:rPr lang="en-ID" sz="1600" dirty="0" err="1"/>
              <a:t>berkas</a:t>
            </a:r>
            <a:r>
              <a:rPr lang="en-ID" sz="1600" dirty="0"/>
              <a:t> (file processing system) </a:t>
            </a:r>
            <a:r>
              <a:rPr lang="en-ID" sz="1600" dirty="0" err="1"/>
              <a:t>tradisional</a:t>
            </a:r>
            <a:r>
              <a:rPr lang="en-ID" sz="1600" dirty="0"/>
              <a:t> pada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dirty="0" err="1"/>
              <a:t>organisasi</a:t>
            </a:r>
            <a:r>
              <a:rPr lang="en-ID" sz="1600" dirty="0"/>
              <a:t>: </a:t>
            </a:r>
            <a:r>
              <a:rPr lang="en-ID" sz="1600" i="1" dirty="0"/>
              <a:t>Pine Valley Furniture Company.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600" dirty="0" err="1"/>
              <a:t>Menunjukkan</a:t>
            </a:r>
            <a:r>
              <a:rPr lang="en-ID" sz="1600" dirty="0"/>
              <a:t> </a:t>
            </a:r>
            <a:r>
              <a:rPr lang="en-ID" sz="1600" dirty="0" err="1"/>
              <a:t>keterbatasan</a:t>
            </a:r>
            <a:r>
              <a:rPr lang="en-ID" sz="1600" dirty="0"/>
              <a:t> dan </a:t>
            </a:r>
            <a:r>
              <a:rPr lang="en-ID" sz="1600" dirty="0" err="1"/>
              <a:t>kelemahan</a:t>
            </a:r>
            <a:r>
              <a:rPr lang="en-ID" sz="1600" dirty="0"/>
              <a:t> </a:t>
            </a:r>
            <a:r>
              <a:rPr lang="en-ID" sz="1600" dirty="0" err="1"/>
              <a:t>pendekatan</a:t>
            </a:r>
            <a:r>
              <a:rPr lang="en-ID" sz="1600" dirty="0"/>
              <a:t> </a:t>
            </a:r>
            <a:r>
              <a:rPr lang="en-ID" sz="1600" dirty="0" err="1"/>
              <a:t>berbasis</a:t>
            </a:r>
            <a:r>
              <a:rPr lang="en-ID" sz="1600" dirty="0"/>
              <a:t> </a:t>
            </a:r>
            <a:r>
              <a:rPr lang="en-ID" sz="1600" dirty="0" err="1"/>
              <a:t>berkas</a:t>
            </a:r>
            <a:r>
              <a:rPr lang="en-ID" sz="1600" dirty="0"/>
              <a:t>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2EE306A-2267-F76E-A6B3-409955736F5F}"/>
              </a:ext>
            </a:extLst>
          </p:cNvPr>
          <p:cNvGrpSpPr/>
          <p:nvPr/>
        </p:nvGrpSpPr>
        <p:grpSpPr>
          <a:xfrm>
            <a:off x="898170" y="1989844"/>
            <a:ext cx="4996003" cy="2927666"/>
            <a:chOff x="428612" y="1406622"/>
            <a:chExt cx="8286777" cy="4856066"/>
          </a:xfrm>
        </p:grpSpPr>
        <p:pic>
          <p:nvPicPr>
            <p:cNvPr id="4" name="Picture 1037" descr="CAP1">
              <a:extLst>
                <a:ext uri="{FF2B5EF4-FFF2-40B4-BE49-F238E27FC236}">
                  <a16:creationId xmlns:a16="http://schemas.microsoft.com/office/drawing/2014/main" id="{ABE1DA73-4783-B10B-F61D-0446A7921E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28612" y="1406622"/>
              <a:ext cx="8286777" cy="4856066"/>
            </a:xfrm>
            <a:prstGeom prst="rect">
              <a:avLst/>
            </a:prstGeom>
            <a:noFill/>
          </p:spPr>
        </p:pic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1A83674-4319-EF24-9F70-04B01E1177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2910" y="1707504"/>
              <a:ext cx="5599140" cy="4299597"/>
              <a:chOff x="163" y="837"/>
              <a:chExt cx="3814" cy="2947"/>
            </a:xfrm>
          </p:grpSpPr>
          <p:sp>
            <p:nvSpPr>
              <p:cNvPr id="6" name="Oval 1029">
                <a:extLst>
                  <a:ext uri="{FF2B5EF4-FFF2-40B4-BE49-F238E27FC236}">
                    <a16:creationId xmlns:a16="http://schemas.microsoft.com/office/drawing/2014/main" id="{6A43EE24-9905-DF76-8AA5-EBE1D51F3A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" y="2787"/>
                <a:ext cx="738" cy="996"/>
              </a:xfrm>
              <a:prstGeom prst="ellipse">
                <a:avLst/>
              </a:prstGeom>
              <a:noFill/>
              <a:ln w="25400">
                <a:solidFill>
                  <a:srgbClr val="8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Oval 1030">
                <a:extLst>
                  <a:ext uri="{FF2B5EF4-FFF2-40B4-BE49-F238E27FC236}">
                    <a16:creationId xmlns:a16="http://schemas.microsoft.com/office/drawing/2014/main" id="{F7397460-EA37-6268-9610-950430D149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8" y="2838"/>
                <a:ext cx="729" cy="946"/>
              </a:xfrm>
              <a:prstGeom prst="ellipse">
                <a:avLst/>
              </a:prstGeom>
              <a:noFill/>
              <a:ln w="25400">
                <a:solidFill>
                  <a:srgbClr val="8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8" name="AutoShape 1031">
                <a:extLst>
                  <a:ext uri="{FF2B5EF4-FFF2-40B4-BE49-F238E27FC236}">
                    <a16:creationId xmlns:a16="http://schemas.microsoft.com/office/drawing/2014/main" id="{BBA23130-B08B-8F7F-04A6-9EFA1B2A13F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163" y="3257"/>
                <a:ext cx="3812" cy="82"/>
              </a:xfrm>
              <a:prstGeom prst="bentConnector5">
                <a:avLst>
                  <a:gd name="adj1" fmla="val -2889"/>
                  <a:gd name="adj2" fmla="val -3004880"/>
                  <a:gd name="adj3" fmla="val 103542"/>
                </a:avLst>
              </a:prstGeom>
              <a:noFill/>
              <a:ln w="25400">
                <a:solidFill>
                  <a:srgbClr val="800000"/>
                </a:solidFill>
                <a:miter lim="800000"/>
                <a:headEnd/>
                <a:tailEnd/>
              </a:ln>
              <a:effectLst/>
            </p:spPr>
          </p:cxnSp>
          <p:sp>
            <p:nvSpPr>
              <p:cNvPr id="9" name="Text Box 1032">
                <a:extLst>
                  <a:ext uri="{FF2B5EF4-FFF2-40B4-BE49-F238E27FC236}">
                    <a16:creationId xmlns:a16="http://schemas.microsoft.com/office/drawing/2014/main" id="{968F5201-BB02-D8B4-9720-2104374B46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0" y="837"/>
                <a:ext cx="1968" cy="455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id" sz="2000" dirty="0">
                    <a:solidFill>
                      <a:srgbClr val="990000"/>
                    </a:solidFill>
                    <a:latin typeface="Times New Roman" pitchFamily="18" charset="0"/>
                  </a:rPr>
                  <a:t>Duplikat Data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2061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4270D91C-8EDC-0C7E-CDB1-5F7051AB3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EA019C0D-86C0-B142-7192-F51C99DB22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KELEMAHAN SISTEM PEMROSESAN BERKAS (1) 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3C6968C6-C409-F5D7-FC31-9558BF6D647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017725"/>
            <a:ext cx="7630370" cy="3847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b="1" dirty="0" err="1"/>
              <a:t>Redundansi</a:t>
            </a:r>
            <a:r>
              <a:rPr lang="en-ID" sz="1800" b="1" dirty="0"/>
              <a:t> dan </a:t>
            </a:r>
            <a:r>
              <a:rPr lang="en-ID" sz="1800" b="1" dirty="0" err="1"/>
              <a:t>inkonsistensi</a:t>
            </a:r>
            <a:r>
              <a:rPr lang="en-ID" sz="1800" b="1" dirty="0"/>
              <a:t> data</a:t>
            </a:r>
            <a:br>
              <a:rPr lang="en-ID" sz="1800" dirty="0"/>
            </a:br>
            <a:r>
              <a:rPr lang="en-ID" sz="1800" dirty="0" err="1"/>
              <a:t>Data</a:t>
            </a:r>
            <a:r>
              <a:rPr lang="en-ID" sz="1800" dirty="0"/>
              <a:t> yang </a:t>
            </a:r>
            <a:r>
              <a:rPr lang="en-ID" sz="1800" dirty="0" err="1"/>
              <a:t>sama</a:t>
            </a:r>
            <a:r>
              <a:rPr lang="en-ID" sz="1800" dirty="0"/>
              <a:t> </a:t>
            </a:r>
            <a:r>
              <a:rPr lang="en-ID" sz="1800" dirty="0" err="1"/>
              <a:t>disimpan</a:t>
            </a:r>
            <a:r>
              <a:rPr lang="en-ID" sz="1800" dirty="0"/>
              <a:t> </a:t>
            </a:r>
            <a:r>
              <a:rPr lang="en-ID" sz="1800" dirty="0" err="1"/>
              <a:t>berulang</a:t>
            </a:r>
            <a:r>
              <a:rPr lang="en-ID" sz="1800" dirty="0"/>
              <a:t> kali pada </a:t>
            </a:r>
            <a:r>
              <a:rPr lang="en-ID" sz="1800" dirty="0" err="1"/>
              <a:t>beberapa</a:t>
            </a:r>
            <a:r>
              <a:rPr lang="en-ID" sz="1800" dirty="0"/>
              <a:t> </a:t>
            </a:r>
            <a:r>
              <a:rPr lang="en-ID" sz="1800" dirty="0" err="1"/>
              <a:t>berkas</a:t>
            </a:r>
            <a:r>
              <a:rPr lang="en-ID" sz="1800" dirty="0"/>
              <a:t>, </a:t>
            </a:r>
            <a:r>
              <a:rPr lang="en-ID" sz="1800" dirty="0" err="1"/>
              <a:t>sehingga</a:t>
            </a:r>
            <a:r>
              <a:rPr lang="en-ID" sz="1800" dirty="0"/>
              <a:t> </a:t>
            </a:r>
            <a:r>
              <a:rPr lang="en-ID" sz="1800" dirty="0" err="1"/>
              <a:t>berpotensi</a:t>
            </a:r>
            <a:r>
              <a:rPr lang="en-ID" sz="1800" dirty="0"/>
              <a:t> </a:t>
            </a:r>
            <a:r>
              <a:rPr lang="en-ID" sz="1800" dirty="0" err="1"/>
              <a:t>menghasilkan</a:t>
            </a:r>
            <a:r>
              <a:rPr lang="en-ID" sz="1800" dirty="0"/>
              <a:t> </a:t>
            </a:r>
            <a:r>
              <a:rPr lang="en-ID" sz="1800" dirty="0" err="1"/>
              <a:t>perbedaan</a:t>
            </a:r>
            <a:r>
              <a:rPr lang="en-ID" sz="1800" dirty="0"/>
              <a:t> </a:t>
            </a:r>
            <a:r>
              <a:rPr lang="en-ID" sz="1800" dirty="0" err="1"/>
              <a:t>nilai</a:t>
            </a:r>
            <a:r>
              <a:rPr lang="en-ID" sz="1800" dirty="0"/>
              <a:t> data </a:t>
            </a:r>
            <a:r>
              <a:rPr lang="en-ID" sz="1800" dirty="0" err="1"/>
              <a:t>antarberkas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b="1" dirty="0" err="1"/>
              <a:t>Beragam</a:t>
            </a:r>
            <a:r>
              <a:rPr lang="en-ID" sz="1800" b="1" dirty="0"/>
              <a:t> format </a:t>
            </a:r>
            <a:r>
              <a:rPr lang="en-ID" sz="1800" b="1" dirty="0" err="1"/>
              <a:t>berkas</a:t>
            </a:r>
            <a:r>
              <a:rPr lang="en-ID" sz="1800" b="1" dirty="0"/>
              <a:t> dan </a:t>
            </a:r>
            <a:r>
              <a:rPr lang="en-ID" sz="1800" b="1" dirty="0" err="1"/>
              <a:t>duplikasi</a:t>
            </a:r>
            <a:r>
              <a:rPr lang="en-ID" sz="1800" b="1" dirty="0"/>
              <a:t> </a:t>
            </a:r>
            <a:r>
              <a:rPr lang="en-ID" sz="1800" b="1" dirty="0" err="1"/>
              <a:t>informasi</a:t>
            </a:r>
            <a:br>
              <a:rPr lang="en-ID" sz="1800" dirty="0"/>
            </a:br>
            <a:r>
              <a:rPr lang="en-ID" sz="1800" dirty="0" err="1"/>
              <a:t>Informasi</a:t>
            </a:r>
            <a:r>
              <a:rPr lang="en-ID" sz="1800" dirty="0"/>
              <a:t> yang </a:t>
            </a:r>
            <a:r>
              <a:rPr lang="en-ID" sz="1800" dirty="0" err="1"/>
              <a:t>sama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muncul</a:t>
            </a:r>
            <a:r>
              <a:rPr lang="en-ID" sz="1800" dirty="0"/>
              <a:t> pada </a:t>
            </a:r>
            <a:r>
              <a:rPr lang="en-ID" sz="1800" dirty="0" err="1"/>
              <a:t>berbagai</a:t>
            </a:r>
            <a:r>
              <a:rPr lang="en-ID" sz="1800" dirty="0"/>
              <a:t> </a:t>
            </a:r>
            <a:r>
              <a:rPr lang="en-ID" sz="1800" dirty="0" err="1"/>
              <a:t>berkas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struktur</a:t>
            </a:r>
            <a:r>
              <a:rPr lang="en-ID" sz="1800" dirty="0"/>
              <a:t> dan format yang </a:t>
            </a:r>
            <a:r>
              <a:rPr lang="en-ID" sz="1800" dirty="0" err="1"/>
              <a:t>berbeda</a:t>
            </a:r>
            <a:r>
              <a:rPr lang="en-ID" sz="1800" dirty="0"/>
              <a:t>, </a:t>
            </a:r>
            <a:r>
              <a:rPr lang="en-ID" sz="1800" dirty="0" err="1"/>
              <a:t>sehingga</a:t>
            </a:r>
            <a:r>
              <a:rPr lang="en-ID" sz="1800" dirty="0"/>
              <a:t> </a:t>
            </a:r>
            <a:r>
              <a:rPr lang="en-ID" sz="1800" dirty="0" err="1"/>
              <a:t>sulit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dikelola</a:t>
            </a:r>
            <a:r>
              <a:rPr lang="en-ID" sz="1800" dirty="0"/>
              <a:t>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konsisten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Permasalahan</a:t>
            </a:r>
            <a:r>
              <a:rPr lang="en-ID" sz="1800" dirty="0"/>
              <a:t> yang </a:t>
            </a:r>
            <a:r>
              <a:rPr lang="en-ID" sz="1800" dirty="0" err="1"/>
              <a:t>ditimbulkan</a:t>
            </a:r>
            <a:r>
              <a:rPr lang="en-ID" sz="1800" dirty="0"/>
              <a:t>:</a:t>
            </a:r>
          </a:p>
          <a:p>
            <a:pPr marL="444500" lvl="0" indent="-258763">
              <a:buFont typeface="Wingdings" panose="05000000000000000000" pitchFamily="2" charset="2"/>
              <a:buChar char="§"/>
            </a:pPr>
            <a:r>
              <a:rPr lang="en-ID" sz="1800" dirty="0" err="1"/>
              <a:t>Pemborosan</a:t>
            </a:r>
            <a:r>
              <a:rPr lang="en-ID" sz="1800" dirty="0"/>
              <a:t> </a:t>
            </a:r>
            <a:r>
              <a:rPr lang="en-ID" sz="1800" dirty="0" err="1"/>
              <a:t>ruang</a:t>
            </a:r>
            <a:r>
              <a:rPr lang="en-ID" sz="1800" dirty="0"/>
              <a:t> </a:t>
            </a:r>
            <a:r>
              <a:rPr lang="en-ID" sz="1800" dirty="0" err="1"/>
              <a:t>penyimpanan</a:t>
            </a:r>
            <a:endParaRPr lang="en-ID" sz="1800" dirty="0"/>
          </a:p>
          <a:p>
            <a:pPr marL="444500" lvl="0" indent="-258763">
              <a:buFont typeface="Wingdings" panose="05000000000000000000" pitchFamily="2" charset="2"/>
              <a:buChar char="§"/>
            </a:pPr>
            <a:r>
              <a:rPr lang="en-ID" sz="1800" dirty="0" err="1"/>
              <a:t>Meningkatnya</a:t>
            </a:r>
            <a:r>
              <a:rPr lang="en-ID" sz="1800" dirty="0"/>
              <a:t> </a:t>
            </a:r>
            <a:r>
              <a:rPr lang="en-ID" sz="1800" dirty="0" err="1"/>
              <a:t>beban</a:t>
            </a:r>
            <a:r>
              <a:rPr lang="en-ID" sz="1800" dirty="0"/>
              <a:t> </a:t>
            </a:r>
            <a:r>
              <a:rPr lang="en-ID" sz="1800" dirty="0" err="1"/>
              <a:t>pemeliharaan</a:t>
            </a:r>
            <a:r>
              <a:rPr lang="en-ID" sz="1800" dirty="0"/>
              <a:t> system</a:t>
            </a:r>
          </a:p>
          <a:p>
            <a:pPr marL="444500" lvl="0" indent="-258763">
              <a:buFont typeface="Wingdings" panose="05000000000000000000" pitchFamily="2" charset="2"/>
              <a:buChar char="§"/>
            </a:pPr>
            <a:r>
              <a:rPr lang="en-ID" sz="1800" dirty="0" err="1"/>
              <a:t>Menurunnya</a:t>
            </a:r>
            <a:r>
              <a:rPr lang="en-ID" sz="1800" dirty="0"/>
              <a:t> </a:t>
            </a:r>
            <a:r>
              <a:rPr lang="en-ID" sz="1800" dirty="0" err="1"/>
              <a:t>integritas</a:t>
            </a:r>
            <a:r>
              <a:rPr lang="en-ID" sz="1800" dirty="0"/>
              <a:t> data</a:t>
            </a:r>
          </a:p>
          <a:p>
            <a:pPr marL="444500" lvl="0" indent="-258763">
              <a:buFont typeface="Wingdings" panose="05000000000000000000" pitchFamily="2" charset="2"/>
              <a:buChar char="§"/>
            </a:pPr>
            <a:r>
              <a:rPr lang="en-ID" sz="1800" dirty="0" err="1"/>
              <a:t>Kesulitan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mengakses</a:t>
            </a:r>
            <a:r>
              <a:rPr lang="en-ID" sz="1800" dirty="0"/>
              <a:t> data</a:t>
            </a:r>
          </a:p>
          <a:p>
            <a:pPr marL="444500" lvl="0" indent="-258763">
              <a:buFont typeface="Wingdings" panose="05000000000000000000" pitchFamily="2" charset="2"/>
              <a:buChar char="§"/>
            </a:pPr>
            <a:r>
              <a:rPr lang="en-ID" sz="1800" dirty="0" err="1"/>
              <a:t>Kebutuhan</a:t>
            </a:r>
            <a:r>
              <a:rPr lang="en-ID" sz="1800" dirty="0"/>
              <a:t> </a:t>
            </a:r>
            <a:r>
              <a:rPr lang="en-ID" sz="1800" dirty="0" err="1"/>
              <a:t>pembuatan</a:t>
            </a:r>
            <a:r>
              <a:rPr lang="en-ID" sz="1800" dirty="0"/>
              <a:t> program </a:t>
            </a:r>
            <a:r>
              <a:rPr lang="en-ID" sz="1800" dirty="0" err="1"/>
              <a:t>baru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setiap</a:t>
            </a:r>
            <a:r>
              <a:rPr lang="en-ID" sz="1800" dirty="0"/>
              <a:t> </a:t>
            </a:r>
            <a:r>
              <a:rPr lang="en-ID" sz="1800" dirty="0" err="1"/>
              <a:t>tugas</a:t>
            </a:r>
            <a:r>
              <a:rPr lang="en-ID" sz="1800" dirty="0"/>
              <a:t> </a:t>
            </a:r>
            <a:r>
              <a:rPr lang="en-ID" sz="1800" dirty="0" err="1"/>
              <a:t>baru</a:t>
            </a:r>
            <a:endParaRPr lang="en-ID" sz="1800" dirty="0"/>
          </a:p>
        </p:txBody>
      </p:sp>
    </p:spTree>
    <p:extLst>
      <p:ext uri="{BB962C8B-B14F-4D97-AF65-F5344CB8AC3E}">
        <p14:creationId xmlns:p14="http://schemas.microsoft.com/office/powerpoint/2010/main" val="3717434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45A297F7-2FFC-B0ED-079E-EF7B49E30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49A66CB7-5BB9-DCBF-F410-A571376B1F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KELEMAHAN SISTEM PEMROSESAN BERKAS (2) 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F6CFD18F-7604-9AA6-F012-F069BD431A8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017725"/>
            <a:ext cx="7630370" cy="3847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2000" dirty="0" err="1"/>
              <a:t>Ketergantungan</a:t>
            </a:r>
            <a:r>
              <a:rPr lang="en-ID" sz="2000" dirty="0"/>
              <a:t> program </a:t>
            </a:r>
            <a:r>
              <a:rPr lang="en-ID" sz="2000" dirty="0" err="1"/>
              <a:t>terhadap</a:t>
            </a:r>
            <a:r>
              <a:rPr lang="en-ID" sz="2000" dirty="0"/>
              <a:t> data (</a:t>
            </a:r>
            <a:r>
              <a:rPr lang="en-ID" sz="2000" i="1" dirty="0"/>
              <a:t>program–data dependence</a:t>
            </a:r>
            <a:r>
              <a:rPr lang="en-ID" sz="2000" dirty="0"/>
              <a:t>).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2000" dirty="0" err="1"/>
              <a:t>Setiap</a:t>
            </a:r>
            <a:r>
              <a:rPr lang="en-ID" sz="2000" dirty="0"/>
              <a:t> program </a:t>
            </a:r>
            <a:r>
              <a:rPr lang="en-ID" sz="2000" dirty="0" err="1"/>
              <a:t>menyimpan</a:t>
            </a:r>
            <a:r>
              <a:rPr lang="en-ID" sz="2000" dirty="0"/>
              <a:t> metadata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berkas</a:t>
            </a:r>
            <a:r>
              <a:rPr lang="en-ID" sz="2000" dirty="0"/>
              <a:t> yang </a:t>
            </a:r>
            <a:r>
              <a:rPr lang="en-ID" sz="2000" dirty="0" err="1"/>
              <a:t>digunakan</a:t>
            </a:r>
            <a:endParaRPr lang="en-ID" sz="20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2000" dirty="0" err="1"/>
              <a:t>Permasalahan</a:t>
            </a:r>
            <a:r>
              <a:rPr lang="en-ID" sz="2000" dirty="0"/>
              <a:t> yang </a:t>
            </a:r>
            <a:r>
              <a:rPr lang="en-ID" sz="2000" dirty="0" err="1"/>
              <a:t>ditimbulkan</a:t>
            </a:r>
            <a:r>
              <a:rPr lang="en-ID" sz="2000" dirty="0"/>
              <a:t>:</a:t>
            </a:r>
            <a:endParaRPr lang="en-ID" sz="1800" dirty="0"/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Setiap</a:t>
            </a:r>
            <a:r>
              <a:rPr lang="en-ID" sz="1800" dirty="0"/>
              <a:t> </a:t>
            </a:r>
            <a:r>
              <a:rPr lang="en-ID" sz="1800" dirty="0" err="1"/>
              <a:t>pengembang</a:t>
            </a:r>
            <a:r>
              <a:rPr lang="en-ID" sz="1800" dirty="0"/>
              <a:t> </a:t>
            </a:r>
            <a:r>
              <a:rPr lang="en-ID" sz="1800" dirty="0" err="1"/>
              <a:t>aplikasi</a:t>
            </a:r>
            <a:r>
              <a:rPr lang="en-ID" sz="1800" dirty="0"/>
              <a:t> </a:t>
            </a:r>
            <a:r>
              <a:rPr lang="en-ID" sz="1800" dirty="0" err="1"/>
              <a:t>harus</a:t>
            </a:r>
            <a:r>
              <a:rPr lang="en-ID" sz="1800" dirty="0"/>
              <a:t> </a:t>
            </a:r>
            <a:r>
              <a:rPr lang="en-ID" sz="1800" dirty="0" err="1"/>
              <a:t>mengelola</a:t>
            </a:r>
            <a:r>
              <a:rPr lang="en-ID" sz="1800" dirty="0"/>
              <a:t> </a:t>
            </a:r>
            <a:r>
              <a:rPr lang="en-ID" sz="1800" dirty="0" err="1"/>
              <a:t>datanya</a:t>
            </a:r>
            <a:r>
              <a:rPr lang="en-ID" sz="1800" dirty="0"/>
              <a:t> </a:t>
            </a:r>
            <a:r>
              <a:rPr lang="en-ID" sz="1800" dirty="0" err="1"/>
              <a:t>sendiri</a:t>
            </a:r>
            <a:endParaRPr lang="en-ID" sz="1800" dirty="0"/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Setiap</a:t>
            </a:r>
            <a:r>
              <a:rPr lang="en-ID" sz="1800" dirty="0"/>
              <a:t> program </a:t>
            </a:r>
            <a:r>
              <a:rPr lang="en-ID" sz="1800" dirty="0" err="1"/>
              <a:t>harus</a:t>
            </a:r>
            <a:r>
              <a:rPr lang="en-ID" sz="1800" dirty="0"/>
              <a:t> </a:t>
            </a:r>
            <a:r>
              <a:rPr lang="en-ID" sz="1800" dirty="0" err="1"/>
              <a:t>menyertakan</a:t>
            </a:r>
            <a:r>
              <a:rPr lang="en-ID" sz="1800" dirty="0"/>
              <a:t> </a:t>
            </a:r>
            <a:r>
              <a:rPr lang="en-ID" sz="1800" dirty="0" err="1"/>
              <a:t>kode</a:t>
            </a:r>
            <a:r>
              <a:rPr lang="en-ID" sz="1800" dirty="0"/>
              <a:t> metadata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setiap</a:t>
            </a:r>
            <a:r>
              <a:rPr lang="en-ID" sz="1800" dirty="0"/>
              <a:t> </a:t>
            </a:r>
            <a:r>
              <a:rPr lang="en-ID" sz="1800" dirty="0" err="1"/>
              <a:t>berkas</a:t>
            </a:r>
            <a:endParaRPr lang="en-ID" sz="1800" dirty="0"/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Setiap</a:t>
            </a:r>
            <a:r>
              <a:rPr lang="en-ID" sz="1800" dirty="0"/>
              <a:t> program </a:t>
            </a:r>
            <a:r>
              <a:rPr lang="en-ID" sz="1800" dirty="0" err="1"/>
              <a:t>harus</a:t>
            </a:r>
            <a:r>
              <a:rPr lang="en-ID" sz="1800" dirty="0"/>
              <a:t> </a:t>
            </a:r>
            <a:r>
              <a:rPr lang="en-ID" sz="1800" dirty="0" err="1"/>
              <a:t>memiliki</a:t>
            </a:r>
            <a:r>
              <a:rPr lang="en-ID" sz="1800" dirty="0"/>
              <a:t> </a:t>
            </a:r>
            <a:r>
              <a:rPr lang="en-ID" sz="1800" dirty="0" err="1"/>
              <a:t>prosedur</a:t>
            </a:r>
            <a:r>
              <a:rPr lang="en-ID" sz="1800" dirty="0"/>
              <a:t> </a:t>
            </a:r>
            <a:r>
              <a:rPr lang="en-ID" sz="1800" dirty="0" err="1"/>
              <a:t>pemrosesan</a:t>
            </a:r>
            <a:r>
              <a:rPr lang="en-ID" sz="1800" dirty="0"/>
              <a:t> data </a:t>
            </a:r>
            <a:r>
              <a:rPr lang="en-ID" sz="1800" dirty="0" err="1"/>
              <a:t>sendiri</a:t>
            </a:r>
            <a:r>
              <a:rPr lang="en-ID" sz="1800" dirty="0"/>
              <a:t> (CRUD)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nn-NO" sz="1800" dirty="0"/>
              <a:t>Kurangnya koordinasi dan pengendalian terpusat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/>
              <a:t>Format </a:t>
            </a:r>
            <a:r>
              <a:rPr lang="en-ID" sz="1800" dirty="0" err="1"/>
              <a:t>berkas</a:t>
            </a:r>
            <a:r>
              <a:rPr lang="en-ID" sz="1800" dirty="0"/>
              <a:t>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baku</a:t>
            </a:r>
            <a:endParaRPr lang="en-ID" sz="1800" dirty="0"/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it-IT" sz="1800" dirty="0"/>
              <a:t>Isolasi data dan keterbatasan berbagi data</a:t>
            </a:r>
            <a:endParaRPr lang="en-ID" sz="1800" dirty="0"/>
          </a:p>
        </p:txBody>
      </p:sp>
    </p:spTree>
    <p:extLst>
      <p:ext uri="{BB962C8B-B14F-4D97-AF65-F5344CB8AC3E}">
        <p14:creationId xmlns:p14="http://schemas.microsoft.com/office/powerpoint/2010/main" val="3217365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0F8B7467-6415-6976-39F9-0282D28C7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369226AE-A80B-B02C-1DB1-7B61DCF3FC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KELEMAHAN SISTEM PEMROSESAN BERKAS (3) 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979E8D25-1753-FC18-ECC5-C55FDFE6A59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017725"/>
            <a:ext cx="7630370" cy="3847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Atomisitas</a:t>
            </a:r>
            <a:r>
              <a:rPr lang="en-ID" sz="1800" dirty="0"/>
              <a:t> </a:t>
            </a:r>
            <a:r>
              <a:rPr lang="en-ID" sz="1800" dirty="0" err="1"/>
              <a:t>pembaruan</a:t>
            </a:r>
            <a:r>
              <a:rPr lang="en-ID" sz="1800" dirty="0"/>
              <a:t> data (</a:t>
            </a:r>
            <a:r>
              <a:rPr lang="en-ID" sz="1800" i="1" dirty="0"/>
              <a:t>atomicity of updates</a:t>
            </a:r>
            <a:r>
              <a:rPr lang="en-ID" sz="1800" dirty="0"/>
              <a:t>)</a:t>
            </a:r>
          </a:p>
          <a:p>
            <a:pPr marL="542925" lvl="0" indent="-357188">
              <a:buFont typeface="Wingdings" panose="05000000000000000000" pitchFamily="2" charset="2"/>
              <a:buChar char="§"/>
            </a:pPr>
            <a:r>
              <a:rPr lang="en-ID" sz="1600" dirty="0" err="1"/>
              <a:t>Kegagalan</a:t>
            </a:r>
            <a:r>
              <a:rPr lang="en-ID" sz="1600" dirty="0"/>
              <a:t> </a:t>
            </a:r>
            <a:r>
              <a:rPr lang="en-ID" sz="1600" dirty="0" err="1"/>
              <a:t>sistem</a:t>
            </a:r>
            <a:r>
              <a:rPr lang="en-ID" sz="1600" dirty="0"/>
              <a:t>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menyebabkan</a:t>
            </a:r>
            <a:r>
              <a:rPr lang="en-ID" sz="1600" dirty="0"/>
              <a:t> </a:t>
            </a:r>
            <a:r>
              <a:rPr lang="en-ID" sz="1600" dirty="0" err="1"/>
              <a:t>kondisi</a:t>
            </a:r>
            <a:r>
              <a:rPr lang="en-ID" sz="1600" dirty="0"/>
              <a:t> data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konsisten</a:t>
            </a:r>
            <a:endParaRPr lang="en-ID" sz="1600" dirty="0"/>
          </a:p>
          <a:p>
            <a:pPr marL="542925" lvl="0" indent="-357188">
              <a:buFont typeface="Wingdings" panose="05000000000000000000" pitchFamily="2" charset="2"/>
              <a:buChar char="§"/>
            </a:pPr>
            <a:r>
              <a:rPr lang="en-ID" sz="1600" dirty="0" err="1"/>
              <a:t>Contoh</a:t>
            </a:r>
            <a:r>
              <a:rPr lang="en-ID" sz="1600" dirty="0"/>
              <a:t> </a:t>
            </a:r>
            <a:r>
              <a:rPr lang="en-ID" sz="1600" dirty="0" err="1"/>
              <a:t>kasus</a:t>
            </a:r>
            <a:r>
              <a:rPr lang="en-ID" sz="1600" dirty="0"/>
              <a:t> transfer dana: proses </a:t>
            </a:r>
            <a:r>
              <a:rPr lang="en-ID" sz="1600" dirty="0" err="1"/>
              <a:t>pemindahan</a:t>
            </a:r>
            <a:r>
              <a:rPr lang="en-ID" sz="1600" dirty="0"/>
              <a:t> dana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satu</a:t>
            </a:r>
            <a:r>
              <a:rPr lang="en-ID" sz="1600" dirty="0"/>
              <a:t> </a:t>
            </a:r>
            <a:r>
              <a:rPr lang="en-ID" sz="1600" dirty="0" err="1"/>
              <a:t>rekening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</a:t>
            </a:r>
            <a:r>
              <a:rPr lang="en-ID" sz="1600" dirty="0" err="1"/>
              <a:t>rekening</a:t>
            </a:r>
            <a:r>
              <a:rPr lang="en-ID" sz="1600" dirty="0"/>
              <a:t> lain </a:t>
            </a:r>
            <a:r>
              <a:rPr lang="en-ID" sz="1600" dirty="0" err="1"/>
              <a:t>harus</a:t>
            </a:r>
            <a:r>
              <a:rPr lang="en-ID" sz="1600" dirty="0"/>
              <a:t> </a:t>
            </a:r>
            <a:r>
              <a:rPr lang="en-ID" sz="1600" dirty="0" err="1"/>
              <a:t>diselesaikan</a:t>
            </a:r>
            <a:r>
              <a:rPr lang="en-ID" sz="1600" dirty="0"/>
              <a:t> </a:t>
            </a: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utuh</a:t>
            </a:r>
            <a:r>
              <a:rPr lang="en-ID" sz="1600" dirty="0"/>
              <a:t>; </a:t>
            </a:r>
            <a:r>
              <a:rPr lang="en-ID" sz="1600" dirty="0" err="1"/>
              <a:t>jika</a:t>
            </a:r>
            <a:r>
              <a:rPr lang="en-ID" sz="1600" dirty="0"/>
              <a:t> </a:t>
            </a:r>
            <a:r>
              <a:rPr lang="en-ID" sz="1600" dirty="0" err="1"/>
              <a:t>hanya</a:t>
            </a:r>
            <a:r>
              <a:rPr lang="en-ID" sz="1600" dirty="0"/>
              <a:t> salah </a:t>
            </a:r>
            <a:r>
              <a:rPr lang="en-ID" sz="1600" dirty="0" err="1"/>
              <a:t>satu</a:t>
            </a:r>
            <a:r>
              <a:rPr lang="en-ID" sz="1600" dirty="0"/>
              <a:t> </a:t>
            </a:r>
            <a:r>
              <a:rPr lang="en-ID" sz="1600" dirty="0" err="1"/>
              <a:t>perubahan</a:t>
            </a:r>
            <a:r>
              <a:rPr lang="en-ID" sz="1600" dirty="0"/>
              <a:t> yang </a:t>
            </a:r>
            <a:r>
              <a:rPr lang="en-ID" sz="1600" dirty="0" err="1"/>
              <a:t>berhasil</a:t>
            </a:r>
            <a:r>
              <a:rPr lang="en-ID" sz="1600" dirty="0"/>
              <a:t>, </a:t>
            </a:r>
            <a:r>
              <a:rPr lang="en-ID" sz="1600" dirty="0" err="1"/>
              <a:t>maka</a:t>
            </a:r>
            <a:r>
              <a:rPr lang="en-ID" sz="1600" dirty="0"/>
              <a:t> data </a:t>
            </a:r>
            <a:r>
              <a:rPr lang="en-ID" sz="1600" dirty="0" err="1"/>
              <a:t>menjadi</a:t>
            </a:r>
            <a:r>
              <a:rPr lang="en-ID" sz="1600" dirty="0"/>
              <a:t>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benar</a:t>
            </a:r>
            <a:r>
              <a:rPr lang="en-ID" sz="1600" dirty="0"/>
              <a:t>.</a:t>
            </a: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Akses </a:t>
            </a:r>
            <a:r>
              <a:rPr lang="en-ID" sz="1800" dirty="0" err="1"/>
              <a:t>bersamaan</a:t>
            </a:r>
            <a:r>
              <a:rPr lang="en-ID" sz="1800" dirty="0"/>
              <a:t> oleh </a:t>
            </a:r>
            <a:r>
              <a:rPr lang="en-ID" sz="1800" dirty="0" err="1"/>
              <a:t>banyak</a:t>
            </a:r>
            <a:r>
              <a:rPr lang="en-ID" sz="1800" dirty="0"/>
              <a:t> </a:t>
            </a:r>
            <a:r>
              <a:rPr lang="en-ID" sz="1800" dirty="0" err="1"/>
              <a:t>pengguna</a:t>
            </a:r>
            <a:r>
              <a:rPr lang="en-ID" sz="1800" dirty="0"/>
              <a:t> (</a:t>
            </a:r>
            <a:r>
              <a:rPr lang="en-ID" sz="1800" i="1" dirty="0"/>
              <a:t>concurrent access</a:t>
            </a:r>
            <a:r>
              <a:rPr lang="en-ID" sz="1800" dirty="0"/>
              <a:t>)</a:t>
            </a:r>
          </a:p>
          <a:p>
            <a:pPr marL="542925" lvl="0" indent="-357188">
              <a:buFont typeface="Wingdings" panose="05000000000000000000" pitchFamily="2" charset="2"/>
              <a:buChar char="§"/>
            </a:pPr>
            <a:r>
              <a:rPr lang="en-ID" sz="1600" dirty="0" err="1"/>
              <a:t>Contoh</a:t>
            </a:r>
            <a:r>
              <a:rPr lang="en-ID" sz="1600" dirty="0"/>
              <a:t> </a:t>
            </a:r>
            <a:r>
              <a:rPr lang="en-ID" sz="1600" dirty="0" err="1"/>
              <a:t>kasus</a:t>
            </a:r>
            <a:r>
              <a:rPr lang="en-ID" sz="1600" dirty="0"/>
              <a:t> </a:t>
            </a:r>
            <a:r>
              <a:rPr lang="en-ID" sz="1600" dirty="0" err="1"/>
              <a:t>pembaruan</a:t>
            </a:r>
            <a:r>
              <a:rPr lang="en-ID" sz="1600" dirty="0"/>
              <a:t> </a:t>
            </a:r>
            <a:r>
              <a:rPr lang="en-ID" sz="1600" dirty="0" err="1"/>
              <a:t>saldo</a:t>
            </a:r>
            <a:r>
              <a:rPr lang="en-ID" sz="1600" dirty="0"/>
              <a:t> </a:t>
            </a: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bersamaan</a:t>
            </a:r>
            <a:r>
              <a:rPr lang="en-ID" sz="1600" dirty="0"/>
              <a:t>: dua </a:t>
            </a:r>
            <a:r>
              <a:rPr lang="en-ID" sz="1600" dirty="0" err="1"/>
              <a:t>pengguna</a:t>
            </a:r>
            <a:r>
              <a:rPr lang="en-ID" sz="1600" dirty="0"/>
              <a:t> </a:t>
            </a:r>
            <a:r>
              <a:rPr lang="en-ID" sz="1600" dirty="0" err="1"/>
              <a:t>membaca</a:t>
            </a:r>
            <a:r>
              <a:rPr lang="en-ID" sz="1600" dirty="0"/>
              <a:t> </a:t>
            </a:r>
            <a:r>
              <a:rPr lang="en-ID" sz="1600" dirty="0" err="1"/>
              <a:t>saldo</a:t>
            </a:r>
            <a:r>
              <a:rPr lang="en-ID" sz="1600" dirty="0"/>
              <a:t> yang </a:t>
            </a:r>
            <a:r>
              <a:rPr lang="en-ID" sz="1600" dirty="0" err="1"/>
              <a:t>sama</a:t>
            </a:r>
            <a:r>
              <a:rPr lang="en-ID" sz="1600" dirty="0"/>
              <a:t> (ex: 100) dan </a:t>
            </a:r>
            <a:r>
              <a:rPr lang="en-ID" sz="1600" dirty="0" err="1"/>
              <a:t>melakukan</a:t>
            </a:r>
            <a:r>
              <a:rPr lang="en-ID" sz="1600" dirty="0"/>
              <a:t> </a:t>
            </a:r>
            <a:r>
              <a:rPr lang="en-ID" sz="1600" dirty="0" err="1"/>
              <a:t>penarikan</a:t>
            </a:r>
            <a:r>
              <a:rPr lang="en-ID" sz="1600" dirty="0"/>
              <a:t> </a:t>
            </a: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bersamaan</a:t>
            </a:r>
            <a:r>
              <a:rPr lang="en-ID" sz="1600" dirty="0"/>
              <a:t> (ex: 50)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menyebabkan</a:t>
            </a:r>
            <a:r>
              <a:rPr lang="en-ID" sz="1600" dirty="0"/>
              <a:t> </a:t>
            </a:r>
            <a:r>
              <a:rPr lang="en-ID" sz="1600" dirty="0" err="1"/>
              <a:t>saldo</a:t>
            </a:r>
            <a:r>
              <a:rPr lang="en-ID" sz="1600" dirty="0"/>
              <a:t> </a:t>
            </a:r>
            <a:r>
              <a:rPr lang="en-ID" sz="1600" dirty="0" err="1"/>
              <a:t>akhir</a:t>
            </a:r>
            <a:r>
              <a:rPr lang="en-ID" sz="1600" dirty="0"/>
              <a:t>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sesuai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kondisi</a:t>
            </a:r>
            <a:r>
              <a:rPr lang="en-ID" sz="1600" dirty="0"/>
              <a:t> </a:t>
            </a:r>
            <a:r>
              <a:rPr lang="en-ID" sz="1600" dirty="0" err="1"/>
              <a:t>sebenarnya</a:t>
            </a:r>
            <a:r>
              <a:rPr lang="en-ID" sz="1600" dirty="0"/>
              <a:t>.</a:t>
            </a: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Kesulitan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pengaturan</a:t>
            </a:r>
            <a:r>
              <a:rPr lang="en-ID" sz="1800" dirty="0"/>
              <a:t> </a:t>
            </a:r>
            <a:r>
              <a:rPr lang="en-ID" sz="1800" dirty="0" err="1"/>
              <a:t>hak</a:t>
            </a:r>
            <a:r>
              <a:rPr lang="en-ID" sz="1800" dirty="0"/>
              <a:t> </a:t>
            </a:r>
            <a:r>
              <a:rPr lang="en-ID" sz="1800" dirty="0" err="1"/>
              <a:t>akses</a:t>
            </a:r>
            <a:r>
              <a:rPr lang="en-ID" sz="1800" dirty="0"/>
              <a:t> </a:t>
            </a:r>
            <a:r>
              <a:rPr lang="en-ID" sz="1800" dirty="0" err="1"/>
              <a:t>pengguna</a:t>
            </a:r>
            <a:r>
              <a:rPr lang="en-ID" sz="1800" dirty="0"/>
              <a:t> (</a:t>
            </a:r>
            <a:r>
              <a:rPr lang="en-ID" sz="1800" dirty="0" err="1"/>
              <a:t>keamanan</a:t>
            </a:r>
            <a:r>
              <a:rPr lang="en-ID" sz="1800" dirty="0"/>
              <a:t>); </a:t>
            </a:r>
            <a:r>
              <a:rPr lang="sv-SE" sz="1800" dirty="0"/>
              <a:t>sulit memberikan akses kepada pengguna tertentu hanya pada sebagian data tanpa membuka akses ke seluruh berkas.</a:t>
            </a:r>
            <a:endParaRPr lang="en-ID" sz="1800" dirty="0"/>
          </a:p>
        </p:txBody>
      </p:sp>
    </p:spTree>
    <p:extLst>
      <p:ext uri="{BB962C8B-B14F-4D97-AF65-F5344CB8AC3E}">
        <p14:creationId xmlns:p14="http://schemas.microsoft.com/office/powerpoint/2010/main" val="2546980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604A532F-0E6A-CF2E-3202-6A9FC0AE9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5CAB2719-A647-976A-A0FD-9C2C586497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SOLUSI: PENDEKATAN BASIS DATA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43A0D8B6-25C8-11B2-5D5D-DCAFB2EC7A1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98605"/>
            <a:ext cx="7630370" cy="3666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2400" dirty="0" err="1"/>
              <a:t>Repositori</a:t>
            </a:r>
            <a:r>
              <a:rPr lang="en-US" sz="2400" dirty="0"/>
              <a:t> </a:t>
            </a:r>
            <a:r>
              <a:rPr lang="en-US" sz="2400" dirty="0" err="1"/>
              <a:t>terpusat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data </a:t>
            </a:r>
            <a:r>
              <a:rPr lang="en-US" sz="2400" dirty="0" err="1"/>
              <a:t>bersama</a:t>
            </a:r>
            <a:r>
              <a:rPr lang="en-US" sz="2400" dirty="0"/>
              <a:t> (</a:t>
            </a:r>
            <a:r>
              <a:rPr lang="en-US" sz="2400" i="1" dirty="0"/>
              <a:t>central repository of shared data</a:t>
            </a:r>
            <a:r>
              <a:rPr lang="en-US" sz="2400" dirty="0"/>
              <a:t>).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it-IT" sz="2400" dirty="0"/>
              <a:t>Data dikelola oleh agen pengendali (</a:t>
            </a:r>
            <a:r>
              <a:rPr lang="it-IT" sz="2400" i="1" dirty="0"/>
              <a:t>controlling agent</a:t>
            </a:r>
            <a:r>
              <a:rPr lang="it-IT" sz="2400" dirty="0"/>
              <a:t>).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2400" dirty="0"/>
              <a:t>Data </a:t>
            </a:r>
            <a:r>
              <a:rPr lang="en-ID" sz="2400" dirty="0" err="1"/>
              <a:t>disimpan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bentuk</a:t>
            </a:r>
            <a:r>
              <a:rPr lang="en-ID" sz="2400" dirty="0"/>
              <a:t> yang </a:t>
            </a:r>
            <a:r>
              <a:rPr lang="en-ID" sz="2400" dirty="0" err="1"/>
              <a:t>baku</a:t>
            </a:r>
            <a:r>
              <a:rPr lang="en-ID" sz="2400" dirty="0"/>
              <a:t> dan </a:t>
            </a:r>
            <a:r>
              <a:rPr lang="en-ID" sz="2400" dirty="0" err="1"/>
              <a:t>mudah</a:t>
            </a:r>
            <a:r>
              <a:rPr lang="en-ID" sz="2400" dirty="0"/>
              <a:t> </a:t>
            </a:r>
            <a:r>
              <a:rPr lang="en-ID" sz="2400" dirty="0" err="1"/>
              <a:t>digunakan</a:t>
            </a:r>
            <a:r>
              <a:rPr lang="en-ID" sz="2400" dirty="0"/>
              <a:t>.</a:t>
            </a:r>
          </a:p>
          <a:p>
            <a:pPr marL="0" lvl="0" indent="0" algn="ctr"/>
            <a:endParaRPr lang="en-ID" sz="2400" b="1" dirty="0"/>
          </a:p>
          <a:p>
            <a:pPr marL="0" lvl="0" indent="0" algn="ctr"/>
            <a:r>
              <a:rPr lang="en-ID" sz="2400" b="1" dirty="0"/>
              <a:t>“Database Management System (DBMS)”</a:t>
            </a: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it-IT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522371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4883E6AA-BD12-A640-EC43-A188DDC73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B9600475-981A-7A15-C258-F85BFEBD92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DATABASE MANAGEMENT SYSTEM (DBMS)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9121D6DF-AFBE-9789-98A8-0F3F988409B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98605"/>
            <a:ext cx="7630370" cy="3666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600" dirty="0"/>
              <a:t>S</a:t>
            </a:r>
            <a:r>
              <a:rPr lang="en-ID" sz="1600" dirty="0" err="1"/>
              <a:t>istem</a:t>
            </a:r>
            <a:r>
              <a:rPr lang="en-ID" sz="1600" dirty="0"/>
              <a:t> </a:t>
            </a:r>
            <a:r>
              <a:rPr lang="en-ID" sz="1600" dirty="0" err="1"/>
              <a:t>perangkat</a:t>
            </a:r>
            <a:r>
              <a:rPr lang="en-ID" sz="1600" dirty="0"/>
              <a:t> </a:t>
            </a:r>
            <a:r>
              <a:rPr lang="en-ID" sz="1600" dirty="0" err="1"/>
              <a:t>lunak</a:t>
            </a:r>
            <a:r>
              <a:rPr lang="en-ID" sz="1600" dirty="0"/>
              <a:t> yang </a:t>
            </a:r>
            <a:r>
              <a:rPr lang="en-ID" sz="1600" dirty="0" err="1"/>
              <a:t>digunakan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b="1" dirty="0" err="1"/>
              <a:t>membuat</a:t>
            </a:r>
            <a:r>
              <a:rPr lang="en-ID" sz="1600" b="1" dirty="0"/>
              <a:t>, </a:t>
            </a:r>
            <a:r>
              <a:rPr lang="en-ID" sz="1600" b="1" dirty="0" err="1"/>
              <a:t>memelihara</a:t>
            </a:r>
            <a:r>
              <a:rPr lang="en-ID" sz="1600" b="1" dirty="0"/>
              <a:t>, dan </a:t>
            </a:r>
            <a:r>
              <a:rPr lang="en-ID" sz="1600" b="1" dirty="0" err="1"/>
              <a:t>menyediakan</a:t>
            </a:r>
            <a:r>
              <a:rPr lang="en-ID" sz="1600" b="1" dirty="0"/>
              <a:t> </a:t>
            </a:r>
            <a:r>
              <a:rPr lang="en-ID" sz="1600" b="1" dirty="0" err="1"/>
              <a:t>akses</a:t>
            </a:r>
            <a:r>
              <a:rPr lang="en-ID" sz="1600" b="1" dirty="0"/>
              <a:t> </a:t>
            </a:r>
            <a:r>
              <a:rPr lang="en-ID" sz="1600" b="1" dirty="0" err="1"/>
              <a:t>terkontrol</a:t>
            </a:r>
            <a:r>
              <a:rPr lang="en-ID" sz="1600" dirty="0"/>
              <a:t> </a:t>
            </a:r>
            <a:r>
              <a:rPr lang="en-ID" sz="1600" dirty="0" err="1"/>
              <a:t>terhadap</a:t>
            </a:r>
            <a:r>
              <a:rPr lang="en-ID" sz="1600" dirty="0"/>
              <a:t> basis data </a:t>
            </a:r>
            <a:r>
              <a:rPr lang="en-ID" sz="1600" dirty="0" err="1"/>
              <a:t>milik</a:t>
            </a:r>
            <a:r>
              <a:rPr lang="en-ID" sz="1600" dirty="0"/>
              <a:t> </a:t>
            </a:r>
            <a:r>
              <a:rPr lang="en-ID" sz="1600" dirty="0" err="1"/>
              <a:t>pengguna</a:t>
            </a:r>
            <a:r>
              <a:rPr lang="en-ID" sz="16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600" dirty="0"/>
              <a:t>DBMS </a:t>
            </a:r>
            <a:r>
              <a:rPr lang="en-ID" sz="1600" dirty="0" err="1"/>
              <a:t>berfungsi</a:t>
            </a:r>
            <a:r>
              <a:rPr lang="en-ID" sz="1600" dirty="0"/>
              <a:t> </a:t>
            </a:r>
            <a:r>
              <a:rPr lang="en-ID" sz="1600" dirty="0" err="1"/>
              <a:t>mengelola</a:t>
            </a:r>
            <a:r>
              <a:rPr lang="en-ID" sz="1600" dirty="0"/>
              <a:t> </a:t>
            </a:r>
            <a:r>
              <a:rPr lang="en-ID" sz="1600" dirty="0" err="1"/>
              <a:t>sumber</a:t>
            </a:r>
            <a:r>
              <a:rPr lang="en-ID" sz="1600" dirty="0"/>
              <a:t> </a:t>
            </a:r>
            <a:r>
              <a:rPr lang="en-ID" sz="1600" dirty="0" err="1"/>
              <a:t>daya</a:t>
            </a:r>
            <a:r>
              <a:rPr lang="en-ID" sz="1600" dirty="0"/>
              <a:t> data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cara</a:t>
            </a:r>
            <a:r>
              <a:rPr lang="en-ID" sz="1600" dirty="0"/>
              <a:t> yang </a:t>
            </a:r>
            <a:r>
              <a:rPr lang="en-ID" sz="1600" dirty="0" err="1"/>
              <a:t>serupa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sistem</a:t>
            </a:r>
            <a:r>
              <a:rPr lang="en-ID" sz="1600" dirty="0"/>
              <a:t> </a:t>
            </a:r>
            <a:r>
              <a:rPr lang="en-ID" sz="1600" dirty="0" err="1"/>
              <a:t>operasi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mengelola</a:t>
            </a:r>
            <a:r>
              <a:rPr lang="en-ID" sz="1600" dirty="0"/>
              <a:t> </a:t>
            </a:r>
            <a:r>
              <a:rPr lang="en-ID" sz="1600" dirty="0" err="1"/>
              <a:t>sumber</a:t>
            </a:r>
            <a:r>
              <a:rPr lang="en-ID" sz="1600" dirty="0"/>
              <a:t> </a:t>
            </a:r>
            <a:r>
              <a:rPr lang="en-ID" sz="1600" dirty="0" err="1"/>
              <a:t>daya</a:t>
            </a:r>
            <a:r>
              <a:rPr lang="en-ID" sz="1600" dirty="0"/>
              <a:t> </a:t>
            </a:r>
            <a:r>
              <a:rPr lang="en-ID" sz="1600" dirty="0" err="1"/>
              <a:t>perangkat</a:t>
            </a:r>
            <a:r>
              <a:rPr lang="en-ID" sz="1600" dirty="0"/>
              <a:t> </a:t>
            </a:r>
            <a:r>
              <a:rPr lang="en-ID" sz="1600" dirty="0" err="1"/>
              <a:t>keras</a:t>
            </a:r>
            <a:r>
              <a:rPr lang="en-ID" sz="16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it-IT" sz="20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637E72-1F61-E4AF-D61D-423C729B437E}"/>
              </a:ext>
            </a:extLst>
          </p:cNvPr>
          <p:cNvGrpSpPr/>
          <p:nvPr/>
        </p:nvGrpSpPr>
        <p:grpSpPr>
          <a:xfrm>
            <a:off x="1250092" y="2466150"/>
            <a:ext cx="6065108" cy="2556859"/>
            <a:chOff x="990600" y="1981200"/>
            <a:chExt cx="7772400" cy="3276600"/>
          </a:xfrm>
        </p:grpSpPr>
        <p:sp>
          <p:nvSpPr>
            <p:cNvPr id="3" name="Rectangle 131">
              <a:extLst>
                <a:ext uri="{FF2B5EF4-FFF2-40B4-BE49-F238E27FC236}">
                  <a16:creationId xmlns:a16="http://schemas.microsoft.com/office/drawing/2014/main" id="{438EBB10-D63A-F733-A2B5-3FEDD0A93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00" y="1981200"/>
              <a:ext cx="1676400" cy="914400"/>
            </a:xfrm>
            <a:prstGeom prst="rect">
              <a:avLst/>
            </a:prstGeom>
            <a:solidFill>
              <a:srgbClr val="92D050"/>
            </a:solidFill>
            <a:ln w="25400">
              <a:solidFill>
                <a:srgbClr val="99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Order Filing</a:t>
              </a:r>
            </a:p>
            <a:p>
              <a:pPr algn="ctr"/>
              <a:r>
                <a:rPr lang="en-US" dirty="0"/>
                <a:t> System</a:t>
              </a:r>
            </a:p>
          </p:txBody>
        </p:sp>
        <p:sp>
          <p:nvSpPr>
            <p:cNvPr id="4" name="Rectangle 133">
              <a:extLst>
                <a:ext uri="{FF2B5EF4-FFF2-40B4-BE49-F238E27FC236}">
                  <a16:creationId xmlns:a16="http://schemas.microsoft.com/office/drawing/2014/main" id="{1A5354A0-0CD4-D36C-4A0B-13798D1AB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00" y="3124200"/>
              <a:ext cx="1676400" cy="914400"/>
            </a:xfrm>
            <a:prstGeom prst="rect">
              <a:avLst/>
            </a:prstGeom>
            <a:solidFill>
              <a:srgbClr val="00B050"/>
            </a:solidFill>
            <a:ln w="25400">
              <a:solidFill>
                <a:srgbClr val="99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Invoicing</a:t>
              </a:r>
            </a:p>
            <a:p>
              <a:pPr algn="ctr"/>
              <a:r>
                <a:rPr lang="en-US"/>
                <a:t> System</a:t>
              </a:r>
            </a:p>
          </p:txBody>
        </p:sp>
        <p:sp>
          <p:nvSpPr>
            <p:cNvPr id="5" name="Rectangle 134">
              <a:extLst>
                <a:ext uri="{FF2B5EF4-FFF2-40B4-BE49-F238E27FC236}">
                  <a16:creationId xmlns:a16="http://schemas.microsoft.com/office/drawing/2014/main" id="{BF2020F6-D0F2-B0CE-7ADE-6F477DBB7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00" y="4267200"/>
              <a:ext cx="1676400" cy="9144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25400">
              <a:solidFill>
                <a:srgbClr val="99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Payroll</a:t>
              </a:r>
            </a:p>
            <a:p>
              <a:pPr algn="ctr"/>
              <a:r>
                <a:rPr lang="en-US"/>
                <a:t> System</a:t>
              </a:r>
            </a:p>
          </p:txBody>
        </p:sp>
        <p:sp>
          <p:nvSpPr>
            <p:cNvPr id="6" name="Rectangle 135">
              <a:extLst>
                <a:ext uri="{FF2B5EF4-FFF2-40B4-BE49-F238E27FC236}">
                  <a16:creationId xmlns:a16="http://schemas.microsoft.com/office/drawing/2014/main" id="{BBC4A7D3-4BF6-8F25-DF51-5635CA981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3124200"/>
              <a:ext cx="1676400" cy="914400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rgbClr val="99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DBMS</a:t>
              </a:r>
            </a:p>
          </p:txBody>
        </p:sp>
        <p:sp>
          <p:nvSpPr>
            <p:cNvPr id="7" name="Line 136">
              <a:extLst>
                <a:ext uri="{FF2B5EF4-FFF2-40B4-BE49-F238E27FC236}">
                  <a16:creationId xmlns:a16="http://schemas.microsoft.com/office/drawing/2014/main" id="{3F07115E-F1F8-02F3-EFBC-5581D48A6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2362200"/>
              <a:ext cx="1371600" cy="838200"/>
            </a:xfrm>
            <a:prstGeom prst="line">
              <a:avLst/>
            </a:prstGeom>
            <a:noFill/>
            <a:ln w="25400">
              <a:solidFill>
                <a:srgbClr val="99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" name="Line 137">
              <a:extLst>
                <a:ext uri="{FF2B5EF4-FFF2-40B4-BE49-F238E27FC236}">
                  <a16:creationId xmlns:a16="http://schemas.microsoft.com/office/drawing/2014/main" id="{0111076E-3806-2ECF-00EF-F1487B9BA8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3581400"/>
              <a:ext cx="1371600" cy="0"/>
            </a:xfrm>
            <a:prstGeom prst="line">
              <a:avLst/>
            </a:prstGeom>
            <a:noFill/>
            <a:ln w="25400">
              <a:solidFill>
                <a:srgbClr val="99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" name="Line 138">
              <a:extLst>
                <a:ext uri="{FF2B5EF4-FFF2-40B4-BE49-F238E27FC236}">
                  <a16:creationId xmlns:a16="http://schemas.microsoft.com/office/drawing/2014/main" id="{A7D261BB-AA59-7F7A-4F6E-4077ACE35D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7000" y="3886200"/>
              <a:ext cx="1371600" cy="838200"/>
            </a:xfrm>
            <a:prstGeom prst="line">
              <a:avLst/>
            </a:prstGeom>
            <a:noFill/>
            <a:ln w="25400">
              <a:solidFill>
                <a:srgbClr val="99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" name="AutoShape 139">
              <a:extLst>
                <a:ext uri="{FF2B5EF4-FFF2-40B4-BE49-F238E27FC236}">
                  <a16:creationId xmlns:a16="http://schemas.microsoft.com/office/drawing/2014/main" id="{1A2CF45B-5885-2100-5FD9-3EF4AB9EF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2057400"/>
              <a:ext cx="2209800" cy="3200400"/>
            </a:xfrm>
            <a:prstGeom prst="flowChartMagneticDisk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endParaRPr lang="en-US"/>
            </a:p>
            <a:p>
              <a:pPr algn="ctr"/>
              <a:r>
                <a:rPr lang="en-US"/>
                <a:t>Central database</a:t>
              </a:r>
            </a:p>
            <a:p>
              <a:pPr algn="ctr"/>
              <a:endParaRPr lang="en-US"/>
            </a:p>
            <a:p>
              <a:pPr algn="ctr"/>
              <a:r>
                <a:rPr lang="en-US"/>
                <a:t>Contains employee,</a:t>
              </a:r>
            </a:p>
            <a:p>
              <a:pPr algn="ctr"/>
              <a:r>
                <a:rPr lang="en-US"/>
                <a:t>order, inventory, </a:t>
              </a:r>
            </a:p>
            <a:p>
              <a:pPr algn="ctr"/>
              <a:r>
                <a:rPr lang="en-US"/>
                <a:t>pricing, and </a:t>
              </a:r>
            </a:p>
            <a:p>
              <a:pPr algn="ctr"/>
              <a:r>
                <a:rPr lang="en-US"/>
                <a:t>customer data</a:t>
              </a:r>
            </a:p>
          </p:txBody>
        </p:sp>
        <p:sp>
          <p:nvSpPr>
            <p:cNvPr id="11" name="Line 140">
              <a:extLst>
                <a:ext uri="{FF2B5EF4-FFF2-40B4-BE49-F238E27FC236}">
                  <a16:creationId xmlns:a16="http://schemas.microsoft.com/office/drawing/2014/main" id="{C2CCEF25-C902-D57A-6502-B206D1332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5000" y="3581400"/>
              <a:ext cx="838200" cy="0"/>
            </a:xfrm>
            <a:prstGeom prst="line">
              <a:avLst/>
            </a:prstGeom>
            <a:noFill/>
            <a:ln w="25400">
              <a:solidFill>
                <a:srgbClr val="99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0963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6D8F6724-8191-A27E-BE25-2BA623936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B55F1E48-2E6C-D72F-87A0-19814CEC18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KELEBIHAN BASIS DATA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F25D487F-AF90-3468-1EE8-A6E8625029B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98605"/>
            <a:ext cx="7630370" cy="3666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pt-BR" sz="1800" dirty="0"/>
              <a:t>Independensi program–data (</a:t>
            </a:r>
            <a:r>
              <a:rPr lang="pt-BR" sz="1800" i="1" dirty="0"/>
              <a:t>program–data independence</a:t>
            </a:r>
            <a:r>
              <a:rPr lang="pt-BR" sz="1800" dirty="0"/>
              <a:t>)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Redundansi</a:t>
            </a:r>
            <a:r>
              <a:rPr lang="en-ID" sz="1800" dirty="0"/>
              <a:t> data yang </a:t>
            </a:r>
            <a:r>
              <a:rPr lang="en-ID" sz="1800" dirty="0" err="1"/>
              <a:t>terencana</a:t>
            </a:r>
            <a:r>
              <a:rPr lang="en-ID" sz="1800" dirty="0"/>
              <a:t> (</a:t>
            </a:r>
            <a:r>
              <a:rPr lang="en-ID" sz="1800" i="1" dirty="0"/>
              <a:t>planned data redundancy</a:t>
            </a:r>
            <a:r>
              <a:rPr lang="en-ID" sz="1800" dirty="0"/>
              <a:t>).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Peningkatan</a:t>
            </a:r>
            <a:r>
              <a:rPr lang="en-ID" sz="1800" dirty="0"/>
              <a:t> </a:t>
            </a:r>
            <a:r>
              <a:rPr lang="en-ID" sz="1800" dirty="0" err="1"/>
              <a:t>konsistensi</a:t>
            </a:r>
            <a:r>
              <a:rPr lang="en-ID" sz="1800" dirty="0"/>
              <a:t> data.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Peningkatan</a:t>
            </a:r>
            <a:r>
              <a:rPr lang="en-ID" sz="1800" dirty="0"/>
              <a:t> </a:t>
            </a:r>
            <a:r>
              <a:rPr lang="en-ID" sz="1800" dirty="0" err="1"/>
              <a:t>kemampuan</a:t>
            </a:r>
            <a:r>
              <a:rPr lang="en-ID" sz="1800" dirty="0"/>
              <a:t> </a:t>
            </a:r>
            <a:r>
              <a:rPr lang="en-ID" sz="1800" dirty="0" err="1"/>
              <a:t>berbagi</a:t>
            </a:r>
            <a:r>
              <a:rPr lang="en-ID" sz="1800" dirty="0"/>
              <a:t> data.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Peningkatan</a:t>
            </a:r>
            <a:r>
              <a:rPr lang="en-ID" sz="1800" dirty="0"/>
              <a:t> </a:t>
            </a:r>
            <a:r>
              <a:rPr lang="en-ID" sz="1800" dirty="0" err="1"/>
              <a:t>produktivitas</a:t>
            </a:r>
            <a:r>
              <a:rPr lang="en-ID" sz="1800" dirty="0"/>
              <a:t> </a:t>
            </a:r>
            <a:r>
              <a:rPr lang="en-ID" sz="1800" dirty="0" err="1"/>
              <a:t>pengembangan</a:t>
            </a:r>
            <a:r>
              <a:rPr lang="en-ID" sz="1800" dirty="0"/>
              <a:t> </a:t>
            </a:r>
            <a:r>
              <a:rPr lang="en-ID" sz="1800" dirty="0" err="1"/>
              <a:t>aplikasi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Penerapan</a:t>
            </a:r>
            <a:r>
              <a:rPr lang="en-ID" sz="1800" dirty="0"/>
              <a:t> </a:t>
            </a:r>
            <a:r>
              <a:rPr lang="en-ID" sz="1800" dirty="0" err="1"/>
              <a:t>standar</a:t>
            </a:r>
            <a:r>
              <a:rPr lang="en-ID" sz="1800" dirty="0"/>
              <a:t>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konsisten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Peningkatan</a:t>
            </a:r>
            <a:r>
              <a:rPr lang="en-ID" sz="1800" dirty="0"/>
              <a:t> </a:t>
            </a:r>
            <a:r>
              <a:rPr lang="en-ID" sz="1800" dirty="0" err="1"/>
              <a:t>kualitas</a:t>
            </a:r>
            <a:r>
              <a:rPr lang="en-ID" sz="1800" dirty="0"/>
              <a:t> data.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Peningkatan</a:t>
            </a:r>
            <a:r>
              <a:rPr lang="en-ID" sz="1800" dirty="0"/>
              <a:t> </a:t>
            </a:r>
            <a:r>
              <a:rPr lang="en-ID" sz="1800" dirty="0" err="1"/>
              <a:t>kemudahan</a:t>
            </a:r>
            <a:r>
              <a:rPr lang="en-ID" sz="1800" dirty="0"/>
              <a:t> </a:t>
            </a:r>
            <a:r>
              <a:rPr lang="en-ID" sz="1800" dirty="0" err="1"/>
              <a:t>akses</a:t>
            </a:r>
            <a:r>
              <a:rPr lang="en-ID" sz="1800" dirty="0"/>
              <a:t> dan </a:t>
            </a:r>
            <a:r>
              <a:rPr lang="en-ID" sz="1800" dirty="0" err="1"/>
              <a:t>responsivitas</a:t>
            </a:r>
            <a:r>
              <a:rPr lang="en-ID" sz="1800" dirty="0"/>
              <a:t> data.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Pengurangan</a:t>
            </a:r>
            <a:r>
              <a:rPr lang="en-ID" sz="1800" dirty="0"/>
              <a:t> </a:t>
            </a:r>
            <a:r>
              <a:rPr lang="en-ID" sz="1800" dirty="0" err="1"/>
              <a:t>beban</a:t>
            </a:r>
            <a:r>
              <a:rPr lang="en-ID" sz="1800" dirty="0"/>
              <a:t> </a:t>
            </a:r>
            <a:r>
              <a:rPr lang="en-ID" sz="1800" dirty="0" err="1"/>
              <a:t>pemeliharaan</a:t>
            </a:r>
            <a:r>
              <a:rPr lang="en-ID" sz="1800" dirty="0"/>
              <a:t> program.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Peningkatan</a:t>
            </a:r>
            <a:r>
              <a:rPr lang="en-ID" sz="1800" dirty="0"/>
              <a:t> </a:t>
            </a:r>
            <a:r>
              <a:rPr lang="en-ID" sz="1800" dirty="0" err="1"/>
              <a:t>dukungan</a:t>
            </a:r>
            <a:r>
              <a:rPr lang="en-ID" sz="1800" dirty="0"/>
              <a:t> </a:t>
            </a:r>
            <a:r>
              <a:rPr lang="en-ID" sz="1800" dirty="0" err="1"/>
              <a:t>pengambilan</a:t>
            </a:r>
            <a:r>
              <a:rPr lang="en-ID" sz="1800" dirty="0"/>
              <a:t> </a:t>
            </a:r>
            <a:r>
              <a:rPr lang="en-ID" sz="1800" dirty="0" err="1"/>
              <a:t>keputusan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</p:txBody>
      </p:sp>
    </p:spTree>
    <p:extLst>
      <p:ext uri="{BB962C8B-B14F-4D97-AF65-F5344CB8AC3E}">
        <p14:creationId xmlns:p14="http://schemas.microsoft.com/office/powerpoint/2010/main" val="997982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FC6AACC5-BD43-531C-A9AA-3C3D43553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44363954-6A20-0515-B8B5-1220CB9B1C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BIAYA DAN RESIKO SISTEM BASIS DATA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ADAE61DB-B8DC-6175-8C1D-F210ADEDDC2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98605"/>
            <a:ext cx="7630370" cy="3666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2400" dirty="0" err="1"/>
              <a:t>Kebutuhan</a:t>
            </a:r>
            <a:r>
              <a:rPr lang="en-ID" sz="2400" dirty="0"/>
              <a:t> </a:t>
            </a:r>
            <a:r>
              <a:rPr lang="en-ID" sz="2400" dirty="0" err="1"/>
              <a:t>tenaga</a:t>
            </a:r>
            <a:r>
              <a:rPr lang="en-ID" sz="2400" dirty="0"/>
              <a:t> </a:t>
            </a:r>
            <a:r>
              <a:rPr lang="en-ID" sz="2400" dirty="0" err="1"/>
              <a:t>ahli</a:t>
            </a:r>
            <a:r>
              <a:rPr lang="en-ID" sz="2400" dirty="0"/>
              <a:t> </a:t>
            </a:r>
            <a:r>
              <a:rPr lang="en-ID" sz="2400" dirty="0" err="1"/>
              <a:t>baru</a:t>
            </a:r>
            <a:r>
              <a:rPr lang="en-ID" sz="2400" dirty="0"/>
              <a:t> dan </a:t>
            </a:r>
            <a:r>
              <a:rPr lang="en-ID" sz="2400" dirty="0" err="1"/>
              <a:t>terspesialisasi</a:t>
            </a:r>
            <a:r>
              <a:rPr lang="en-ID" sz="24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fi-FI" sz="2400" dirty="0"/>
              <a:t>Biaya dan kompleksitas instalasi serta pengelolaan.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2400" dirty="0" err="1"/>
              <a:t>Biaya</a:t>
            </a:r>
            <a:r>
              <a:rPr lang="en-ID" sz="2400" dirty="0"/>
              <a:t> </a:t>
            </a:r>
            <a:r>
              <a:rPr lang="en-ID" sz="2400" dirty="0" err="1"/>
              <a:t>konversi</a:t>
            </a:r>
            <a:r>
              <a:rPr lang="en-ID" sz="2400" dirty="0"/>
              <a:t> system.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da-DK" sz="2400" dirty="0"/>
              <a:t>Kebutuhan mekanisme pencadangan dan pemulihan yang eksplisit.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2400" dirty="0" err="1"/>
              <a:t>Potensi</a:t>
            </a:r>
            <a:r>
              <a:rPr lang="en-ID" sz="2400" dirty="0"/>
              <a:t> </a:t>
            </a:r>
            <a:r>
              <a:rPr lang="en-ID" sz="2400" dirty="0" err="1"/>
              <a:t>konflik</a:t>
            </a:r>
            <a:r>
              <a:rPr lang="en-ID" sz="2400" dirty="0"/>
              <a:t> </a:t>
            </a:r>
            <a:r>
              <a:rPr lang="en-ID" sz="2400" dirty="0" err="1"/>
              <a:t>organisasi</a:t>
            </a:r>
            <a:r>
              <a:rPr lang="en-ID" sz="2400" dirty="0"/>
              <a:t>.</a:t>
            </a:r>
            <a:endParaRPr lang="da-DK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4091378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78514A20-75A8-A841-9EEB-1A69D188F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67D060B4-06E8-9AFE-8361-B3B9A81DF9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TINGKATAN ABSTRAKSI DATA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AEFDAB10-3C7C-C4A3-6659-2EC37361E1A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98605"/>
            <a:ext cx="7630370" cy="3666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600" dirty="0"/>
              <a:t>Tingkat </a:t>
            </a:r>
            <a:r>
              <a:rPr lang="en-ID" sz="1600" dirty="0" err="1"/>
              <a:t>fisik</a:t>
            </a:r>
            <a:r>
              <a:rPr lang="en-ID" sz="1600" dirty="0"/>
              <a:t> (</a:t>
            </a:r>
            <a:r>
              <a:rPr lang="en-ID" sz="1600" i="1" dirty="0"/>
              <a:t>physical level</a:t>
            </a:r>
            <a:r>
              <a:rPr lang="en-ID" sz="1600" dirty="0"/>
              <a:t>): </a:t>
            </a:r>
            <a:r>
              <a:rPr lang="en-ID" sz="1600" dirty="0" err="1"/>
              <a:t>bagaimana</a:t>
            </a:r>
            <a:r>
              <a:rPr lang="en-ID" sz="1600" dirty="0"/>
              <a:t> </a:t>
            </a:r>
            <a:r>
              <a:rPr lang="en-ID" sz="1600" dirty="0" err="1"/>
              <a:t>suatu</a:t>
            </a:r>
            <a:r>
              <a:rPr lang="en-ID" sz="1600" dirty="0"/>
              <a:t> record data (</a:t>
            </a:r>
            <a:r>
              <a:rPr lang="en-ID" sz="1600" dirty="0" err="1"/>
              <a:t>misalnya</a:t>
            </a:r>
            <a:r>
              <a:rPr lang="en-ID" sz="1600" dirty="0"/>
              <a:t> data </a:t>
            </a:r>
            <a:r>
              <a:rPr lang="en-ID" sz="1600" dirty="0" err="1"/>
              <a:t>pelanggan</a:t>
            </a:r>
            <a:r>
              <a:rPr lang="en-ID" sz="1600" dirty="0"/>
              <a:t>) </a:t>
            </a:r>
            <a:r>
              <a:rPr lang="en-ID" sz="1600" dirty="0" err="1"/>
              <a:t>disimpan</a:t>
            </a:r>
            <a:r>
              <a:rPr lang="en-ID" sz="1600" dirty="0"/>
              <a:t> </a:t>
            </a: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fisik</a:t>
            </a:r>
            <a:r>
              <a:rPr lang="en-ID" sz="1600" dirty="0"/>
              <a:t> di </a:t>
            </a:r>
            <a:r>
              <a:rPr lang="en-ID" sz="1600" dirty="0" err="1"/>
              <a:t>dalam</a:t>
            </a:r>
            <a:r>
              <a:rPr lang="en-ID" sz="1600" dirty="0"/>
              <a:t> media </a:t>
            </a:r>
            <a:r>
              <a:rPr lang="en-ID" sz="1600" dirty="0" err="1"/>
              <a:t>penyimpanan</a:t>
            </a:r>
            <a:r>
              <a:rPr lang="en-ID" sz="16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600" dirty="0"/>
              <a:t>Tingkat </a:t>
            </a:r>
            <a:r>
              <a:rPr lang="en-ID" sz="1600" dirty="0" err="1"/>
              <a:t>logis</a:t>
            </a:r>
            <a:r>
              <a:rPr lang="en-ID" sz="1600" dirty="0"/>
              <a:t> (</a:t>
            </a:r>
            <a:r>
              <a:rPr lang="en-ID" sz="1600" i="1" dirty="0"/>
              <a:t>logical level</a:t>
            </a:r>
            <a:r>
              <a:rPr lang="en-ID" sz="1600" dirty="0"/>
              <a:t>): data </a:t>
            </a:r>
            <a:r>
              <a:rPr lang="en-ID" sz="1600" dirty="0" err="1"/>
              <a:t>apa</a:t>
            </a:r>
            <a:r>
              <a:rPr lang="en-ID" sz="1600" dirty="0"/>
              <a:t> </a:t>
            </a:r>
            <a:r>
              <a:rPr lang="en-ID" sz="1600" dirty="0" err="1"/>
              <a:t>saja</a:t>
            </a:r>
            <a:r>
              <a:rPr lang="en-ID" sz="1600" dirty="0"/>
              <a:t> yang </a:t>
            </a:r>
            <a:r>
              <a:rPr lang="en-ID" sz="1600" dirty="0" err="1"/>
              <a:t>disimpan</a:t>
            </a:r>
            <a:r>
              <a:rPr lang="en-ID" sz="1600" dirty="0"/>
              <a:t> di </a:t>
            </a:r>
            <a:r>
              <a:rPr lang="en-ID" sz="1600" dirty="0" err="1"/>
              <a:t>dalam</a:t>
            </a:r>
            <a:r>
              <a:rPr lang="en-ID" sz="1600" dirty="0"/>
              <a:t> basis data </a:t>
            </a:r>
            <a:r>
              <a:rPr lang="en-ID" sz="1600" dirty="0" err="1"/>
              <a:t>serta</a:t>
            </a:r>
            <a:r>
              <a:rPr lang="en-ID" sz="1600" dirty="0"/>
              <a:t> </a:t>
            </a:r>
            <a:r>
              <a:rPr lang="en-ID" sz="1600" dirty="0" err="1"/>
              <a:t>hubungan</a:t>
            </a:r>
            <a:r>
              <a:rPr lang="en-ID" sz="1600" dirty="0"/>
              <a:t> </a:t>
            </a:r>
            <a:r>
              <a:rPr lang="en-ID" sz="1600" dirty="0" err="1"/>
              <a:t>antar</a:t>
            </a:r>
            <a:r>
              <a:rPr lang="en-ID" sz="1600" dirty="0"/>
              <a:t> data </a:t>
            </a:r>
            <a:r>
              <a:rPr lang="en-ID" sz="1600" dirty="0" err="1"/>
              <a:t>tersebut</a:t>
            </a:r>
            <a:r>
              <a:rPr lang="en-ID" sz="1600" dirty="0"/>
              <a:t>.</a:t>
            </a:r>
          </a:p>
          <a:p>
            <a:pPr lvl="1" algn="l"/>
            <a:r>
              <a:rPr lang="en-ID" sz="1600" dirty="0"/>
              <a:t>	</a:t>
            </a:r>
            <a:r>
              <a:rPr lang="en-US" b="1" dirty="0"/>
              <a:t> type</a:t>
            </a:r>
            <a:r>
              <a:rPr lang="en-US" dirty="0"/>
              <a:t> </a:t>
            </a:r>
            <a:r>
              <a:rPr lang="en-US" i="1" dirty="0"/>
              <a:t>instructor</a:t>
            </a:r>
            <a:r>
              <a:rPr lang="en-US" dirty="0"/>
              <a:t> = </a:t>
            </a:r>
            <a:r>
              <a:rPr lang="en-US" b="1" dirty="0"/>
              <a:t>record</a:t>
            </a:r>
            <a:endParaRPr lang="en-US" dirty="0"/>
          </a:p>
          <a:p>
            <a:pPr lvl="1" algn="l"/>
            <a:r>
              <a:rPr lang="en-US" dirty="0"/>
              <a:t>		</a:t>
            </a:r>
            <a:r>
              <a:rPr lang="en-US" i="1" dirty="0"/>
              <a:t>ID</a:t>
            </a:r>
            <a:r>
              <a:rPr lang="en-US" dirty="0"/>
              <a:t> : string; 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/>
              <a:t>name</a:t>
            </a:r>
            <a:r>
              <a:rPr lang="en-US" dirty="0"/>
              <a:t> : string;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 err="1"/>
              <a:t>dept_name</a:t>
            </a:r>
            <a:r>
              <a:rPr lang="en-US" dirty="0"/>
              <a:t> : string;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/>
              <a:t>salary</a:t>
            </a:r>
            <a:r>
              <a:rPr lang="en-US" dirty="0"/>
              <a:t> : integer;</a:t>
            </a:r>
          </a:p>
          <a:p>
            <a:pPr lvl="4" algn="l"/>
            <a:r>
              <a:rPr lang="en-US" b="1" dirty="0"/>
              <a:t>end</a:t>
            </a:r>
            <a:r>
              <a:rPr lang="en-US" dirty="0"/>
              <a:t>;</a:t>
            </a:r>
            <a:endParaRPr lang="en-ID" sz="16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600" dirty="0"/>
              <a:t>Tingkat </a:t>
            </a:r>
            <a:r>
              <a:rPr lang="en-ID" sz="1600" dirty="0" err="1"/>
              <a:t>tampilan</a:t>
            </a:r>
            <a:r>
              <a:rPr lang="en-ID" sz="1600" dirty="0"/>
              <a:t> (</a:t>
            </a:r>
            <a:r>
              <a:rPr lang="en-ID" sz="1600" i="1" dirty="0"/>
              <a:t>view level</a:t>
            </a:r>
            <a:r>
              <a:rPr lang="en-ID" sz="1600" dirty="0"/>
              <a:t>): </a:t>
            </a:r>
            <a:r>
              <a:rPr lang="en-ID" sz="1600" dirty="0" err="1"/>
              <a:t>lapisan</a:t>
            </a:r>
            <a:r>
              <a:rPr lang="en-ID" sz="1600" dirty="0"/>
              <a:t> yang </a:t>
            </a:r>
            <a:r>
              <a:rPr lang="en-ID" sz="1600" dirty="0" err="1"/>
              <a:t>berinteraksi</a:t>
            </a:r>
            <a:r>
              <a:rPr lang="en-ID" sz="1600" dirty="0"/>
              <a:t> </a:t>
            </a:r>
            <a:r>
              <a:rPr lang="en-ID" sz="1600" dirty="0" err="1"/>
              <a:t>langsung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program </a:t>
            </a:r>
            <a:r>
              <a:rPr lang="en-ID" sz="1600" dirty="0" err="1"/>
              <a:t>aplikasi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pengguna</a:t>
            </a:r>
            <a:r>
              <a:rPr lang="en-ID" sz="1600" dirty="0"/>
              <a:t>, </a:t>
            </a:r>
            <a:r>
              <a:rPr lang="en-ID" sz="1600" dirty="0" err="1"/>
              <a:t>dimana</a:t>
            </a:r>
            <a:r>
              <a:rPr lang="en-ID" sz="1600" dirty="0"/>
              <a:t> detail </a:t>
            </a:r>
            <a:r>
              <a:rPr lang="en-ID" sz="1600" dirty="0" err="1"/>
              <a:t>tipe</a:t>
            </a:r>
            <a:r>
              <a:rPr lang="en-ID" sz="1600" dirty="0"/>
              <a:t> dan </a:t>
            </a:r>
            <a:r>
              <a:rPr lang="en-ID" sz="1600" dirty="0" err="1"/>
              <a:t>struktur</a:t>
            </a:r>
            <a:r>
              <a:rPr lang="en-ID" sz="1600" dirty="0"/>
              <a:t> data </a:t>
            </a:r>
            <a:r>
              <a:rPr lang="en-ID" sz="1600" dirty="0" err="1"/>
              <a:t>disembunyikan</a:t>
            </a:r>
            <a:r>
              <a:rPr lang="en-ID" sz="1600" dirty="0"/>
              <a:t>. </a:t>
            </a:r>
            <a:r>
              <a:rPr lang="en-ID" sz="1600" i="1" dirty="0"/>
              <a:t>View</a:t>
            </a:r>
            <a:r>
              <a:rPr lang="en-ID" sz="1600" dirty="0"/>
              <a:t> juga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digunakan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menyembunyikan</a:t>
            </a:r>
            <a:r>
              <a:rPr lang="en-ID" sz="1600" dirty="0"/>
              <a:t> </a:t>
            </a:r>
            <a:r>
              <a:rPr lang="en-ID" sz="1600" dirty="0" err="1"/>
              <a:t>informasi</a:t>
            </a:r>
            <a:r>
              <a:rPr lang="en-ID" sz="1600" dirty="0"/>
              <a:t> </a:t>
            </a:r>
            <a:r>
              <a:rPr lang="en-ID" sz="1600" dirty="0" err="1"/>
              <a:t>tertentu</a:t>
            </a:r>
            <a:r>
              <a:rPr lang="en-ID" sz="1600" dirty="0"/>
              <a:t>, </a:t>
            </a:r>
            <a:r>
              <a:rPr lang="en-ID" sz="1600" dirty="0" err="1"/>
              <a:t>seperti</a:t>
            </a:r>
            <a:r>
              <a:rPr lang="en-ID" sz="1600" dirty="0"/>
              <a:t> data </a:t>
            </a:r>
            <a:r>
              <a:rPr lang="en-ID" sz="1600" dirty="0" err="1"/>
              <a:t>gaji</a:t>
            </a:r>
            <a:r>
              <a:rPr lang="en-ID" sz="1600" dirty="0"/>
              <a:t> </a:t>
            </a:r>
            <a:r>
              <a:rPr lang="en-ID" sz="1600" dirty="0" err="1"/>
              <a:t>pegawai</a:t>
            </a:r>
            <a:r>
              <a:rPr lang="en-ID" sz="1600" dirty="0"/>
              <a:t>, guna </a:t>
            </a:r>
            <a:r>
              <a:rPr lang="en-ID" sz="1600" dirty="0" err="1"/>
              <a:t>mendukung</a:t>
            </a:r>
            <a:r>
              <a:rPr lang="en-ID" sz="1600" dirty="0"/>
              <a:t> </a:t>
            </a:r>
            <a:r>
              <a:rPr lang="en-ID" sz="1600" dirty="0" err="1"/>
              <a:t>keamanan</a:t>
            </a:r>
            <a:r>
              <a:rPr lang="en-ID" sz="1600" dirty="0"/>
              <a:t> dan </a:t>
            </a:r>
            <a:r>
              <a:rPr lang="en-ID" sz="1600" dirty="0" err="1"/>
              <a:t>pembatasan</a:t>
            </a:r>
            <a:r>
              <a:rPr lang="en-ID" sz="1600" dirty="0"/>
              <a:t> </a:t>
            </a:r>
            <a:r>
              <a:rPr lang="en-ID" sz="1600" dirty="0" err="1"/>
              <a:t>akses</a:t>
            </a:r>
            <a:r>
              <a:rPr lang="en-ID" sz="1600" dirty="0"/>
              <a:t>.</a:t>
            </a: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038122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E932FDA6-868E-B352-87CD-C5899B266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4187D046-E9C4-2957-DFF7-D3E6733072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ARSITEKTUR TAMPILAN DATA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F67BF2D8-ECC8-D9F9-9E40-E72384300E1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926757"/>
            <a:ext cx="7630370" cy="39385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600" dirty="0" err="1"/>
              <a:t>Arsitektur</a:t>
            </a:r>
            <a:r>
              <a:rPr lang="en-ID" sz="1600" dirty="0"/>
              <a:t> </a:t>
            </a:r>
            <a:r>
              <a:rPr lang="en-ID" sz="1600" i="1" dirty="0"/>
              <a:t>view of data</a:t>
            </a:r>
            <a:r>
              <a:rPr lang="en-ID" sz="1600" dirty="0"/>
              <a:t> </a:t>
            </a:r>
            <a:r>
              <a:rPr lang="en-ID" sz="1600" dirty="0" err="1"/>
              <a:t>memungkinkan</a:t>
            </a:r>
            <a:r>
              <a:rPr lang="en-ID" sz="1600" dirty="0"/>
              <a:t> </a:t>
            </a:r>
            <a:r>
              <a:rPr lang="en-ID" sz="1600" dirty="0" err="1"/>
              <a:t>pengguna</a:t>
            </a:r>
            <a:r>
              <a:rPr lang="en-ID" sz="1600" dirty="0"/>
              <a:t> dan </a:t>
            </a:r>
            <a:r>
              <a:rPr lang="en-ID" sz="1600" dirty="0" err="1"/>
              <a:t>aplikasi</a:t>
            </a:r>
            <a:r>
              <a:rPr lang="en-ID" sz="1600" dirty="0"/>
              <a:t> </a:t>
            </a:r>
            <a:r>
              <a:rPr lang="en-ID" sz="1600" b="1" dirty="0" err="1"/>
              <a:t>mengakses</a:t>
            </a:r>
            <a:r>
              <a:rPr lang="en-ID" sz="1600" b="1" dirty="0"/>
              <a:t> data </a:t>
            </a:r>
            <a:r>
              <a:rPr lang="en-ID" sz="1600" b="1" dirty="0" err="1"/>
              <a:t>sesuai</a:t>
            </a:r>
            <a:r>
              <a:rPr lang="en-ID" sz="1600" b="1" dirty="0"/>
              <a:t> </a:t>
            </a:r>
            <a:r>
              <a:rPr lang="en-ID" sz="1600" b="1" dirty="0" err="1"/>
              <a:t>kebutuhannya</a:t>
            </a:r>
            <a:r>
              <a:rPr lang="en-ID" sz="1600" dirty="0"/>
              <a:t>, </a:t>
            </a:r>
            <a:r>
              <a:rPr lang="en-ID" sz="1600" dirty="0" err="1"/>
              <a:t>tanpa</a:t>
            </a:r>
            <a:r>
              <a:rPr lang="en-ID" sz="1600" dirty="0"/>
              <a:t> </a:t>
            </a:r>
            <a:r>
              <a:rPr lang="en-ID" sz="1600" dirty="0" err="1"/>
              <a:t>harus</a:t>
            </a:r>
            <a:r>
              <a:rPr lang="en-ID" sz="1600" dirty="0"/>
              <a:t> </a:t>
            </a:r>
            <a:r>
              <a:rPr lang="en-ID" sz="1600" dirty="0" err="1"/>
              <a:t>memahami</a:t>
            </a:r>
            <a:r>
              <a:rPr lang="en-ID" sz="1600" dirty="0"/>
              <a:t> </a:t>
            </a:r>
            <a:r>
              <a:rPr lang="en-ID" sz="1600" dirty="0" err="1"/>
              <a:t>kompleksitas</a:t>
            </a:r>
            <a:r>
              <a:rPr lang="en-ID" sz="1600" dirty="0"/>
              <a:t> </a:t>
            </a:r>
            <a:r>
              <a:rPr lang="en-ID" sz="1600" dirty="0" err="1"/>
              <a:t>penyimpanan</a:t>
            </a:r>
            <a:r>
              <a:rPr lang="en-ID" sz="1600" dirty="0"/>
              <a:t> dan </a:t>
            </a:r>
            <a:r>
              <a:rPr lang="en-ID" sz="1600" dirty="0" err="1"/>
              <a:t>struktur</a:t>
            </a:r>
            <a:r>
              <a:rPr lang="en-ID" sz="1600" dirty="0"/>
              <a:t> internal basis data.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D8DE0D57-719E-F437-3F8B-8144B31EE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42982" y="1933085"/>
            <a:ext cx="5008391" cy="29322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04742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A2298742-C545-3AFD-2D0C-7DEB875F9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2A1AD7CA-036B-A363-B62D-2E94EC252E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SCHEMA DAN INSTANCE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5B794E05-5B91-5F86-8143-A0F1930C70D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017725"/>
            <a:ext cx="7630370" cy="3847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Analogi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tipe</a:t>
            </a:r>
            <a:r>
              <a:rPr lang="en-ID" sz="1800" dirty="0"/>
              <a:t> data dan </a:t>
            </a:r>
            <a:r>
              <a:rPr lang="en-ID" sz="1800" dirty="0" err="1"/>
              <a:t>variabel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bahasa</a:t>
            </a:r>
            <a:r>
              <a:rPr lang="en-ID" sz="1800" dirty="0"/>
              <a:t> </a:t>
            </a:r>
            <a:r>
              <a:rPr lang="en-ID" sz="1800" dirty="0" err="1"/>
              <a:t>pemrograman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Schema </a:t>
            </a:r>
            <a:r>
              <a:rPr lang="en-ID" sz="1800" dirty="0" err="1"/>
              <a:t>sebagai</a:t>
            </a:r>
            <a:r>
              <a:rPr lang="en-ID" sz="1800" dirty="0"/>
              <a:t> </a:t>
            </a:r>
            <a:r>
              <a:rPr lang="en-ID" sz="1800" dirty="0" err="1"/>
              <a:t>struktur</a:t>
            </a:r>
            <a:r>
              <a:rPr lang="en-ID" sz="1800" dirty="0"/>
              <a:t> </a:t>
            </a:r>
            <a:r>
              <a:rPr lang="en-ID" sz="1800" dirty="0" err="1"/>
              <a:t>logis</a:t>
            </a:r>
            <a:r>
              <a:rPr lang="en-ID" sz="1800" dirty="0"/>
              <a:t> basis data.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Contoh</a:t>
            </a:r>
            <a:r>
              <a:rPr lang="en-ID" sz="1800" dirty="0"/>
              <a:t>: </a:t>
            </a:r>
            <a:r>
              <a:rPr lang="en-ID" sz="1800" dirty="0" err="1"/>
              <a:t>sebuah</a:t>
            </a:r>
            <a:r>
              <a:rPr lang="en-ID" sz="1800" dirty="0"/>
              <a:t> basis data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terdiri</a:t>
            </a:r>
            <a:r>
              <a:rPr lang="en-ID" sz="1800" dirty="0"/>
              <a:t> </a:t>
            </a:r>
            <a:r>
              <a:rPr lang="en-ID" sz="1800" dirty="0" err="1"/>
              <a:t>atas</a:t>
            </a:r>
            <a:r>
              <a:rPr lang="en-ID" sz="1800" dirty="0"/>
              <a:t> </a:t>
            </a:r>
            <a:r>
              <a:rPr lang="en-ID" sz="1800" dirty="0" err="1"/>
              <a:t>informasi</a:t>
            </a:r>
            <a:r>
              <a:rPr lang="en-ID" sz="1800" dirty="0"/>
              <a:t> </a:t>
            </a:r>
            <a:r>
              <a:rPr lang="en-ID" sz="1800" dirty="0" err="1"/>
              <a:t>mengenai</a:t>
            </a:r>
            <a:r>
              <a:rPr lang="en-ID" sz="1800" dirty="0"/>
              <a:t> </a:t>
            </a:r>
            <a:r>
              <a:rPr lang="en-ID" sz="1800" dirty="0" err="1"/>
              <a:t>sejumlah</a:t>
            </a:r>
            <a:r>
              <a:rPr lang="en-ID" sz="1800" dirty="0"/>
              <a:t> </a:t>
            </a:r>
            <a:r>
              <a:rPr lang="en-ID" sz="1800" dirty="0" err="1"/>
              <a:t>pelanggan</a:t>
            </a:r>
            <a:r>
              <a:rPr lang="en-ID" sz="1800" dirty="0"/>
              <a:t> dan </a:t>
            </a:r>
            <a:r>
              <a:rPr lang="en-ID" sz="1800" dirty="0" err="1"/>
              <a:t>rekening</a:t>
            </a:r>
            <a:r>
              <a:rPr lang="en-ID" sz="1800" dirty="0"/>
              <a:t>, </a:t>
            </a:r>
            <a:r>
              <a:rPr lang="en-ID" sz="1800" dirty="0" err="1"/>
              <a:t>beserta</a:t>
            </a:r>
            <a:r>
              <a:rPr lang="en-ID" sz="1800" dirty="0"/>
              <a:t> </a:t>
            </a:r>
            <a:r>
              <a:rPr lang="en-ID" sz="1800" dirty="0" err="1"/>
              <a:t>hubungan</a:t>
            </a:r>
            <a:r>
              <a:rPr lang="en-ID" sz="1800" dirty="0"/>
              <a:t> </a:t>
            </a:r>
            <a:r>
              <a:rPr lang="en-ID" sz="1800" dirty="0" err="1"/>
              <a:t>diantara</a:t>
            </a:r>
            <a:r>
              <a:rPr lang="en-ID" sz="1800" dirty="0"/>
              <a:t> </a:t>
            </a:r>
            <a:r>
              <a:rPr lang="en-ID" sz="1800" dirty="0" err="1"/>
              <a:t>keduanya</a:t>
            </a:r>
            <a:r>
              <a:rPr lang="en-ID" sz="18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i="1" dirty="0"/>
              <a:t>Schema</a:t>
            </a:r>
            <a:r>
              <a:rPr lang="en-ID" sz="1800" dirty="0"/>
              <a:t> </a:t>
            </a:r>
            <a:r>
              <a:rPr lang="en-ID" sz="1800" dirty="0" err="1"/>
              <a:t>berperan</a:t>
            </a:r>
            <a:r>
              <a:rPr lang="en-ID" sz="1800" dirty="0"/>
              <a:t> </a:t>
            </a:r>
            <a:r>
              <a:rPr lang="en-ID" sz="1800" dirty="0" err="1"/>
              <a:t>seperti</a:t>
            </a:r>
            <a:r>
              <a:rPr lang="en-ID" sz="1800" dirty="0"/>
              <a:t> </a:t>
            </a:r>
            <a:r>
              <a:rPr lang="en-ID" sz="1800" dirty="0" err="1"/>
              <a:t>tipe</a:t>
            </a:r>
            <a:r>
              <a:rPr lang="en-ID" sz="1800" dirty="0"/>
              <a:t> data yang </a:t>
            </a:r>
            <a:r>
              <a:rPr lang="en-ID" sz="1800" dirty="0" err="1"/>
              <a:t>mendefinisikan</a:t>
            </a:r>
            <a:r>
              <a:rPr lang="en-ID" sz="1800" dirty="0"/>
              <a:t> </a:t>
            </a:r>
            <a:r>
              <a:rPr lang="en-ID" sz="1800" dirty="0" err="1"/>
              <a:t>bentuk</a:t>
            </a:r>
            <a:r>
              <a:rPr lang="en-ID" sz="1800" dirty="0"/>
              <a:t> dan </a:t>
            </a:r>
            <a:r>
              <a:rPr lang="en-ID" sz="1800" dirty="0" err="1"/>
              <a:t>struktur</a:t>
            </a:r>
            <a:r>
              <a:rPr lang="en-ID" sz="1800" dirty="0"/>
              <a:t> </a:t>
            </a:r>
            <a:r>
              <a:rPr lang="en-ID" sz="1800" dirty="0" err="1"/>
              <a:t>suatu</a:t>
            </a:r>
            <a:r>
              <a:rPr lang="en-ID" sz="1800" dirty="0"/>
              <a:t> </a:t>
            </a:r>
            <a:r>
              <a:rPr lang="en-ID" sz="1800" dirty="0" err="1"/>
              <a:t>variabel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program.</a:t>
            </a:r>
          </a:p>
          <a:p>
            <a:pPr marL="901700" lvl="0" indent="-271463">
              <a:buFont typeface="Wingdings" panose="05000000000000000000" pitchFamily="2" charset="2"/>
              <a:buChar char="§"/>
            </a:pPr>
            <a:r>
              <a:rPr lang="en-ID" sz="1800" dirty="0"/>
              <a:t>Skema </a:t>
            </a:r>
            <a:r>
              <a:rPr lang="en-ID" sz="1800" dirty="0" err="1"/>
              <a:t>fisik</a:t>
            </a:r>
            <a:r>
              <a:rPr lang="en-ID" sz="1800" dirty="0"/>
              <a:t> (</a:t>
            </a:r>
            <a:r>
              <a:rPr lang="en-ID" sz="1800" i="1" dirty="0"/>
              <a:t>physical schema</a:t>
            </a:r>
            <a:r>
              <a:rPr lang="en-ID" sz="1800" dirty="0"/>
              <a:t>): </a:t>
            </a:r>
            <a:r>
              <a:rPr lang="nn-NO" sz="1800" dirty="0"/>
              <a:t>menggambarkan rancangan basis data pada tingkat fisik, </a:t>
            </a:r>
            <a:r>
              <a:rPr lang="it-IT" sz="1800" dirty="0"/>
              <a:t>cara data disimpan di media penyimpanan.</a:t>
            </a:r>
            <a:endParaRPr lang="nn-NO" sz="1800" dirty="0"/>
          </a:p>
          <a:p>
            <a:pPr marL="901700" lvl="0" indent="-271463">
              <a:buFont typeface="Wingdings" panose="05000000000000000000" pitchFamily="2" charset="2"/>
              <a:buChar char="§"/>
            </a:pPr>
            <a:r>
              <a:rPr lang="en-ID" sz="1800" dirty="0"/>
              <a:t>Skema </a:t>
            </a:r>
            <a:r>
              <a:rPr lang="en-ID" sz="1800" dirty="0" err="1"/>
              <a:t>logis</a:t>
            </a:r>
            <a:r>
              <a:rPr lang="en-ID" sz="1800" dirty="0"/>
              <a:t> (</a:t>
            </a:r>
            <a:r>
              <a:rPr lang="en-ID" sz="1800" i="1" dirty="0"/>
              <a:t>logical schema</a:t>
            </a:r>
            <a:r>
              <a:rPr lang="en-ID" sz="1800" dirty="0"/>
              <a:t>): </a:t>
            </a:r>
            <a:r>
              <a:rPr lang="en-ID" sz="1800" dirty="0" err="1"/>
              <a:t>tabel</a:t>
            </a:r>
            <a:r>
              <a:rPr lang="en-ID" sz="1800" dirty="0"/>
              <a:t>, </a:t>
            </a:r>
            <a:r>
              <a:rPr lang="en-ID" sz="1800" dirty="0" err="1"/>
              <a:t>atribut</a:t>
            </a:r>
            <a:r>
              <a:rPr lang="en-ID" sz="1800" dirty="0"/>
              <a:t>, dan </a:t>
            </a:r>
            <a:r>
              <a:rPr lang="en-ID" sz="1800" dirty="0" err="1"/>
              <a:t>relasi</a:t>
            </a:r>
            <a:r>
              <a:rPr lang="en-ID" sz="1800" dirty="0"/>
              <a:t> </a:t>
            </a:r>
            <a:r>
              <a:rPr lang="en-ID" sz="1800" dirty="0" err="1"/>
              <a:t>antar</a:t>
            </a:r>
            <a:r>
              <a:rPr lang="en-ID" sz="1800" dirty="0"/>
              <a:t> </a:t>
            </a:r>
            <a:r>
              <a:rPr lang="en-ID" sz="1800" dirty="0" err="1"/>
              <a:t>tabel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i="1" dirty="0"/>
              <a:t>Instance</a:t>
            </a:r>
            <a:r>
              <a:rPr lang="en-ID" sz="1800" dirty="0"/>
              <a:t> </a:t>
            </a:r>
            <a:r>
              <a:rPr lang="en-ID" sz="1800" dirty="0" err="1"/>
              <a:t>merupakan</a:t>
            </a:r>
            <a:r>
              <a:rPr lang="en-ID" sz="1800" dirty="0"/>
              <a:t> </a:t>
            </a:r>
            <a:r>
              <a:rPr lang="en-ID" sz="1800" dirty="0" err="1"/>
              <a:t>kondisi</a:t>
            </a:r>
            <a:r>
              <a:rPr lang="en-ID" sz="1800" dirty="0"/>
              <a:t>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isi</a:t>
            </a:r>
            <a:r>
              <a:rPr lang="en-ID" sz="1800" dirty="0"/>
              <a:t> </a:t>
            </a:r>
            <a:r>
              <a:rPr lang="en-ID" sz="1800" dirty="0" err="1"/>
              <a:t>nyata</a:t>
            </a:r>
            <a:r>
              <a:rPr lang="en-ID" sz="1800" dirty="0"/>
              <a:t> basis data pada </a:t>
            </a:r>
            <a:r>
              <a:rPr lang="en-ID" sz="1800" dirty="0" err="1"/>
              <a:t>suatu</a:t>
            </a:r>
            <a:r>
              <a:rPr lang="en-ID" sz="1800" dirty="0"/>
              <a:t> </a:t>
            </a:r>
            <a:r>
              <a:rPr lang="en-ID" sz="1800" dirty="0" err="1"/>
              <a:t>waktu</a:t>
            </a:r>
            <a:r>
              <a:rPr lang="en-ID" sz="1800" dirty="0"/>
              <a:t> </a:t>
            </a:r>
            <a:r>
              <a:rPr lang="en-ID" sz="1800" dirty="0" err="1"/>
              <a:t>tertentu</a:t>
            </a:r>
            <a:r>
              <a:rPr lang="en-ID" sz="1800" dirty="0"/>
              <a:t> (variable: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berubah</a:t>
            </a:r>
            <a:r>
              <a:rPr lang="en-ID" sz="1800" dirty="0"/>
              <a:t> </a:t>
            </a:r>
            <a:r>
              <a:rPr lang="en-ID" sz="1800" dirty="0" err="1"/>
              <a:t>seiring</a:t>
            </a:r>
            <a:r>
              <a:rPr lang="en-ID" sz="1800" dirty="0"/>
              <a:t> </a:t>
            </a:r>
            <a:r>
              <a:rPr lang="en-ID" sz="1800" dirty="0" err="1"/>
              <a:t>waktu</a:t>
            </a:r>
            <a:r>
              <a:rPr lang="en-ID" sz="1800" dirty="0"/>
              <a:t>).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636291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4FC25D10-3F9E-6DE4-169A-2683970B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FFA3447C-7BB4-A366-10AA-AFFB43A790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MODEL DATA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CA58118A-7996-3BAC-9766-8146D1ABFE9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017725"/>
            <a:ext cx="7630370" cy="3847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Model data </a:t>
            </a:r>
            <a:r>
              <a:rPr lang="en-ID" sz="1800" dirty="0" err="1"/>
              <a:t>menyediakan</a:t>
            </a:r>
            <a:r>
              <a:rPr lang="en-ID" sz="1800" dirty="0"/>
              <a:t> </a:t>
            </a:r>
            <a:r>
              <a:rPr lang="en-ID" sz="1800" b="1" dirty="0" err="1"/>
              <a:t>kerangka</a:t>
            </a:r>
            <a:r>
              <a:rPr lang="en-ID" sz="1800" b="1" dirty="0"/>
              <a:t> </a:t>
            </a:r>
            <a:r>
              <a:rPr lang="en-ID" sz="1800" b="1" dirty="0" err="1"/>
              <a:t>konseptual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menggambarkan</a:t>
            </a:r>
            <a:r>
              <a:rPr lang="en-ID" sz="1800" dirty="0"/>
              <a:t> </a:t>
            </a:r>
            <a:r>
              <a:rPr lang="en-ID" sz="1800" dirty="0" err="1"/>
              <a:t>struktur</a:t>
            </a:r>
            <a:r>
              <a:rPr lang="en-ID" sz="1800" dirty="0"/>
              <a:t>, </a:t>
            </a:r>
            <a:r>
              <a:rPr lang="en-ID" sz="1800" dirty="0" err="1"/>
              <a:t>makna</a:t>
            </a:r>
            <a:r>
              <a:rPr lang="en-ID" sz="1800" dirty="0"/>
              <a:t>, dan </a:t>
            </a:r>
            <a:r>
              <a:rPr lang="en-ID" sz="1800" dirty="0" err="1"/>
              <a:t>aturan</a:t>
            </a:r>
            <a:r>
              <a:rPr lang="en-ID" sz="1800" dirty="0"/>
              <a:t> data, yang </a:t>
            </a:r>
            <a:r>
              <a:rPr lang="en-ID" sz="1800" dirty="0" err="1"/>
              <a:t>menjadi</a:t>
            </a:r>
            <a:r>
              <a:rPr lang="en-ID" sz="1800" dirty="0"/>
              <a:t> </a:t>
            </a:r>
            <a:r>
              <a:rPr lang="en-ID" sz="1800" dirty="0" err="1"/>
              <a:t>dasar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perancangan</a:t>
            </a:r>
            <a:r>
              <a:rPr lang="en-ID" sz="1800" dirty="0"/>
              <a:t> dan </a:t>
            </a:r>
            <a:r>
              <a:rPr lang="en-ID" sz="1800" dirty="0" err="1"/>
              <a:t>implementasi</a:t>
            </a:r>
            <a:r>
              <a:rPr lang="en-ID" sz="1800" dirty="0"/>
              <a:t> </a:t>
            </a:r>
            <a:r>
              <a:rPr lang="en-ID" sz="1800" dirty="0" err="1"/>
              <a:t>sistem</a:t>
            </a:r>
            <a:r>
              <a:rPr lang="en-ID" sz="1800" dirty="0"/>
              <a:t> basis data.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Kumpulan </a:t>
            </a:r>
            <a:r>
              <a:rPr lang="en-ID" sz="1800" dirty="0" err="1"/>
              <a:t>alat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mendeskripsikan</a:t>
            </a:r>
            <a:r>
              <a:rPr lang="en-ID" sz="1800" dirty="0"/>
              <a:t> data.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600" dirty="0" err="1"/>
              <a:t>Deskripsi</a:t>
            </a:r>
            <a:r>
              <a:rPr lang="en-ID" sz="1600" dirty="0"/>
              <a:t> data.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600" dirty="0" err="1"/>
              <a:t>Deskripsi</a:t>
            </a:r>
            <a:r>
              <a:rPr lang="en-ID" sz="1600" dirty="0"/>
              <a:t> </a:t>
            </a:r>
            <a:r>
              <a:rPr lang="en-ID" sz="1600" dirty="0" err="1"/>
              <a:t>hubungan</a:t>
            </a:r>
            <a:r>
              <a:rPr lang="en-ID" sz="1600" dirty="0"/>
              <a:t> </a:t>
            </a:r>
            <a:r>
              <a:rPr lang="en-ID" sz="1600" dirty="0" err="1"/>
              <a:t>antar</a:t>
            </a:r>
            <a:r>
              <a:rPr lang="en-ID" sz="1600" dirty="0"/>
              <a:t> data.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600" dirty="0" err="1"/>
              <a:t>Deskripsi</a:t>
            </a:r>
            <a:r>
              <a:rPr lang="en-ID" sz="1600" dirty="0"/>
              <a:t> </a:t>
            </a:r>
            <a:r>
              <a:rPr lang="en-ID" sz="1600" dirty="0" err="1"/>
              <a:t>semantik</a:t>
            </a:r>
            <a:r>
              <a:rPr lang="en-ID" sz="1600" dirty="0"/>
              <a:t> data.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600" dirty="0" err="1"/>
              <a:t>Deskripsi</a:t>
            </a:r>
            <a:r>
              <a:rPr lang="en-ID" sz="1600" dirty="0"/>
              <a:t> </a:t>
            </a:r>
            <a:r>
              <a:rPr lang="en-ID" sz="1600" dirty="0" err="1"/>
              <a:t>batasan</a:t>
            </a:r>
            <a:r>
              <a:rPr lang="en-ID" sz="1600" dirty="0"/>
              <a:t> data (</a:t>
            </a:r>
            <a:r>
              <a:rPr lang="en-ID" sz="1600" i="1" dirty="0"/>
              <a:t>data constraints</a:t>
            </a:r>
            <a:r>
              <a:rPr lang="en-ID" sz="1600" dirty="0"/>
              <a:t>).</a:t>
            </a: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Jenis-</a:t>
            </a:r>
            <a:r>
              <a:rPr lang="en-ID" sz="1800" dirty="0" err="1"/>
              <a:t>jenis</a:t>
            </a:r>
            <a:r>
              <a:rPr lang="en-ID" sz="1800" dirty="0"/>
              <a:t> model data: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600" dirty="0"/>
              <a:t>Model </a:t>
            </a:r>
            <a:r>
              <a:rPr lang="en-ID" sz="1600" dirty="0" err="1"/>
              <a:t>relasional</a:t>
            </a:r>
            <a:r>
              <a:rPr lang="en-ID" sz="1600" dirty="0"/>
              <a:t> (</a:t>
            </a:r>
            <a:r>
              <a:rPr lang="en-ID" sz="1600" i="1" dirty="0"/>
              <a:t>relational model</a:t>
            </a:r>
            <a:r>
              <a:rPr lang="en-ID" sz="1600" dirty="0"/>
              <a:t>).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600" dirty="0"/>
              <a:t>Model data Entity-Relationship (ER).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600" dirty="0"/>
              <a:t>Model data </a:t>
            </a:r>
            <a:r>
              <a:rPr lang="en-ID" sz="1600" dirty="0" err="1"/>
              <a:t>berbasis</a:t>
            </a:r>
            <a:r>
              <a:rPr lang="en-ID" sz="1600" dirty="0"/>
              <a:t> </a:t>
            </a:r>
            <a:r>
              <a:rPr lang="en-ID" sz="1600" dirty="0" err="1"/>
              <a:t>objek</a:t>
            </a:r>
            <a:r>
              <a:rPr lang="en-ID" sz="16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600" dirty="0"/>
              <a:t>Model data semi-</a:t>
            </a:r>
            <a:r>
              <a:rPr lang="en-ID" sz="1600" dirty="0" err="1"/>
              <a:t>terstruktur</a:t>
            </a:r>
            <a:r>
              <a:rPr lang="en-ID" sz="1600" dirty="0"/>
              <a:t> (XML).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600" dirty="0"/>
              <a:t>Model-model </a:t>
            </a:r>
            <a:r>
              <a:rPr lang="en-ID" sz="1600" dirty="0" err="1"/>
              <a:t>awal</a:t>
            </a:r>
            <a:r>
              <a:rPr lang="en-ID" sz="1600" dirty="0"/>
              <a:t>: model </a:t>
            </a:r>
            <a:r>
              <a:rPr lang="en-ID" sz="1600" dirty="0" err="1"/>
              <a:t>jaringan</a:t>
            </a:r>
            <a:r>
              <a:rPr lang="en-ID" sz="1600" dirty="0"/>
              <a:t> (</a:t>
            </a:r>
            <a:r>
              <a:rPr lang="en-ID" sz="1600" i="1" dirty="0"/>
              <a:t>network model</a:t>
            </a:r>
            <a:r>
              <a:rPr lang="en-ID" sz="1600" dirty="0"/>
              <a:t>) dan model </a:t>
            </a:r>
            <a:r>
              <a:rPr lang="en-ID" sz="1600" dirty="0" err="1"/>
              <a:t>hierarkis</a:t>
            </a:r>
            <a:r>
              <a:rPr lang="en-ID" sz="1600" dirty="0"/>
              <a:t> (</a:t>
            </a:r>
            <a:r>
              <a:rPr lang="en-ID" sz="1600" i="1" dirty="0"/>
              <a:t>hierarchical model</a:t>
            </a:r>
            <a:r>
              <a:rPr lang="en-ID" sz="1600" dirty="0"/>
              <a:t>).</a:t>
            </a:r>
            <a:endParaRPr lang="en-ID" sz="1800" dirty="0"/>
          </a:p>
          <a:p>
            <a:pPr marL="542925" lvl="0" indent="-271463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542925" lvl="0" indent="-271463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542925" lvl="0" indent="-271463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726977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BD4829E9-CAEA-3CE9-7BA0-81DF1226D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69AD71DE-BBC3-347B-1C3F-07FB514365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MODEL RELASIONAL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CDCE4CE5-4DF8-AEDA-7B03-909283AED4F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017725"/>
            <a:ext cx="2976739" cy="3847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600" dirty="0"/>
              <a:t>Model </a:t>
            </a:r>
            <a:r>
              <a:rPr lang="en-ID" sz="1600" dirty="0" err="1"/>
              <a:t>relasional</a:t>
            </a:r>
            <a:r>
              <a:rPr lang="en-ID" sz="1600" dirty="0"/>
              <a:t> </a:t>
            </a:r>
            <a:r>
              <a:rPr lang="en-ID" sz="1600" dirty="0" err="1"/>
              <a:t>merupakan</a:t>
            </a:r>
            <a:r>
              <a:rPr lang="en-ID" sz="1600" dirty="0"/>
              <a:t> model data yang </a:t>
            </a:r>
            <a:r>
              <a:rPr lang="en-ID" sz="1600" dirty="0" err="1"/>
              <a:t>merepresentasikan</a:t>
            </a:r>
            <a:r>
              <a:rPr lang="en-ID" sz="1600" dirty="0"/>
              <a:t> data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bentuk</a:t>
            </a:r>
            <a:r>
              <a:rPr lang="en-ID" sz="1600" dirty="0"/>
              <a:t> </a:t>
            </a:r>
            <a:r>
              <a:rPr lang="en-ID" sz="1600" b="1" dirty="0" err="1"/>
              <a:t>tabel</a:t>
            </a:r>
            <a:r>
              <a:rPr lang="en-ID" sz="1600" b="1" dirty="0"/>
              <a:t> dua </a:t>
            </a:r>
            <a:r>
              <a:rPr lang="en-ID" sz="1600" b="1" dirty="0" err="1"/>
              <a:t>dimensi</a:t>
            </a:r>
            <a:r>
              <a:rPr lang="en-ID" sz="1600" dirty="0"/>
              <a:t> yang </a:t>
            </a:r>
            <a:r>
              <a:rPr lang="en-ID" sz="1600" dirty="0" err="1"/>
              <a:t>terdiri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baris (</a:t>
            </a:r>
            <a:r>
              <a:rPr lang="en-ID" sz="1600" i="1" dirty="0"/>
              <a:t>tuple</a:t>
            </a:r>
            <a:r>
              <a:rPr lang="en-ID" sz="1600" dirty="0"/>
              <a:t>) dan </a:t>
            </a:r>
            <a:r>
              <a:rPr lang="en-ID" sz="1600" dirty="0" err="1"/>
              <a:t>kolom</a:t>
            </a:r>
            <a:r>
              <a:rPr lang="en-ID" sz="1600" dirty="0"/>
              <a:t> (</a:t>
            </a:r>
            <a:r>
              <a:rPr lang="en-ID" sz="1600" i="1" dirty="0" err="1"/>
              <a:t>atribut</a:t>
            </a:r>
            <a:r>
              <a:rPr lang="en-ID" sz="1600" dirty="0"/>
              <a:t>).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600" dirty="0" err="1"/>
              <a:t>Contoh</a:t>
            </a:r>
            <a:r>
              <a:rPr lang="en-ID" sz="1600" dirty="0"/>
              <a:t> data tabular : data </a:t>
            </a:r>
            <a:r>
              <a:rPr lang="en-ID" sz="1600" dirty="0" err="1"/>
              <a:t>disajikan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bentuk</a:t>
            </a:r>
            <a:r>
              <a:rPr lang="en-ID" sz="1600" dirty="0"/>
              <a:t> table yang </a:t>
            </a:r>
            <a:r>
              <a:rPr lang="en-ID" sz="1600" dirty="0" err="1"/>
              <a:t>terdiri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baris dan </a:t>
            </a:r>
            <a:r>
              <a:rPr lang="en-ID" sz="1600" dirty="0" err="1"/>
              <a:t>kolom</a:t>
            </a:r>
            <a:r>
              <a:rPr lang="en-ID" sz="16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endParaRPr lang="en-ID" sz="1600" dirty="0"/>
          </a:p>
          <a:p>
            <a:pPr marL="542925" lvl="0" indent="-271463">
              <a:buFont typeface="Wingdings" panose="05000000000000000000" pitchFamily="2" charset="2"/>
              <a:buChar char="§"/>
            </a:pPr>
            <a:endParaRPr lang="en-ID" sz="1600" dirty="0"/>
          </a:p>
          <a:p>
            <a:pPr marL="542925" lvl="0" indent="-271463">
              <a:buFont typeface="Wingdings" panose="05000000000000000000" pitchFamily="2" charset="2"/>
              <a:buChar char="§"/>
            </a:pPr>
            <a:endParaRPr lang="en-ID" sz="16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6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6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0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0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0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0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0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E95F7-0B84-D85A-4BFB-E7BECB0EF2EA}"/>
              </a:ext>
            </a:extLst>
          </p:cNvPr>
          <p:cNvGrpSpPr/>
          <p:nvPr/>
        </p:nvGrpSpPr>
        <p:grpSpPr>
          <a:xfrm>
            <a:off x="3916685" y="894329"/>
            <a:ext cx="4967549" cy="3159324"/>
            <a:chOff x="1643042" y="1928802"/>
            <a:chExt cx="6841788" cy="4351326"/>
          </a:xfrm>
        </p:grpSpPr>
        <p:sp>
          <p:nvSpPr>
            <p:cNvPr id="3" name="Line 31">
              <a:extLst>
                <a:ext uri="{FF2B5EF4-FFF2-40B4-BE49-F238E27FC236}">
                  <a16:creationId xmlns:a16="http://schemas.microsoft.com/office/drawing/2014/main" id="{2AF4569C-F940-AF0B-CB52-EF304C7CD5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56362" y="2143116"/>
              <a:ext cx="1044595" cy="354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" name="Text Box 32">
              <a:extLst>
                <a:ext uri="{FF2B5EF4-FFF2-40B4-BE49-F238E27FC236}">
                  <a16:creationId xmlns:a16="http://schemas.microsoft.com/office/drawing/2014/main" id="{39634E0E-738F-750C-5FFA-FB3B03E803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00957" y="1928802"/>
              <a:ext cx="912268" cy="4239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dirty="0" err="1"/>
                <a:t>kolom</a:t>
              </a:r>
              <a:endParaRPr lang="en-US" dirty="0"/>
            </a:p>
          </p:txBody>
        </p:sp>
        <p:sp>
          <p:nvSpPr>
            <p:cNvPr id="5" name="Line 33">
              <a:extLst>
                <a:ext uri="{FF2B5EF4-FFF2-40B4-BE49-F238E27FC236}">
                  <a16:creationId xmlns:a16="http://schemas.microsoft.com/office/drawing/2014/main" id="{8B65B01B-0210-514F-008D-D7EC43C3E7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72124" y="2071678"/>
              <a:ext cx="1928833" cy="4397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pic>
          <p:nvPicPr>
            <p:cNvPr id="6" name="Picture 37" descr="1">
              <a:extLst>
                <a:ext uri="{FF2B5EF4-FFF2-40B4-BE49-F238E27FC236}">
                  <a16:creationId xmlns:a16="http://schemas.microsoft.com/office/drawing/2014/main" id="{2BB7A163-9337-2F7F-9D64-EC7C135F82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 b="43330"/>
            <a:stretch>
              <a:fillRect/>
            </a:stretch>
          </p:blipFill>
          <p:spPr bwMode="auto">
            <a:xfrm>
              <a:off x="1643042" y="2535216"/>
              <a:ext cx="5526087" cy="37449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 Box 38">
              <a:extLst>
                <a:ext uri="{FF2B5EF4-FFF2-40B4-BE49-F238E27FC236}">
                  <a16:creationId xmlns:a16="http://schemas.microsoft.com/office/drawing/2014/main" id="{D74C3A0E-98C8-E842-E24C-5F2B38E8B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6200" y="2840024"/>
              <a:ext cx="788630" cy="4239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dirty="0"/>
                <a:t>baris</a:t>
              </a:r>
            </a:p>
          </p:txBody>
        </p:sp>
        <p:sp>
          <p:nvSpPr>
            <p:cNvPr id="8" name="Line 39">
              <a:extLst>
                <a:ext uri="{FF2B5EF4-FFF2-40B4-BE49-F238E27FC236}">
                  <a16:creationId xmlns:a16="http://schemas.microsoft.com/office/drawing/2014/main" id="{B1E35139-9140-F7EB-23DE-8409BBF150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67563" y="3014649"/>
              <a:ext cx="527050" cy="28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" name="Line 40">
              <a:extLst>
                <a:ext uri="{FF2B5EF4-FFF2-40B4-BE49-F238E27FC236}">
                  <a16:creationId xmlns:a16="http://schemas.microsoft.com/office/drawing/2014/main" id="{74588374-C21A-786B-5DBE-FBB45ED709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80263" y="3090849"/>
              <a:ext cx="527050" cy="2416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603936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3E2B9B86-DF58-405A-BD88-71B694F42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31AC0D06-B7C9-0E26-0E32-87DFDCD28F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CONTOH MODEL RELASIONAL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5EEC6C91-C022-20DD-B327-E82CE650AA1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017725"/>
            <a:ext cx="7348962" cy="3847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600" dirty="0"/>
          </a:p>
          <a:p>
            <a:pPr marL="542925" lvl="0" indent="-271463">
              <a:buFont typeface="Wingdings" panose="05000000000000000000" pitchFamily="2" charset="2"/>
              <a:buChar char="§"/>
            </a:pPr>
            <a:endParaRPr lang="en-ID" sz="1600" dirty="0"/>
          </a:p>
          <a:p>
            <a:pPr marL="542925" lvl="0" indent="-271463">
              <a:buFont typeface="Wingdings" panose="05000000000000000000" pitchFamily="2" charset="2"/>
              <a:buChar char="§"/>
            </a:pPr>
            <a:endParaRPr lang="en-ID" sz="16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6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6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0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0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0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0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0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EACE89-FEB4-746E-8178-B8B1B4295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90" y="1179171"/>
            <a:ext cx="3704966" cy="24042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2EBF635-B738-9132-C5B4-B9EA1AE5E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362" y="1179171"/>
            <a:ext cx="3857157" cy="241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324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1F29EA25-954A-EDB6-B4E6-A9BED6321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C7D743C4-18F6-CAE0-052E-6AF8AFEEDF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DATA MANIPULATION LANGUAGE (DML)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7ED8067E-A0E8-DDFB-50EC-A0ADB1A2A4C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017725"/>
            <a:ext cx="7630370" cy="3847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s-ES" sz="2000" dirty="0"/>
              <a:t>Bahasa </a:t>
            </a:r>
            <a:r>
              <a:rPr lang="es-ES" sz="2000" dirty="0" err="1"/>
              <a:t>untuk</a:t>
            </a:r>
            <a:r>
              <a:rPr lang="es-ES" sz="2000" dirty="0"/>
              <a:t> </a:t>
            </a:r>
            <a:r>
              <a:rPr lang="es-ES" sz="2000" dirty="0" err="1"/>
              <a:t>mengakses</a:t>
            </a:r>
            <a:r>
              <a:rPr lang="es-ES" sz="2000" dirty="0"/>
              <a:t> dan </a:t>
            </a:r>
            <a:r>
              <a:rPr lang="es-ES" sz="2000" dirty="0" err="1"/>
              <a:t>memanipulasi</a:t>
            </a:r>
            <a:r>
              <a:rPr lang="es-ES" sz="2000" dirty="0"/>
              <a:t> data.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2000" dirty="0"/>
              <a:t>DML juga </a:t>
            </a:r>
            <a:r>
              <a:rPr lang="en-ID" sz="2000" dirty="0" err="1"/>
              <a:t>dikenal</a:t>
            </a:r>
            <a:r>
              <a:rPr lang="en-ID" sz="2000" dirty="0"/>
              <a:t> </a:t>
            </a:r>
            <a:r>
              <a:rPr lang="en-ID" sz="2000" dirty="0" err="1"/>
              <a:t>sebagai</a:t>
            </a:r>
            <a:r>
              <a:rPr lang="en-ID" sz="2000" dirty="0"/>
              <a:t> </a:t>
            </a:r>
            <a:r>
              <a:rPr lang="en-ID" sz="2000" dirty="0" err="1"/>
              <a:t>bahasa</a:t>
            </a:r>
            <a:r>
              <a:rPr lang="en-ID" sz="2000" dirty="0"/>
              <a:t> </a:t>
            </a:r>
            <a:r>
              <a:rPr lang="en-ID" sz="2000" dirty="0" err="1"/>
              <a:t>kueri</a:t>
            </a:r>
            <a:r>
              <a:rPr lang="en-ID" sz="2000" dirty="0"/>
              <a:t> (</a:t>
            </a:r>
            <a:r>
              <a:rPr lang="en-ID" sz="2000" i="1" dirty="0"/>
              <a:t>query language</a:t>
            </a:r>
            <a:r>
              <a:rPr lang="en-ID" sz="2000" dirty="0"/>
              <a:t>).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pt-BR" sz="2000" dirty="0"/>
              <a:t>Dua kelas bahasa dalam DML:</a:t>
            </a:r>
            <a:endParaRPr lang="pt-BR" sz="1800" dirty="0"/>
          </a:p>
          <a:p>
            <a:pPr marL="614362" lvl="0" indent="-342900">
              <a:buFont typeface="+mj-lt"/>
              <a:buAutoNum type="arabicPeriod"/>
            </a:pPr>
            <a:r>
              <a:rPr lang="en-ID" sz="1800" dirty="0"/>
              <a:t>Bahasa </a:t>
            </a:r>
            <a:r>
              <a:rPr lang="en-ID" sz="1800" dirty="0" err="1"/>
              <a:t>prosedural</a:t>
            </a:r>
            <a:r>
              <a:rPr lang="en-ID" sz="1800" dirty="0"/>
              <a:t> (</a:t>
            </a:r>
            <a:r>
              <a:rPr lang="en-ID" sz="1800" i="1" dirty="0"/>
              <a:t>procedural</a:t>
            </a:r>
            <a:r>
              <a:rPr lang="en-ID" sz="1800" dirty="0"/>
              <a:t>); </a:t>
            </a:r>
            <a:r>
              <a:rPr lang="en-ID" sz="1800" dirty="0" err="1"/>
              <a:t>pengguna</a:t>
            </a:r>
            <a:r>
              <a:rPr lang="en-ID" sz="1800" dirty="0"/>
              <a:t> </a:t>
            </a:r>
            <a:r>
              <a:rPr lang="en-ID" sz="1800" dirty="0" err="1"/>
              <a:t>harus</a:t>
            </a:r>
            <a:r>
              <a:rPr lang="en-ID" sz="1800" dirty="0"/>
              <a:t> </a:t>
            </a:r>
            <a:r>
              <a:rPr lang="en-ID" sz="1800" dirty="0" err="1"/>
              <a:t>menentukan</a:t>
            </a:r>
            <a:r>
              <a:rPr lang="en-ID" sz="1800" dirty="0"/>
              <a:t> data yang </a:t>
            </a:r>
            <a:r>
              <a:rPr lang="en-ID" sz="1800" dirty="0" err="1"/>
              <a:t>dibutuhkan</a:t>
            </a:r>
            <a:r>
              <a:rPr lang="en-ID" sz="1800" dirty="0"/>
              <a:t> </a:t>
            </a:r>
            <a:r>
              <a:rPr lang="en-ID" sz="1800" dirty="0" err="1"/>
              <a:t>sekaligus</a:t>
            </a:r>
            <a:r>
              <a:rPr lang="en-ID" sz="1800" dirty="0"/>
              <a:t> </a:t>
            </a:r>
            <a:r>
              <a:rPr lang="en-ID" sz="1800" dirty="0" err="1"/>
              <a:t>langkah-langkah</a:t>
            </a:r>
            <a:r>
              <a:rPr lang="en-ID" sz="1800" dirty="0"/>
              <a:t>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prosedur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memperoleh</a:t>
            </a:r>
            <a:r>
              <a:rPr lang="en-ID" sz="1800" dirty="0"/>
              <a:t> data </a:t>
            </a:r>
            <a:r>
              <a:rPr lang="en-ID" sz="1800" dirty="0" err="1"/>
              <a:t>tersebut</a:t>
            </a:r>
            <a:r>
              <a:rPr lang="en-ID" sz="1800" dirty="0"/>
              <a:t>.</a:t>
            </a:r>
          </a:p>
          <a:p>
            <a:pPr marL="614362" lvl="0" indent="-342900">
              <a:buFont typeface="+mj-lt"/>
              <a:buAutoNum type="arabicPeriod"/>
            </a:pPr>
            <a:r>
              <a:rPr lang="en-ID" sz="1800" dirty="0"/>
              <a:t>Bahasa </a:t>
            </a:r>
            <a:r>
              <a:rPr lang="en-ID" sz="1800" dirty="0" err="1"/>
              <a:t>deklaratif</a:t>
            </a:r>
            <a:r>
              <a:rPr lang="en-ID" sz="1800" dirty="0"/>
              <a:t> (</a:t>
            </a:r>
            <a:r>
              <a:rPr lang="en-ID" sz="1800" i="1" dirty="0"/>
              <a:t>declarative</a:t>
            </a:r>
            <a:r>
              <a:rPr lang="en-ID" sz="1800" dirty="0"/>
              <a:t> </a:t>
            </a:r>
            <a:r>
              <a:rPr lang="en-ID" sz="1800" dirty="0" err="1"/>
              <a:t>atau</a:t>
            </a:r>
            <a:r>
              <a:rPr lang="en-ID" sz="1800" dirty="0"/>
              <a:t> non-</a:t>
            </a:r>
            <a:r>
              <a:rPr lang="en-ID" sz="1800" dirty="0" err="1"/>
              <a:t>prosedural</a:t>
            </a:r>
            <a:r>
              <a:rPr lang="en-ID" sz="1800" dirty="0"/>
              <a:t>); </a:t>
            </a:r>
            <a:r>
              <a:rPr lang="en-ID" sz="1800" dirty="0" err="1"/>
              <a:t>pengguna</a:t>
            </a:r>
            <a:r>
              <a:rPr lang="en-ID" sz="1800" dirty="0"/>
              <a:t> </a:t>
            </a:r>
            <a:r>
              <a:rPr lang="en-ID" sz="1800" dirty="0" err="1"/>
              <a:t>hanya</a:t>
            </a:r>
            <a:r>
              <a:rPr lang="en-ID" sz="1800" dirty="0"/>
              <a:t> </a:t>
            </a:r>
            <a:r>
              <a:rPr lang="en-ID" sz="1800" dirty="0" err="1"/>
              <a:t>menyatakan</a:t>
            </a:r>
            <a:r>
              <a:rPr lang="en-ID" sz="1800" dirty="0"/>
              <a:t> data </a:t>
            </a:r>
            <a:r>
              <a:rPr lang="en-ID" sz="1800" dirty="0" err="1"/>
              <a:t>apa</a:t>
            </a:r>
            <a:r>
              <a:rPr lang="en-ID" sz="1800" dirty="0"/>
              <a:t> yang </a:t>
            </a:r>
            <a:r>
              <a:rPr lang="en-ID" sz="1800" dirty="0" err="1"/>
              <a:t>dibutuhkan</a:t>
            </a:r>
            <a:r>
              <a:rPr lang="en-ID" sz="1800" dirty="0"/>
              <a:t>, </a:t>
            </a:r>
            <a:r>
              <a:rPr lang="en-ID" sz="1800" dirty="0" err="1"/>
              <a:t>tanpa</a:t>
            </a:r>
            <a:r>
              <a:rPr lang="en-ID" sz="1800" dirty="0"/>
              <a:t> </a:t>
            </a:r>
            <a:r>
              <a:rPr lang="en-ID" sz="1800" dirty="0" err="1"/>
              <a:t>harus</a:t>
            </a:r>
            <a:r>
              <a:rPr lang="en-ID" sz="1800" dirty="0"/>
              <a:t> </a:t>
            </a:r>
            <a:r>
              <a:rPr lang="en-ID" sz="1800" dirty="0" err="1"/>
              <a:t>menjelaskan</a:t>
            </a:r>
            <a:r>
              <a:rPr lang="en-ID" sz="1800" dirty="0"/>
              <a:t> </a:t>
            </a:r>
            <a:r>
              <a:rPr lang="en-ID" sz="1800" dirty="0" err="1"/>
              <a:t>bagaimana</a:t>
            </a:r>
            <a:r>
              <a:rPr lang="en-ID" sz="1800" dirty="0"/>
              <a:t> data </a:t>
            </a:r>
            <a:r>
              <a:rPr lang="en-ID" sz="1800" dirty="0" err="1"/>
              <a:t>tersebut</a:t>
            </a:r>
            <a:r>
              <a:rPr lang="en-ID" sz="1800" dirty="0"/>
              <a:t> </a:t>
            </a:r>
            <a:r>
              <a:rPr lang="en-ID" sz="1800" dirty="0" err="1"/>
              <a:t>diambil</a:t>
            </a:r>
            <a:r>
              <a:rPr lang="en-ID" sz="1800" dirty="0"/>
              <a:t> oleh system.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2000" dirty="0"/>
              <a:t>Structured Query Language (SQL) </a:t>
            </a:r>
            <a:r>
              <a:rPr lang="en-US" sz="2000" dirty="0" err="1"/>
              <a:t>merupakan</a:t>
            </a:r>
            <a:r>
              <a:rPr lang="en-US" sz="2000" dirty="0"/>
              <a:t> </a:t>
            </a:r>
            <a:r>
              <a:rPr lang="en-US" sz="2000" dirty="0" err="1"/>
              <a:t>bahasa</a:t>
            </a:r>
            <a:r>
              <a:rPr lang="en-US" sz="2000" dirty="0"/>
              <a:t> </a:t>
            </a:r>
            <a:r>
              <a:rPr lang="en-US" sz="2000" dirty="0" err="1"/>
              <a:t>deklaratif</a:t>
            </a:r>
            <a:r>
              <a:rPr lang="en-US" sz="2000" dirty="0"/>
              <a:t> yang paling </a:t>
            </a:r>
            <a:r>
              <a:rPr lang="en-US" sz="2000" dirty="0" err="1"/>
              <a:t>luas</a:t>
            </a:r>
            <a:r>
              <a:rPr lang="en-US" sz="2000" dirty="0"/>
              <a:t>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 basis data </a:t>
            </a:r>
            <a:r>
              <a:rPr lang="en-US" sz="2000" dirty="0" err="1"/>
              <a:t>relasional</a:t>
            </a:r>
            <a:r>
              <a:rPr lang="en-US" sz="2000" dirty="0"/>
              <a:t>.</a:t>
            </a:r>
            <a:endParaRPr lang="en-ID" sz="1800" dirty="0"/>
          </a:p>
          <a:p>
            <a:pPr marL="542925" lvl="0" indent="-271463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542925" lvl="0" indent="-271463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38349366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C1BFFEC6-D63E-0939-7E41-316185FB3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F6A39864-B61C-7C2B-7C3C-96B57AEF70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DATA DEFINITION LANGUAGE (DDL)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86E1983F-3B71-1980-73D1-66DC0469847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889687"/>
            <a:ext cx="7630370" cy="39756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s-ES" sz="1800" dirty="0"/>
              <a:t>B</a:t>
            </a:r>
            <a:r>
              <a:rPr lang="en-ID" sz="1800" dirty="0" err="1"/>
              <a:t>ahasa</a:t>
            </a:r>
            <a:r>
              <a:rPr lang="en-ID" sz="1800" dirty="0"/>
              <a:t> yang </a:t>
            </a:r>
            <a:r>
              <a:rPr lang="en-ID" sz="1800" dirty="0" err="1"/>
              <a:t>digunakan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mendefinisikan</a:t>
            </a:r>
            <a:r>
              <a:rPr lang="en-ID" sz="1800" dirty="0"/>
              <a:t> </a:t>
            </a:r>
            <a:r>
              <a:rPr lang="en-ID" sz="1800" dirty="0" err="1"/>
              <a:t>struktur</a:t>
            </a:r>
            <a:r>
              <a:rPr lang="en-ID" sz="1800" dirty="0"/>
              <a:t> basis data, </a:t>
            </a:r>
            <a:r>
              <a:rPr lang="en-ID" sz="1800" dirty="0" err="1"/>
              <a:t>termasuk</a:t>
            </a:r>
            <a:r>
              <a:rPr lang="en-ID" sz="1800" dirty="0"/>
              <a:t> </a:t>
            </a:r>
            <a:r>
              <a:rPr lang="en-ID" sz="1800" dirty="0" err="1"/>
              <a:t>tabel</a:t>
            </a:r>
            <a:r>
              <a:rPr lang="en-ID" sz="1800" dirty="0"/>
              <a:t>, </a:t>
            </a:r>
            <a:r>
              <a:rPr lang="en-ID" sz="1800" dirty="0" err="1"/>
              <a:t>atribut</a:t>
            </a:r>
            <a:r>
              <a:rPr lang="en-ID" sz="1800" dirty="0"/>
              <a:t>, dan </a:t>
            </a:r>
            <a:r>
              <a:rPr lang="en-ID" sz="1800" dirty="0" err="1"/>
              <a:t>hubungan</a:t>
            </a:r>
            <a:r>
              <a:rPr lang="en-ID" sz="1800" dirty="0"/>
              <a:t> </a:t>
            </a:r>
            <a:r>
              <a:rPr lang="en-ID" sz="1800" dirty="0" err="1"/>
              <a:t>antar</a:t>
            </a:r>
            <a:r>
              <a:rPr lang="en-ID" sz="1800" dirty="0"/>
              <a:t> data.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Contoh</a:t>
            </a:r>
            <a:r>
              <a:rPr lang="en-ID" sz="1800" dirty="0"/>
              <a:t>:</a:t>
            </a:r>
          </a:p>
          <a:p>
            <a:pPr marL="358775" lvl="0" indent="184150"/>
            <a:r>
              <a:rPr lang="en-US" sz="1600" b="1" dirty="0"/>
              <a:t>create table</a:t>
            </a:r>
            <a:r>
              <a:rPr lang="en-US" sz="1600" dirty="0"/>
              <a:t> </a:t>
            </a:r>
            <a:r>
              <a:rPr lang="en-US" sz="1600" i="1" dirty="0"/>
              <a:t>instructor</a:t>
            </a:r>
            <a:r>
              <a:rPr lang="en-US" sz="1600" dirty="0"/>
              <a:t> (</a:t>
            </a:r>
            <a:br>
              <a:rPr lang="en-US" sz="1600" dirty="0"/>
            </a:br>
            <a:r>
              <a:rPr lang="en-US" sz="1600" dirty="0"/>
              <a:t>             </a:t>
            </a:r>
            <a:r>
              <a:rPr lang="en-US" sz="1600" i="1" dirty="0"/>
              <a:t>ID</a:t>
            </a:r>
            <a:r>
              <a:rPr lang="en-US" sz="1600" dirty="0"/>
              <a:t>                 </a:t>
            </a:r>
            <a:r>
              <a:rPr lang="en-US" sz="1600" b="1" dirty="0"/>
              <a:t>char</a:t>
            </a:r>
            <a:r>
              <a:rPr lang="en-US" sz="1600" dirty="0"/>
              <a:t>(5),</a:t>
            </a:r>
            <a:br>
              <a:rPr lang="en-US" sz="1600" dirty="0"/>
            </a:br>
            <a:r>
              <a:rPr lang="en-US" sz="1600" dirty="0"/>
              <a:t>             </a:t>
            </a:r>
            <a:r>
              <a:rPr lang="en-US" sz="1600" i="1" dirty="0"/>
              <a:t>name           </a:t>
            </a:r>
            <a:r>
              <a:rPr lang="en-US" sz="1600" b="1" dirty="0"/>
              <a:t>varchar</a:t>
            </a:r>
            <a:r>
              <a:rPr lang="en-US" sz="1600" dirty="0"/>
              <a:t>(20)</a:t>
            </a:r>
            <a:r>
              <a:rPr lang="en-US" sz="1600" b="1" dirty="0"/>
              <a:t>,</a:t>
            </a:r>
            <a:br>
              <a:rPr lang="en-US" sz="1600" b="1" i="1" dirty="0"/>
            </a:br>
            <a:r>
              <a:rPr lang="en-US" sz="1600" b="1" i="1" dirty="0"/>
              <a:t>             </a:t>
            </a:r>
            <a:r>
              <a:rPr lang="en-US" sz="1600" i="1" dirty="0" err="1"/>
              <a:t>dept_name</a:t>
            </a:r>
            <a:r>
              <a:rPr lang="en-US" sz="1600" i="1" dirty="0"/>
              <a:t>  </a:t>
            </a:r>
            <a:r>
              <a:rPr lang="en-US" sz="1600" b="1" dirty="0"/>
              <a:t>varchar</a:t>
            </a:r>
            <a:r>
              <a:rPr lang="en-US" sz="1600" dirty="0"/>
              <a:t>(20),</a:t>
            </a:r>
            <a:br>
              <a:rPr lang="en-US" sz="1600" dirty="0"/>
            </a:br>
            <a:r>
              <a:rPr lang="en-US" sz="1600" dirty="0"/>
              <a:t>             </a:t>
            </a:r>
            <a:r>
              <a:rPr lang="en-US" sz="1600" i="1" dirty="0"/>
              <a:t>salary</a:t>
            </a:r>
            <a:r>
              <a:rPr lang="en-US" sz="1600" dirty="0"/>
              <a:t>           </a:t>
            </a:r>
            <a:r>
              <a:rPr lang="en-US" sz="1600" b="1" dirty="0"/>
              <a:t>numeric</a:t>
            </a:r>
            <a:r>
              <a:rPr lang="en-US" sz="1600" dirty="0"/>
              <a:t>(8,2))</a:t>
            </a: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Pernyataan</a:t>
            </a:r>
            <a:r>
              <a:rPr lang="en-ID" sz="1800" dirty="0"/>
              <a:t> DDL </a:t>
            </a:r>
            <a:r>
              <a:rPr lang="en-ID" sz="1800" dirty="0" err="1"/>
              <a:t>diproses</a:t>
            </a:r>
            <a:r>
              <a:rPr lang="en-ID" sz="1800" dirty="0"/>
              <a:t> oleh </a:t>
            </a:r>
            <a:r>
              <a:rPr lang="en-ID" sz="1800" i="1" dirty="0"/>
              <a:t>DDL compiler</a:t>
            </a:r>
            <a:r>
              <a:rPr lang="en-ID" sz="1800" dirty="0"/>
              <a:t> yang </a:t>
            </a:r>
            <a:r>
              <a:rPr lang="en-ID" sz="1800" dirty="0" err="1"/>
              <a:t>akan</a:t>
            </a:r>
            <a:r>
              <a:rPr lang="en-ID" sz="1800" dirty="0"/>
              <a:t> </a:t>
            </a:r>
            <a:r>
              <a:rPr lang="en-ID" sz="1800" dirty="0" err="1"/>
              <a:t>menghasilkan</a:t>
            </a:r>
            <a:r>
              <a:rPr lang="en-ID" sz="1800" dirty="0"/>
              <a:t> template </a:t>
            </a:r>
            <a:r>
              <a:rPr lang="en-ID" sz="1800" dirty="0" err="1"/>
              <a:t>tabel</a:t>
            </a:r>
            <a:r>
              <a:rPr lang="en-ID" sz="1800" dirty="0"/>
              <a:t> dan </a:t>
            </a:r>
            <a:r>
              <a:rPr lang="en-ID" sz="1800" dirty="0" err="1"/>
              <a:t>menyimpannya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b="1" dirty="0"/>
              <a:t>data dictionary.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i="1" dirty="0"/>
              <a:t>Data dictionary</a:t>
            </a:r>
            <a:r>
              <a:rPr lang="en-ID" sz="1800" dirty="0"/>
              <a:t> </a:t>
            </a:r>
            <a:r>
              <a:rPr lang="en-ID" sz="1800" dirty="0" err="1"/>
              <a:t>menyimpan</a:t>
            </a:r>
            <a:r>
              <a:rPr lang="en-ID" sz="1800" dirty="0"/>
              <a:t> </a:t>
            </a:r>
            <a:r>
              <a:rPr lang="en-ID" sz="1800" b="1" dirty="0"/>
              <a:t>metadata</a:t>
            </a:r>
            <a:r>
              <a:rPr lang="en-ID" sz="1800" dirty="0"/>
              <a:t>, </a:t>
            </a:r>
            <a:r>
              <a:rPr lang="en-ID" sz="1800" dirty="0" err="1"/>
              <a:t>yaitu</a:t>
            </a:r>
            <a:r>
              <a:rPr lang="en-ID" sz="1800" dirty="0"/>
              <a:t> </a:t>
            </a:r>
            <a:r>
              <a:rPr lang="en-ID" sz="1800" dirty="0" err="1"/>
              <a:t>informasi</a:t>
            </a:r>
            <a:r>
              <a:rPr lang="en-ID" sz="1800" dirty="0"/>
              <a:t> yang </a:t>
            </a:r>
            <a:r>
              <a:rPr lang="en-ID" sz="1800" dirty="0" err="1"/>
              <a:t>menjelaskan</a:t>
            </a:r>
            <a:r>
              <a:rPr lang="en-ID" sz="1800" dirty="0"/>
              <a:t> </a:t>
            </a:r>
            <a:r>
              <a:rPr lang="en-ID" sz="1800" dirty="0" err="1"/>
              <a:t>struktur</a:t>
            </a:r>
            <a:r>
              <a:rPr lang="en-ID" sz="1800" dirty="0"/>
              <a:t>, </a:t>
            </a:r>
            <a:r>
              <a:rPr lang="en-ID" sz="1800" dirty="0" err="1"/>
              <a:t>tipe</a:t>
            </a:r>
            <a:r>
              <a:rPr lang="en-ID" sz="1800" dirty="0"/>
              <a:t>, dan </a:t>
            </a:r>
            <a:r>
              <a:rPr lang="en-ID" sz="1800" dirty="0" err="1"/>
              <a:t>karakteristik</a:t>
            </a:r>
            <a:r>
              <a:rPr lang="en-ID" sz="1800" dirty="0"/>
              <a:t> data </a:t>
            </a:r>
            <a:r>
              <a:rPr lang="en-ID" sz="1800" dirty="0" err="1"/>
              <a:t>dalam</a:t>
            </a:r>
            <a:r>
              <a:rPr lang="en-ID" sz="1800" dirty="0"/>
              <a:t> basis data. </a:t>
            </a:r>
            <a:r>
              <a:rPr lang="en-ID" sz="1800" dirty="0" err="1"/>
              <a:t>Contoh</a:t>
            </a:r>
            <a:r>
              <a:rPr lang="en-ID" sz="1800" dirty="0"/>
              <a:t>: </a:t>
            </a:r>
            <a:r>
              <a:rPr lang="en-ID" sz="1800" dirty="0" err="1"/>
              <a:t>skema</a:t>
            </a:r>
            <a:r>
              <a:rPr lang="en-ID" sz="1800" dirty="0"/>
              <a:t> basis data, integrity constraint (primary key dan referential integrity), dan </a:t>
            </a:r>
            <a:r>
              <a:rPr lang="en-ID" sz="1800" dirty="0" err="1"/>
              <a:t>otorisasi</a:t>
            </a:r>
            <a:r>
              <a:rPr lang="en-ID" sz="1800" dirty="0"/>
              <a:t>.</a:t>
            </a:r>
          </a:p>
          <a:p>
            <a:pPr marL="542925" lvl="0" indent="-357188">
              <a:buFont typeface="Wingdings" panose="05000000000000000000" pitchFamily="2" charset="2"/>
              <a:buChar char="§"/>
            </a:pPr>
            <a:r>
              <a:rPr lang="en-ID" sz="1600" dirty="0"/>
              <a:t>Nilai </a:t>
            </a:r>
            <a:r>
              <a:rPr lang="en-ID" sz="1600" i="1" dirty="0" err="1"/>
              <a:t>dept_name</a:t>
            </a:r>
            <a:r>
              <a:rPr lang="en-ID" sz="1600" dirty="0"/>
              <a:t> pada </a:t>
            </a:r>
            <a:r>
              <a:rPr lang="en-ID" sz="1600" dirty="0" err="1"/>
              <a:t>setiap</a:t>
            </a:r>
            <a:r>
              <a:rPr lang="en-ID" sz="1600" dirty="0"/>
              <a:t> record </a:t>
            </a:r>
            <a:r>
              <a:rPr lang="en-ID" sz="1600" dirty="0" err="1"/>
              <a:t>dosen</a:t>
            </a:r>
            <a:r>
              <a:rPr lang="en-ID" sz="1600" dirty="0"/>
              <a:t> </a:t>
            </a:r>
            <a:r>
              <a:rPr lang="en-ID" sz="1600" dirty="0" err="1"/>
              <a:t>harus</a:t>
            </a:r>
            <a:r>
              <a:rPr lang="en-ID" sz="1600" dirty="0"/>
              <a:t> </a:t>
            </a:r>
            <a:r>
              <a:rPr lang="en-ID" sz="1600" dirty="0" err="1"/>
              <a:t>sesuai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nilai</a:t>
            </a:r>
            <a:r>
              <a:rPr lang="en-ID" sz="1600" dirty="0"/>
              <a:t> </a:t>
            </a:r>
            <a:r>
              <a:rPr lang="en-ID" sz="1600" i="1" dirty="0" err="1"/>
              <a:t>dept_name</a:t>
            </a:r>
            <a:r>
              <a:rPr lang="en-ID" sz="1600" dirty="0"/>
              <a:t> yang </a:t>
            </a:r>
            <a:r>
              <a:rPr lang="en-ID" sz="1600" dirty="0" err="1"/>
              <a:t>terdapat</a:t>
            </a:r>
            <a:r>
              <a:rPr lang="en-ID" sz="1600" dirty="0"/>
              <a:t> pada </a:t>
            </a:r>
            <a:r>
              <a:rPr lang="en-ID" sz="1600" dirty="0" err="1"/>
              <a:t>tabel</a:t>
            </a:r>
            <a:r>
              <a:rPr lang="en-ID" sz="1600" dirty="0"/>
              <a:t> </a:t>
            </a:r>
            <a:r>
              <a:rPr lang="en-ID" sz="1600" dirty="0" err="1"/>
              <a:t>departemen</a:t>
            </a:r>
            <a:r>
              <a:rPr lang="en-ID" sz="1600" dirty="0"/>
              <a:t>.</a:t>
            </a:r>
            <a:endParaRPr lang="en-ID" sz="1800" dirty="0"/>
          </a:p>
          <a:p>
            <a:pPr marL="542925" lvl="0" indent="-271463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542925" lvl="0" indent="-271463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36556444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2A875263-D475-5884-734C-684217F63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84A10FD9-B9E4-6BA7-4AFF-2CB223A4D7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STRUCTURED QUERY LANGUAGE (SQL)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37064CA7-D4AE-98C7-6046-CBACF62FD75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889687"/>
            <a:ext cx="7630370" cy="39756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SQL </a:t>
            </a:r>
            <a:r>
              <a:rPr lang="en-ID" sz="1800" dirty="0" err="1"/>
              <a:t>merupakan</a:t>
            </a:r>
            <a:r>
              <a:rPr lang="en-ID" sz="1800" dirty="0"/>
              <a:t> </a:t>
            </a:r>
            <a:r>
              <a:rPr lang="en-ID" sz="1800" dirty="0" err="1"/>
              <a:t>bahasa</a:t>
            </a:r>
            <a:r>
              <a:rPr lang="en-ID" sz="1800" dirty="0"/>
              <a:t> </a:t>
            </a:r>
            <a:r>
              <a:rPr lang="en-ID" sz="1800" dirty="0" err="1"/>
              <a:t>kueri</a:t>
            </a:r>
            <a:r>
              <a:rPr lang="en-ID" sz="1800" dirty="0"/>
              <a:t> non-</a:t>
            </a:r>
            <a:r>
              <a:rPr lang="en-ID" sz="1800" dirty="0" err="1"/>
              <a:t>prosedural</a:t>
            </a:r>
            <a:r>
              <a:rPr lang="en-ID" sz="1800" dirty="0"/>
              <a:t> yang paling </a:t>
            </a:r>
            <a:r>
              <a:rPr lang="en-ID" sz="1800" dirty="0" err="1"/>
              <a:t>banyak</a:t>
            </a:r>
            <a:r>
              <a:rPr lang="en-ID" sz="1800" dirty="0"/>
              <a:t> </a:t>
            </a:r>
            <a:r>
              <a:rPr lang="en-ID" sz="1800" dirty="0" err="1"/>
              <a:t>digunakan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mengakses</a:t>
            </a:r>
            <a:r>
              <a:rPr lang="en-ID" sz="1800" dirty="0"/>
              <a:t> dan </a:t>
            </a:r>
            <a:r>
              <a:rPr lang="en-ID" sz="1800" dirty="0" err="1"/>
              <a:t>memanipulasi</a:t>
            </a:r>
            <a:r>
              <a:rPr lang="en-ID" sz="1800" dirty="0"/>
              <a:t> data.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Contoh</a:t>
            </a:r>
            <a:r>
              <a:rPr lang="en-ID" sz="1800" dirty="0"/>
              <a:t>: </a:t>
            </a:r>
            <a:r>
              <a:rPr lang="en-ID" sz="1800" dirty="0" err="1"/>
              <a:t>menampilkan</a:t>
            </a:r>
            <a:r>
              <a:rPr lang="en-ID" sz="1800" dirty="0"/>
              <a:t> nama </a:t>
            </a:r>
            <a:r>
              <a:rPr lang="en-ID" sz="1800" dirty="0" err="1"/>
              <a:t>dosen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ID 22222.</a:t>
            </a:r>
          </a:p>
          <a:p>
            <a:pPr marL="271462" lvl="0" indent="0"/>
            <a:r>
              <a:rPr lang="en-US" sz="1800" b="1" dirty="0"/>
              <a:t>	select	</a:t>
            </a:r>
            <a:r>
              <a:rPr lang="en-US" sz="1800" i="1" dirty="0"/>
              <a:t>name</a:t>
            </a:r>
            <a:br>
              <a:rPr lang="en-US" sz="1800" dirty="0"/>
            </a:br>
            <a:r>
              <a:rPr lang="en-US" sz="1800" dirty="0"/>
              <a:t>	</a:t>
            </a:r>
            <a:r>
              <a:rPr lang="en-US" sz="1800" b="1" dirty="0"/>
              <a:t>from	</a:t>
            </a:r>
            <a:r>
              <a:rPr lang="en-US" sz="1800" i="1" dirty="0"/>
              <a:t>instructor</a:t>
            </a:r>
            <a:br>
              <a:rPr lang="en-US" sz="1800" dirty="0"/>
            </a:br>
            <a:r>
              <a:rPr lang="en-US" sz="1800" dirty="0"/>
              <a:t>	</a:t>
            </a:r>
            <a:r>
              <a:rPr lang="en-US" sz="1800" b="1" dirty="0"/>
              <a:t>where</a:t>
            </a:r>
            <a:r>
              <a:rPr lang="en-US" sz="1800" dirty="0"/>
              <a:t>	</a:t>
            </a:r>
            <a:r>
              <a:rPr lang="en-US" sz="1800" i="1" dirty="0"/>
              <a:t>instructor.ID </a:t>
            </a:r>
            <a:r>
              <a:rPr lang="en-US" sz="1800" dirty="0"/>
              <a:t>= ‘22222’</a:t>
            </a:r>
          </a:p>
          <a:p>
            <a:pPr marL="557212" lvl="0" indent="-285750">
              <a:buFont typeface="Wingdings" panose="05000000000000000000" pitchFamily="2" charset="2"/>
              <a:buChar char="§"/>
            </a:pPr>
            <a:r>
              <a:rPr lang="en-US" sz="1800" dirty="0" err="1"/>
              <a:t>Contoh</a:t>
            </a:r>
            <a:r>
              <a:rPr lang="en-US" sz="1800" dirty="0"/>
              <a:t>: </a:t>
            </a:r>
            <a:r>
              <a:rPr lang="en-US" sz="1800" dirty="0" err="1"/>
              <a:t>menampilkan</a:t>
            </a:r>
            <a:r>
              <a:rPr lang="en-US" sz="1800" dirty="0"/>
              <a:t> nama </a:t>
            </a:r>
            <a:r>
              <a:rPr lang="en-US" sz="1800" dirty="0" err="1"/>
              <a:t>dosen</a:t>
            </a:r>
            <a:r>
              <a:rPr lang="en-US" sz="1800" dirty="0"/>
              <a:t>  dan nama </a:t>
            </a:r>
            <a:r>
              <a:rPr lang="en-US" sz="1800" dirty="0" err="1"/>
              <a:t>gedung</a:t>
            </a:r>
            <a:r>
              <a:rPr lang="en-US" sz="1800" dirty="0"/>
              <a:t> yang </a:t>
            </a:r>
            <a:r>
              <a:rPr lang="en-US" sz="1800" dirty="0" err="1"/>
              <a:t>berasal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departemen</a:t>
            </a:r>
            <a:r>
              <a:rPr lang="en-US" sz="1800" dirty="0"/>
              <a:t> </a:t>
            </a:r>
            <a:r>
              <a:rPr lang="en-US" sz="1800" dirty="0" err="1"/>
              <a:t>fisika</a:t>
            </a:r>
            <a:r>
              <a:rPr lang="en-US" sz="1800" dirty="0"/>
              <a:t>.</a:t>
            </a:r>
          </a:p>
          <a:p>
            <a:pPr marL="271462" lvl="0" indent="0"/>
            <a:r>
              <a:rPr lang="en-US" sz="1800" b="1" dirty="0"/>
              <a:t>	select </a:t>
            </a:r>
            <a:r>
              <a:rPr lang="en-US" sz="1800" i="1" dirty="0"/>
              <a:t>instructor</a:t>
            </a:r>
            <a:r>
              <a:rPr lang="en-US" sz="1800" dirty="0"/>
              <a:t>.</a:t>
            </a:r>
            <a:r>
              <a:rPr lang="en-US" sz="1800" i="1" dirty="0"/>
              <a:t>ID</a:t>
            </a:r>
            <a:r>
              <a:rPr lang="en-US" sz="1800" dirty="0"/>
              <a:t>, </a:t>
            </a:r>
            <a:r>
              <a:rPr lang="en-US" sz="1800" i="1" dirty="0" err="1"/>
              <a:t>department</a:t>
            </a:r>
            <a:r>
              <a:rPr lang="en-US" sz="1800" dirty="0" err="1"/>
              <a:t>.</a:t>
            </a:r>
            <a:r>
              <a:rPr lang="en-US" sz="1800" i="1" dirty="0" err="1"/>
              <a:t>building</a:t>
            </a:r>
            <a:br>
              <a:rPr lang="en-US" sz="1800" i="1" dirty="0"/>
            </a:br>
            <a:r>
              <a:rPr lang="en-US" sz="1800" i="1" dirty="0"/>
              <a:t>	</a:t>
            </a:r>
            <a:r>
              <a:rPr lang="en-US" sz="1800" b="1" dirty="0"/>
              <a:t>from </a:t>
            </a:r>
            <a:r>
              <a:rPr lang="en-US" sz="1800" i="1" dirty="0"/>
              <a:t>instructor</a:t>
            </a:r>
            <a:r>
              <a:rPr lang="en-US" sz="1800" dirty="0"/>
              <a:t>, </a:t>
            </a:r>
            <a:r>
              <a:rPr lang="en-US" sz="1800" i="1" dirty="0"/>
              <a:t>department</a:t>
            </a:r>
            <a:br>
              <a:rPr lang="en-US" sz="1800" i="1" dirty="0"/>
            </a:br>
            <a:r>
              <a:rPr lang="en-US" sz="1800" i="1" dirty="0"/>
              <a:t>	</a:t>
            </a:r>
            <a:r>
              <a:rPr lang="en-US" sz="1800" b="1" dirty="0"/>
              <a:t>where </a:t>
            </a:r>
            <a:r>
              <a:rPr lang="en-US" sz="1800" i="1" dirty="0" err="1"/>
              <a:t>instructor.dept_name</a:t>
            </a:r>
            <a:r>
              <a:rPr lang="en-US" sz="1800" i="1" dirty="0"/>
              <a:t> = </a:t>
            </a:r>
            <a:r>
              <a:rPr lang="en-US" sz="1800" i="1" dirty="0" err="1"/>
              <a:t>department.dept_name</a:t>
            </a:r>
            <a:r>
              <a:rPr lang="en-US" sz="1800" i="1" dirty="0"/>
              <a:t> </a:t>
            </a:r>
            <a:r>
              <a:rPr lang="en-US" sz="1800" b="1" dirty="0"/>
              <a:t>and </a:t>
            </a:r>
            <a:br>
              <a:rPr lang="en-US" sz="1800" b="1" dirty="0"/>
            </a:br>
            <a:r>
              <a:rPr lang="en-US" sz="1800" b="1" dirty="0"/>
              <a:t>           	</a:t>
            </a:r>
            <a:r>
              <a:rPr lang="en-US" sz="1800" i="1" dirty="0" err="1"/>
              <a:t>department.dept_name</a:t>
            </a:r>
            <a:r>
              <a:rPr lang="en-US" sz="1800" i="1" dirty="0"/>
              <a:t> </a:t>
            </a:r>
            <a:r>
              <a:rPr lang="en-US" sz="1800" dirty="0"/>
              <a:t>= ‘Physics’</a:t>
            </a:r>
          </a:p>
          <a:p>
            <a:pPr marL="271463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Antarmuka</a:t>
            </a:r>
            <a:r>
              <a:rPr lang="en-ID" sz="1800" dirty="0"/>
              <a:t> </a:t>
            </a:r>
            <a:r>
              <a:rPr lang="en-ID" sz="1800" dirty="0" err="1"/>
              <a:t>seperti</a:t>
            </a:r>
            <a:r>
              <a:rPr lang="en-ID" sz="1800" dirty="0"/>
              <a:t> ODBC </a:t>
            </a:r>
            <a:r>
              <a:rPr lang="en-ID" sz="1800" dirty="0" err="1"/>
              <a:t>atau</a:t>
            </a:r>
            <a:r>
              <a:rPr lang="en-ID" sz="1800" dirty="0"/>
              <a:t> JDBC </a:t>
            </a:r>
            <a:r>
              <a:rPr lang="en-ID" sz="1800" dirty="0" err="1"/>
              <a:t>memungkinkan</a:t>
            </a:r>
            <a:r>
              <a:rPr lang="en-ID" sz="1800" dirty="0"/>
              <a:t> </a:t>
            </a:r>
            <a:r>
              <a:rPr lang="en-ID" sz="1800" dirty="0" err="1"/>
              <a:t>aplikasi</a:t>
            </a:r>
            <a:r>
              <a:rPr lang="en-ID" sz="1800" dirty="0"/>
              <a:t> </a:t>
            </a:r>
            <a:r>
              <a:rPr lang="en-ID" sz="1800" dirty="0" err="1"/>
              <a:t>mengirimkan</a:t>
            </a:r>
            <a:r>
              <a:rPr lang="en-ID" sz="1800" dirty="0"/>
              <a:t> </a:t>
            </a:r>
            <a:r>
              <a:rPr lang="en-ID" sz="1800" dirty="0" err="1"/>
              <a:t>perintah</a:t>
            </a:r>
            <a:r>
              <a:rPr lang="en-ID" sz="1800" dirty="0"/>
              <a:t> SQL </a:t>
            </a:r>
            <a:r>
              <a:rPr lang="en-ID" sz="1800" dirty="0" err="1"/>
              <a:t>ke</a:t>
            </a:r>
            <a:r>
              <a:rPr lang="en-ID" sz="1800" dirty="0"/>
              <a:t> </a:t>
            </a:r>
            <a:r>
              <a:rPr lang="en-ID" sz="1800" dirty="0" err="1"/>
              <a:t>sistem</a:t>
            </a:r>
            <a:r>
              <a:rPr lang="en-ID" sz="1800" dirty="0"/>
              <a:t> basis data dan </a:t>
            </a:r>
            <a:r>
              <a:rPr lang="en-ID" sz="1800" dirty="0" err="1"/>
              <a:t>menerima</a:t>
            </a:r>
            <a:r>
              <a:rPr lang="en-ID" sz="1800" dirty="0"/>
              <a:t> </a:t>
            </a:r>
            <a:r>
              <a:rPr lang="en-ID" sz="1800" dirty="0" err="1"/>
              <a:t>hasilnya</a:t>
            </a:r>
            <a:r>
              <a:rPr lang="en-ID" sz="1800" dirty="0"/>
              <a:t>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terstruktur</a:t>
            </a:r>
            <a:r>
              <a:rPr lang="en-ID" sz="18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206376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087EC78E-6C7A-A497-3916-BED979F85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4D2BC2EB-488D-2D55-A23E-E031A76D14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PERANCANGAN BASIS DATA (1)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CA851972-65CD-14D2-1ADC-6302BC56804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889687"/>
            <a:ext cx="7630370" cy="39756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Menentukan</a:t>
            </a:r>
            <a:r>
              <a:rPr lang="en-ID" sz="1800" dirty="0"/>
              <a:t> </a:t>
            </a:r>
            <a:r>
              <a:rPr lang="en-ID" sz="1800" dirty="0" err="1"/>
              <a:t>struktur</a:t>
            </a:r>
            <a:r>
              <a:rPr lang="en-ID" sz="1800" dirty="0"/>
              <a:t> </a:t>
            </a:r>
            <a:r>
              <a:rPr lang="en-ID" sz="1800" dirty="0" err="1"/>
              <a:t>keseluruhan</a:t>
            </a:r>
            <a:r>
              <a:rPr lang="en-ID" sz="1800" dirty="0"/>
              <a:t> basis data agar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menyimpan</a:t>
            </a:r>
            <a:r>
              <a:rPr lang="en-ID" sz="1800" dirty="0"/>
              <a:t> dan </a:t>
            </a:r>
            <a:r>
              <a:rPr lang="en-ID" sz="1800" dirty="0" err="1"/>
              <a:t>mengelola</a:t>
            </a:r>
            <a:r>
              <a:rPr lang="en-ID" sz="1800" dirty="0"/>
              <a:t> data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efektif</a:t>
            </a:r>
            <a:r>
              <a:rPr lang="en-ID" sz="1800" dirty="0"/>
              <a:t> </a:t>
            </a:r>
            <a:r>
              <a:rPr lang="en-ID" sz="1800" dirty="0" err="1"/>
              <a:t>sesuai</a:t>
            </a:r>
            <a:r>
              <a:rPr lang="en-ID" sz="1800" dirty="0"/>
              <a:t> </a:t>
            </a:r>
            <a:r>
              <a:rPr lang="en-ID" sz="1800" dirty="0" err="1"/>
              <a:t>kebutuhan</a:t>
            </a:r>
            <a:r>
              <a:rPr lang="en-ID" sz="1800" dirty="0"/>
              <a:t> </a:t>
            </a:r>
            <a:r>
              <a:rPr lang="en-ID" sz="1800" dirty="0" err="1"/>
              <a:t>sistem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Perancangan</a:t>
            </a:r>
            <a:r>
              <a:rPr lang="en-ID" sz="1800" dirty="0"/>
              <a:t> </a:t>
            </a:r>
            <a:r>
              <a:rPr lang="en-ID" sz="1800" dirty="0" err="1"/>
              <a:t>logis</a:t>
            </a:r>
            <a:r>
              <a:rPr lang="en-ID" sz="1800" dirty="0"/>
              <a:t>: </a:t>
            </a:r>
            <a:r>
              <a:rPr lang="en-ID" sz="1800" dirty="0" err="1"/>
              <a:t>berfokus</a:t>
            </a:r>
            <a:r>
              <a:rPr lang="en-ID" sz="1800" dirty="0"/>
              <a:t> pada </a:t>
            </a:r>
            <a:r>
              <a:rPr lang="en-ID" sz="1800" dirty="0" err="1"/>
              <a:t>penentuan</a:t>
            </a:r>
            <a:r>
              <a:rPr lang="en-ID" sz="1800" dirty="0"/>
              <a:t> </a:t>
            </a:r>
            <a:r>
              <a:rPr lang="en-ID" sz="1800" dirty="0" err="1"/>
              <a:t>skema</a:t>
            </a:r>
            <a:r>
              <a:rPr lang="en-ID" sz="1800" dirty="0"/>
              <a:t> basis data, </a:t>
            </a:r>
            <a:r>
              <a:rPr lang="en-ID" sz="1800" dirty="0" err="1"/>
              <a:t>yaitu</a:t>
            </a:r>
            <a:r>
              <a:rPr lang="en-ID" sz="1800" dirty="0"/>
              <a:t> </a:t>
            </a:r>
            <a:r>
              <a:rPr lang="en-ID" sz="1800" dirty="0" err="1"/>
              <a:t>struktur</a:t>
            </a:r>
            <a:r>
              <a:rPr lang="en-ID" sz="1800" dirty="0"/>
              <a:t> </a:t>
            </a:r>
            <a:r>
              <a:rPr lang="en-ID" sz="1800" dirty="0" err="1"/>
              <a:t>logis</a:t>
            </a:r>
            <a:r>
              <a:rPr lang="en-ID" sz="1800" dirty="0"/>
              <a:t> </a:t>
            </a:r>
            <a:r>
              <a:rPr lang="en-ID" sz="1800" dirty="0" err="1"/>
              <a:t>tabel</a:t>
            </a:r>
            <a:r>
              <a:rPr lang="en-ID" sz="1800" dirty="0"/>
              <a:t> dan </a:t>
            </a:r>
            <a:r>
              <a:rPr lang="en-ID" sz="1800" dirty="0" err="1"/>
              <a:t>hubungan</a:t>
            </a:r>
            <a:r>
              <a:rPr lang="en-ID" sz="1800" dirty="0"/>
              <a:t> </a:t>
            </a:r>
            <a:r>
              <a:rPr lang="en-ID" sz="1800" dirty="0" err="1"/>
              <a:t>antar</a:t>
            </a:r>
            <a:r>
              <a:rPr lang="en-ID" sz="1800" dirty="0"/>
              <a:t> </a:t>
            </a:r>
            <a:r>
              <a:rPr lang="en-ID" sz="1800" dirty="0" err="1"/>
              <a:t>tabel</a:t>
            </a:r>
            <a:r>
              <a:rPr lang="en-ID" sz="18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fi-FI" sz="1800" dirty="0"/>
              <a:t>Keputusan dari sudut pandang bisnis (</a:t>
            </a:r>
            <a:r>
              <a:rPr lang="en-ID" sz="1800" dirty="0" err="1"/>
              <a:t>atribut</a:t>
            </a:r>
            <a:r>
              <a:rPr lang="en-ID" sz="1800" dirty="0"/>
              <a:t> </a:t>
            </a:r>
            <a:r>
              <a:rPr lang="en-ID" sz="1800" dirty="0" err="1"/>
              <a:t>apa</a:t>
            </a:r>
            <a:r>
              <a:rPr lang="en-ID" sz="1800" dirty="0"/>
              <a:t> </a:t>
            </a:r>
            <a:r>
              <a:rPr lang="en-ID" sz="1800" dirty="0" err="1"/>
              <a:t>saja</a:t>
            </a:r>
            <a:r>
              <a:rPr lang="en-ID" sz="1800" dirty="0"/>
              <a:t> yang </a:t>
            </a:r>
            <a:r>
              <a:rPr lang="en-ID" sz="1800" dirty="0" err="1"/>
              <a:t>perlu</a:t>
            </a:r>
            <a:r>
              <a:rPr lang="en-ID" sz="1800" dirty="0"/>
              <a:t> </a:t>
            </a:r>
            <a:r>
              <a:rPr lang="en-ID" sz="1800" dirty="0" err="1"/>
              <a:t>dicatat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basis data</a:t>
            </a:r>
            <a:r>
              <a:rPr lang="fi-FI" sz="1800" dirty="0"/>
              <a:t>).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/>
              <a:t>Keputusan </a:t>
            </a:r>
            <a:r>
              <a:rPr lang="en-ID" sz="1800" dirty="0" err="1"/>
              <a:t>dari</a:t>
            </a:r>
            <a:r>
              <a:rPr lang="en-ID" sz="1800" dirty="0"/>
              <a:t> </a:t>
            </a:r>
            <a:r>
              <a:rPr lang="en-ID" sz="1800" dirty="0" err="1"/>
              <a:t>sudut</a:t>
            </a:r>
            <a:r>
              <a:rPr lang="en-ID" sz="1800" dirty="0"/>
              <a:t> </a:t>
            </a:r>
            <a:r>
              <a:rPr lang="en-ID" sz="1800" dirty="0" err="1"/>
              <a:t>pandang</a:t>
            </a:r>
            <a:r>
              <a:rPr lang="en-ID" sz="1800" dirty="0"/>
              <a:t> </a:t>
            </a:r>
            <a:r>
              <a:rPr lang="en-ID" sz="1800" dirty="0" err="1"/>
              <a:t>ilmu</a:t>
            </a:r>
            <a:r>
              <a:rPr lang="en-ID" sz="1800" dirty="0"/>
              <a:t> computer (</a:t>
            </a:r>
            <a:r>
              <a:rPr lang="sv-SE" sz="1800" dirty="0"/>
              <a:t>bagaimana atribut didistribusikan ke dalam berbagai tabel agar mendukung integritas, efisiensi, dan kemudahan pemeliharaan data</a:t>
            </a:r>
            <a:r>
              <a:rPr lang="en-ID" sz="1800" dirty="0"/>
              <a:t>).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Perancangan</a:t>
            </a:r>
            <a:r>
              <a:rPr lang="en-ID" sz="1800" dirty="0"/>
              <a:t> </a:t>
            </a:r>
            <a:r>
              <a:rPr lang="en-ID" sz="1800" dirty="0" err="1"/>
              <a:t>fisik</a:t>
            </a:r>
            <a:r>
              <a:rPr lang="en-ID" sz="1800" dirty="0"/>
              <a:t>: </a:t>
            </a:r>
            <a:r>
              <a:rPr lang="en-ID" sz="1800" dirty="0" err="1"/>
              <a:t>menentukan</a:t>
            </a:r>
            <a:r>
              <a:rPr lang="en-ID" sz="1800" dirty="0"/>
              <a:t> tata </a:t>
            </a:r>
            <a:r>
              <a:rPr lang="en-ID" sz="1800" dirty="0" err="1"/>
              <a:t>letak</a:t>
            </a:r>
            <a:r>
              <a:rPr lang="en-ID" sz="1800" dirty="0"/>
              <a:t> </a:t>
            </a:r>
            <a:r>
              <a:rPr lang="en-ID" sz="1800" dirty="0" err="1"/>
              <a:t>fisik</a:t>
            </a:r>
            <a:r>
              <a:rPr lang="en-ID" sz="1800" dirty="0"/>
              <a:t> basis data, </a:t>
            </a:r>
            <a:r>
              <a:rPr lang="en-ID" sz="1800" dirty="0" err="1"/>
              <a:t>termasuk</a:t>
            </a:r>
            <a:r>
              <a:rPr lang="en-ID" sz="1800" dirty="0"/>
              <a:t> </a:t>
            </a:r>
            <a:r>
              <a:rPr lang="en-ID" sz="1800" dirty="0" err="1"/>
              <a:t>metode</a:t>
            </a:r>
            <a:r>
              <a:rPr lang="en-ID" sz="1800" dirty="0"/>
              <a:t> </a:t>
            </a:r>
            <a:r>
              <a:rPr lang="en-ID" sz="1800" dirty="0" err="1"/>
              <a:t>penyimpanan</a:t>
            </a:r>
            <a:r>
              <a:rPr lang="en-ID" sz="1800" dirty="0"/>
              <a:t> data, </a:t>
            </a:r>
            <a:r>
              <a:rPr lang="en-ID" sz="1800" dirty="0" err="1"/>
              <a:t>indeks</a:t>
            </a:r>
            <a:r>
              <a:rPr lang="en-ID" sz="1800" dirty="0"/>
              <a:t>, dan </a:t>
            </a:r>
            <a:r>
              <a:rPr lang="en-ID" sz="1800" dirty="0" err="1"/>
              <a:t>organisasi</a:t>
            </a:r>
            <a:r>
              <a:rPr lang="en-ID" sz="1800" dirty="0"/>
              <a:t> </a:t>
            </a:r>
            <a:r>
              <a:rPr lang="en-ID" sz="1800" dirty="0" err="1"/>
              <a:t>berkas</a:t>
            </a:r>
            <a:r>
              <a:rPr lang="en-ID" sz="1800" dirty="0"/>
              <a:t>,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mencapai</a:t>
            </a:r>
            <a:r>
              <a:rPr lang="en-ID" sz="1800" dirty="0"/>
              <a:t> </a:t>
            </a:r>
            <a:r>
              <a:rPr lang="en-ID" sz="1800" dirty="0" err="1"/>
              <a:t>kinerja</a:t>
            </a:r>
            <a:r>
              <a:rPr lang="en-ID" sz="1800" dirty="0"/>
              <a:t> </a:t>
            </a:r>
            <a:r>
              <a:rPr lang="en-ID" sz="1800" dirty="0" err="1"/>
              <a:t>sistem</a:t>
            </a:r>
            <a:r>
              <a:rPr lang="en-ID" sz="1800" dirty="0"/>
              <a:t> yang optimal.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2428732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1D491BF9-6EAF-C09C-634C-1E2A4278B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554274F2-214B-6A54-8B76-53F308FE04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PERANCANGAN BASIS DATA (2)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51CEC3E1-6BB7-1727-B67F-331F5A78D91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889687"/>
            <a:ext cx="7630370" cy="39756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Apakah </a:t>
            </a:r>
            <a:r>
              <a:rPr lang="en-ID" sz="1800" dirty="0" err="1"/>
              <a:t>ada</a:t>
            </a:r>
            <a:r>
              <a:rPr lang="en-ID" sz="1800" dirty="0"/>
              <a:t> yang salah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perancangan</a:t>
            </a:r>
            <a:r>
              <a:rPr lang="en-ID" sz="1800" dirty="0"/>
              <a:t> basis data </a:t>
            </a:r>
            <a:r>
              <a:rPr lang="en-ID" sz="1800" dirty="0" err="1"/>
              <a:t>berikut</a:t>
            </a:r>
            <a:r>
              <a:rPr lang="en-ID" sz="1800" dirty="0"/>
              <a:t>?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</p:txBody>
      </p:sp>
      <p:pic>
        <p:nvPicPr>
          <p:cNvPr id="2" name="Picture 5" descr="1">
            <a:extLst>
              <a:ext uri="{FF2B5EF4-FFF2-40B4-BE49-F238E27FC236}">
                <a16:creationId xmlns:a16="http://schemas.microsoft.com/office/drawing/2014/main" id="{CFEC5A24-B904-39B9-B518-76F4221A0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630" y="1457445"/>
            <a:ext cx="5547540" cy="2968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633207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8F0B0481-D802-CAB8-312F-485D62FD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838777BF-F5F6-1416-681D-315990133E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PENDEKATAN PERANCANGAN BASIS DATA 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E5035138-7C8F-38CC-8FF1-29709AF6B59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889687"/>
            <a:ext cx="7630370" cy="39756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600" dirty="0"/>
              <a:t>Teori </a:t>
            </a:r>
            <a:r>
              <a:rPr lang="en-ID" sz="1600" dirty="0" err="1"/>
              <a:t>normalisasi</a:t>
            </a:r>
            <a:r>
              <a:rPr lang="en-ID" sz="1600" dirty="0"/>
              <a:t> </a:t>
            </a:r>
            <a:r>
              <a:rPr lang="en-ID" sz="1600" dirty="0" err="1"/>
              <a:t>merupakan</a:t>
            </a:r>
            <a:r>
              <a:rPr lang="en-ID" sz="1600" dirty="0"/>
              <a:t> </a:t>
            </a:r>
            <a:r>
              <a:rPr lang="en-ID" sz="1600" dirty="0" err="1"/>
              <a:t>pendekatan</a:t>
            </a:r>
            <a:r>
              <a:rPr lang="en-ID" sz="1600" dirty="0"/>
              <a:t> formal yang </a:t>
            </a:r>
            <a:r>
              <a:rPr lang="en-ID" sz="1600" dirty="0" err="1"/>
              <a:t>digunakan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mengidentifikasi</a:t>
            </a:r>
            <a:r>
              <a:rPr lang="en-ID" sz="1600" dirty="0"/>
              <a:t> </a:t>
            </a:r>
            <a:r>
              <a:rPr lang="en-ID" sz="1600" dirty="0" err="1"/>
              <a:t>rancangan</a:t>
            </a:r>
            <a:r>
              <a:rPr lang="en-ID" sz="1600" dirty="0"/>
              <a:t> basis data yang </a:t>
            </a:r>
            <a:r>
              <a:rPr lang="en-ID" sz="1600" dirty="0" err="1"/>
              <a:t>kurang</a:t>
            </a:r>
            <a:r>
              <a:rPr lang="en-ID" sz="1600" dirty="0"/>
              <a:t> </a:t>
            </a:r>
            <a:r>
              <a:rPr lang="en-ID" sz="1600" dirty="0" err="1"/>
              <a:t>baik</a:t>
            </a:r>
            <a:r>
              <a:rPr lang="en-ID" sz="1600" dirty="0"/>
              <a:t> </a:t>
            </a:r>
            <a:r>
              <a:rPr lang="en-ID" sz="1600" dirty="0" err="1"/>
              <a:t>serta</a:t>
            </a:r>
            <a:r>
              <a:rPr lang="en-ID" sz="1600" dirty="0"/>
              <a:t> </a:t>
            </a:r>
            <a:r>
              <a:rPr lang="en-ID" sz="1600" dirty="0" err="1"/>
              <a:t>menguji</a:t>
            </a:r>
            <a:r>
              <a:rPr lang="en-ID" sz="1600" dirty="0"/>
              <a:t> dan </a:t>
            </a:r>
            <a:r>
              <a:rPr lang="en-ID" sz="1600" dirty="0" err="1"/>
              <a:t>memperbaikinya</a:t>
            </a:r>
            <a:r>
              <a:rPr lang="en-ID" sz="16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600" dirty="0"/>
              <a:t>Model Entity-Relationship (ER): </a:t>
            </a:r>
            <a:r>
              <a:rPr lang="sv-SE" sz="1600" dirty="0"/>
              <a:t>pendekatan perancangan yang memodelkan suatu organisasi atau sistem sebagai kumpulan entitas dan hubungan antar entitas.</a:t>
            </a:r>
            <a:endParaRPr lang="sv-SE" sz="1800" dirty="0"/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600" dirty="0" err="1"/>
              <a:t>Sistem</a:t>
            </a:r>
            <a:r>
              <a:rPr lang="en-ID" sz="1600" dirty="0"/>
              <a:t> </a:t>
            </a:r>
            <a:r>
              <a:rPr lang="en-ID" sz="1600" dirty="0" err="1"/>
              <a:t>direpresentasikan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bentuk</a:t>
            </a:r>
            <a:r>
              <a:rPr lang="en-ID" sz="1600" dirty="0"/>
              <a:t> </a:t>
            </a:r>
            <a:r>
              <a:rPr lang="en-ID" sz="1600" dirty="0" err="1"/>
              <a:t>objek-objek</a:t>
            </a:r>
            <a:r>
              <a:rPr lang="en-ID" sz="1600" dirty="0"/>
              <a:t> </a:t>
            </a:r>
            <a:r>
              <a:rPr lang="en-ID" sz="1600" dirty="0" err="1"/>
              <a:t>utama</a:t>
            </a:r>
            <a:r>
              <a:rPr lang="en-ID" sz="1600" dirty="0"/>
              <a:t> (</a:t>
            </a:r>
            <a:r>
              <a:rPr lang="en-ID" sz="1600" dirty="0" err="1"/>
              <a:t>entitas</a:t>
            </a:r>
            <a:r>
              <a:rPr lang="en-ID" sz="1600" dirty="0"/>
              <a:t>) dan </a:t>
            </a:r>
            <a:r>
              <a:rPr lang="en-ID" sz="1600" dirty="0" err="1"/>
              <a:t>keterkaitan</a:t>
            </a:r>
            <a:r>
              <a:rPr lang="en-ID" sz="1600" dirty="0"/>
              <a:t> </a:t>
            </a:r>
            <a:r>
              <a:rPr lang="en-ID" sz="1600" dirty="0" err="1"/>
              <a:t>diantara</a:t>
            </a:r>
            <a:r>
              <a:rPr lang="en-ID" sz="1600" dirty="0"/>
              <a:t> </a:t>
            </a:r>
            <a:r>
              <a:rPr lang="en-ID" sz="1600" dirty="0" err="1"/>
              <a:t>objek-objek</a:t>
            </a:r>
            <a:r>
              <a:rPr lang="en-ID" sz="1600" dirty="0"/>
              <a:t> </a:t>
            </a:r>
            <a:r>
              <a:rPr lang="en-ID" sz="1600" dirty="0" err="1"/>
              <a:t>tersebut</a:t>
            </a:r>
            <a:r>
              <a:rPr lang="en-ID" sz="1600" dirty="0"/>
              <a:t> (</a:t>
            </a:r>
            <a:r>
              <a:rPr lang="en-ID" sz="1600" dirty="0" err="1"/>
              <a:t>relasi</a:t>
            </a:r>
            <a:r>
              <a:rPr lang="en-ID" sz="1600" dirty="0"/>
              <a:t>).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600" dirty="0" err="1"/>
              <a:t>Entitas</a:t>
            </a:r>
            <a:r>
              <a:rPr lang="en-ID" sz="1600" dirty="0"/>
              <a:t>: “</a:t>
            </a:r>
            <a:r>
              <a:rPr lang="en-ID" sz="1600" dirty="0" err="1"/>
              <a:t>benda</a:t>
            </a:r>
            <a:r>
              <a:rPr lang="en-ID" sz="1600" dirty="0"/>
              <a:t>”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objek</a:t>
            </a:r>
            <a:r>
              <a:rPr lang="en-ID" sz="1600" dirty="0"/>
              <a:t>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dibedakan</a:t>
            </a:r>
            <a:r>
              <a:rPr lang="en-ID" sz="1600" dirty="0"/>
              <a:t> </a:t>
            </a: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jelas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objek</a:t>
            </a:r>
            <a:r>
              <a:rPr lang="en-ID" sz="1600" dirty="0"/>
              <a:t> </a:t>
            </a:r>
            <a:r>
              <a:rPr lang="en-ID" sz="1600" dirty="0" err="1"/>
              <a:t>lainnya</a:t>
            </a:r>
            <a:r>
              <a:rPr lang="en-ID" sz="1600" dirty="0"/>
              <a:t>. </a:t>
            </a:r>
            <a:r>
              <a:rPr lang="en-ID" sz="1600" dirty="0" err="1"/>
              <a:t>Entitas</a:t>
            </a:r>
            <a:r>
              <a:rPr lang="en-ID" sz="1600" dirty="0"/>
              <a:t> </a:t>
            </a:r>
            <a:r>
              <a:rPr lang="en-ID" sz="1600" dirty="0" err="1"/>
              <a:t>memiliki</a:t>
            </a:r>
            <a:r>
              <a:rPr lang="en-ID" sz="1600" dirty="0"/>
              <a:t> </a:t>
            </a:r>
            <a:r>
              <a:rPr lang="en-ID" sz="1600" dirty="0" err="1"/>
              <a:t>sekumpulan</a:t>
            </a:r>
            <a:r>
              <a:rPr lang="en-ID" sz="1600" dirty="0"/>
              <a:t> </a:t>
            </a:r>
            <a:r>
              <a:rPr lang="en-ID" sz="1600" dirty="0" err="1"/>
              <a:t>atribut</a:t>
            </a:r>
            <a:r>
              <a:rPr lang="en-ID" sz="1600" dirty="0"/>
              <a:t> yang </a:t>
            </a:r>
            <a:r>
              <a:rPr lang="en-ID" sz="1600" dirty="0" err="1"/>
              <a:t>menjelaskan</a:t>
            </a:r>
            <a:r>
              <a:rPr lang="en-ID" sz="1600" dirty="0"/>
              <a:t> </a:t>
            </a:r>
            <a:r>
              <a:rPr lang="en-ID" sz="1600" dirty="0" err="1"/>
              <a:t>karakteristik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sifat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entitas</a:t>
            </a:r>
            <a:r>
              <a:rPr lang="en-ID" sz="1600" dirty="0"/>
              <a:t> </a:t>
            </a:r>
            <a:r>
              <a:rPr lang="en-ID" sz="1600" dirty="0" err="1"/>
              <a:t>tersebut</a:t>
            </a:r>
            <a:r>
              <a:rPr lang="en-ID" sz="1600" dirty="0"/>
              <a:t>.</a:t>
            </a:r>
            <a:endParaRPr lang="en-ID" sz="1800" dirty="0"/>
          </a:p>
          <a:p>
            <a:pPr marL="0" lvl="0" indent="0"/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02818D24-D3F8-CAE8-6145-354662297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68611" y="3785953"/>
            <a:ext cx="6782063" cy="12621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651967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313E242F-7E8C-755E-48B0-0B9D4D360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65081B83-BBA0-71F5-272F-49D46E13AA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KOMPONEN SISTEM BASIS DATA 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848C48C4-6400-009F-5751-3BBD6A98F09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077730" y="1125961"/>
            <a:ext cx="4670854" cy="3739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Data.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Perangkat </a:t>
            </a:r>
            <a:r>
              <a:rPr lang="en-ID" sz="1800" dirty="0" err="1"/>
              <a:t>keras</a:t>
            </a:r>
            <a:r>
              <a:rPr lang="en-ID" sz="1800" dirty="0"/>
              <a:t>, ex: server, media </a:t>
            </a:r>
            <a:r>
              <a:rPr lang="en-ID" sz="1800" dirty="0" err="1"/>
              <a:t>penyimpanan</a:t>
            </a:r>
            <a:r>
              <a:rPr lang="en-ID" sz="1800" dirty="0"/>
              <a:t>, dan </a:t>
            </a:r>
            <a:r>
              <a:rPr lang="en-ID" sz="1800" dirty="0" err="1"/>
              <a:t>perangkat</a:t>
            </a:r>
            <a:r>
              <a:rPr lang="en-ID" sz="1800" dirty="0"/>
              <a:t> </a:t>
            </a:r>
            <a:r>
              <a:rPr lang="en-ID" sz="1800" dirty="0" err="1"/>
              <a:t>jaringan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Perangkat </a:t>
            </a:r>
            <a:r>
              <a:rPr lang="en-ID" sz="1800" dirty="0" err="1"/>
              <a:t>lunak</a:t>
            </a:r>
            <a:r>
              <a:rPr lang="en-ID" sz="1800" dirty="0"/>
              <a:t>, ex: </a:t>
            </a:r>
            <a:r>
              <a:rPr lang="en-ID" sz="1800" dirty="0" err="1"/>
              <a:t>sistem</a:t>
            </a:r>
            <a:r>
              <a:rPr lang="en-ID" sz="1800" dirty="0"/>
              <a:t> basis data (DBMS), </a:t>
            </a:r>
            <a:r>
              <a:rPr lang="en-ID" sz="1800" dirty="0" err="1"/>
              <a:t>sistem</a:t>
            </a:r>
            <a:r>
              <a:rPr lang="en-ID" sz="1800" dirty="0"/>
              <a:t> </a:t>
            </a:r>
            <a:r>
              <a:rPr lang="en-ID" sz="1800" dirty="0" err="1"/>
              <a:t>operasi</a:t>
            </a:r>
            <a:r>
              <a:rPr lang="en-ID" sz="1800" dirty="0"/>
              <a:t>, </a:t>
            </a:r>
            <a:r>
              <a:rPr lang="en-ID" sz="1800" dirty="0" err="1"/>
              <a:t>serta</a:t>
            </a:r>
            <a:r>
              <a:rPr lang="en-ID" sz="1800" dirty="0"/>
              <a:t> </a:t>
            </a:r>
            <a:r>
              <a:rPr lang="en-ID" sz="1800" dirty="0" err="1"/>
              <a:t>aplikasi</a:t>
            </a:r>
            <a:r>
              <a:rPr lang="en-ID" sz="1800" dirty="0"/>
              <a:t> yang </a:t>
            </a:r>
            <a:r>
              <a:rPr lang="en-ID" sz="1800" dirty="0" err="1"/>
              <a:t>digunakan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mengakses</a:t>
            </a:r>
            <a:r>
              <a:rPr lang="en-ID" sz="1800" dirty="0"/>
              <a:t> dan </a:t>
            </a:r>
            <a:r>
              <a:rPr lang="en-ID" sz="1800" dirty="0" err="1"/>
              <a:t>memproses</a:t>
            </a:r>
            <a:r>
              <a:rPr lang="en-ID" sz="1800" dirty="0"/>
              <a:t> data.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Pengguna</a:t>
            </a:r>
            <a:r>
              <a:rPr lang="en-ID" sz="1800" dirty="0"/>
              <a:t> </a:t>
            </a:r>
            <a:r>
              <a:rPr lang="en-ID" sz="1800" dirty="0" err="1"/>
              <a:t>merupakan</a:t>
            </a:r>
            <a:r>
              <a:rPr lang="en-ID" sz="1800" dirty="0"/>
              <a:t> </a:t>
            </a:r>
            <a:r>
              <a:rPr lang="en-ID" sz="1800" dirty="0" err="1"/>
              <a:t>pihak</a:t>
            </a:r>
            <a:r>
              <a:rPr lang="en-ID" sz="1800" dirty="0"/>
              <a:t> yang </a:t>
            </a:r>
            <a:r>
              <a:rPr lang="en-ID" sz="1800" dirty="0" err="1"/>
              <a:t>berinteraksi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sistem</a:t>
            </a:r>
            <a:r>
              <a:rPr lang="en-ID" sz="1800" dirty="0"/>
              <a:t> basis data, </a:t>
            </a:r>
            <a:r>
              <a:rPr lang="en-ID" sz="1800" dirty="0" err="1"/>
              <a:t>baik</a:t>
            </a:r>
            <a:r>
              <a:rPr lang="en-ID" sz="1800" dirty="0"/>
              <a:t> </a:t>
            </a:r>
            <a:r>
              <a:rPr lang="en-ID" sz="1800" dirty="0" err="1"/>
              <a:t>sebagai</a:t>
            </a:r>
            <a:r>
              <a:rPr lang="en-ID" sz="1800" dirty="0"/>
              <a:t> </a:t>
            </a:r>
            <a:r>
              <a:rPr lang="en-ID" sz="1800" dirty="0" err="1"/>
              <a:t>pengembang</a:t>
            </a:r>
            <a:r>
              <a:rPr lang="en-ID" sz="1800" dirty="0"/>
              <a:t>, administrator, </a:t>
            </a:r>
            <a:r>
              <a:rPr lang="en-ID" sz="1800" dirty="0" err="1"/>
              <a:t>maupun</a:t>
            </a:r>
            <a:r>
              <a:rPr lang="en-ID" sz="1800" dirty="0"/>
              <a:t> </a:t>
            </a:r>
            <a:r>
              <a:rPr lang="en-ID" sz="1800" dirty="0" err="1"/>
              <a:t>pengguna</a:t>
            </a:r>
            <a:r>
              <a:rPr lang="en-ID" sz="1800" dirty="0"/>
              <a:t> </a:t>
            </a:r>
            <a:r>
              <a:rPr lang="en-ID" sz="1800" dirty="0" err="1"/>
              <a:t>akhir</a:t>
            </a:r>
            <a:r>
              <a:rPr lang="en-ID" sz="1800" dirty="0"/>
              <a:t> yang </a:t>
            </a:r>
            <a:r>
              <a:rPr lang="en-ID" sz="1800" dirty="0" err="1"/>
              <a:t>memanfaatkan</a:t>
            </a:r>
            <a:r>
              <a:rPr lang="en-ID" sz="1800" dirty="0"/>
              <a:t> data.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C4A5CB-986D-9D2F-4689-3AE991303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125962"/>
            <a:ext cx="3293056" cy="237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309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5BD5901F-BCE8-190E-F217-AE790F5F0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38767624-09B6-44B6-37AC-354482FF3C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KOMPONEN LINGKUNGAN BASIS DATA (1) 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376E8BF5-EC02-2060-12C6-323E22B88E1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25961"/>
            <a:ext cx="8028584" cy="3739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2400" dirty="0"/>
          </a:p>
        </p:txBody>
      </p:sp>
      <p:pic>
        <p:nvPicPr>
          <p:cNvPr id="2" name="Picture 3" descr="CAP1">
            <a:extLst>
              <a:ext uri="{FF2B5EF4-FFF2-40B4-BE49-F238E27FC236}">
                <a16:creationId xmlns:a16="http://schemas.microsoft.com/office/drawing/2014/main" id="{1912ED64-E77A-CDDE-8BDE-9AB8903F1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0001" y="1030082"/>
            <a:ext cx="5915578" cy="35603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659540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12CFD011-7614-2552-F3BA-23543904A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5A47401C-EAE0-2DAA-DD23-B29402E3E9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KOMPONEN LINGKUNGAN BASIS DATA (2)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41E76D02-A3D4-1F56-CD5B-5A6DC42137A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25961"/>
            <a:ext cx="8028584" cy="3739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800" dirty="0"/>
              <a:t>CASE Tools (</a:t>
            </a:r>
            <a:r>
              <a:rPr lang="en-US" sz="1800" i="1" dirty="0"/>
              <a:t>Computer-Aided Software Engineering</a:t>
            </a:r>
            <a:r>
              <a:rPr lang="en-US" sz="1800" dirty="0"/>
              <a:t>): </a:t>
            </a:r>
            <a:r>
              <a:rPr lang="en-ID" sz="1800" dirty="0" err="1"/>
              <a:t>mendukung</a:t>
            </a:r>
            <a:r>
              <a:rPr lang="en-ID" sz="1800" dirty="0"/>
              <a:t> proses </a:t>
            </a:r>
            <a:r>
              <a:rPr lang="en-ID" sz="1800" dirty="0" err="1"/>
              <a:t>perancangan</a:t>
            </a:r>
            <a:r>
              <a:rPr lang="en-ID" sz="1800" dirty="0"/>
              <a:t>, </a:t>
            </a:r>
            <a:r>
              <a:rPr lang="en-ID" sz="1800" dirty="0" err="1"/>
              <a:t>pengembangan</a:t>
            </a:r>
            <a:r>
              <a:rPr lang="en-ID" sz="1800" dirty="0"/>
              <a:t>, dan </a:t>
            </a:r>
            <a:r>
              <a:rPr lang="en-ID" sz="1800" dirty="0" err="1"/>
              <a:t>pemeliharaan</a:t>
            </a:r>
            <a:r>
              <a:rPr lang="en-ID" sz="1800" dirty="0"/>
              <a:t> 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Repository: </a:t>
            </a:r>
            <a:r>
              <a:rPr lang="fi-FI" sz="1800" dirty="0"/>
              <a:t>tempat penyimpanan terpusat untuk </a:t>
            </a:r>
            <a:r>
              <a:rPr lang="fi-FI" sz="1800" b="1" dirty="0"/>
              <a:t>metadata.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Database Management System (DBMS): </a:t>
            </a:r>
            <a:r>
              <a:rPr lang="en-ID" sz="1800" dirty="0" err="1"/>
              <a:t>mengelola</a:t>
            </a:r>
            <a:r>
              <a:rPr lang="en-ID" sz="1800" dirty="0"/>
              <a:t> basis data.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Database: </a:t>
            </a:r>
            <a:r>
              <a:rPr lang="en-ID" sz="1800" dirty="0" err="1"/>
              <a:t>tempat</a:t>
            </a:r>
            <a:r>
              <a:rPr lang="en-ID" sz="1800" dirty="0"/>
              <a:t> </a:t>
            </a:r>
            <a:r>
              <a:rPr lang="en-ID" sz="1800" dirty="0" err="1"/>
              <a:t>penyimpanan</a:t>
            </a:r>
            <a:r>
              <a:rPr lang="en-ID" sz="1800" dirty="0"/>
              <a:t> data.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Program </a:t>
            </a:r>
            <a:r>
              <a:rPr lang="en-ID" sz="1800" dirty="0" err="1"/>
              <a:t>aplikasi</a:t>
            </a:r>
            <a:r>
              <a:rPr lang="en-ID" sz="1800" dirty="0"/>
              <a:t>: </a:t>
            </a:r>
            <a:r>
              <a:rPr lang="en-ID" sz="1800" dirty="0" err="1"/>
              <a:t>perangkat</a:t>
            </a:r>
            <a:r>
              <a:rPr lang="en-ID" sz="1800" dirty="0"/>
              <a:t> </a:t>
            </a:r>
            <a:r>
              <a:rPr lang="en-ID" sz="1800" dirty="0" err="1"/>
              <a:t>lunak</a:t>
            </a:r>
            <a:r>
              <a:rPr lang="en-ID" sz="1800" dirty="0"/>
              <a:t> yang </a:t>
            </a:r>
            <a:r>
              <a:rPr lang="en-ID" sz="1800" dirty="0" err="1"/>
              <a:t>menggunakan</a:t>
            </a:r>
            <a:r>
              <a:rPr lang="en-ID" sz="1800" dirty="0"/>
              <a:t> data </a:t>
            </a:r>
            <a:r>
              <a:rPr lang="en-ID" sz="1800" dirty="0" err="1"/>
              <a:t>dalam</a:t>
            </a:r>
            <a:r>
              <a:rPr lang="en-ID" sz="1800" dirty="0"/>
              <a:t> basis data.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Antarmuka</a:t>
            </a:r>
            <a:r>
              <a:rPr lang="en-ID" sz="1800" dirty="0"/>
              <a:t> </a:t>
            </a:r>
            <a:r>
              <a:rPr lang="en-ID" sz="1800" dirty="0" err="1"/>
              <a:t>pengguna</a:t>
            </a:r>
            <a:r>
              <a:rPr lang="en-ID" sz="1800" dirty="0"/>
              <a:t>: </a:t>
            </a:r>
            <a:r>
              <a:rPr lang="it-IT" sz="1800" dirty="0"/>
              <a:t>sarana interaksi antara pengguna dan sistem.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Administrator data: orang yang </a:t>
            </a:r>
            <a:r>
              <a:rPr lang="en-ID" sz="1800" dirty="0" err="1"/>
              <a:t>bertanggung</a:t>
            </a:r>
            <a:r>
              <a:rPr lang="en-ID" sz="1800" dirty="0"/>
              <a:t> </a:t>
            </a:r>
            <a:r>
              <a:rPr lang="en-ID" sz="1800" dirty="0" err="1"/>
              <a:t>jawab</a:t>
            </a:r>
            <a:r>
              <a:rPr lang="en-ID" sz="1800" dirty="0"/>
              <a:t> </a:t>
            </a:r>
            <a:r>
              <a:rPr lang="en-ID" sz="1800" dirty="0" err="1"/>
              <a:t>terhadap</a:t>
            </a:r>
            <a:r>
              <a:rPr lang="en-ID" sz="1800" dirty="0"/>
              <a:t> </a:t>
            </a:r>
            <a:r>
              <a:rPr lang="en-ID" sz="1800" dirty="0" err="1"/>
              <a:t>pemeliharaan</a:t>
            </a:r>
            <a:r>
              <a:rPr lang="en-ID" sz="1800" dirty="0"/>
              <a:t>, </a:t>
            </a:r>
            <a:r>
              <a:rPr lang="en-ID" sz="1800" dirty="0" err="1"/>
              <a:t>keamanan</a:t>
            </a:r>
            <a:r>
              <a:rPr lang="en-ID" sz="1800" dirty="0"/>
              <a:t>, </a:t>
            </a:r>
            <a:r>
              <a:rPr lang="en-ID" sz="1800" dirty="0" err="1"/>
              <a:t>integritas</a:t>
            </a:r>
            <a:r>
              <a:rPr lang="en-ID" sz="1800" dirty="0"/>
              <a:t>, dan </a:t>
            </a:r>
            <a:r>
              <a:rPr lang="en-ID" sz="1800" dirty="0" err="1"/>
              <a:t>kinerja</a:t>
            </a:r>
            <a:r>
              <a:rPr lang="en-ID" sz="1800" dirty="0"/>
              <a:t> basis data.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Pengembang</a:t>
            </a:r>
            <a:r>
              <a:rPr lang="en-ID" sz="1800" dirty="0"/>
              <a:t> </a:t>
            </a:r>
            <a:r>
              <a:rPr lang="en-ID" sz="1800" dirty="0" err="1"/>
              <a:t>sistem</a:t>
            </a:r>
            <a:r>
              <a:rPr lang="en-ID" sz="1800" dirty="0"/>
              <a:t>: orang yang </a:t>
            </a:r>
            <a:r>
              <a:rPr lang="en-ID" sz="1800" dirty="0" err="1"/>
              <a:t>bertugas</a:t>
            </a:r>
            <a:r>
              <a:rPr lang="en-ID" sz="1800" dirty="0"/>
              <a:t> </a:t>
            </a:r>
            <a:r>
              <a:rPr lang="en-ID" sz="1800" dirty="0" err="1"/>
              <a:t>merancang</a:t>
            </a:r>
            <a:r>
              <a:rPr lang="en-ID" sz="1800" dirty="0"/>
              <a:t> </a:t>
            </a:r>
            <a:r>
              <a:rPr lang="en-ID" sz="1800" dirty="0" err="1"/>
              <a:t>struktur</a:t>
            </a:r>
            <a:r>
              <a:rPr lang="en-ID" sz="1800" dirty="0"/>
              <a:t> basis data </a:t>
            </a:r>
            <a:r>
              <a:rPr lang="en-ID" sz="1800" dirty="0" err="1"/>
              <a:t>serta</a:t>
            </a:r>
            <a:r>
              <a:rPr lang="en-ID" sz="1800" dirty="0"/>
              <a:t> </a:t>
            </a:r>
            <a:r>
              <a:rPr lang="en-ID" sz="1800" dirty="0" err="1"/>
              <a:t>mengembangkan</a:t>
            </a:r>
            <a:r>
              <a:rPr lang="en-ID" sz="1800" dirty="0"/>
              <a:t> </a:t>
            </a:r>
            <a:r>
              <a:rPr lang="en-ID" sz="1800" dirty="0" err="1"/>
              <a:t>perangkat</a:t>
            </a:r>
            <a:r>
              <a:rPr lang="en-ID" sz="1800" dirty="0"/>
              <a:t> </a:t>
            </a:r>
            <a:r>
              <a:rPr lang="en-ID" sz="1800" dirty="0" err="1"/>
              <a:t>lunak</a:t>
            </a:r>
            <a:r>
              <a:rPr lang="en-ID" sz="1800" dirty="0"/>
              <a:t> </a:t>
            </a:r>
            <a:r>
              <a:rPr lang="en-ID" sz="1800" dirty="0" err="1"/>
              <a:t>aplikasi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Pengguna</a:t>
            </a:r>
            <a:r>
              <a:rPr lang="en-ID" sz="1800" dirty="0"/>
              <a:t> </a:t>
            </a:r>
            <a:r>
              <a:rPr lang="en-ID" sz="1800" dirty="0" err="1"/>
              <a:t>akhir</a:t>
            </a:r>
            <a:r>
              <a:rPr lang="en-ID" sz="1800" dirty="0"/>
              <a:t>: orang yang </a:t>
            </a:r>
            <a:r>
              <a:rPr lang="en-ID" sz="1800" dirty="0" err="1"/>
              <a:t>menggunakan</a:t>
            </a:r>
            <a:r>
              <a:rPr lang="en-ID" sz="1800" dirty="0"/>
              <a:t> </a:t>
            </a:r>
            <a:r>
              <a:rPr lang="en-ID" sz="1800" dirty="0" err="1"/>
              <a:t>aplikasi</a:t>
            </a:r>
            <a:r>
              <a:rPr lang="en-ID" sz="1800" dirty="0"/>
              <a:t> dan basis data.</a:t>
            </a:r>
          </a:p>
        </p:txBody>
      </p:sp>
    </p:spTree>
    <p:extLst>
      <p:ext uri="{BB962C8B-B14F-4D97-AF65-F5344CB8AC3E}">
        <p14:creationId xmlns:p14="http://schemas.microsoft.com/office/powerpoint/2010/main" val="22726115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90476869-0457-46E9-5B1D-717DE5E50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A4307D3C-860B-138C-6F52-23E2E396EB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MEKANISME INTERNAL SISTEM BASIS DATA 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191DF40A-F7E5-153E-10B1-8E5A5245FD3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25961"/>
            <a:ext cx="3852000" cy="3739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Komponen</a:t>
            </a:r>
            <a:r>
              <a:rPr lang="en-ID" sz="1800" dirty="0"/>
              <a:t> internal </a:t>
            </a:r>
            <a:r>
              <a:rPr lang="en-ID" sz="1800" dirty="0" err="1"/>
              <a:t>ini</a:t>
            </a:r>
            <a:r>
              <a:rPr lang="en-ID" sz="1800" dirty="0"/>
              <a:t> </a:t>
            </a:r>
            <a:r>
              <a:rPr lang="en-ID" sz="1800" dirty="0" err="1"/>
              <a:t>bertanggung</a:t>
            </a:r>
            <a:r>
              <a:rPr lang="en-ID" sz="1800" dirty="0"/>
              <a:t> </a:t>
            </a:r>
            <a:r>
              <a:rPr lang="en-ID" sz="1800" dirty="0" err="1"/>
              <a:t>jawab</a:t>
            </a:r>
            <a:r>
              <a:rPr lang="en-ID" sz="1800" dirty="0"/>
              <a:t> </a:t>
            </a:r>
            <a:r>
              <a:rPr lang="en-ID" sz="1800" dirty="0" err="1"/>
              <a:t>atas</a:t>
            </a:r>
            <a:r>
              <a:rPr lang="en-ID" sz="1800" dirty="0"/>
              <a:t> </a:t>
            </a:r>
            <a:r>
              <a:rPr lang="en-ID" sz="1800" dirty="0" err="1"/>
              <a:t>penyimpanan</a:t>
            </a:r>
            <a:r>
              <a:rPr lang="en-ID" sz="1800" dirty="0"/>
              <a:t> data, </a:t>
            </a:r>
            <a:r>
              <a:rPr lang="en-ID" sz="1800" dirty="0" err="1"/>
              <a:t>pemrosesan</a:t>
            </a:r>
            <a:r>
              <a:rPr lang="en-ID" sz="1800" dirty="0"/>
              <a:t> </a:t>
            </a:r>
            <a:r>
              <a:rPr lang="en-ID" sz="1800" dirty="0" err="1"/>
              <a:t>kueri</a:t>
            </a:r>
            <a:r>
              <a:rPr lang="en-ID" sz="1800" dirty="0"/>
              <a:t>, </a:t>
            </a:r>
            <a:r>
              <a:rPr lang="en-ID" sz="1800" dirty="0" err="1"/>
              <a:t>pengelolaan</a:t>
            </a:r>
            <a:r>
              <a:rPr lang="en-ID" sz="1800" dirty="0"/>
              <a:t> </a:t>
            </a:r>
            <a:r>
              <a:rPr lang="en-ID" sz="1800" dirty="0" err="1"/>
              <a:t>transaksi</a:t>
            </a:r>
            <a:r>
              <a:rPr lang="en-ID" sz="1800" dirty="0"/>
              <a:t>, </a:t>
            </a:r>
            <a:r>
              <a:rPr lang="en-ID" sz="1800" dirty="0" err="1"/>
              <a:t>serta</a:t>
            </a:r>
            <a:r>
              <a:rPr lang="en-ID" sz="1800" dirty="0"/>
              <a:t> </a:t>
            </a:r>
            <a:r>
              <a:rPr lang="en-ID" sz="1800" dirty="0" err="1"/>
              <a:t>pengendalian</a:t>
            </a:r>
            <a:r>
              <a:rPr lang="en-ID" sz="1800" dirty="0"/>
              <a:t> </a:t>
            </a:r>
            <a:r>
              <a:rPr lang="en-ID" sz="1800" dirty="0" err="1"/>
              <a:t>akses</a:t>
            </a:r>
            <a:r>
              <a:rPr lang="en-ID" sz="1800" dirty="0"/>
              <a:t> dan </a:t>
            </a:r>
            <a:r>
              <a:rPr lang="en-ID" sz="1800" dirty="0" err="1"/>
              <a:t>konsistensi</a:t>
            </a:r>
            <a:r>
              <a:rPr lang="en-ID" sz="1800" dirty="0"/>
              <a:t> data.</a:t>
            </a:r>
          </a:p>
        </p:txBody>
      </p:sp>
      <p:pic>
        <p:nvPicPr>
          <p:cNvPr id="2" name="Picture 14">
            <a:extLst>
              <a:ext uri="{FF2B5EF4-FFF2-40B4-BE49-F238E27FC236}">
                <a16:creationId xmlns:a16="http://schemas.microsoft.com/office/drawing/2014/main" id="{91F2816F-E3BA-6947-EAE9-30F3D4FF0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33299" y="1125960"/>
            <a:ext cx="2599905" cy="37393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287891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0C1EE13C-55ED-038D-87C0-5E7315BCD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368E9845-E71B-90E7-FFEF-3971E10D88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MANAJEMEN PENYIMPANAN 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49952730-BCF7-D906-7FD9-6F065549D0B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25961"/>
            <a:ext cx="7546670" cy="3739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i="1" dirty="0"/>
              <a:t>Storage manager</a:t>
            </a:r>
            <a:r>
              <a:rPr lang="en-ID" sz="1800" dirty="0"/>
              <a:t> </a:t>
            </a:r>
            <a:r>
              <a:rPr lang="en-ID" sz="1800" dirty="0" err="1"/>
              <a:t>merupakan</a:t>
            </a:r>
            <a:r>
              <a:rPr lang="en-ID" sz="1800" dirty="0"/>
              <a:t> </a:t>
            </a:r>
            <a:r>
              <a:rPr lang="en-ID" sz="1800" dirty="0" err="1"/>
              <a:t>modul</a:t>
            </a:r>
            <a:r>
              <a:rPr lang="en-ID" sz="1800" dirty="0"/>
              <a:t> program </a:t>
            </a:r>
            <a:r>
              <a:rPr lang="en-ID" sz="1800" dirty="0" err="1"/>
              <a:t>dalam</a:t>
            </a:r>
            <a:r>
              <a:rPr lang="en-ID" sz="1800" dirty="0"/>
              <a:t> DBMS yang </a:t>
            </a:r>
            <a:r>
              <a:rPr lang="en-ID" sz="1800" dirty="0" err="1"/>
              <a:t>menyediakan</a:t>
            </a:r>
            <a:r>
              <a:rPr lang="en-ID" sz="1800" dirty="0"/>
              <a:t> </a:t>
            </a:r>
            <a:r>
              <a:rPr lang="en-ID" sz="1800" dirty="0" err="1"/>
              <a:t>antarmuka</a:t>
            </a:r>
            <a:r>
              <a:rPr lang="en-ID" sz="1800" dirty="0"/>
              <a:t> </a:t>
            </a:r>
            <a:r>
              <a:rPr lang="en-ID" sz="1800" dirty="0" err="1"/>
              <a:t>antara</a:t>
            </a:r>
            <a:r>
              <a:rPr lang="en-ID" sz="1800" dirty="0"/>
              <a:t> data </a:t>
            </a:r>
            <a:r>
              <a:rPr lang="en-ID" sz="1800" dirty="0" err="1"/>
              <a:t>tingkat</a:t>
            </a:r>
            <a:r>
              <a:rPr lang="en-ID" sz="1800" dirty="0"/>
              <a:t> </a:t>
            </a:r>
            <a:r>
              <a:rPr lang="en-ID" sz="1800" dirty="0" err="1"/>
              <a:t>rendah</a:t>
            </a:r>
            <a:r>
              <a:rPr lang="en-ID" sz="1800" dirty="0"/>
              <a:t> yang </a:t>
            </a:r>
            <a:r>
              <a:rPr lang="en-ID" sz="1800" dirty="0" err="1"/>
              <a:t>tersimpan</a:t>
            </a:r>
            <a:r>
              <a:rPr lang="en-ID" sz="1800" dirty="0"/>
              <a:t> di media </a:t>
            </a:r>
            <a:r>
              <a:rPr lang="en-ID" sz="1800" dirty="0" err="1"/>
              <a:t>penyimpanan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program </a:t>
            </a:r>
            <a:r>
              <a:rPr lang="en-ID" sz="1800" dirty="0" err="1"/>
              <a:t>aplikasi</a:t>
            </a:r>
            <a:r>
              <a:rPr lang="en-ID" sz="1800" dirty="0"/>
              <a:t> </a:t>
            </a:r>
            <a:r>
              <a:rPr lang="en-ID" sz="1800" dirty="0" err="1"/>
              <a:t>serta</a:t>
            </a:r>
            <a:r>
              <a:rPr lang="en-ID" sz="1800" dirty="0"/>
              <a:t> </a:t>
            </a:r>
            <a:r>
              <a:rPr lang="en-ID" sz="1800" dirty="0" err="1"/>
              <a:t>kueri</a:t>
            </a:r>
            <a:r>
              <a:rPr lang="en-ID" sz="1800" dirty="0"/>
              <a:t> yang </a:t>
            </a:r>
            <a:r>
              <a:rPr lang="en-ID" sz="1800" dirty="0" err="1"/>
              <a:t>diajukan</a:t>
            </a:r>
            <a:r>
              <a:rPr lang="en-ID" sz="1800" dirty="0"/>
              <a:t> </a:t>
            </a:r>
            <a:r>
              <a:rPr lang="en-ID" sz="1800" dirty="0" err="1"/>
              <a:t>ke</a:t>
            </a:r>
            <a:r>
              <a:rPr lang="en-ID" sz="1800" dirty="0"/>
              <a:t> </a:t>
            </a:r>
            <a:r>
              <a:rPr lang="en-ID" sz="1800" dirty="0" err="1"/>
              <a:t>sistem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i="1" dirty="0"/>
              <a:t>Storage manager</a:t>
            </a:r>
            <a:r>
              <a:rPr lang="en-ID" sz="1800" dirty="0"/>
              <a:t> </a:t>
            </a:r>
            <a:r>
              <a:rPr lang="en-ID" sz="1800" dirty="0" err="1"/>
              <a:t>bertugas</a:t>
            </a:r>
            <a:r>
              <a:rPr lang="en-ID" sz="1800" dirty="0"/>
              <a:t> </a:t>
            </a:r>
            <a:r>
              <a:rPr lang="en-ID" sz="1800" dirty="0" err="1"/>
              <a:t>mengelola</a:t>
            </a:r>
            <a:r>
              <a:rPr lang="en-ID" sz="1800" dirty="0"/>
              <a:t> </a:t>
            </a:r>
            <a:r>
              <a:rPr lang="en-ID" sz="1800" dirty="0" err="1"/>
              <a:t>penyimpanan</a:t>
            </a:r>
            <a:r>
              <a:rPr lang="en-ID" sz="1800" dirty="0"/>
              <a:t> data agar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diakses</a:t>
            </a:r>
            <a:r>
              <a:rPr lang="en-ID" sz="1800" dirty="0"/>
              <a:t> dan </a:t>
            </a:r>
            <a:r>
              <a:rPr lang="en-ID" sz="1800" dirty="0" err="1"/>
              <a:t>dimodifikasi</a:t>
            </a:r>
            <a:r>
              <a:rPr lang="en-ID" sz="1800" dirty="0"/>
              <a:t>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efisien</a:t>
            </a:r>
            <a:r>
              <a:rPr lang="en-ID" sz="1800" dirty="0"/>
              <a:t> oleh </a:t>
            </a:r>
            <a:r>
              <a:rPr lang="en-ID" sz="1800" dirty="0" err="1"/>
              <a:t>sistem</a:t>
            </a:r>
            <a:r>
              <a:rPr lang="en-ID" sz="1800" dirty="0"/>
              <a:t> basis data.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Isu-isu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pengelolaan</a:t>
            </a:r>
            <a:r>
              <a:rPr lang="en-ID" sz="1800" dirty="0"/>
              <a:t> </a:t>
            </a:r>
            <a:r>
              <a:rPr lang="en-ID" sz="1800" dirty="0" err="1"/>
              <a:t>penyimpanan</a:t>
            </a:r>
            <a:r>
              <a:rPr lang="en-ID" sz="1800" dirty="0"/>
              <a:t>: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600" dirty="0" err="1"/>
              <a:t>Menentukan</a:t>
            </a:r>
            <a:r>
              <a:rPr lang="en-ID" sz="1600" dirty="0"/>
              <a:t> </a:t>
            </a:r>
            <a:r>
              <a:rPr lang="en-ID" sz="1600" dirty="0" err="1"/>
              <a:t>cara</a:t>
            </a:r>
            <a:r>
              <a:rPr lang="en-ID" sz="1600" dirty="0"/>
              <a:t> data </a:t>
            </a:r>
            <a:r>
              <a:rPr lang="en-ID" sz="1600" dirty="0" err="1"/>
              <a:t>diakses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media </a:t>
            </a:r>
            <a:r>
              <a:rPr lang="en-ID" sz="1600" dirty="0" err="1"/>
              <a:t>penyimpanan</a:t>
            </a:r>
            <a:r>
              <a:rPr lang="en-ID" sz="1600" dirty="0"/>
              <a:t> agar </a:t>
            </a:r>
            <a:r>
              <a:rPr lang="en-ID" sz="1600" dirty="0" err="1"/>
              <a:t>waktu</a:t>
            </a:r>
            <a:r>
              <a:rPr lang="en-ID" sz="1600" dirty="0"/>
              <a:t> </a:t>
            </a:r>
            <a:r>
              <a:rPr lang="en-ID" sz="1600" dirty="0" err="1"/>
              <a:t>akses</a:t>
            </a:r>
            <a:r>
              <a:rPr lang="en-ID" sz="1600" dirty="0"/>
              <a:t>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diminimalkan</a:t>
            </a:r>
            <a:r>
              <a:rPr lang="en-ID" sz="1600" dirty="0"/>
              <a:t> (storage access).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600" dirty="0" err="1"/>
              <a:t>Mengatur</a:t>
            </a:r>
            <a:r>
              <a:rPr lang="en-ID" sz="1600" dirty="0"/>
              <a:t> </a:t>
            </a:r>
            <a:r>
              <a:rPr lang="en-ID" sz="1600" dirty="0" err="1"/>
              <a:t>struktur</a:t>
            </a:r>
            <a:r>
              <a:rPr lang="en-ID" sz="1600" dirty="0"/>
              <a:t> dan </a:t>
            </a:r>
            <a:r>
              <a:rPr lang="en-ID" sz="1600" dirty="0" err="1"/>
              <a:t>penempatan</a:t>
            </a:r>
            <a:r>
              <a:rPr lang="en-ID" sz="1600" dirty="0"/>
              <a:t> data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berkas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mendukung</a:t>
            </a:r>
            <a:r>
              <a:rPr lang="en-ID" sz="1600" dirty="0"/>
              <a:t> </a:t>
            </a:r>
            <a:r>
              <a:rPr lang="en-ID" sz="1600" dirty="0" err="1"/>
              <a:t>efisiensi</a:t>
            </a:r>
            <a:r>
              <a:rPr lang="en-ID" sz="1600" dirty="0"/>
              <a:t> </a:t>
            </a:r>
            <a:r>
              <a:rPr lang="en-ID" sz="1600" dirty="0" err="1"/>
              <a:t>penyimpanan</a:t>
            </a:r>
            <a:r>
              <a:rPr lang="en-ID" sz="1600" dirty="0"/>
              <a:t> dan </a:t>
            </a:r>
            <a:r>
              <a:rPr lang="en-ID" sz="1600" dirty="0" err="1"/>
              <a:t>pengambilan</a:t>
            </a:r>
            <a:r>
              <a:rPr lang="en-ID" sz="1600" dirty="0"/>
              <a:t> data (file organization).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600" dirty="0"/>
              <a:t>Teknik yang </a:t>
            </a:r>
            <a:r>
              <a:rPr lang="en-ID" sz="1600" dirty="0" err="1"/>
              <a:t>digunakan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mempercepat</a:t>
            </a:r>
            <a:r>
              <a:rPr lang="en-ID" sz="1600" dirty="0"/>
              <a:t> </a:t>
            </a:r>
            <a:r>
              <a:rPr lang="en-ID" sz="1600" dirty="0" err="1"/>
              <a:t>pencarian</a:t>
            </a:r>
            <a:r>
              <a:rPr lang="en-ID" sz="1600" dirty="0"/>
              <a:t> dan </a:t>
            </a:r>
            <a:r>
              <a:rPr lang="en-ID" sz="1600" dirty="0" err="1"/>
              <a:t>pengambilan</a:t>
            </a:r>
            <a:r>
              <a:rPr lang="en-ID" sz="1600" dirty="0"/>
              <a:t> data </a:t>
            </a:r>
            <a:r>
              <a:rPr lang="en-ID" sz="1600" dirty="0" err="1"/>
              <a:t>dalam</a:t>
            </a:r>
            <a:r>
              <a:rPr lang="en-ID" sz="1600" dirty="0"/>
              <a:t> basis data (</a:t>
            </a:r>
            <a:r>
              <a:rPr lang="en-ID" sz="1600" dirty="0" err="1"/>
              <a:t>Indeks</a:t>
            </a:r>
            <a:r>
              <a:rPr lang="en-ID" sz="1600" dirty="0"/>
              <a:t> dan </a:t>
            </a:r>
            <a:r>
              <a:rPr lang="en-ID" sz="1600" i="1" dirty="0"/>
              <a:t>hashing</a:t>
            </a:r>
            <a:r>
              <a:rPr lang="en-ID" sz="1600" dirty="0"/>
              <a:t>).</a:t>
            </a: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</p:txBody>
      </p:sp>
    </p:spTree>
    <p:extLst>
      <p:ext uri="{BB962C8B-B14F-4D97-AF65-F5344CB8AC3E}">
        <p14:creationId xmlns:p14="http://schemas.microsoft.com/office/powerpoint/2010/main" val="30498998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1548EC31-B91E-1387-7F59-6511D1BDC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0BFA0596-5E90-4C6B-C519-89F13CD394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PEMROSESAN KUERI (1)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706830FF-DCE2-93F4-A48C-A1D8468A722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25961"/>
            <a:ext cx="3852000" cy="3739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i="1" dirty="0"/>
              <a:t>Parsing and translation: </a:t>
            </a:r>
            <a:r>
              <a:rPr lang="en-ID" sz="1800" dirty="0" err="1"/>
              <a:t>kueri</a:t>
            </a:r>
            <a:r>
              <a:rPr lang="en-ID" sz="1800" dirty="0"/>
              <a:t> </a:t>
            </a:r>
            <a:r>
              <a:rPr lang="en-ID" sz="1800" dirty="0" err="1"/>
              <a:t>diperiksa</a:t>
            </a:r>
            <a:r>
              <a:rPr lang="en-ID" sz="1800" dirty="0"/>
              <a:t> </a:t>
            </a:r>
            <a:r>
              <a:rPr lang="en-ID" sz="1800" dirty="0" err="1"/>
              <a:t>kebenaran</a:t>
            </a:r>
            <a:r>
              <a:rPr lang="en-ID" sz="1800" dirty="0"/>
              <a:t> </a:t>
            </a:r>
            <a:r>
              <a:rPr lang="en-ID" sz="1800" dirty="0" err="1"/>
              <a:t>sintaksnya</a:t>
            </a:r>
            <a:r>
              <a:rPr lang="en-ID" sz="1800" dirty="0"/>
              <a:t> dan </a:t>
            </a:r>
            <a:r>
              <a:rPr lang="en-ID" sz="1800" dirty="0" err="1"/>
              <a:t>diterjemahkan</a:t>
            </a:r>
            <a:r>
              <a:rPr lang="en-ID" sz="1800" dirty="0"/>
              <a:t> </a:t>
            </a:r>
            <a:r>
              <a:rPr lang="en-ID" sz="1800" dirty="0" err="1"/>
              <a:t>ke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bentuk</a:t>
            </a:r>
            <a:r>
              <a:rPr lang="en-ID" sz="1800" dirty="0"/>
              <a:t> internal yang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dipahami</a:t>
            </a:r>
            <a:r>
              <a:rPr lang="en-ID" sz="1800" dirty="0"/>
              <a:t> dan </a:t>
            </a:r>
            <a:r>
              <a:rPr lang="en-ID" sz="1800" dirty="0" err="1"/>
              <a:t>diproses</a:t>
            </a:r>
            <a:r>
              <a:rPr lang="en-ID" sz="1800" dirty="0"/>
              <a:t> oleh </a:t>
            </a:r>
            <a:r>
              <a:rPr lang="en-ID" sz="1800" dirty="0" err="1"/>
              <a:t>sistem</a:t>
            </a:r>
            <a:r>
              <a:rPr lang="en-ID" sz="1800" dirty="0"/>
              <a:t> basis data.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i="1" dirty="0"/>
              <a:t>Optimization</a:t>
            </a:r>
            <a:r>
              <a:rPr lang="en-ID" sz="1800" dirty="0"/>
              <a:t>: </a:t>
            </a:r>
            <a:r>
              <a:rPr lang="en-ID" sz="1800" dirty="0" err="1"/>
              <a:t>menentukan</a:t>
            </a:r>
            <a:r>
              <a:rPr lang="en-ID" sz="1800" dirty="0"/>
              <a:t> strategi </a:t>
            </a:r>
            <a:r>
              <a:rPr lang="en-ID" sz="1800" dirty="0" err="1"/>
              <a:t>terbaik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mengeksekusi</a:t>
            </a:r>
            <a:r>
              <a:rPr lang="en-ID" sz="1800" dirty="0"/>
              <a:t> </a:t>
            </a:r>
            <a:r>
              <a:rPr lang="en-ID" sz="1800" dirty="0" err="1"/>
              <a:t>kueri</a:t>
            </a:r>
            <a:r>
              <a:rPr lang="en-ID" sz="1800" dirty="0"/>
              <a:t> </a:t>
            </a:r>
            <a:r>
              <a:rPr lang="en-ID" sz="1800" dirty="0" err="1"/>
              <a:t>berdasarkan</a:t>
            </a:r>
            <a:r>
              <a:rPr lang="en-ID" sz="1800" dirty="0"/>
              <a:t> </a:t>
            </a:r>
            <a:r>
              <a:rPr lang="en-ID" sz="1800" dirty="0" err="1"/>
              <a:t>perkiraan</a:t>
            </a:r>
            <a:r>
              <a:rPr lang="en-ID" sz="1800" dirty="0"/>
              <a:t> </a:t>
            </a:r>
            <a:r>
              <a:rPr lang="en-ID" sz="1800" dirty="0" err="1"/>
              <a:t>biaya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i="1" dirty="0"/>
              <a:t>Evaluation</a:t>
            </a:r>
            <a:r>
              <a:rPr lang="en-ID" sz="1800" dirty="0"/>
              <a:t>: </a:t>
            </a:r>
            <a:r>
              <a:rPr lang="en-ID" sz="1800" dirty="0" err="1"/>
              <a:t>kueri</a:t>
            </a:r>
            <a:r>
              <a:rPr lang="en-ID" sz="1800" dirty="0"/>
              <a:t> yang </a:t>
            </a:r>
            <a:r>
              <a:rPr lang="en-ID" sz="1800" dirty="0" err="1"/>
              <a:t>dijalankan</a:t>
            </a:r>
            <a:r>
              <a:rPr lang="en-ID" sz="1800" dirty="0"/>
              <a:t>, </a:t>
            </a:r>
            <a:r>
              <a:rPr lang="en-ID" sz="1800" dirty="0" err="1"/>
              <a:t>hasilnya</a:t>
            </a:r>
            <a:r>
              <a:rPr lang="en-ID" sz="1800" dirty="0"/>
              <a:t> </a:t>
            </a:r>
            <a:r>
              <a:rPr lang="en-ID" sz="1800" dirty="0" err="1"/>
              <a:t>dikembalikan</a:t>
            </a:r>
            <a:r>
              <a:rPr lang="en-ID" sz="1800" dirty="0"/>
              <a:t> </a:t>
            </a:r>
            <a:r>
              <a:rPr lang="en-ID" sz="1800" dirty="0" err="1"/>
              <a:t>kepada</a:t>
            </a:r>
            <a:r>
              <a:rPr lang="en-ID" sz="1800" dirty="0"/>
              <a:t> </a:t>
            </a:r>
            <a:r>
              <a:rPr lang="en-ID" sz="1800" dirty="0" err="1"/>
              <a:t>pengguna</a:t>
            </a:r>
            <a:r>
              <a:rPr lang="en-ID" sz="1800" dirty="0"/>
              <a:t>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aplikasi</a:t>
            </a:r>
            <a:r>
              <a:rPr lang="en-ID" sz="18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828D32-3E9B-FDE3-60F1-A2AD9384A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631" y="1302412"/>
            <a:ext cx="4293600" cy="253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479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8BF96AA0-4510-C031-F719-8F4668EE9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7D7D0EE7-483E-A8A6-DF89-EC40DE6DC3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PEMROSESAN KUERI (2)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D5352430-DC60-D7A7-4B07-A3DE83C776D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125961"/>
            <a:ext cx="7703999" cy="3739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Satu </a:t>
            </a:r>
            <a:r>
              <a:rPr lang="en-ID" sz="1800" dirty="0" err="1"/>
              <a:t>kueri</a:t>
            </a:r>
            <a:r>
              <a:rPr lang="en-ID" sz="1800" dirty="0"/>
              <a:t> yang </a:t>
            </a:r>
            <a:r>
              <a:rPr lang="en-ID" sz="1800" dirty="0" err="1"/>
              <a:t>sama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dieksekusi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beberapa</a:t>
            </a:r>
            <a:r>
              <a:rPr lang="en-ID" sz="1800" dirty="0"/>
              <a:t> </a:t>
            </a:r>
            <a:r>
              <a:rPr lang="en-ID" sz="1800" dirty="0" err="1"/>
              <a:t>cara</a:t>
            </a:r>
            <a:r>
              <a:rPr lang="en-ID" sz="1800" dirty="0"/>
              <a:t>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rencana</a:t>
            </a:r>
            <a:r>
              <a:rPr lang="en-ID" sz="1800" dirty="0"/>
              <a:t> </a:t>
            </a:r>
            <a:r>
              <a:rPr lang="en-ID" sz="1800" dirty="0" err="1"/>
              <a:t>eksekusi</a:t>
            </a:r>
            <a:r>
              <a:rPr lang="en-ID" sz="1800" dirty="0"/>
              <a:t>: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Kueri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ditulis</a:t>
            </a:r>
            <a:r>
              <a:rPr lang="en-ID" sz="1800" dirty="0"/>
              <a:t> </a:t>
            </a:r>
            <a:r>
              <a:rPr lang="en-ID" sz="1800" dirty="0" err="1"/>
              <a:t>ulang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bentuk</a:t>
            </a:r>
            <a:r>
              <a:rPr lang="en-ID" sz="1800" dirty="0"/>
              <a:t> </a:t>
            </a:r>
            <a:r>
              <a:rPr lang="en-ID" sz="1800" dirty="0" err="1"/>
              <a:t>ekspresi</a:t>
            </a:r>
            <a:r>
              <a:rPr lang="en-ID" sz="1800" dirty="0"/>
              <a:t> lain yang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logis</a:t>
            </a:r>
            <a:r>
              <a:rPr lang="en-ID" sz="1800" dirty="0"/>
              <a:t> </a:t>
            </a:r>
            <a:r>
              <a:rPr lang="en-ID" sz="1800" dirty="0" err="1"/>
              <a:t>setara</a:t>
            </a:r>
            <a:r>
              <a:rPr lang="en-ID" sz="18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Setiap</a:t>
            </a:r>
            <a:r>
              <a:rPr lang="en-ID" sz="1800" dirty="0"/>
              <a:t> </a:t>
            </a:r>
            <a:r>
              <a:rPr lang="en-ID" sz="1800" dirty="0" err="1"/>
              <a:t>operasi</a:t>
            </a:r>
            <a:r>
              <a:rPr lang="en-ID" sz="1800" dirty="0"/>
              <a:t> basis data, </a:t>
            </a:r>
            <a:r>
              <a:rPr lang="en-ID" sz="1800" dirty="0" err="1"/>
              <a:t>seperti</a:t>
            </a:r>
            <a:r>
              <a:rPr lang="en-ID" sz="1800" dirty="0"/>
              <a:t> </a:t>
            </a:r>
            <a:r>
              <a:rPr lang="en-ID" sz="1800" dirty="0" err="1"/>
              <a:t>seleksi</a:t>
            </a:r>
            <a:r>
              <a:rPr lang="en-ID" sz="1800" dirty="0"/>
              <a:t>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penggabungan</a:t>
            </a:r>
            <a:r>
              <a:rPr lang="en-ID" sz="1800" dirty="0"/>
              <a:t> </a:t>
            </a:r>
            <a:r>
              <a:rPr lang="en-ID" sz="1800" dirty="0" err="1"/>
              <a:t>tabel</a:t>
            </a:r>
            <a:r>
              <a:rPr lang="en-ID" sz="1800" dirty="0"/>
              <a:t>,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dieksekusi</a:t>
            </a:r>
            <a:r>
              <a:rPr lang="en-ID" sz="1800" dirty="0"/>
              <a:t> </a:t>
            </a:r>
            <a:r>
              <a:rPr lang="en-ID" sz="1800" dirty="0" err="1"/>
              <a:t>menggunakan</a:t>
            </a:r>
            <a:r>
              <a:rPr lang="en-ID" sz="1800" dirty="0"/>
              <a:t> </a:t>
            </a:r>
            <a:r>
              <a:rPr lang="en-ID" sz="1800" dirty="0" err="1"/>
              <a:t>berbagai</a:t>
            </a:r>
            <a:r>
              <a:rPr lang="en-ID" sz="1800" dirty="0"/>
              <a:t> </a:t>
            </a:r>
            <a:r>
              <a:rPr lang="en-ID" sz="1800" dirty="0" err="1"/>
              <a:t>algoritma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Pemilihan</a:t>
            </a:r>
            <a:r>
              <a:rPr lang="en-ID" sz="1800" dirty="0"/>
              <a:t> </a:t>
            </a:r>
            <a:r>
              <a:rPr lang="en-ID" sz="1800" dirty="0" err="1"/>
              <a:t>cara</a:t>
            </a:r>
            <a:r>
              <a:rPr lang="en-ID" sz="1800" dirty="0"/>
              <a:t> </a:t>
            </a:r>
            <a:r>
              <a:rPr lang="en-ID" sz="1800" dirty="0" err="1"/>
              <a:t>eksekusi</a:t>
            </a:r>
            <a:r>
              <a:rPr lang="en-ID" sz="1800" dirty="0"/>
              <a:t> yang </a:t>
            </a:r>
            <a:r>
              <a:rPr lang="en-ID" sz="1800" dirty="0" err="1"/>
              <a:t>kurang</a:t>
            </a:r>
            <a:r>
              <a:rPr lang="en-ID" sz="1800" dirty="0"/>
              <a:t> </a:t>
            </a:r>
            <a:r>
              <a:rPr lang="en-ID" sz="1800" dirty="0" err="1"/>
              <a:t>tepat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menyebabkan</a:t>
            </a:r>
            <a:r>
              <a:rPr lang="en-ID" sz="1800" dirty="0"/>
              <a:t> </a:t>
            </a:r>
            <a:r>
              <a:rPr lang="en-ID" sz="1800" dirty="0" err="1"/>
              <a:t>waktu</a:t>
            </a:r>
            <a:r>
              <a:rPr lang="en-ID" sz="1800" dirty="0"/>
              <a:t> dan </a:t>
            </a:r>
            <a:r>
              <a:rPr lang="en-ID" sz="1800" dirty="0" err="1"/>
              <a:t>penggunaan</a:t>
            </a:r>
            <a:r>
              <a:rPr lang="en-ID" sz="1800" dirty="0"/>
              <a:t> </a:t>
            </a:r>
            <a:r>
              <a:rPr lang="en-ID" sz="1800" dirty="0" err="1"/>
              <a:t>sumber</a:t>
            </a:r>
            <a:r>
              <a:rPr lang="en-ID" sz="1800" dirty="0"/>
              <a:t> </a:t>
            </a:r>
            <a:r>
              <a:rPr lang="en-ID" sz="1800" dirty="0" err="1"/>
              <a:t>daya</a:t>
            </a:r>
            <a:r>
              <a:rPr lang="en-ID" sz="1800" dirty="0"/>
              <a:t> </a:t>
            </a:r>
            <a:r>
              <a:rPr lang="en-ID" sz="1800" dirty="0" err="1"/>
              <a:t>jauh</a:t>
            </a:r>
            <a:r>
              <a:rPr lang="en-ID" sz="1800" dirty="0"/>
              <a:t> </a:t>
            </a:r>
            <a:r>
              <a:rPr lang="en-ID" sz="1800" dirty="0" err="1"/>
              <a:t>lebih</a:t>
            </a:r>
            <a:r>
              <a:rPr lang="en-ID" sz="1800" dirty="0"/>
              <a:t> </a:t>
            </a:r>
            <a:r>
              <a:rPr lang="en-ID" sz="1800" dirty="0" err="1"/>
              <a:t>besar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fi-FI" sz="1800" dirty="0"/>
              <a:t>Kebutuhan untuk memperkirakan biaya operasi: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Bergantung</a:t>
            </a:r>
            <a:r>
              <a:rPr lang="en-ID" sz="1800" dirty="0"/>
              <a:t> pada </a:t>
            </a:r>
            <a:r>
              <a:rPr lang="en-ID" sz="1800" dirty="0" err="1"/>
              <a:t>informasi</a:t>
            </a:r>
            <a:r>
              <a:rPr lang="en-ID" sz="1800" dirty="0"/>
              <a:t> </a:t>
            </a:r>
            <a:r>
              <a:rPr lang="en-ID" sz="1800" dirty="0" err="1"/>
              <a:t>statistik</a:t>
            </a:r>
            <a:r>
              <a:rPr lang="en-ID" sz="1800" dirty="0"/>
              <a:t> </a:t>
            </a:r>
            <a:r>
              <a:rPr lang="en-ID" sz="1800" dirty="0" err="1"/>
              <a:t>mengenai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tabel</a:t>
            </a:r>
            <a:r>
              <a:rPr lang="en-ID" sz="1800" dirty="0"/>
              <a:t>, </a:t>
            </a:r>
            <a:r>
              <a:rPr lang="en-ID" sz="1800" dirty="0" err="1"/>
              <a:t>seperti</a:t>
            </a:r>
            <a:r>
              <a:rPr lang="en-ID" sz="1800" dirty="0"/>
              <a:t> </a:t>
            </a:r>
            <a:r>
              <a:rPr lang="en-ID" sz="1800" dirty="0" err="1"/>
              <a:t>jumlah</a:t>
            </a:r>
            <a:r>
              <a:rPr lang="en-ID" sz="1800" dirty="0"/>
              <a:t> data dan </a:t>
            </a:r>
            <a:r>
              <a:rPr lang="en-ID" sz="1800" dirty="0" err="1"/>
              <a:t>distribusi</a:t>
            </a:r>
            <a:r>
              <a:rPr lang="en-ID" sz="1800" dirty="0"/>
              <a:t> </a:t>
            </a:r>
            <a:r>
              <a:rPr lang="en-ID" sz="1800" dirty="0" err="1"/>
              <a:t>nilai</a:t>
            </a:r>
            <a:r>
              <a:rPr lang="en-ID" sz="18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/>
              <a:t>Dalam </a:t>
            </a:r>
            <a:r>
              <a:rPr lang="en-ID" sz="1800" dirty="0" err="1"/>
              <a:t>kueri</a:t>
            </a:r>
            <a:r>
              <a:rPr lang="en-ID" sz="1800" dirty="0"/>
              <a:t> yang </a:t>
            </a:r>
            <a:r>
              <a:rPr lang="en-ID" sz="1800" dirty="0" err="1"/>
              <a:t>kompleks</a:t>
            </a:r>
            <a:r>
              <a:rPr lang="en-ID" sz="1800" dirty="0"/>
              <a:t>, </a:t>
            </a:r>
            <a:r>
              <a:rPr lang="en-ID" sz="1800" dirty="0" err="1"/>
              <a:t>sistem</a:t>
            </a:r>
            <a:r>
              <a:rPr lang="en-ID" sz="1800" dirty="0"/>
              <a:t> juga </a:t>
            </a:r>
            <a:r>
              <a:rPr lang="en-ID" sz="1800" dirty="0" err="1"/>
              <a:t>perlu</a:t>
            </a:r>
            <a:r>
              <a:rPr lang="en-ID" sz="1800" dirty="0"/>
              <a:t> </a:t>
            </a:r>
            <a:r>
              <a:rPr lang="en-ID" sz="1800" dirty="0" err="1"/>
              <a:t>memperkirakan</a:t>
            </a:r>
            <a:r>
              <a:rPr lang="en-ID" sz="1800" dirty="0"/>
              <a:t> </a:t>
            </a:r>
            <a:r>
              <a:rPr lang="en-ID" sz="1800" dirty="0" err="1"/>
              <a:t>ukuran</a:t>
            </a:r>
            <a:r>
              <a:rPr lang="en-ID" sz="1800" dirty="0"/>
              <a:t> </a:t>
            </a:r>
            <a:r>
              <a:rPr lang="en-ID" sz="1800" dirty="0" err="1"/>
              <a:t>hasil</a:t>
            </a:r>
            <a:r>
              <a:rPr lang="en-ID" sz="1800" dirty="0"/>
              <a:t> </a:t>
            </a:r>
            <a:r>
              <a:rPr lang="en-ID" sz="1800" dirty="0" err="1"/>
              <a:t>sementara</a:t>
            </a:r>
            <a:r>
              <a:rPr lang="en-ID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39451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838B5FD6-E992-0357-4579-9CAD0B51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3BAC1456-B73D-D805-21E5-0EAAD1E419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MANAJEMEN TRANSAKSI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CBAFF2CF-1D89-1602-9CD1-B5B2E72050B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125961"/>
            <a:ext cx="7703999" cy="3739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Sistem</a:t>
            </a:r>
            <a:r>
              <a:rPr lang="en-ID" sz="1800" dirty="0"/>
              <a:t> basis data </a:t>
            </a:r>
            <a:r>
              <a:rPr lang="en-ID" sz="1800" dirty="0" err="1"/>
              <a:t>harus</a:t>
            </a:r>
            <a:r>
              <a:rPr lang="en-ID" sz="1800" dirty="0"/>
              <a:t> </a:t>
            </a:r>
            <a:r>
              <a:rPr lang="en-ID" sz="1800" dirty="0" err="1"/>
              <a:t>mampu</a:t>
            </a:r>
            <a:r>
              <a:rPr lang="en-ID" sz="1800" dirty="0"/>
              <a:t> </a:t>
            </a:r>
            <a:r>
              <a:rPr lang="en-ID" sz="1800" dirty="0" err="1"/>
              <a:t>menangani</a:t>
            </a:r>
            <a:r>
              <a:rPr lang="en-ID" sz="1800" dirty="0"/>
              <a:t> </a:t>
            </a:r>
            <a:r>
              <a:rPr lang="en-ID" sz="1800" dirty="0" err="1"/>
              <a:t>kondisi</a:t>
            </a:r>
            <a:r>
              <a:rPr lang="en-ID" sz="1800" dirty="0"/>
              <a:t> </a:t>
            </a:r>
            <a:r>
              <a:rPr lang="en-ID" sz="1800" dirty="0" err="1"/>
              <a:t>ketika</a:t>
            </a:r>
            <a:r>
              <a:rPr lang="en-ID" sz="1800" dirty="0"/>
              <a:t> </a:t>
            </a:r>
            <a:r>
              <a:rPr lang="en-ID" sz="1800" dirty="0" err="1"/>
              <a:t>terjadi</a:t>
            </a:r>
            <a:r>
              <a:rPr lang="en-ID" sz="1800" dirty="0"/>
              <a:t> </a:t>
            </a:r>
            <a:r>
              <a:rPr lang="en-ID" sz="1800" dirty="0" err="1"/>
              <a:t>kegagalan</a:t>
            </a:r>
            <a:r>
              <a:rPr lang="en-ID" sz="1800" dirty="0"/>
              <a:t>, </a:t>
            </a:r>
            <a:r>
              <a:rPr lang="en-ID" sz="1800" dirty="0" err="1"/>
              <a:t>seperti</a:t>
            </a:r>
            <a:r>
              <a:rPr lang="en-ID" sz="1800" dirty="0"/>
              <a:t> </a:t>
            </a:r>
            <a:r>
              <a:rPr lang="en-ID" sz="1800" dirty="0" err="1"/>
              <a:t>gangguan</a:t>
            </a:r>
            <a:r>
              <a:rPr lang="en-ID" sz="1800" dirty="0"/>
              <a:t> </a:t>
            </a:r>
            <a:r>
              <a:rPr lang="en-ID" sz="1800" dirty="0" err="1"/>
              <a:t>listrik</a:t>
            </a:r>
            <a:r>
              <a:rPr lang="en-ID" sz="1800" dirty="0"/>
              <a:t>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kerusakan</a:t>
            </a:r>
            <a:r>
              <a:rPr lang="en-ID" sz="1800" dirty="0"/>
              <a:t> </a:t>
            </a:r>
            <a:r>
              <a:rPr lang="en-ID" sz="1800" dirty="0" err="1"/>
              <a:t>sistem</a:t>
            </a:r>
            <a:r>
              <a:rPr lang="en-ID" sz="1800" dirty="0"/>
              <a:t> </a:t>
            </a:r>
            <a:r>
              <a:rPr lang="en-ID" sz="1800" dirty="0" err="1"/>
              <a:t>operasi</a:t>
            </a:r>
            <a:r>
              <a:rPr lang="en-ID" sz="18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s-ES" sz="1800" dirty="0" err="1"/>
              <a:t>Akses</a:t>
            </a:r>
            <a:r>
              <a:rPr lang="es-ES" sz="1800" dirty="0"/>
              <a:t> dan </a:t>
            </a:r>
            <a:r>
              <a:rPr lang="es-ES" sz="1800" dirty="0" err="1"/>
              <a:t>pembaruan</a:t>
            </a:r>
            <a:r>
              <a:rPr lang="es-ES" sz="1800" dirty="0"/>
              <a:t> data secara </a:t>
            </a:r>
            <a:r>
              <a:rPr lang="es-ES" sz="1800" dirty="0" err="1"/>
              <a:t>bersamaan</a:t>
            </a:r>
            <a:r>
              <a:rPr lang="es-ES" sz="1800" dirty="0"/>
              <a:t> (</a:t>
            </a:r>
            <a:r>
              <a:rPr lang="en-ID" sz="1800" dirty="0" err="1"/>
              <a:t>berpotensi</a:t>
            </a:r>
            <a:r>
              <a:rPr lang="en-ID" sz="1800" dirty="0"/>
              <a:t> </a:t>
            </a:r>
            <a:r>
              <a:rPr lang="en-ID" sz="1800" dirty="0" err="1"/>
              <a:t>menimbulkan</a:t>
            </a:r>
            <a:r>
              <a:rPr lang="en-ID" sz="1800" dirty="0"/>
              <a:t> </a:t>
            </a:r>
            <a:r>
              <a:rPr lang="en-ID" sz="1800" dirty="0" err="1"/>
              <a:t>konflik</a:t>
            </a:r>
            <a:r>
              <a:rPr lang="en-ID" sz="1800" dirty="0"/>
              <a:t>).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Transaksi</a:t>
            </a:r>
            <a:r>
              <a:rPr lang="en-ID" sz="1800" dirty="0"/>
              <a:t> </a:t>
            </a:r>
            <a:r>
              <a:rPr lang="en-ID" sz="1800" dirty="0" err="1"/>
              <a:t>merupakan</a:t>
            </a:r>
            <a:r>
              <a:rPr lang="en-ID" sz="1800" dirty="0"/>
              <a:t> </a:t>
            </a:r>
            <a:r>
              <a:rPr lang="en-ID" sz="1800" dirty="0" err="1"/>
              <a:t>sekumpulan</a:t>
            </a:r>
            <a:r>
              <a:rPr lang="en-ID" sz="1800" dirty="0"/>
              <a:t> </a:t>
            </a:r>
            <a:r>
              <a:rPr lang="en-ID" sz="1800" dirty="0" err="1"/>
              <a:t>operasi</a:t>
            </a:r>
            <a:r>
              <a:rPr lang="en-ID" sz="1800" dirty="0"/>
              <a:t> basis data yang </a:t>
            </a:r>
            <a:r>
              <a:rPr lang="en-ID" sz="1800" dirty="0" err="1"/>
              <a:t>dijalankan</a:t>
            </a:r>
            <a:r>
              <a:rPr lang="en-ID" sz="1800" dirty="0"/>
              <a:t> </a:t>
            </a:r>
            <a:r>
              <a:rPr lang="en-ID" sz="1800" dirty="0" err="1"/>
              <a:t>sebagai</a:t>
            </a:r>
            <a:r>
              <a:rPr lang="en-ID" sz="1800" dirty="0"/>
              <a:t> </a:t>
            </a:r>
            <a:r>
              <a:rPr lang="en-ID" sz="1800" dirty="0" err="1"/>
              <a:t>satu</a:t>
            </a:r>
            <a:r>
              <a:rPr lang="en-ID" sz="1800" dirty="0"/>
              <a:t> </a:t>
            </a:r>
            <a:r>
              <a:rPr lang="en-ID" sz="1800" dirty="0" err="1"/>
              <a:t>kesatuan</a:t>
            </a:r>
            <a:r>
              <a:rPr lang="en-ID" sz="1800" dirty="0"/>
              <a:t> </a:t>
            </a:r>
            <a:r>
              <a:rPr lang="en-ID" sz="1800" dirty="0" err="1"/>
              <a:t>logis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Peran </a:t>
            </a:r>
            <a:r>
              <a:rPr lang="en-ID" sz="1800" dirty="0" err="1"/>
              <a:t>komponen</a:t>
            </a:r>
            <a:r>
              <a:rPr lang="en-ID" sz="1800" dirty="0"/>
              <a:t> </a:t>
            </a:r>
            <a:r>
              <a:rPr lang="en-ID" sz="1800" dirty="0" err="1"/>
              <a:t>manajemen</a:t>
            </a:r>
            <a:r>
              <a:rPr lang="en-ID" sz="1800" dirty="0"/>
              <a:t> </a:t>
            </a:r>
            <a:r>
              <a:rPr lang="en-ID" sz="1800" dirty="0" err="1"/>
              <a:t>transaksi</a:t>
            </a:r>
            <a:r>
              <a:rPr lang="en-ID" sz="1800" dirty="0"/>
              <a:t>: </a:t>
            </a:r>
            <a:r>
              <a:rPr lang="sv-SE" sz="1800" dirty="0"/>
              <a:t>memastikan basis data berada dalam keadaan konsisten dan benar meskipun terjadi kegagalan sistem.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i="1" dirty="0"/>
              <a:t>Concurrency-control manager</a:t>
            </a:r>
            <a:r>
              <a:rPr lang="en-ID" sz="1800" dirty="0"/>
              <a:t>: </a:t>
            </a:r>
            <a:r>
              <a:rPr lang="en-ID" sz="1800" dirty="0" err="1"/>
              <a:t>mengatur</a:t>
            </a:r>
            <a:r>
              <a:rPr lang="en-ID" sz="1800" dirty="0"/>
              <a:t> </a:t>
            </a:r>
            <a:r>
              <a:rPr lang="en-ID" sz="1800" dirty="0" err="1"/>
              <a:t>interaksi</a:t>
            </a:r>
            <a:r>
              <a:rPr lang="en-ID" sz="1800" dirty="0"/>
              <a:t> </a:t>
            </a:r>
            <a:r>
              <a:rPr lang="en-ID" sz="1800" dirty="0" err="1"/>
              <a:t>antar</a:t>
            </a:r>
            <a:r>
              <a:rPr lang="en-ID" sz="1800" dirty="0"/>
              <a:t> </a:t>
            </a:r>
            <a:r>
              <a:rPr lang="en-ID" sz="1800" dirty="0" err="1"/>
              <a:t>transaksi</a:t>
            </a:r>
            <a:r>
              <a:rPr lang="en-ID" sz="1800" dirty="0"/>
              <a:t> yang </a:t>
            </a:r>
            <a:r>
              <a:rPr lang="en-ID" sz="1800" dirty="0" err="1"/>
              <a:t>berjalan</a:t>
            </a:r>
            <a:r>
              <a:rPr lang="en-ID" sz="1800" dirty="0"/>
              <a:t>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bersamaan</a:t>
            </a:r>
            <a:r>
              <a:rPr lang="en-ID" sz="1800" dirty="0"/>
              <a:t> agar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saling</a:t>
            </a:r>
            <a:r>
              <a:rPr lang="en-ID" sz="1800" dirty="0"/>
              <a:t> </a:t>
            </a:r>
            <a:r>
              <a:rPr lang="en-ID" sz="1800" dirty="0" err="1"/>
              <a:t>mengganggu</a:t>
            </a:r>
            <a:r>
              <a:rPr lang="en-ID" sz="1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702905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DF8D313E-8AF7-8F2D-14B3-D6108B49B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3CA074FF-FB9B-6623-BF81-63633F4C8E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PENGGUNA BASIS DATA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3893B4A6-3085-33C9-4C5D-C3FB76F85FC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125961"/>
            <a:ext cx="7703999" cy="3739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Pengelompokan</a:t>
            </a:r>
            <a:r>
              <a:rPr lang="en-ID" sz="1800" dirty="0"/>
              <a:t> </a:t>
            </a:r>
            <a:r>
              <a:rPr lang="en-ID" sz="1800" dirty="0" err="1"/>
              <a:t>pengguna</a:t>
            </a:r>
            <a:r>
              <a:rPr lang="en-ID" sz="1800" dirty="0"/>
              <a:t> </a:t>
            </a:r>
            <a:r>
              <a:rPr lang="en-ID" sz="1800" dirty="0" err="1"/>
              <a:t>berdasarkan</a:t>
            </a:r>
            <a:r>
              <a:rPr lang="en-ID" sz="1800" dirty="0"/>
              <a:t> </a:t>
            </a:r>
            <a:r>
              <a:rPr lang="en-ID" sz="1800" dirty="0" err="1"/>
              <a:t>cara</a:t>
            </a:r>
            <a:r>
              <a:rPr lang="en-ID" sz="1800" dirty="0"/>
              <a:t> </a:t>
            </a:r>
            <a:r>
              <a:rPr lang="en-ID" sz="1800" dirty="0" err="1"/>
              <a:t>berinteraksi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sistem</a:t>
            </a:r>
            <a:r>
              <a:rPr lang="en-ID" sz="1800" dirty="0"/>
              <a:t>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Programmer </a:t>
            </a:r>
            <a:r>
              <a:rPr lang="en-ID" sz="1800" dirty="0" err="1"/>
              <a:t>aplikasi</a:t>
            </a:r>
            <a:r>
              <a:rPr lang="en-ID" sz="1800" dirty="0"/>
              <a:t>: </a:t>
            </a:r>
            <a:r>
              <a:rPr lang="en-ID" sz="1800" dirty="0" err="1"/>
              <a:t>berinteraksi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sistem</a:t>
            </a:r>
            <a:r>
              <a:rPr lang="en-ID" sz="1800" dirty="0"/>
              <a:t> basis data </a:t>
            </a:r>
            <a:r>
              <a:rPr lang="en-ID" sz="1800" dirty="0" err="1"/>
              <a:t>melalui</a:t>
            </a:r>
            <a:r>
              <a:rPr lang="en-ID" sz="1800" dirty="0"/>
              <a:t> </a:t>
            </a:r>
            <a:r>
              <a:rPr lang="en-ID" sz="1800" dirty="0" err="1"/>
              <a:t>pemanggilan</a:t>
            </a:r>
            <a:r>
              <a:rPr lang="en-ID" sz="1800" dirty="0"/>
              <a:t> </a:t>
            </a:r>
            <a:r>
              <a:rPr lang="en-ID" sz="1800" dirty="0" err="1"/>
              <a:t>perintah</a:t>
            </a:r>
            <a:r>
              <a:rPr lang="en-ID" sz="1800" dirty="0"/>
              <a:t> DML.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Pengguna</a:t>
            </a:r>
            <a:r>
              <a:rPr lang="en-ID" sz="1800" dirty="0"/>
              <a:t> </a:t>
            </a:r>
            <a:r>
              <a:rPr lang="en-ID" sz="1800" dirty="0" err="1"/>
              <a:t>mahir</a:t>
            </a:r>
            <a:r>
              <a:rPr lang="en-ID" sz="1800" dirty="0"/>
              <a:t>: </a:t>
            </a:r>
            <a:r>
              <a:rPr lang="en-ID" sz="1800" dirty="0" err="1"/>
              <a:t>menyusun</a:t>
            </a:r>
            <a:r>
              <a:rPr lang="en-ID" sz="1800" dirty="0"/>
              <a:t> </a:t>
            </a:r>
            <a:r>
              <a:rPr lang="en-ID" sz="1800" dirty="0" err="1"/>
              <a:t>permintaan</a:t>
            </a:r>
            <a:r>
              <a:rPr lang="en-ID" sz="1800" dirty="0"/>
              <a:t> data </a:t>
            </a:r>
            <a:r>
              <a:rPr lang="en-ID" sz="1800" dirty="0" err="1"/>
              <a:t>menggunakan</a:t>
            </a:r>
            <a:r>
              <a:rPr lang="en-ID" sz="1800" dirty="0"/>
              <a:t> </a:t>
            </a:r>
            <a:r>
              <a:rPr lang="en-ID" sz="1800" dirty="0" err="1"/>
              <a:t>bahasa</a:t>
            </a:r>
            <a:r>
              <a:rPr lang="en-ID" sz="1800" dirty="0"/>
              <a:t> </a:t>
            </a:r>
            <a:r>
              <a:rPr lang="en-ID" sz="1800" dirty="0" err="1"/>
              <a:t>kueri</a:t>
            </a:r>
            <a:r>
              <a:rPr lang="en-ID" sz="1800" dirty="0"/>
              <a:t> basis data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keperluan</a:t>
            </a:r>
            <a:r>
              <a:rPr lang="en-ID" sz="1800" dirty="0"/>
              <a:t> </a:t>
            </a:r>
            <a:r>
              <a:rPr lang="en-ID" sz="1800" dirty="0" err="1"/>
              <a:t>analisis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Pengguna</a:t>
            </a:r>
            <a:r>
              <a:rPr lang="en-ID" sz="1800" dirty="0"/>
              <a:t> </a:t>
            </a:r>
            <a:r>
              <a:rPr lang="en-ID" sz="1800" dirty="0" err="1"/>
              <a:t>khusus</a:t>
            </a:r>
            <a:r>
              <a:rPr lang="en-ID" sz="1800" dirty="0"/>
              <a:t>: </a:t>
            </a:r>
            <a:r>
              <a:rPr lang="en-ID" sz="1800" dirty="0" err="1"/>
              <a:t>mengembangkan</a:t>
            </a:r>
            <a:r>
              <a:rPr lang="en-ID" sz="1800" dirty="0"/>
              <a:t> </a:t>
            </a:r>
            <a:r>
              <a:rPr lang="en-ID" sz="1800" dirty="0" err="1"/>
              <a:t>aplikasi</a:t>
            </a:r>
            <a:r>
              <a:rPr lang="en-ID" sz="1800" dirty="0"/>
              <a:t> basis data </a:t>
            </a:r>
            <a:r>
              <a:rPr lang="en-ID" sz="1800" dirty="0" err="1"/>
              <a:t>khusus</a:t>
            </a:r>
            <a:r>
              <a:rPr lang="en-ID" sz="1800" dirty="0"/>
              <a:t> yang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termasuk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kerangka</a:t>
            </a:r>
            <a:r>
              <a:rPr lang="en-ID" sz="1800" dirty="0"/>
              <a:t> </a:t>
            </a:r>
            <a:r>
              <a:rPr lang="en-ID" sz="1800" dirty="0" err="1"/>
              <a:t>pemrosesan</a:t>
            </a:r>
            <a:r>
              <a:rPr lang="en-ID" sz="1800" dirty="0"/>
              <a:t> data </a:t>
            </a:r>
            <a:r>
              <a:rPr lang="en-ID" sz="1800" dirty="0" err="1"/>
              <a:t>tradisional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Pengguna</a:t>
            </a:r>
            <a:r>
              <a:rPr lang="en-ID" sz="1800" dirty="0"/>
              <a:t> </a:t>
            </a:r>
            <a:r>
              <a:rPr lang="en-ID" sz="1800" dirty="0" err="1"/>
              <a:t>awam</a:t>
            </a:r>
            <a:r>
              <a:rPr lang="en-ID" sz="1800" dirty="0"/>
              <a:t>: </a:t>
            </a:r>
            <a:r>
              <a:rPr lang="en-ID" sz="1800" dirty="0" err="1"/>
              <a:t>berinteraksi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basis data </a:t>
            </a:r>
            <a:r>
              <a:rPr lang="en-ID" sz="1800" dirty="0" err="1"/>
              <a:t>melalui</a:t>
            </a:r>
            <a:r>
              <a:rPr lang="en-ID" sz="1800" dirty="0"/>
              <a:t> </a:t>
            </a:r>
            <a:r>
              <a:rPr lang="en-ID" sz="1800" dirty="0" err="1"/>
              <a:t>aplikasi</a:t>
            </a:r>
            <a:r>
              <a:rPr lang="en-ID" sz="1800" dirty="0"/>
              <a:t> yang </a:t>
            </a:r>
            <a:r>
              <a:rPr lang="en-ID" sz="1800" dirty="0" err="1"/>
              <a:t>telah</a:t>
            </a:r>
            <a:r>
              <a:rPr lang="en-ID" sz="1800" dirty="0"/>
              <a:t> </a:t>
            </a:r>
            <a:r>
              <a:rPr lang="en-ID" sz="1800" dirty="0" err="1"/>
              <a:t>disediakan</a:t>
            </a:r>
            <a:r>
              <a:rPr lang="en-ID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7364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409F9171-51BD-BA86-D74B-713BF6628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65F96615-D8E0-ACC1-6012-FB8A0958C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ADMINISTRATOR BASIS DATA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27DC4846-24BE-FC20-469E-B5EB2F0ABFC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125961"/>
            <a:ext cx="7703999" cy="3739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pt-BR" sz="1800" dirty="0"/>
              <a:t>DBA bertugas mengoordinasikan seluruh aktivitas dalam sistem basis data.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/>
              <a:t>DBA </a:t>
            </a:r>
            <a:r>
              <a:rPr lang="en-ID" sz="1800" dirty="0" err="1"/>
              <a:t>menetapkan</a:t>
            </a:r>
            <a:r>
              <a:rPr lang="en-ID" sz="1800" dirty="0"/>
              <a:t> </a:t>
            </a:r>
            <a:r>
              <a:rPr lang="en-ID" sz="1800" dirty="0" err="1"/>
              <a:t>struktur</a:t>
            </a:r>
            <a:r>
              <a:rPr lang="en-ID" sz="1800" dirty="0"/>
              <a:t> </a:t>
            </a:r>
            <a:r>
              <a:rPr lang="en-ID" sz="1800" dirty="0" err="1"/>
              <a:t>logis</a:t>
            </a:r>
            <a:r>
              <a:rPr lang="en-ID" sz="1800" dirty="0"/>
              <a:t> basis data </a:t>
            </a:r>
            <a:r>
              <a:rPr lang="en-ID" sz="1800" dirty="0" err="1"/>
              <a:t>sesuai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kebutuhan</a:t>
            </a:r>
            <a:r>
              <a:rPr lang="en-ID" sz="1800" dirty="0"/>
              <a:t> </a:t>
            </a:r>
            <a:r>
              <a:rPr lang="en-ID" sz="1800" dirty="0" err="1"/>
              <a:t>organisasi</a:t>
            </a:r>
            <a:r>
              <a:rPr lang="en-ID" sz="18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s-ES" sz="1800" dirty="0"/>
              <a:t>DBA </a:t>
            </a:r>
            <a:r>
              <a:rPr lang="es-ES" sz="1800" dirty="0" err="1"/>
              <a:t>menentukan</a:t>
            </a:r>
            <a:r>
              <a:rPr lang="es-ES" sz="1800" dirty="0"/>
              <a:t> dan </a:t>
            </a:r>
            <a:r>
              <a:rPr lang="es-ES" sz="1800" dirty="0" err="1"/>
              <a:t>mengelola</a:t>
            </a:r>
            <a:r>
              <a:rPr lang="es-ES" sz="1800" dirty="0"/>
              <a:t> cara data </a:t>
            </a:r>
            <a:r>
              <a:rPr lang="es-ES" sz="1800" dirty="0" err="1"/>
              <a:t>disimpan</a:t>
            </a:r>
            <a:r>
              <a:rPr lang="es-ES" sz="1800" dirty="0"/>
              <a:t> secara </a:t>
            </a:r>
            <a:r>
              <a:rPr lang="es-ES" sz="1800" dirty="0" err="1"/>
              <a:t>fisik</a:t>
            </a:r>
            <a:r>
              <a:rPr lang="es-ES" sz="18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/>
              <a:t>DBA </a:t>
            </a:r>
            <a:r>
              <a:rPr lang="en-ID" sz="1800" dirty="0" err="1"/>
              <a:t>melakukan</a:t>
            </a:r>
            <a:r>
              <a:rPr lang="en-ID" sz="1800" dirty="0"/>
              <a:t> </a:t>
            </a:r>
            <a:r>
              <a:rPr lang="en-ID" sz="1800" dirty="0" err="1"/>
              <a:t>perubahan</a:t>
            </a:r>
            <a:r>
              <a:rPr lang="en-ID" sz="1800" dirty="0"/>
              <a:t> pada </a:t>
            </a:r>
            <a:r>
              <a:rPr lang="en-ID" sz="1800" dirty="0" err="1"/>
              <a:t>skema</a:t>
            </a:r>
            <a:r>
              <a:rPr lang="en-ID" sz="1800" dirty="0"/>
              <a:t> </a:t>
            </a:r>
            <a:r>
              <a:rPr lang="en-ID" sz="1800" dirty="0" err="1"/>
              <a:t>logis</a:t>
            </a:r>
            <a:r>
              <a:rPr lang="en-ID" sz="1800" dirty="0"/>
              <a:t> </a:t>
            </a:r>
            <a:r>
              <a:rPr lang="en-ID" sz="1800" dirty="0" err="1"/>
              <a:t>maupun</a:t>
            </a:r>
            <a:r>
              <a:rPr lang="en-ID" sz="1800" dirty="0"/>
              <a:t> </a:t>
            </a:r>
            <a:r>
              <a:rPr lang="en-ID" sz="1800" dirty="0" err="1"/>
              <a:t>struktur</a:t>
            </a:r>
            <a:r>
              <a:rPr lang="en-ID" sz="1800" dirty="0"/>
              <a:t> </a:t>
            </a:r>
            <a:r>
              <a:rPr lang="en-ID" sz="1800" dirty="0" err="1"/>
              <a:t>fisik</a:t>
            </a:r>
            <a:r>
              <a:rPr lang="en-ID" sz="1800" dirty="0"/>
              <a:t> basis data </a:t>
            </a:r>
            <a:r>
              <a:rPr lang="en-ID" sz="1800" dirty="0" err="1"/>
              <a:t>ketika</a:t>
            </a:r>
            <a:r>
              <a:rPr lang="en-ID" sz="1800" dirty="0"/>
              <a:t> </a:t>
            </a:r>
            <a:r>
              <a:rPr lang="en-ID" sz="1800" dirty="0" err="1"/>
              <a:t>terjadi</a:t>
            </a:r>
            <a:r>
              <a:rPr lang="en-ID" sz="1800" dirty="0"/>
              <a:t> </a:t>
            </a:r>
            <a:r>
              <a:rPr lang="en-ID" sz="1800" dirty="0" err="1"/>
              <a:t>perubahan</a:t>
            </a:r>
            <a:r>
              <a:rPr lang="en-ID" sz="1800" dirty="0"/>
              <a:t> </a:t>
            </a:r>
            <a:r>
              <a:rPr lang="en-ID" sz="1800" dirty="0" err="1"/>
              <a:t>kebutuhan</a:t>
            </a:r>
            <a:r>
              <a:rPr lang="en-ID" sz="18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/>
              <a:t>DBA </a:t>
            </a:r>
            <a:r>
              <a:rPr lang="en-ID" sz="1800" dirty="0" err="1"/>
              <a:t>mengatur</a:t>
            </a:r>
            <a:r>
              <a:rPr lang="en-ID" sz="1800" dirty="0"/>
              <a:t> </a:t>
            </a:r>
            <a:r>
              <a:rPr lang="en-ID" sz="1800" dirty="0" err="1"/>
              <a:t>otorisasi</a:t>
            </a:r>
            <a:r>
              <a:rPr lang="en-ID" sz="1800" dirty="0"/>
              <a:t> </a:t>
            </a:r>
            <a:r>
              <a:rPr lang="en-ID" sz="1800" dirty="0" err="1"/>
              <a:t>pengguna</a:t>
            </a:r>
            <a:r>
              <a:rPr lang="en-ID" sz="18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/>
              <a:t>DBA </a:t>
            </a:r>
            <a:r>
              <a:rPr lang="en-ID" sz="1800" dirty="0" err="1"/>
              <a:t>mendefinisikan</a:t>
            </a:r>
            <a:r>
              <a:rPr lang="en-ID" sz="1800" dirty="0"/>
              <a:t> </a:t>
            </a:r>
            <a:r>
              <a:rPr lang="en-ID" sz="1800" dirty="0" err="1"/>
              <a:t>aturan</a:t>
            </a:r>
            <a:r>
              <a:rPr lang="en-ID" sz="1800" dirty="0"/>
              <a:t> </a:t>
            </a:r>
            <a:r>
              <a:rPr lang="en-ID" sz="1800" dirty="0" err="1"/>
              <a:t>integritas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menjaga</a:t>
            </a:r>
            <a:r>
              <a:rPr lang="en-ID" sz="1800" dirty="0"/>
              <a:t> </a:t>
            </a:r>
            <a:r>
              <a:rPr lang="en-ID" sz="1800" dirty="0" err="1"/>
              <a:t>keakuratan</a:t>
            </a:r>
            <a:r>
              <a:rPr lang="en-ID" sz="1800" dirty="0"/>
              <a:t> dan </a:t>
            </a:r>
            <a:r>
              <a:rPr lang="en-ID" sz="1800" dirty="0" err="1"/>
              <a:t>konsistensi</a:t>
            </a:r>
            <a:r>
              <a:rPr lang="en-ID" sz="1800" dirty="0"/>
              <a:t> data.</a:t>
            </a:r>
          </a:p>
        </p:txBody>
      </p:sp>
    </p:spTree>
    <p:extLst>
      <p:ext uri="{BB962C8B-B14F-4D97-AF65-F5344CB8AC3E}">
        <p14:creationId xmlns:p14="http://schemas.microsoft.com/office/powerpoint/2010/main" val="16337504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D1CA628C-C8E5-66A6-D837-1F82A2321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3800AC0F-C15F-4025-E856-A0BFB974DC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ARSITEKTUR SISTEM BASIS DATA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A8D70025-B7EB-1C0C-336C-8A3C9CCAE44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125961"/>
            <a:ext cx="7703999" cy="3739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Dipengaruhi</a:t>
            </a:r>
            <a:r>
              <a:rPr lang="en-ID" sz="1800" dirty="0"/>
              <a:t> oleh </a:t>
            </a:r>
            <a:r>
              <a:rPr lang="en-ID" sz="1800" dirty="0" err="1"/>
              <a:t>jenis</a:t>
            </a:r>
            <a:r>
              <a:rPr lang="en-ID" sz="1800" dirty="0"/>
              <a:t> </a:t>
            </a:r>
            <a:r>
              <a:rPr lang="en-ID" sz="1800" dirty="0" err="1"/>
              <a:t>sistem</a:t>
            </a:r>
            <a:r>
              <a:rPr lang="en-ID" sz="1800" dirty="0"/>
              <a:t> </a:t>
            </a:r>
            <a:r>
              <a:rPr lang="en-ID" sz="1800" dirty="0" err="1"/>
              <a:t>komputer</a:t>
            </a:r>
            <a:r>
              <a:rPr lang="en-ID" sz="1800" dirty="0"/>
              <a:t> yang </a:t>
            </a:r>
            <a:r>
              <a:rPr lang="en-ID" sz="1800" dirty="0" err="1"/>
              <a:t>digunakan</a:t>
            </a:r>
            <a:r>
              <a:rPr lang="en-ID" sz="1800" dirty="0"/>
              <a:t> </a:t>
            </a:r>
            <a:r>
              <a:rPr lang="en-ID" sz="1800" dirty="0" err="1"/>
              <a:t>sebagai</a:t>
            </a:r>
            <a:r>
              <a:rPr lang="en-ID" sz="1800" dirty="0"/>
              <a:t> platform </a:t>
            </a:r>
            <a:r>
              <a:rPr lang="en-ID" sz="1800" dirty="0" err="1"/>
              <a:t>tempat</a:t>
            </a:r>
            <a:r>
              <a:rPr lang="en-ID" sz="1800" dirty="0"/>
              <a:t> basis data </a:t>
            </a:r>
            <a:r>
              <a:rPr lang="en-ID" sz="1800" dirty="0" err="1"/>
              <a:t>dijalankan</a:t>
            </a:r>
            <a:r>
              <a:rPr lang="en-ID" sz="18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Arsitektur</a:t>
            </a:r>
            <a:r>
              <a:rPr lang="en-ID" sz="1800" dirty="0"/>
              <a:t> </a:t>
            </a:r>
            <a:r>
              <a:rPr lang="en-ID" sz="1800" dirty="0" err="1"/>
              <a:t>terpusat</a:t>
            </a:r>
            <a:r>
              <a:rPr lang="en-ID" sz="1800" dirty="0"/>
              <a:t> (</a:t>
            </a:r>
            <a:r>
              <a:rPr lang="en-ID" sz="1800" i="1" dirty="0"/>
              <a:t>centralized</a:t>
            </a:r>
            <a:r>
              <a:rPr lang="en-ID" sz="1800" dirty="0"/>
              <a:t>): </a:t>
            </a:r>
            <a:r>
              <a:rPr lang="en-ID" sz="1800" dirty="0" err="1"/>
              <a:t>dijalankan</a:t>
            </a:r>
            <a:r>
              <a:rPr lang="en-ID" sz="1800" dirty="0"/>
              <a:t> pada </a:t>
            </a:r>
            <a:r>
              <a:rPr lang="en-ID" sz="1800" dirty="0" err="1"/>
              <a:t>satu</a:t>
            </a:r>
            <a:r>
              <a:rPr lang="en-ID" sz="1800" dirty="0"/>
              <a:t> </a:t>
            </a:r>
            <a:r>
              <a:rPr lang="en-ID" sz="1800" dirty="0" err="1"/>
              <a:t>komputer</a:t>
            </a:r>
            <a:r>
              <a:rPr lang="en-ID" sz="1800" dirty="0"/>
              <a:t> </a:t>
            </a:r>
            <a:r>
              <a:rPr lang="en-ID" sz="1800" dirty="0" err="1"/>
              <a:t>atau</a:t>
            </a:r>
            <a:r>
              <a:rPr lang="en-ID" sz="1800" dirty="0"/>
              <a:t> server </a:t>
            </a:r>
            <a:r>
              <a:rPr lang="en-ID" sz="1800" dirty="0" err="1"/>
              <a:t>pusat</a:t>
            </a:r>
            <a:r>
              <a:rPr lang="en-ID" sz="18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Arsitektur</a:t>
            </a:r>
            <a:r>
              <a:rPr lang="en-ID" sz="1800" dirty="0"/>
              <a:t> </a:t>
            </a:r>
            <a:r>
              <a:rPr lang="en-ID" sz="1800" i="1" dirty="0"/>
              <a:t>client–server: </a:t>
            </a:r>
            <a:r>
              <a:rPr lang="nn-NO" sz="1800" dirty="0"/>
              <a:t>dibagi antara sisi klien yang menangani antarmuka pengguna dan sisi server yang menangani pengelolaan basis data.</a:t>
            </a:r>
            <a:endParaRPr lang="en-ID" sz="1800" i="1" dirty="0"/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Arsitektur</a:t>
            </a:r>
            <a:r>
              <a:rPr lang="en-ID" sz="1800" dirty="0"/>
              <a:t> </a:t>
            </a:r>
            <a:r>
              <a:rPr lang="en-ID" sz="1800" dirty="0" err="1"/>
              <a:t>paralel</a:t>
            </a:r>
            <a:r>
              <a:rPr lang="en-ID" sz="1800" dirty="0"/>
              <a:t> (</a:t>
            </a:r>
            <a:r>
              <a:rPr lang="en-ID" sz="1800" i="1" dirty="0"/>
              <a:t>parallel / multi-processor</a:t>
            </a:r>
            <a:r>
              <a:rPr lang="en-ID" sz="1800" dirty="0"/>
              <a:t>): </a:t>
            </a:r>
            <a:r>
              <a:rPr lang="en-ID" sz="1800" dirty="0" err="1"/>
              <a:t>dijalankan</a:t>
            </a:r>
            <a:r>
              <a:rPr lang="en-ID" sz="1800" dirty="0"/>
              <a:t> pada </a:t>
            </a:r>
            <a:r>
              <a:rPr lang="en-ID" sz="1800" dirty="0" err="1"/>
              <a:t>lingkungan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banyak</a:t>
            </a:r>
            <a:r>
              <a:rPr lang="en-ID" sz="1800" dirty="0"/>
              <a:t> </a:t>
            </a:r>
            <a:r>
              <a:rPr lang="en-ID" sz="1800" dirty="0" err="1"/>
              <a:t>prosesor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meningkatkan</a:t>
            </a:r>
            <a:r>
              <a:rPr lang="en-ID" sz="1800" dirty="0"/>
              <a:t> </a:t>
            </a:r>
            <a:r>
              <a:rPr lang="en-ID" sz="1800" dirty="0" err="1"/>
              <a:t>kinerja</a:t>
            </a:r>
            <a:r>
              <a:rPr lang="en-ID" sz="1800" dirty="0"/>
              <a:t>.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Arsitektur</a:t>
            </a:r>
            <a:r>
              <a:rPr lang="en-ID" sz="1800" dirty="0"/>
              <a:t> </a:t>
            </a:r>
            <a:r>
              <a:rPr lang="en-ID" sz="1800" dirty="0" err="1"/>
              <a:t>terdistribusi</a:t>
            </a:r>
            <a:r>
              <a:rPr lang="en-ID" sz="1800" dirty="0"/>
              <a:t> (</a:t>
            </a:r>
            <a:r>
              <a:rPr lang="en-ID" sz="1800" i="1" dirty="0"/>
              <a:t>distributed</a:t>
            </a:r>
            <a:r>
              <a:rPr lang="en-ID" sz="1800" dirty="0"/>
              <a:t>): basis data dan DBMS </a:t>
            </a:r>
            <a:r>
              <a:rPr lang="en-ID" sz="1800" dirty="0" err="1"/>
              <a:t>tersebar</a:t>
            </a:r>
            <a:r>
              <a:rPr lang="en-ID" sz="1800" dirty="0"/>
              <a:t> pada </a:t>
            </a:r>
            <a:r>
              <a:rPr lang="en-ID" sz="1800" dirty="0" err="1"/>
              <a:t>beberapa</a:t>
            </a:r>
            <a:r>
              <a:rPr lang="en-ID" sz="1800" dirty="0"/>
              <a:t> </a:t>
            </a:r>
            <a:r>
              <a:rPr lang="en-ID" sz="1800" dirty="0" err="1"/>
              <a:t>lokasi</a:t>
            </a:r>
            <a:r>
              <a:rPr lang="en-ID" sz="1800" dirty="0"/>
              <a:t>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komputer</a:t>
            </a:r>
            <a:r>
              <a:rPr lang="en-ID" sz="1800" dirty="0"/>
              <a:t> yang </a:t>
            </a:r>
            <a:r>
              <a:rPr lang="en-ID" sz="1800" dirty="0" err="1"/>
              <a:t>saling</a:t>
            </a:r>
            <a:r>
              <a:rPr lang="en-ID" sz="1800" dirty="0"/>
              <a:t> </a:t>
            </a:r>
            <a:r>
              <a:rPr lang="en-ID" sz="1800" dirty="0" err="1"/>
              <a:t>terhubung</a:t>
            </a:r>
            <a:r>
              <a:rPr lang="en-ID" sz="1800" dirty="0"/>
              <a:t> </a:t>
            </a:r>
            <a:r>
              <a:rPr lang="en-ID" sz="1800" dirty="0" err="1"/>
              <a:t>melalui</a:t>
            </a:r>
            <a:r>
              <a:rPr lang="en-ID" sz="1800" dirty="0"/>
              <a:t> </a:t>
            </a:r>
            <a:r>
              <a:rPr lang="en-ID" sz="1800" dirty="0" err="1"/>
              <a:t>jaringan</a:t>
            </a:r>
            <a:r>
              <a:rPr lang="en-ID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79639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AA243E4F-488A-616D-B447-8D7ABFC21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C8E7ACC7-439F-86AC-9AD8-E3E585CD88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ARSITEKTUR APLIKASI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27F0174A-BA9C-D8DF-FF1A-A7406C0CDC2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2953265"/>
            <a:ext cx="7703999" cy="19120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800" dirty="0" err="1"/>
              <a:t>Arsitektur</a:t>
            </a:r>
            <a:r>
              <a:rPr lang="en-US" sz="1800" dirty="0"/>
              <a:t> dua lapis (</a:t>
            </a:r>
            <a:r>
              <a:rPr lang="en-US" sz="1800" i="1" dirty="0"/>
              <a:t>two-tier architecture</a:t>
            </a:r>
            <a:r>
              <a:rPr lang="en-US" sz="1800" dirty="0"/>
              <a:t>): </a:t>
            </a:r>
            <a:r>
              <a:rPr lang="sv-SE" sz="1800" dirty="0"/>
              <a:t>logika aplikasi umumnya berada di sisi klien, sedangkan pengelolaan data dilakukan oleh server basis data.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800" dirty="0" err="1"/>
              <a:t>Arsitektur</a:t>
            </a:r>
            <a:r>
              <a:rPr lang="en-US" sz="1800" dirty="0"/>
              <a:t> </a:t>
            </a:r>
            <a:r>
              <a:rPr lang="en-US" sz="1800" dirty="0" err="1"/>
              <a:t>tiga</a:t>
            </a:r>
            <a:r>
              <a:rPr lang="en-US" sz="1800" dirty="0"/>
              <a:t> lapis (</a:t>
            </a:r>
            <a:r>
              <a:rPr lang="en-US" sz="1800" i="1" dirty="0"/>
              <a:t>three-tier architecture</a:t>
            </a:r>
            <a:r>
              <a:rPr lang="en-US" sz="1800" dirty="0"/>
              <a:t>): </a:t>
            </a:r>
            <a:r>
              <a:rPr lang="en-US" sz="1800" dirty="0" err="1"/>
              <a:t>terdiri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ID" sz="1800" dirty="0" err="1"/>
              <a:t>lapisan</a:t>
            </a:r>
            <a:r>
              <a:rPr lang="en-ID" sz="1800" dirty="0"/>
              <a:t> </a:t>
            </a:r>
            <a:r>
              <a:rPr lang="en-ID" sz="1800" dirty="0" err="1"/>
              <a:t>antarmuka</a:t>
            </a:r>
            <a:r>
              <a:rPr lang="en-ID" sz="1800" dirty="0"/>
              <a:t> </a:t>
            </a:r>
            <a:r>
              <a:rPr lang="en-ID" sz="1800" dirty="0" err="1"/>
              <a:t>pengguna</a:t>
            </a:r>
            <a:r>
              <a:rPr lang="en-ID" sz="1800" dirty="0"/>
              <a:t>, </a:t>
            </a:r>
            <a:r>
              <a:rPr lang="en-ID" sz="1800" dirty="0" err="1"/>
              <a:t>lapisan</a:t>
            </a:r>
            <a:r>
              <a:rPr lang="en-ID" sz="1800" dirty="0"/>
              <a:t> </a:t>
            </a:r>
            <a:r>
              <a:rPr lang="en-ID" sz="1800" dirty="0" err="1"/>
              <a:t>logika</a:t>
            </a:r>
            <a:r>
              <a:rPr lang="en-ID" sz="1800" dirty="0"/>
              <a:t> </a:t>
            </a:r>
            <a:r>
              <a:rPr lang="en-ID" sz="1800" dirty="0" err="1"/>
              <a:t>aplikasi</a:t>
            </a:r>
            <a:r>
              <a:rPr lang="en-ID" sz="1800" dirty="0"/>
              <a:t> (</a:t>
            </a:r>
            <a:r>
              <a:rPr lang="en-ID" sz="1800" i="1" dirty="0"/>
              <a:t>middleware</a:t>
            </a:r>
            <a:r>
              <a:rPr lang="en-ID" sz="1800" dirty="0"/>
              <a:t>), dan </a:t>
            </a:r>
            <a:r>
              <a:rPr lang="en-ID" sz="1800" dirty="0" err="1"/>
              <a:t>lapisan</a:t>
            </a:r>
            <a:r>
              <a:rPr lang="en-ID" sz="1800" dirty="0"/>
              <a:t> basis data. Umum </a:t>
            </a:r>
            <a:r>
              <a:rPr lang="en-ID" sz="1800" dirty="0" err="1"/>
              <a:t>digunakan</a:t>
            </a:r>
            <a:r>
              <a:rPr lang="en-ID" sz="1800" dirty="0"/>
              <a:t> pada </a:t>
            </a:r>
            <a:r>
              <a:rPr lang="en-ID" sz="1800" dirty="0" err="1"/>
              <a:t>aplikasi</a:t>
            </a:r>
            <a:r>
              <a:rPr lang="en-ID" sz="1800" dirty="0"/>
              <a:t> </a:t>
            </a:r>
            <a:r>
              <a:rPr lang="en-ID" sz="1800" dirty="0" err="1"/>
              <a:t>berbasis</a:t>
            </a:r>
            <a:r>
              <a:rPr lang="en-ID" sz="1800" dirty="0"/>
              <a:t> web.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3E345D09-B5AA-FEED-A681-F07011079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027" t="13150" r="1439" b="13425"/>
          <a:stretch>
            <a:fillRect/>
          </a:stretch>
        </p:blipFill>
        <p:spPr bwMode="auto">
          <a:xfrm>
            <a:off x="2911452" y="1077989"/>
            <a:ext cx="3321092" cy="1875276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876270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1C79F606-478D-D6BE-0D44-CF88DE13A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A54E405C-4F0D-12CC-5AB2-D647FF09D9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JENIS-JENIS APLIKASI BASIS DATA (1)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9CDB6D10-4B3E-ADD9-136C-0E3C228A34C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017725"/>
            <a:ext cx="7703999" cy="3847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Basis data personal (</a:t>
            </a:r>
            <a:r>
              <a:rPr lang="en-ID" sz="1800" i="1" dirty="0"/>
              <a:t>personal databases</a:t>
            </a:r>
            <a:r>
              <a:rPr lang="en-ID" sz="1800" dirty="0"/>
              <a:t>). Ex: database </a:t>
            </a:r>
            <a:r>
              <a:rPr lang="en-ID" sz="1800" dirty="0" err="1"/>
              <a:t>kontak</a:t>
            </a:r>
            <a:r>
              <a:rPr lang="en-ID" sz="1800" dirty="0"/>
              <a:t> </a:t>
            </a:r>
            <a:r>
              <a:rPr lang="en-ID" sz="1800" dirty="0" err="1"/>
              <a:t>pribadi</a:t>
            </a:r>
            <a:r>
              <a:rPr lang="en-ID" sz="1800" dirty="0"/>
              <a:t> di </a:t>
            </a:r>
            <a:r>
              <a:rPr lang="en-ID" sz="1800" dirty="0" err="1"/>
              <a:t>ponsel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Basis data </a:t>
            </a:r>
            <a:r>
              <a:rPr lang="en-ID" sz="1800" dirty="0" err="1"/>
              <a:t>kelompok</a:t>
            </a:r>
            <a:r>
              <a:rPr lang="en-ID" sz="1800" dirty="0"/>
              <a:t> </a:t>
            </a:r>
            <a:r>
              <a:rPr lang="en-ID" sz="1800" dirty="0" err="1"/>
              <a:t>kerja</a:t>
            </a:r>
            <a:r>
              <a:rPr lang="en-ID" sz="1800" dirty="0"/>
              <a:t> (</a:t>
            </a:r>
            <a:r>
              <a:rPr lang="en-ID" sz="1800" i="1" dirty="0"/>
              <a:t>workgroup databases</a:t>
            </a:r>
            <a:r>
              <a:rPr lang="en-ID" sz="1800" dirty="0"/>
              <a:t>). Ex: d</a:t>
            </a:r>
            <a:r>
              <a:rPr lang="sv-SE" sz="1800" dirty="0"/>
              <a:t>atabase peminjaman alat laboratorium yang digunakan oleh beberapa dosen.</a:t>
            </a: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Basis data </a:t>
            </a:r>
            <a:r>
              <a:rPr lang="en-ID" sz="1800" dirty="0" err="1"/>
              <a:t>departemen</a:t>
            </a:r>
            <a:r>
              <a:rPr lang="en-ID" sz="1800" dirty="0"/>
              <a:t> </a:t>
            </a:r>
            <a:r>
              <a:rPr lang="en-ID" sz="1800" dirty="0" err="1"/>
              <a:t>atau</a:t>
            </a:r>
            <a:r>
              <a:rPr lang="en-ID" sz="1800" dirty="0"/>
              <a:t> divisi (</a:t>
            </a:r>
            <a:r>
              <a:rPr lang="en-ID" sz="1800" i="1" dirty="0"/>
              <a:t>departmental/divisional databases</a:t>
            </a:r>
            <a:r>
              <a:rPr lang="en-ID" sz="1800" dirty="0"/>
              <a:t>). Ex: database </a:t>
            </a:r>
            <a:r>
              <a:rPr lang="en-ID" sz="1800" dirty="0" err="1"/>
              <a:t>kepegawaian</a:t>
            </a:r>
            <a:r>
              <a:rPr lang="en-ID" sz="1800" dirty="0"/>
              <a:t> pada </a:t>
            </a:r>
            <a:r>
              <a:rPr lang="en-ID" sz="1800" dirty="0" err="1"/>
              <a:t>bagian</a:t>
            </a:r>
            <a:r>
              <a:rPr lang="en-ID" sz="1800" dirty="0"/>
              <a:t> </a:t>
            </a:r>
            <a:r>
              <a:rPr lang="en-ID" sz="1800" dirty="0" err="1"/>
              <a:t>sumber</a:t>
            </a:r>
            <a:r>
              <a:rPr lang="en-ID" sz="1800" dirty="0"/>
              <a:t> </a:t>
            </a:r>
            <a:r>
              <a:rPr lang="en-ID" sz="1800" dirty="0" err="1"/>
              <a:t>daya</a:t>
            </a:r>
            <a:r>
              <a:rPr lang="en-ID" sz="1800" dirty="0"/>
              <a:t> </a:t>
            </a:r>
            <a:r>
              <a:rPr lang="en-ID" sz="1800" dirty="0" err="1"/>
              <a:t>manusia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Basis data </a:t>
            </a:r>
            <a:r>
              <a:rPr lang="en-ID" sz="1800" dirty="0" err="1"/>
              <a:t>perusahaan</a:t>
            </a:r>
            <a:r>
              <a:rPr lang="en-ID" sz="1800" dirty="0"/>
              <a:t> (</a:t>
            </a:r>
            <a:r>
              <a:rPr lang="en-ID" sz="1800" i="1" dirty="0"/>
              <a:t>enterprise database</a:t>
            </a:r>
            <a:r>
              <a:rPr lang="en-ID" sz="1800" dirty="0"/>
              <a:t>). Ex: </a:t>
            </a:r>
            <a:r>
              <a:rPr lang="en-ID" sz="1800" dirty="0" err="1"/>
              <a:t>sistem</a:t>
            </a:r>
            <a:r>
              <a:rPr lang="en-ID" sz="1800" dirty="0"/>
              <a:t> e-commerce </a:t>
            </a:r>
            <a:r>
              <a:rPr lang="en-ID" sz="1800" dirty="0" err="1"/>
              <a:t>besar</a:t>
            </a:r>
            <a:r>
              <a:rPr lang="en-ID" sz="1800" dirty="0"/>
              <a:t> yang </a:t>
            </a:r>
            <a:r>
              <a:rPr lang="en-ID" sz="1800" dirty="0" err="1"/>
              <a:t>menangani</a:t>
            </a:r>
            <a:r>
              <a:rPr lang="en-ID" sz="1800" dirty="0"/>
              <a:t> </a:t>
            </a:r>
            <a:r>
              <a:rPr lang="en-ID" sz="1800" dirty="0" err="1"/>
              <a:t>pengguna</a:t>
            </a:r>
            <a:r>
              <a:rPr lang="en-ID" sz="1800" dirty="0"/>
              <a:t>, </a:t>
            </a:r>
            <a:r>
              <a:rPr lang="en-ID" sz="1800" dirty="0" err="1"/>
              <a:t>pesanan</a:t>
            </a:r>
            <a:r>
              <a:rPr lang="en-ID" sz="1800" dirty="0"/>
              <a:t>, </a:t>
            </a:r>
            <a:r>
              <a:rPr lang="en-ID" sz="1800" dirty="0" err="1"/>
              <a:t>pembayaran</a:t>
            </a:r>
            <a:r>
              <a:rPr lang="en-ID" sz="1800" dirty="0"/>
              <a:t>, dan </a:t>
            </a:r>
            <a:r>
              <a:rPr lang="en-ID" sz="1800" dirty="0" err="1"/>
              <a:t>pengiriman</a:t>
            </a:r>
            <a:r>
              <a:rPr lang="en-ID" sz="1800" dirty="0"/>
              <a:t>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terpusat</a:t>
            </a:r>
            <a:r>
              <a:rPr lang="en-ID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15877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58B57A05-AAE7-9406-D064-7EBC65BE2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AC9C69A7-CC7F-CF4C-9B03-EC660142F5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JENIS-JENIS APLIKASI BASIS DATA (2)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5C238F3E-F39D-7D92-828E-94D47D83200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017725"/>
            <a:ext cx="7703999" cy="3847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</p:txBody>
      </p:sp>
      <p:pic>
        <p:nvPicPr>
          <p:cNvPr id="2" name="Picture 6" descr="CAP1">
            <a:extLst>
              <a:ext uri="{FF2B5EF4-FFF2-40B4-BE49-F238E27FC236}">
                <a16:creationId xmlns:a16="http://schemas.microsoft.com/office/drawing/2014/main" id="{4B810097-D89F-2DDD-73F8-98C092170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9997" y="1088485"/>
            <a:ext cx="5995086" cy="37060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730221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D35E843A-2C02-9EB0-8847-A58C83586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D50E1462-F132-9F18-7EC7-D55D79912D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CONTOH BASIS DATA PERSONAL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FA5A52CE-D366-5F91-B84F-36711E8F12C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177481" y="1017725"/>
            <a:ext cx="3246517" cy="3847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Data yang </a:t>
            </a:r>
            <a:r>
              <a:rPr lang="en-ID" sz="1800" dirty="0" err="1"/>
              <a:t>disimpan</a:t>
            </a:r>
            <a:r>
              <a:rPr lang="en-ID" sz="1800" dirty="0"/>
              <a:t> </a:t>
            </a:r>
            <a:r>
              <a:rPr lang="en-ID" sz="1800" dirty="0" err="1"/>
              <a:t>biasanya</a:t>
            </a:r>
            <a:r>
              <a:rPr lang="en-ID" sz="1800" dirty="0"/>
              <a:t> </a:t>
            </a:r>
            <a:r>
              <a:rPr lang="en-ID" sz="1800" dirty="0" err="1"/>
              <a:t>bersifat</a:t>
            </a:r>
            <a:r>
              <a:rPr lang="en-ID" sz="1800" dirty="0"/>
              <a:t> </a:t>
            </a:r>
            <a:r>
              <a:rPr lang="en-ID" sz="1800" dirty="0" err="1"/>
              <a:t>sederhana</a:t>
            </a:r>
            <a:r>
              <a:rPr lang="en-ID" sz="1800" dirty="0"/>
              <a:t>, </a:t>
            </a:r>
            <a:r>
              <a:rPr lang="en-ID" sz="1800" dirty="0" err="1"/>
              <a:t>terstruktur</a:t>
            </a:r>
            <a:r>
              <a:rPr lang="en-ID" sz="1800" dirty="0"/>
              <a:t>, dan </a:t>
            </a:r>
            <a:r>
              <a:rPr lang="en-ID" sz="1800" dirty="0" err="1"/>
              <a:t>berfokus</a:t>
            </a:r>
            <a:r>
              <a:rPr lang="en-ID" sz="1800" dirty="0"/>
              <a:t> pada </a:t>
            </a:r>
            <a:r>
              <a:rPr lang="en-ID" sz="1800" dirty="0" err="1"/>
              <a:t>kebutuhan</a:t>
            </a:r>
            <a:r>
              <a:rPr lang="en-ID" sz="1800" dirty="0"/>
              <a:t> </a:t>
            </a:r>
            <a:r>
              <a:rPr lang="en-ID" sz="1800" dirty="0" err="1"/>
              <a:t>pribadi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Basis data personal </a:t>
            </a:r>
            <a:r>
              <a:rPr lang="en-ID" sz="1800" dirty="0" err="1"/>
              <a:t>sering</a:t>
            </a:r>
            <a:r>
              <a:rPr lang="en-ID" sz="1800" dirty="0"/>
              <a:t> </a:t>
            </a:r>
            <a:r>
              <a:rPr lang="en-ID" sz="1800" dirty="0" err="1"/>
              <a:t>digunakan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pencatatan</a:t>
            </a:r>
            <a:r>
              <a:rPr lang="en-ID" sz="1800" dirty="0"/>
              <a:t>, </a:t>
            </a:r>
            <a:r>
              <a:rPr lang="en-ID" sz="1800" dirty="0" err="1"/>
              <a:t>pengarsipan</a:t>
            </a:r>
            <a:r>
              <a:rPr lang="en-ID" sz="1800" dirty="0"/>
              <a:t>, dan </a:t>
            </a:r>
            <a:r>
              <a:rPr lang="en-ID" sz="1800" dirty="0" err="1"/>
              <a:t>pengelolaan</a:t>
            </a:r>
            <a:r>
              <a:rPr lang="en-ID" sz="1800" dirty="0"/>
              <a:t> </a:t>
            </a:r>
            <a:r>
              <a:rPr lang="en-ID" sz="1800" dirty="0" err="1"/>
              <a:t>informasi</a:t>
            </a:r>
            <a:r>
              <a:rPr lang="en-ID" sz="1800" dirty="0"/>
              <a:t> </a:t>
            </a:r>
            <a:r>
              <a:rPr lang="en-ID" sz="1800" dirty="0" err="1"/>
              <a:t>harian</a:t>
            </a:r>
            <a:r>
              <a:rPr lang="en-ID" sz="1800" dirty="0"/>
              <a:t>.</a:t>
            </a:r>
          </a:p>
        </p:txBody>
      </p:sp>
      <p:pic>
        <p:nvPicPr>
          <p:cNvPr id="3" name="Picture 7" descr="CAP1">
            <a:extLst>
              <a:ext uri="{FF2B5EF4-FFF2-40B4-BE49-F238E27FC236}">
                <a16:creationId xmlns:a16="http://schemas.microsoft.com/office/drawing/2014/main" id="{860976EA-21DA-9374-1E9E-9F57B6D9E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9997" y="941831"/>
            <a:ext cx="4168346" cy="39993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912656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9F2160F4-E44F-2890-6B6E-296D90A3D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E9339503-AD8C-33E5-0955-A634A18F1E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CONTOH BASIS DATA WORKGROUP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DF20B306-1815-D715-BBCA-9D1A68481A2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107577" y="1017725"/>
            <a:ext cx="3316422" cy="3847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nn-NO" sz="1800" dirty="0"/>
              <a:t>Akses ke basis data dilakukan melalui </a:t>
            </a:r>
            <a:r>
              <a:rPr lang="nn-NO" sz="1800" b="1" dirty="0"/>
              <a:t>jaringan lokal</a:t>
            </a:r>
            <a:r>
              <a:rPr lang="nn-NO" sz="1800" dirty="0"/>
              <a:t>, sehingga data dapat dibagi dan diperbarui secara bersama-sama.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 err="1"/>
              <a:t>Sistem</a:t>
            </a:r>
            <a:r>
              <a:rPr lang="en-ID" sz="1800" dirty="0"/>
              <a:t> </a:t>
            </a:r>
            <a:r>
              <a:rPr lang="en-ID" sz="1800" dirty="0" err="1"/>
              <a:t>ini</a:t>
            </a:r>
            <a:r>
              <a:rPr lang="en-ID" sz="1800" dirty="0"/>
              <a:t> </a:t>
            </a:r>
            <a:r>
              <a:rPr lang="en-ID" sz="1800" dirty="0" err="1"/>
              <a:t>mendukung</a:t>
            </a:r>
            <a:r>
              <a:rPr lang="en-ID" sz="1800" dirty="0"/>
              <a:t> </a:t>
            </a:r>
            <a:r>
              <a:rPr lang="en-ID" sz="1800" b="1" dirty="0" err="1"/>
              <a:t>kolaborasi</a:t>
            </a:r>
            <a:r>
              <a:rPr lang="en-ID" sz="1800" b="1" dirty="0"/>
              <a:t> </a:t>
            </a:r>
            <a:r>
              <a:rPr lang="en-ID" sz="1800" b="1" dirty="0" err="1"/>
              <a:t>tim</a:t>
            </a:r>
            <a:r>
              <a:rPr lang="en-ID" sz="1800" dirty="0"/>
              <a:t>,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tetap</a:t>
            </a:r>
            <a:r>
              <a:rPr lang="en-ID" sz="1800" dirty="0"/>
              <a:t> </a:t>
            </a:r>
            <a:r>
              <a:rPr lang="en-ID" sz="1800" dirty="0" err="1"/>
              <a:t>menjaga</a:t>
            </a:r>
            <a:r>
              <a:rPr lang="en-ID" sz="1800" dirty="0"/>
              <a:t> </a:t>
            </a:r>
            <a:r>
              <a:rPr lang="en-ID" sz="1800" dirty="0" err="1"/>
              <a:t>konsistensi</a:t>
            </a:r>
            <a:r>
              <a:rPr lang="en-ID" sz="1800" dirty="0"/>
              <a:t> dan </a:t>
            </a:r>
            <a:r>
              <a:rPr lang="en-ID" sz="1800" dirty="0" err="1"/>
              <a:t>keterkinian</a:t>
            </a:r>
            <a:r>
              <a:rPr lang="en-ID" sz="1800" dirty="0"/>
              <a:t> data.</a:t>
            </a:r>
          </a:p>
        </p:txBody>
      </p:sp>
      <p:pic>
        <p:nvPicPr>
          <p:cNvPr id="2" name="Picture 5" descr="CAP1">
            <a:extLst>
              <a:ext uri="{FF2B5EF4-FFF2-40B4-BE49-F238E27FC236}">
                <a16:creationId xmlns:a16="http://schemas.microsoft.com/office/drawing/2014/main" id="{3A7D6C61-88B2-849B-5E43-F135DD111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084264"/>
            <a:ext cx="4367349" cy="26359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660730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E21DBD2C-770F-C8E8-19A0-054E3D990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024742B4-0E5E-A2AA-4A78-44127750CD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CONTOH BASIS DATA ENTERPRISE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B19A18F5-DAB6-EFF1-B87D-806ECA3220E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017725"/>
            <a:ext cx="7704000" cy="3847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Enterprise Resource Planning (ERP)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Fungsi-fungsi</a:t>
            </a:r>
            <a:r>
              <a:rPr lang="en-ID" sz="1800" dirty="0"/>
              <a:t> yang </a:t>
            </a:r>
            <a:r>
              <a:rPr lang="en-ID" sz="1800" dirty="0" err="1"/>
              <a:t>terintegrasi</a:t>
            </a:r>
            <a:r>
              <a:rPr lang="en-ID" sz="1800" dirty="0"/>
              <a:t> </a:t>
            </a:r>
            <a:r>
              <a:rPr lang="en-ID" sz="1800" dirty="0" err="1"/>
              <a:t>meliputi</a:t>
            </a:r>
            <a:r>
              <a:rPr lang="en-ID" sz="1800" dirty="0"/>
              <a:t> </a:t>
            </a:r>
            <a:r>
              <a:rPr lang="en-ID" sz="1800" b="1" dirty="0" err="1"/>
              <a:t>manufaktur</a:t>
            </a:r>
            <a:r>
              <a:rPr lang="en-ID" sz="1800" b="1" dirty="0"/>
              <a:t>, </a:t>
            </a:r>
            <a:r>
              <a:rPr lang="en-ID" sz="1800" b="1" dirty="0" err="1"/>
              <a:t>keuangan</a:t>
            </a:r>
            <a:r>
              <a:rPr lang="en-ID" sz="1800" b="1" dirty="0"/>
              <a:t>, </a:t>
            </a:r>
            <a:r>
              <a:rPr lang="en-ID" sz="1800" b="1" dirty="0" err="1"/>
              <a:t>penjualan</a:t>
            </a:r>
            <a:r>
              <a:rPr lang="en-ID" sz="1800" b="1" dirty="0"/>
              <a:t>, </a:t>
            </a:r>
            <a:r>
              <a:rPr lang="en-ID" sz="1800" b="1" dirty="0" err="1"/>
              <a:t>pemasaran</a:t>
            </a:r>
            <a:r>
              <a:rPr lang="en-ID" sz="1800" b="1" dirty="0"/>
              <a:t>, </a:t>
            </a:r>
            <a:r>
              <a:rPr lang="en-ID" sz="1800" b="1" dirty="0" err="1"/>
              <a:t>persediaan</a:t>
            </a:r>
            <a:r>
              <a:rPr lang="en-ID" sz="1800" b="1" dirty="0"/>
              <a:t>, </a:t>
            </a:r>
            <a:r>
              <a:rPr lang="en-ID" sz="1800" b="1" dirty="0" err="1"/>
              <a:t>akuntansi</a:t>
            </a:r>
            <a:r>
              <a:rPr lang="en-ID" sz="1800" b="1" dirty="0"/>
              <a:t>, dan </a:t>
            </a:r>
            <a:r>
              <a:rPr lang="en-ID" sz="1800" b="1" dirty="0" err="1"/>
              <a:t>sumber</a:t>
            </a:r>
            <a:r>
              <a:rPr lang="en-ID" sz="1800" b="1" dirty="0"/>
              <a:t> </a:t>
            </a:r>
            <a:r>
              <a:rPr lang="en-ID" sz="1800" b="1" dirty="0" err="1"/>
              <a:t>daya</a:t>
            </a:r>
            <a:r>
              <a:rPr lang="en-ID" sz="1800" b="1" dirty="0"/>
              <a:t> </a:t>
            </a:r>
            <a:r>
              <a:rPr lang="en-ID" sz="1800" b="1" dirty="0" err="1"/>
              <a:t>manusia</a:t>
            </a:r>
            <a:r>
              <a:rPr lang="en-ID" sz="1800" dirty="0"/>
              <a:t>.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integrasi</a:t>
            </a:r>
            <a:r>
              <a:rPr lang="en-ID" sz="1800" dirty="0"/>
              <a:t> </a:t>
            </a:r>
            <a:r>
              <a:rPr lang="en-ID" sz="1800" dirty="0" err="1"/>
              <a:t>ini</a:t>
            </a:r>
            <a:r>
              <a:rPr lang="en-ID" sz="1800" dirty="0"/>
              <a:t>, data </a:t>
            </a:r>
            <a:r>
              <a:rPr lang="en-ID" sz="1800" dirty="0" err="1"/>
              <a:t>mengalir</a:t>
            </a:r>
            <a:r>
              <a:rPr lang="en-ID" sz="1800" dirty="0"/>
              <a:t>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konsisten</a:t>
            </a:r>
            <a:r>
              <a:rPr lang="en-ID" sz="1800" dirty="0"/>
              <a:t> </a:t>
            </a:r>
            <a:r>
              <a:rPr lang="en-ID" sz="1800" dirty="0" err="1"/>
              <a:t>antar</a:t>
            </a:r>
            <a:r>
              <a:rPr lang="en-ID" sz="1800" dirty="0"/>
              <a:t> unit </a:t>
            </a:r>
            <a:r>
              <a:rPr lang="en-ID" sz="1800" dirty="0" err="1"/>
              <a:t>kerja</a:t>
            </a:r>
            <a:r>
              <a:rPr lang="en-ID" sz="1800" dirty="0"/>
              <a:t> dan </a:t>
            </a:r>
            <a:r>
              <a:rPr lang="en-ID" sz="1800" dirty="0" err="1"/>
              <a:t>mendukung</a:t>
            </a:r>
            <a:r>
              <a:rPr lang="en-ID" sz="1800" dirty="0"/>
              <a:t> </a:t>
            </a:r>
            <a:r>
              <a:rPr lang="en-ID" sz="1800" dirty="0" err="1"/>
              <a:t>efisiensi</a:t>
            </a:r>
            <a:r>
              <a:rPr lang="en-ID" sz="1800" dirty="0"/>
              <a:t> </a:t>
            </a:r>
            <a:r>
              <a:rPr lang="en-ID" sz="1800" dirty="0" err="1"/>
              <a:t>operasional</a:t>
            </a:r>
            <a:r>
              <a:rPr lang="en-ID" sz="1800" dirty="0"/>
              <a:t> </a:t>
            </a:r>
            <a:r>
              <a:rPr lang="en-ID" sz="1800" dirty="0" err="1"/>
              <a:t>organisasi</a:t>
            </a:r>
            <a:r>
              <a:rPr lang="en-ID" sz="1800" dirty="0"/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D" sz="1800" dirty="0"/>
              <a:t>Data Warehouse</a:t>
            </a:r>
          </a:p>
          <a:p>
            <a:pPr marL="542925" lvl="0" indent="-271463">
              <a:buFont typeface="Wingdings" panose="05000000000000000000" pitchFamily="2" charset="2"/>
              <a:buChar char="§"/>
            </a:pPr>
            <a:r>
              <a:rPr lang="en-ID" sz="1800" dirty="0" err="1"/>
              <a:t>Mengintegrasikan</a:t>
            </a:r>
            <a:r>
              <a:rPr lang="en-ID" sz="1800" dirty="0"/>
              <a:t> data </a:t>
            </a:r>
            <a:r>
              <a:rPr lang="en-ID" sz="1800" dirty="0" err="1"/>
              <a:t>dari</a:t>
            </a:r>
            <a:r>
              <a:rPr lang="en-ID" sz="1800" dirty="0"/>
              <a:t> </a:t>
            </a:r>
            <a:r>
              <a:rPr lang="en-ID" sz="1800" dirty="0" err="1"/>
              <a:t>berbagai</a:t>
            </a:r>
            <a:r>
              <a:rPr lang="en-ID" sz="1800" dirty="0"/>
              <a:t> basis data </a:t>
            </a:r>
            <a:r>
              <a:rPr lang="en-ID" sz="1800" dirty="0" err="1"/>
              <a:t>operasional</a:t>
            </a:r>
            <a:r>
              <a:rPr lang="en-ID" sz="1800" dirty="0"/>
              <a:t>. Data </a:t>
            </a:r>
            <a:r>
              <a:rPr lang="en-ID" sz="1800" dirty="0" err="1"/>
              <a:t>disimpan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bentuk</a:t>
            </a:r>
            <a:r>
              <a:rPr lang="en-ID" sz="1800" dirty="0"/>
              <a:t> </a:t>
            </a:r>
            <a:r>
              <a:rPr lang="en-ID" sz="1800" dirty="0" err="1"/>
              <a:t>terpusat</a:t>
            </a:r>
            <a:r>
              <a:rPr lang="en-ID" sz="1800" dirty="0"/>
              <a:t> dan </a:t>
            </a:r>
            <a:r>
              <a:rPr lang="en-ID" sz="1800" dirty="0" err="1"/>
              <a:t>terstruktur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keperluan</a:t>
            </a:r>
            <a:r>
              <a:rPr lang="en-ID" sz="1800" dirty="0"/>
              <a:t> </a:t>
            </a:r>
            <a:r>
              <a:rPr lang="en-ID" sz="1800" b="1" dirty="0" err="1"/>
              <a:t>analisis</a:t>
            </a:r>
            <a:r>
              <a:rPr lang="en-ID" sz="1800" b="1" dirty="0"/>
              <a:t>, </a:t>
            </a:r>
            <a:r>
              <a:rPr lang="en-ID" sz="1800" b="1" dirty="0" err="1"/>
              <a:t>pelaporan</a:t>
            </a:r>
            <a:r>
              <a:rPr lang="en-ID" sz="1800" b="1" dirty="0"/>
              <a:t>, dan </a:t>
            </a:r>
            <a:r>
              <a:rPr lang="en-ID" sz="1800" b="1" dirty="0" err="1"/>
              <a:t>perencanaan</a:t>
            </a:r>
            <a:r>
              <a:rPr lang="en-ID" sz="1800" b="1" dirty="0"/>
              <a:t> </a:t>
            </a:r>
            <a:r>
              <a:rPr lang="en-ID" sz="1800" b="1" dirty="0" err="1"/>
              <a:t>strategis</a:t>
            </a:r>
            <a:r>
              <a:rPr lang="en-ID" sz="1800" dirty="0"/>
              <a:t>, </a:t>
            </a:r>
            <a:r>
              <a:rPr lang="en-ID" sz="1800" dirty="0" err="1"/>
              <a:t>bukan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transaksi</a:t>
            </a:r>
            <a:r>
              <a:rPr lang="en-ID" sz="1800" dirty="0"/>
              <a:t> </a:t>
            </a:r>
            <a:r>
              <a:rPr lang="en-ID" sz="1800" dirty="0" err="1"/>
              <a:t>harian</a:t>
            </a:r>
            <a:r>
              <a:rPr lang="en-ID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68346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FF8C65F5-E80C-F290-0725-8A7F273AC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A5ACE7BA-F12C-3AA9-32D0-02A2D8E711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BASIS DATA ENTERPRISE (DATA WAREHOUSE)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C8AC018B-7C81-7454-E164-7A3F8067635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017725"/>
            <a:ext cx="7704000" cy="3847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</p:txBody>
      </p:sp>
      <p:pic>
        <p:nvPicPr>
          <p:cNvPr id="2" name="Picture 5" descr="CAP1">
            <a:extLst>
              <a:ext uri="{FF2B5EF4-FFF2-40B4-BE49-F238E27FC236}">
                <a16:creationId xmlns:a16="http://schemas.microsoft.com/office/drawing/2014/main" id="{BB46DCDA-9B9E-A9DC-33E3-FD9D7F39B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6438" y="968380"/>
            <a:ext cx="5616146" cy="38969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895079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30B80D52-4A5B-C1B4-EE73-FE047501E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C93D59D3-AD92-1018-93AF-C93B7C4355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EVOLUSI BASIS DATA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DD9A5801-50B4-B076-5925-35C5125B9C9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017725"/>
            <a:ext cx="7704000" cy="3847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endParaRPr lang="en-ID" sz="1800" dirty="0"/>
          </a:p>
        </p:txBody>
      </p:sp>
      <p:pic>
        <p:nvPicPr>
          <p:cNvPr id="3" name="Picture 4" descr="CAP1">
            <a:extLst>
              <a:ext uri="{FF2B5EF4-FFF2-40B4-BE49-F238E27FC236}">
                <a16:creationId xmlns:a16="http://schemas.microsoft.com/office/drawing/2014/main" id="{3BC59CC9-394F-F2A6-D2C5-D26CDD2C9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9998" y="1017725"/>
            <a:ext cx="7136027" cy="38292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98398011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5141</Words>
  <Application>Microsoft Macintosh PowerPoint</Application>
  <PresentationFormat>On-screen Show (16:9)</PresentationFormat>
  <Paragraphs>512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Hanken Grotesk</vt:lpstr>
      <vt:lpstr>Raleway Black</vt:lpstr>
      <vt:lpstr>Arial</vt:lpstr>
      <vt:lpstr>Times New Roman</vt:lpstr>
      <vt:lpstr>Wingdings</vt:lpstr>
      <vt:lpstr>Technology Market Research Pitch Deck by Slidesgo</vt:lpstr>
      <vt:lpstr>PENGANTAR BASIS DATA</vt:lpstr>
      <vt:lpstr>Capaian Pembelajaran</vt:lpstr>
      <vt:lpstr>DEFINISI</vt:lpstr>
      <vt:lpstr>DATA DALAM KONTEKS</vt:lpstr>
      <vt:lpstr>DATA YANG DIAGREGASI</vt:lpstr>
      <vt:lpstr>PROPERTI DATA</vt:lpstr>
      <vt:lpstr>MENGAPA SISTEM BASIS DATA?</vt:lpstr>
      <vt:lpstr>CONTOH APLIKASI PADA UNIVERSITAS</vt:lpstr>
      <vt:lpstr>CONTOH SISTEM PEMROSESAN BERKAS</vt:lpstr>
      <vt:lpstr>KELEMAHAN SISTEM PEMROSESAN BERKAS (1) </vt:lpstr>
      <vt:lpstr>KELEMAHAN SISTEM PEMROSESAN BERKAS (2) </vt:lpstr>
      <vt:lpstr>KELEMAHAN SISTEM PEMROSESAN BERKAS (3) </vt:lpstr>
      <vt:lpstr>SOLUSI: PENDEKATAN BASIS DATA</vt:lpstr>
      <vt:lpstr>DATABASE MANAGEMENT SYSTEM (DBMS)</vt:lpstr>
      <vt:lpstr>KELEBIHAN BASIS DATA</vt:lpstr>
      <vt:lpstr>BIAYA DAN RESIKO SISTEM BASIS DATA</vt:lpstr>
      <vt:lpstr>TINGKATAN ABSTRAKSI DATA</vt:lpstr>
      <vt:lpstr>ARSITEKTUR TAMPILAN DATA</vt:lpstr>
      <vt:lpstr>SCHEMA DAN INSTANCE</vt:lpstr>
      <vt:lpstr>MODEL DATA</vt:lpstr>
      <vt:lpstr>MODEL RELASIONAL</vt:lpstr>
      <vt:lpstr>CONTOH MODEL RELASIONAL</vt:lpstr>
      <vt:lpstr>DATA MANIPULATION LANGUAGE (DML)</vt:lpstr>
      <vt:lpstr>DATA DEFINITION LANGUAGE (DDL)</vt:lpstr>
      <vt:lpstr>STRUCTURED QUERY LANGUAGE (SQL)</vt:lpstr>
      <vt:lpstr>PERANCANGAN BASIS DATA (1)</vt:lpstr>
      <vt:lpstr>PERANCANGAN BASIS DATA (2)</vt:lpstr>
      <vt:lpstr>PENDEKATAN PERANCANGAN BASIS DATA </vt:lpstr>
      <vt:lpstr>KOMPONEN SISTEM BASIS DATA </vt:lpstr>
      <vt:lpstr>KOMPONEN LINGKUNGAN BASIS DATA (1) </vt:lpstr>
      <vt:lpstr>KOMPONEN LINGKUNGAN BASIS DATA (2)</vt:lpstr>
      <vt:lpstr>MEKANISME INTERNAL SISTEM BASIS DATA </vt:lpstr>
      <vt:lpstr>MANAJEMEN PENYIMPANAN </vt:lpstr>
      <vt:lpstr>PEMROSESAN KUERI (1)</vt:lpstr>
      <vt:lpstr>PEMROSESAN KUERI (2)</vt:lpstr>
      <vt:lpstr>MANAJEMEN TRANSAKSI</vt:lpstr>
      <vt:lpstr>PENGGUNA BASIS DATA</vt:lpstr>
      <vt:lpstr>ADMINISTRATOR BASIS DATA</vt:lpstr>
      <vt:lpstr>ARSITEKTUR SISTEM BASIS DATA</vt:lpstr>
      <vt:lpstr>ARSITEKTUR APLIKASI</vt:lpstr>
      <vt:lpstr>JENIS-JENIS APLIKASI BASIS DATA (1)</vt:lpstr>
      <vt:lpstr>JENIS-JENIS APLIKASI BASIS DATA (2)</vt:lpstr>
      <vt:lpstr>CONTOH BASIS DATA PERSONAL</vt:lpstr>
      <vt:lpstr>CONTOH BASIS DATA WORKGROUP</vt:lpstr>
      <vt:lpstr>CONTOH BASIS DATA ENTERPRISE</vt:lpstr>
      <vt:lpstr>BASIS DATA ENTERPRISE (DATA WAREHOUSE)</vt:lpstr>
      <vt:lpstr>EVOLUSI BASIS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ARIEF ICHWANI</dc:creator>
  <cp:lastModifiedBy>?Hartanto Tantriawan</cp:lastModifiedBy>
  <cp:revision>182</cp:revision>
  <dcterms:modified xsi:type="dcterms:W3CDTF">2026-02-03T16:37:51Z</dcterms:modified>
</cp:coreProperties>
</file>