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53"/>
  </p:notesMasterIdLst>
  <p:sldIdLst>
    <p:sldId id="256" r:id="rId2"/>
    <p:sldId id="257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344" r:id="rId36"/>
    <p:sldId id="418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19" r:id="rId51"/>
    <p:sldId id="433" r:id="rId52"/>
  </p:sldIdLst>
  <p:sldSz cx="9144000" cy="5143500" type="screen16x9"/>
  <p:notesSz cx="6858000" cy="9144000"/>
  <p:embeddedFontLst>
    <p:embeddedFont>
      <p:font typeface="Hanken Grotesk" pitchFamily="2" charset="77"/>
      <p:regular r:id="rId54"/>
      <p:bold r:id="rId55"/>
      <p:italic r:id="rId56"/>
      <p:boldItalic r:id="rId57"/>
    </p:embeddedFont>
    <p:embeddedFont>
      <p:font typeface="Raleway Black" pitchFamily="2" charset="7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75E96C-35EA-3741-8FEA-ADDDACC32DFC}" v="252" dt="2026-03-25T16:03:30.476"/>
  </p1510:revLst>
</p1510:revInfo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3"/>
    <p:restoredTop sz="79818" autoAdjust="0"/>
  </p:normalViewPr>
  <p:slideViewPr>
    <p:cSldViewPr snapToGrid="0">
      <p:cViewPr varScale="1">
        <p:scale>
          <a:sx n="151" d="100"/>
          <a:sy n="151" d="100"/>
        </p:scale>
        <p:origin x="216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Penjelasan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Teknis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Pemecahan</a:t>
            </a:r>
            <a:endParaRPr lang="en-ID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$(\alpha \cup \beta)$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Tabel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mengelompokkan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determinant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beserta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diputuskannya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department name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gedung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anggaran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$(R - (\beta - \alpha))$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Tabel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mempertahankan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hubungan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penentu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menyebabkan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pelanggaran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Hal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memastikan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tetap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terjaga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redundansi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gedung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anggaran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berulang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baris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instruktur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bersifat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lossless-join decomposition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artinya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hilang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munculnya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anomali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83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Poin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slide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i="1" dirty="0"/>
              <a:t>trade-off</a:t>
            </a:r>
            <a:r>
              <a:rPr lang="en-ID" dirty="0"/>
              <a:t> (</a:t>
            </a:r>
            <a:r>
              <a:rPr lang="en-ID" dirty="0" err="1"/>
              <a:t>pertukaran</a:t>
            </a:r>
            <a:r>
              <a:rPr lang="en-ID" dirty="0"/>
              <a:t> </a:t>
            </a:r>
            <a:r>
              <a:rPr lang="en-ID" dirty="0" err="1"/>
              <a:t>kepentingan</a:t>
            </a:r>
            <a:r>
              <a:rPr lang="en-ID" dirty="0"/>
              <a:t>)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desain</a:t>
            </a:r>
            <a:r>
              <a:rPr lang="en-ID" dirty="0"/>
              <a:t> basis data:</a:t>
            </a:r>
          </a:p>
          <a:p>
            <a:r>
              <a:rPr lang="en-ID" b="1" dirty="0"/>
              <a:t>BCNF</a:t>
            </a:r>
            <a:r>
              <a:rPr lang="en-ID" dirty="0"/>
              <a:t> sangat </a:t>
            </a:r>
            <a:r>
              <a:rPr lang="en-ID" dirty="0" err="1"/>
              <a:t>efektif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terkadang</a:t>
            </a:r>
            <a:r>
              <a:rPr lang="en-ID" dirty="0"/>
              <a:t> "</a:t>
            </a:r>
            <a:r>
              <a:rPr lang="en-ID" dirty="0" err="1"/>
              <a:t>memecah</a:t>
            </a:r>
            <a:r>
              <a:rPr lang="en-ID" dirty="0"/>
              <a:t>"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divalidasi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i="1" dirty="0"/>
              <a:t>join</a:t>
            </a:r>
            <a:r>
              <a:rPr lang="en-ID" dirty="0"/>
              <a:t> yang mahal.</a:t>
            </a:r>
          </a:p>
          <a:p>
            <a:r>
              <a:rPr lang="en-ID" b="1" dirty="0"/>
              <a:t>3NF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dipilih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kompromi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3NF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pemeliharaan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(</a:t>
            </a:r>
            <a:r>
              <a:rPr lang="en-ID" i="1" dirty="0"/>
              <a:t>dependency preservation</a:t>
            </a:r>
            <a:r>
              <a:rPr lang="en-ID" dirty="0"/>
              <a:t>), </a:t>
            </a:r>
            <a:r>
              <a:rPr lang="en-ID" dirty="0" err="1"/>
              <a:t>meskipun</a:t>
            </a:r>
            <a:r>
              <a:rPr lang="en-ID" dirty="0"/>
              <a:t>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menyisakan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data </a:t>
            </a:r>
            <a:r>
              <a:rPr lang="en-ID" dirty="0" err="1"/>
              <a:t>dibandingkan</a:t>
            </a:r>
            <a:r>
              <a:rPr lang="en-ID" dirty="0"/>
              <a:t> BCNF.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12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memberikan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metodologi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pengujian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desainer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basis data: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Eksplisit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Menghitung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ketergantungan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fungsional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mungkin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muncul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baru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($F^+$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dibatasi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pada $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R_i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$). Ini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sering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kali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sulit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jumlah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kombinasi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$F^+$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sangat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Praktis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attribute closure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induk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($R$). 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penutupan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$\alpha$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mengambil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R_i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tetapi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super),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pelanggaran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BCNF.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56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terlihat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dilakukan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menghilangkan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redundansi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kursus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berulang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kelas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section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Namun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perhatikan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class-1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sebenarnya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memiliki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pelanggaran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BCNF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lainnya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yaitu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$building, room\_number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capacity$</a:t>
            </a: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gedung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nomor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kapasitas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namun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merupakan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class-1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class-1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berikutnya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benar-benar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mencapai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BCNF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8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169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303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F7E5D3-9B58-1C6A-D121-577385B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2A34DA-9CF1-4A05-66C2-12AC8C6A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8D52336-3E6B-9510-D5E3-50254A58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036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ACE5AE3-6345-6001-95F2-75E11D9E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6482DA39-4587-74A4-52BA-3C71FC46F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21DAAC2D-8C00-33CA-9371-8DBEB6892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1952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3E96DD1-1785-1240-E559-3BFC4098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5DC5E07-A654-E6F8-2D40-BAE534676B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8E86CDF-A6FD-F888-36AA-2FCCC4A21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3899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1431" y="1580601"/>
            <a:ext cx="7124472" cy="738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Normalisasi</a:t>
            </a:r>
            <a:r>
              <a:rPr lang="en" dirty="0"/>
              <a:t> Data </a:t>
            </a:r>
            <a:br>
              <a:rPr lang="en" dirty="0"/>
            </a:br>
            <a:r>
              <a:rPr lang="en" dirty="0"/>
              <a:t>(BCNF, 3NF, 4NF)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3196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2000" dirty="0" err="1"/>
              <a:t>Mendeskripsikan</a:t>
            </a:r>
            <a:r>
              <a:rPr lang="en-ID" sz="2000" dirty="0"/>
              <a:t> </a:t>
            </a:r>
            <a:r>
              <a:rPr lang="en-ID" sz="2000" dirty="0" err="1"/>
              <a:t>definisi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3NF</a:t>
            </a:r>
            <a:r>
              <a:rPr lang="en-ID" sz="2000" b="1" dirty="0">
                <a:solidFill>
                  <a:schemeClr val="tx1"/>
                </a:solidFill>
              </a:rPr>
              <a:t>, dan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b="1" dirty="0">
                <a:solidFill>
                  <a:schemeClr val="tx1"/>
                </a:solidFill>
              </a:rPr>
              <a:t>.</a:t>
            </a:r>
          </a:p>
          <a:p>
            <a:r>
              <a:rPr lang="en-ID" sz="2000" dirty="0" err="1">
                <a:solidFill>
                  <a:schemeClr val="tx1"/>
                </a:solidFill>
              </a:rPr>
              <a:t>Mengidentifikasi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apakah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suatu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relasi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memenuhi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kriteria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b="1" dirty="0">
                <a:solidFill>
                  <a:srgbClr val="FFC000"/>
                </a:solidFill>
              </a:rPr>
              <a:t>1NF, 2NF, 3NF, </a:t>
            </a:r>
            <a:r>
              <a:rPr lang="en-ID" sz="2000" b="1" dirty="0" err="1">
                <a:solidFill>
                  <a:schemeClr val="tx1"/>
                </a:solidFill>
              </a:rPr>
              <a:t>atau</a:t>
            </a:r>
            <a:r>
              <a:rPr lang="en-ID" sz="2000" b="1" dirty="0">
                <a:solidFill>
                  <a:srgbClr val="FFC000"/>
                </a:solidFill>
              </a:rPr>
              <a:t> BCNF.</a:t>
            </a:r>
          </a:p>
          <a:p>
            <a:r>
              <a:rPr lang="en-ID" sz="2000" dirty="0" err="1">
                <a:solidFill>
                  <a:schemeClr val="tx1"/>
                </a:solidFill>
              </a:rPr>
              <a:t>Melakukan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normalisasi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relasi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b="1" dirty="0">
                <a:solidFill>
                  <a:srgbClr val="FFC000"/>
                </a:solidFill>
              </a:rPr>
              <a:t>1NF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menjadi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sekumpulan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relasi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b="1" dirty="0">
                <a:solidFill>
                  <a:srgbClr val="FFC000"/>
                </a:solidFill>
              </a:rPr>
              <a:t>3NF</a:t>
            </a:r>
            <a:r>
              <a:rPr lang="en-ID" sz="2000" dirty="0">
                <a:solidFill>
                  <a:schemeClr val="tx1"/>
                </a:solidFill>
              </a:rPr>
              <a:t> (</a:t>
            </a:r>
            <a:r>
              <a:rPr lang="en-ID" sz="2000" dirty="0" err="1">
                <a:solidFill>
                  <a:schemeClr val="tx1"/>
                </a:solidFill>
              </a:rPr>
              <a:t>atau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dirty="0">
                <a:solidFill>
                  <a:schemeClr val="tx1"/>
                </a:solidFill>
              </a:rPr>
              <a:t>) dan </a:t>
            </a:r>
            <a:r>
              <a:rPr lang="en-ID" sz="2000" dirty="0" err="1">
                <a:solidFill>
                  <a:schemeClr val="tx1"/>
                </a:solidFill>
              </a:rPr>
              <a:t>melakukan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denormalisasi</a:t>
            </a:r>
            <a:r>
              <a:rPr lang="en-ID" sz="2000" dirty="0">
                <a:solidFill>
                  <a:schemeClr val="tx1"/>
                </a:solidFill>
              </a:rPr>
              <a:t> pada </a:t>
            </a:r>
            <a:r>
              <a:rPr lang="en-ID" sz="2000" dirty="0" err="1">
                <a:solidFill>
                  <a:schemeClr val="tx1"/>
                </a:solidFill>
              </a:rPr>
              <a:t>skema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relasional</a:t>
            </a:r>
            <a:r>
              <a:rPr lang="en-ID" sz="2000" dirty="0">
                <a:solidFill>
                  <a:schemeClr val="tx1"/>
                </a:solidFill>
              </a:rPr>
              <a:t>.</a:t>
            </a:r>
          </a:p>
          <a:p>
            <a:r>
              <a:rPr lang="en-ID" sz="2000" dirty="0" err="1">
                <a:solidFill>
                  <a:schemeClr val="tx1"/>
                </a:solidFill>
              </a:rPr>
              <a:t>Menjelaskan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dampak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normalisasi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terhadap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efisiensi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operasi</a:t>
            </a:r>
            <a:r>
              <a:rPr lang="en-ID" sz="2000" dirty="0">
                <a:solidFill>
                  <a:schemeClr val="tx1"/>
                </a:solidFill>
              </a:rPr>
              <a:t> basis data, </a:t>
            </a:r>
            <a:r>
              <a:rPr lang="en-ID" sz="2000" dirty="0" err="1">
                <a:solidFill>
                  <a:schemeClr val="tx1"/>
                </a:solidFill>
              </a:rPr>
              <a:t>khususnya</a:t>
            </a:r>
            <a:r>
              <a:rPr lang="en-ID" sz="2000" dirty="0">
                <a:solidFill>
                  <a:schemeClr val="tx1"/>
                </a:solidFill>
              </a:rPr>
              <a:t> pada </a:t>
            </a:r>
            <a:r>
              <a:rPr lang="en-ID" sz="2000" dirty="0" err="1">
                <a:solidFill>
                  <a:schemeClr val="tx1"/>
                </a:solidFill>
              </a:rPr>
              <a:t>optimasi</a:t>
            </a:r>
            <a:r>
              <a:rPr lang="en-ID" sz="2000" dirty="0">
                <a:solidFill>
                  <a:schemeClr val="tx1"/>
                </a:solidFill>
              </a:rPr>
              <a:t> </a:t>
            </a:r>
            <a:r>
              <a:rPr lang="en-ID" sz="2000" dirty="0" err="1">
                <a:solidFill>
                  <a:schemeClr val="tx1"/>
                </a:solidFill>
              </a:rPr>
              <a:t>kueri</a:t>
            </a:r>
            <a:r>
              <a:rPr lang="en-ID" sz="2000" dirty="0">
                <a:solidFill>
                  <a:schemeClr val="tx1"/>
                </a:solidFill>
              </a:rPr>
              <a:t> (</a:t>
            </a:r>
            <a:r>
              <a:rPr lang="en-ID" sz="2000" b="1" i="1" dirty="0">
                <a:solidFill>
                  <a:srgbClr val="FFC000"/>
                </a:solidFill>
              </a:rPr>
              <a:t>query optimization</a:t>
            </a:r>
            <a:r>
              <a:rPr lang="en-ID" sz="2000" dirty="0">
                <a:solidFill>
                  <a:schemeClr val="tx1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89034-DF3C-66C5-5B85-CF0FBEDD2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Boyce-Codd Normal Form (BCNF)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C516E-1E9B-E0C4-8F78-7C7193C28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4227323"/>
          </a:xfrm>
        </p:spPr>
        <p:txBody>
          <a:bodyPr/>
          <a:lstStyle/>
          <a:p>
            <a:pPr marL="152400" indent="0">
              <a:buNone/>
            </a:pP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R</a:t>
            </a:r>
            <a:r>
              <a:rPr lang="en-ID" sz="1800" dirty="0"/>
              <a:t> </a:t>
            </a:r>
            <a:r>
              <a:rPr lang="en-ID" sz="1800" dirty="0" err="1"/>
              <a:t>dikatakan</a:t>
            </a:r>
            <a:r>
              <a:rPr lang="en-ID" sz="1800" dirty="0"/>
              <a:t>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BCNF</a:t>
            </a:r>
            <a:r>
              <a:rPr lang="en-ID" sz="1800" dirty="0"/>
              <a:t> </a:t>
            </a:r>
            <a:r>
              <a:rPr lang="en-ID" sz="1800" dirty="0" err="1"/>
              <a:t>terhadap</a:t>
            </a:r>
            <a:r>
              <a:rPr lang="en-ID" sz="1800" dirty="0"/>
              <a:t> </a:t>
            </a:r>
            <a:r>
              <a:rPr lang="en-ID" sz="1800" dirty="0" err="1"/>
              <a:t>sekumpulan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F</a:t>
            </a:r>
            <a:r>
              <a:rPr lang="en-ID" sz="1800" dirty="0"/>
              <a:t>, </a:t>
            </a:r>
            <a:r>
              <a:rPr lang="en-ID" sz="1800" dirty="0" err="1"/>
              <a:t>jika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semua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1800" b="1" baseline="30000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:</a:t>
            </a:r>
          </a:p>
          <a:p>
            <a:pPr lvl="1"/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α →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</a:p>
          <a:p>
            <a:pPr marL="88900" lvl="1" indent="0">
              <a:buNone/>
            </a:pPr>
            <a:r>
              <a:rPr lang="en-ID" sz="1800" dirty="0"/>
              <a:t>di mana </a:t>
            </a:r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α ⊆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dan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β</a:t>
            </a:r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⊆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ID" sz="1800" dirty="0"/>
              <a:t>, </a:t>
            </a:r>
            <a:r>
              <a:rPr lang="en-ID" sz="1800" dirty="0" err="1"/>
              <a:t>setidaknya</a:t>
            </a:r>
            <a:r>
              <a:rPr lang="en-ID" sz="1800" dirty="0"/>
              <a:t> salah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kondisi</a:t>
            </a:r>
            <a:r>
              <a:rPr lang="en-ID" sz="1800" dirty="0"/>
              <a:t> </a:t>
            </a:r>
            <a:r>
              <a:rPr lang="en-ID" sz="1800" dirty="0" err="1"/>
              <a:t>berikut</a:t>
            </a:r>
            <a:r>
              <a:rPr lang="en-ID" sz="1800" dirty="0"/>
              <a:t> </a:t>
            </a:r>
            <a:r>
              <a:rPr lang="en-ID" sz="1800" dirty="0" err="1"/>
              <a:t>terpenuhi</a:t>
            </a:r>
            <a:r>
              <a:rPr lang="en-ID" sz="1800" dirty="0"/>
              <a:t>:</a:t>
            </a:r>
          </a:p>
          <a:p>
            <a:pPr lvl="1"/>
            <a:r>
              <a:rPr lang="en-US" sz="1800" b="1" dirty="0">
                <a:solidFill>
                  <a:srgbClr val="FFC000"/>
                </a:solidFill>
              </a:rPr>
              <a:t>α → </a:t>
            </a:r>
            <a:r>
              <a:rPr lang="en-US" sz="1800" b="1" i="1" dirty="0">
                <a:solidFill>
                  <a:srgbClr val="FFC000"/>
                </a:solidFill>
              </a:rPr>
              <a:t>β</a:t>
            </a:r>
            <a:r>
              <a:rPr lang="en-US" sz="1800" i="1" dirty="0"/>
              <a:t>  </a:t>
            </a:r>
            <a:r>
              <a:rPr lang="en-US" sz="1800" dirty="0" err="1"/>
              <a:t>adalah</a:t>
            </a:r>
            <a:r>
              <a:rPr lang="en-US" sz="1800" dirty="0"/>
              <a:t> trivial (i.e., </a:t>
            </a:r>
            <a:r>
              <a:rPr lang="en-US" sz="1800" b="1" i="1" dirty="0">
                <a:solidFill>
                  <a:srgbClr val="FFC000"/>
                </a:solidFill>
              </a:rPr>
              <a:t>β</a:t>
            </a:r>
            <a:r>
              <a:rPr lang="en-US" sz="1800" b="1" dirty="0">
                <a:solidFill>
                  <a:srgbClr val="FFC000"/>
                </a:solidFill>
              </a:rPr>
              <a:t> ⊆ α</a:t>
            </a:r>
            <a:r>
              <a:rPr lang="en-US" sz="1800" dirty="0"/>
              <a:t>)</a:t>
            </a:r>
            <a:endParaRPr lang="en-ID" sz="1800" dirty="0"/>
          </a:p>
          <a:p>
            <a:pPr lvl="1"/>
            <a:r>
              <a:rPr lang="en-US" sz="1800" b="1" dirty="0">
                <a:solidFill>
                  <a:srgbClr val="FFC000"/>
                </a:solidFill>
              </a:rPr>
              <a:t>α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FFC000"/>
                </a:solidFill>
              </a:rPr>
              <a:t>superkey</a:t>
            </a:r>
            <a:r>
              <a:rPr lang="en-US" sz="1800" dirty="0"/>
              <a:t>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b="1" i="1" dirty="0">
                <a:solidFill>
                  <a:srgbClr val="FFC000"/>
                </a:solidFill>
              </a:rPr>
              <a:t>R</a:t>
            </a:r>
          </a:p>
          <a:p>
            <a:pPr lvl="1"/>
            <a:endParaRPr lang="en-ID" sz="1800" b="1" dirty="0">
              <a:solidFill>
                <a:srgbClr val="FFC000"/>
              </a:solidFill>
            </a:endParaRPr>
          </a:p>
          <a:p>
            <a:pPr marL="136525" lvl="2" indent="0">
              <a:buNone/>
            </a:pPr>
            <a:r>
              <a:rPr lang="en-ID" sz="1800" b="1" dirty="0" err="1"/>
              <a:t>Contoh</a:t>
            </a:r>
            <a:r>
              <a:rPr lang="en-ID" sz="1800" b="1" dirty="0"/>
              <a:t> </a:t>
            </a:r>
            <a:r>
              <a:rPr lang="en-ID" sz="1800" b="1" dirty="0" err="1"/>
              <a:t>skema</a:t>
            </a:r>
            <a:r>
              <a:rPr lang="en-ID" sz="1800" b="1" dirty="0"/>
              <a:t> yang </a:t>
            </a:r>
            <a:r>
              <a:rPr lang="en-ID" sz="1800" b="1" i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berada</a:t>
            </a:r>
            <a:r>
              <a:rPr lang="en-ID" sz="1800" b="1" dirty="0"/>
              <a:t> </a:t>
            </a:r>
            <a:r>
              <a:rPr lang="en-ID" sz="1800" b="1" dirty="0" err="1"/>
              <a:t>dalam</a:t>
            </a:r>
            <a:r>
              <a:rPr lang="en-ID" sz="1800" b="1" dirty="0"/>
              <a:t> BCNF:</a:t>
            </a:r>
            <a:endParaRPr lang="en-ID" sz="1800" dirty="0"/>
          </a:p>
          <a:p>
            <a:pPr marL="136525" lvl="2" indent="0">
              <a:buNone/>
            </a:pP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1800" b="1" i="1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instr_dept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1" i="1" u="sng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ID,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name, salary</a:t>
            </a:r>
            <a:r>
              <a:rPr lang="en-US" sz="1800" b="1" i="1" u="sng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i="1" u="sng" dirty="0" err="1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dept_name</a:t>
            </a:r>
            <a:r>
              <a:rPr lang="en-US" sz="1800" b="1" i="1" u="sng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building, budget </a:t>
            </a:r>
            <a:r>
              <a:rPr lang="en-US" sz="1800" b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)	</a:t>
            </a:r>
            <a:endParaRPr lang="en-ID" sz="1800" b="1" dirty="0">
              <a:solidFill>
                <a:srgbClr val="FFC000"/>
              </a:solidFill>
            </a:endParaRPr>
          </a:p>
          <a:p>
            <a:pPr marL="136525" lvl="2" indent="0">
              <a:buNone/>
            </a:pPr>
            <a:r>
              <a:rPr lang="en-ID" sz="1800" dirty="0"/>
              <a:t>Karena </a:t>
            </a:r>
            <a:r>
              <a:rPr lang="en-US" sz="1800" i="1" dirty="0" err="1">
                <a:latin typeface="Calibri"/>
                <a:ea typeface="Calibri"/>
                <a:cs typeface="Calibri"/>
                <a:sym typeface="Calibri"/>
              </a:rPr>
              <a:t>dept_name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800" i="1" dirty="0">
                <a:latin typeface="Calibri"/>
                <a:ea typeface="Calibri"/>
                <a:cs typeface="Calibri"/>
                <a:sym typeface="Calibri"/>
              </a:rPr>
              <a:t>building, budget</a:t>
            </a:r>
            <a:r>
              <a:rPr lang="en-ID" sz="1800" dirty="0"/>
              <a:t> </a:t>
            </a:r>
          </a:p>
          <a:p>
            <a:pPr marL="136525" lvl="2" indent="0">
              <a:buNone/>
            </a:pPr>
            <a:r>
              <a:rPr lang="en-ID" sz="1800" dirty="0" err="1"/>
              <a:t>berlaku</a:t>
            </a:r>
            <a:r>
              <a:rPr lang="en-ID" sz="1800" dirty="0"/>
              <a:t> pada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b="1" i="1" dirty="0" err="1">
                <a:solidFill>
                  <a:srgbClr val="FFC000"/>
                </a:solidFill>
              </a:rPr>
              <a:t>instr_dept</a:t>
            </a:r>
            <a:r>
              <a:rPr lang="en-ID" sz="1800" dirty="0"/>
              <a:t>, </a:t>
            </a:r>
            <a:r>
              <a:rPr lang="en-ID" sz="1800" dirty="0" err="1"/>
              <a:t>namun</a:t>
            </a:r>
            <a:r>
              <a:rPr lang="en-ID" sz="1800" dirty="0"/>
              <a:t> </a:t>
            </a:r>
            <a:r>
              <a:rPr lang="en-ID" sz="1800" b="1" i="1" dirty="0" err="1">
                <a:solidFill>
                  <a:srgbClr val="FFC000"/>
                </a:solidFill>
              </a:rPr>
              <a:t>dept_name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0000"/>
                </a:solidFill>
              </a:rPr>
              <a:t>bukan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b="1" i="1" dirty="0" err="1">
                <a:solidFill>
                  <a:srgbClr val="FFC000"/>
                </a:solidFill>
              </a:rPr>
              <a:t>superkey</a:t>
            </a:r>
            <a:r>
              <a:rPr lang="en-ID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908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7E05-74A8-6DEF-AB5C-59A3FFD97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Dekomposisi</a:t>
            </a:r>
            <a:r>
              <a:rPr lang="en-ID" b="1" dirty="0"/>
              <a:t> Skema </a:t>
            </a:r>
            <a:r>
              <a:rPr lang="en-ID" b="1" dirty="0" err="1"/>
              <a:t>ke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BCNF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92EAB-6347-5D3B-26EC-98C8E6A64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87458"/>
          </a:xfrm>
        </p:spPr>
        <p:txBody>
          <a:bodyPr/>
          <a:lstStyle/>
          <a:p>
            <a:pPr marL="152400" indent="0">
              <a:buNone/>
            </a:pPr>
            <a:r>
              <a:rPr lang="en-ID" sz="2000" dirty="0" err="1"/>
              <a:t>Asumsikan</a:t>
            </a:r>
            <a:r>
              <a:rPr lang="en-ID" sz="2000" dirty="0"/>
              <a:t>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b="1" i="1" dirty="0"/>
              <a:t>R</a:t>
            </a:r>
            <a:r>
              <a:rPr lang="en-ID" sz="2000" dirty="0"/>
              <a:t> dan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non-trivial </a:t>
            </a:r>
            <a:r>
              <a:rPr lang="en-US" sz="2000" b="1" dirty="0">
                <a:solidFill>
                  <a:srgbClr val="FFC000"/>
                </a:solidFill>
              </a:rPr>
              <a:t>α →</a:t>
            </a:r>
            <a:r>
              <a:rPr lang="en-US" sz="2000" b="1" i="1" dirty="0">
                <a:solidFill>
                  <a:srgbClr val="FFC000"/>
                </a:solidFill>
              </a:rPr>
              <a:t>β</a:t>
            </a:r>
            <a:r>
              <a:rPr lang="en-ID" sz="2000" dirty="0"/>
              <a:t> yang </a:t>
            </a:r>
            <a:r>
              <a:rPr lang="en-ID" sz="2000" dirty="0" err="1"/>
              <a:t>menyebabkan</a:t>
            </a:r>
            <a:r>
              <a:rPr lang="en-ID" sz="2000" dirty="0"/>
              <a:t> </a:t>
            </a:r>
            <a:r>
              <a:rPr lang="en-ID" sz="2000" dirty="0" err="1"/>
              <a:t>pelanggaran</a:t>
            </a:r>
            <a:r>
              <a:rPr lang="en-ID" sz="2000" dirty="0"/>
              <a:t> </a:t>
            </a:r>
            <a:r>
              <a:rPr lang="en-ID" sz="2000" dirty="0" err="1"/>
              <a:t>aturan</a:t>
            </a:r>
            <a:r>
              <a:rPr lang="en-ID" sz="2000" dirty="0"/>
              <a:t> BCNF.</a:t>
            </a:r>
          </a:p>
          <a:p>
            <a:pPr marL="152400" indent="0">
              <a:buNone/>
            </a:pPr>
            <a:r>
              <a:rPr lang="en-ID" sz="2000" dirty="0"/>
              <a:t>Kita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b="1" dirty="0" err="1"/>
              <a:t>dekomposisi</a:t>
            </a:r>
            <a:r>
              <a:rPr lang="en-ID" sz="2000" dirty="0"/>
              <a:t> (</a:t>
            </a:r>
            <a:r>
              <a:rPr lang="en-ID" sz="2000" dirty="0" err="1"/>
              <a:t>pemecahan</a:t>
            </a:r>
            <a:r>
              <a:rPr lang="en-ID" sz="2000" dirty="0"/>
              <a:t>) </a:t>
            </a:r>
            <a:r>
              <a:rPr lang="en-ID" sz="2000" dirty="0" err="1"/>
              <a:t>terhadap</a:t>
            </a:r>
            <a:r>
              <a:rPr lang="en-ID" sz="2000" dirty="0"/>
              <a:t> </a:t>
            </a:r>
            <a:r>
              <a:rPr lang="en-ID" sz="2000" b="1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:</a:t>
            </a:r>
          </a:p>
          <a:p>
            <a:pPr lvl="1"/>
            <a:r>
              <a:rPr lang="en-US" sz="2000" b="1" dirty="0">
                <a:solidFill>
                  <a:srgbClr val="FFC000"/>
                </a:solidFill>
              </a:rPr>
              <a:t>(α U β</a:t>
            </a:r>
            <a:r>
              <a:rPr lang="en-US" sz="2000" b="1" i="1" dirty="0">
                <a:solidFill>
                  <a:srgbClr val="FFC000"/>
                </a:solidFill>
              </a:rPr>
              <a:t> </a:t>
            </a:r>
            <a:r>
              <a:rPr lang="en-US" sz="2000" b="1" dirty="0">
                <a:solidFill>
                  <a:srgbClr val="FFC000"/>
                </a:solidFill>
              </a:rPr>
              <a:t>) </a:t>
            </a:r>
          </a:p>
          <a:p>
            <a:pPr lvl="1"/>
            <a:r>
              <a:rPr lang="en-US" sz="2000" b="1" dirty="0">
                <a:solidFill>
                  <a:srgbClr val="FFC000"/>
                </a:solidFill>
              </a:rPr>
              <a:t>( </a:t>
            </a:r>
            <a:r>
              <a:rPr lang="en-US" sz="2000" b="1" i="1" dirty="0">
                <a:solidFill>
                  <a:srgbClr val="FFC000"/>
                </a:solidFill>
              </a:rPr>
              <a:t>R</a:t>
            </a:r>
            <a:r>
              <a:rPr lang="en-US" sz="2000" b="1" dirty="0">
                <a:solidFill>
                  <a:srgbClr val="FFC000"/>
                </a:solidFill>
              </a:rPr>
              <a:t> - ( </a:t>
            </a:r>
            <a:r>
              <a:rPr lang="en-US" sz="2000" b="1" i="1" dirty="0">
                <a:solidFill>
                  <a:srgbClr val="FFC000"/>
                </a:solidFill>
              </a:rPr>
              <a:t>β - </a:t>
            </a:r>
            <a:r>
              <a:rPr lang="en-US" sz="2000" b="1" dirty="0">
                <a:solidFill>
                  <a:srgbClr val="FFC000"/>
                </a:solidFill>
              </a:rPr>
              <a:t>α ) )</a:t>
            </a:r>
            <a:endParaRPr lang="en-ID" sz="2000" b="1" dirty="0">
              <a:solidFill>
                <a:srgbClr val="FFC000"/>
              </a:solidFill>
            </a:endParaRPr>
          </a:p>
          <a:p>
            <a:r>
              <a:rPr lang="en-ID" sz="2000" b="1" dirty="0" err="1"/>
              <a:t>Dalam</a:t>
            </a:r>
            <a:r>
              <a:rPr lang="en-ID" sz="2000" b="1" dirty="0"/>
              <a:t> </a:t>
            </a:r>
            <a:r>
              <a:rPr lang="en-ID" sz="2000" b="1" dirty="0" err="1"/>
              <a:t>contoh</a:t>
            </a:r>
            <a:r>
              <a:rPr lang="en-ID" sz="2000" b="1" dirty="0"/>
              <a:t> </a:t>
            </a:r>
            <a:r>
              <a:rPr lang="en-ID" sz="2000" b="1" dirty="0" err="1"/>
              <a:t>kita</a:t>
            </a:r>
            <a:r>
              <a:rPr lang="en-ID" sz="2000" b="1" dirty="0"/>
              <a:t> </a:t>
            </a:r>
            <a:r>
              <a:rPr lang="en-ID" sz="2000" b="1" dirty="0" err="1"/>
              <a:t>sebelumnya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US" sz="2000" b="1" dirty="0">
                <a:solidFill>
                  <a:srgbClr val="FFC000"/>
                </a:solidFill>
              </a:rPr>
              <a:t>α = </a:t>
            </a:r>
            <a:r>
              <a:rPr lang="en-US" sz="2000" b="1" i="1" dirty="0" err="1">
                <a:solidFill>
                  <a:srgbClr val="FFC000"/>
                </a:solidFill>
              </a:rPr>
              <a:t>dept_name</a:t>
            </a:r>
            <a:endParaRPr lang="en-ID" sz="2000" b="1" dirty="0">
              <a:solidFill>
                <a:srgbClr val="FFC000"/>
              </a:solidFill>
            </a:endParaRPr>
          </a:p>
          <a:p>
            <a:pPr lvl="1"/>
            <a:r>
              <a:rPr lang="en-US" sz="2000" b="1" i="1" dirty="0">
                <a:solidFill>
                  <a:srgbClr val="FFC000"/>
                </a:solidFill>
              </a:rPr>
              <a:t>β </a:t>
            </a:r>
            <a:r>
              <a:rPr lang="en-US" sz="2000" b="1" dirty="0">
                <a:solidFill>
                  <a:srgbClr val="FFC000"/>
                </a:solidFill>
              </a:rPr>
              <a:t>=</a:t>
            </a:r>
            <a:r>
              <a:rPr lang="en-US" sz="2000" b="1" i="1" dirty="0">
                <a:solidFill>
                  <a:srgbClr val="FFC000"/>
                </a:solidFill>
              </a:rPr>
              <a:t> building, budget</a:t>
            </a:r>
            <a:endParaRPr lang="en-ID" sz="2000" b="1" dirty="0">
              <a:solidFill>
                <a:srgbClr val="FFC000"/>
              </a:solidFill>
            </a:endParaRPr>
          </a:p>
          <a:p>
            <a:pPr marL="152400" indent="0">
              <a:buNone/>
            </a:pPr>
            <a:r>
              <a:rPr lang="en-ID" sz="2000" dirty="0"/>
              <a:t>        Maka,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b="1" i="1" dirty="0" err="1">
                <a:solidFill>
                  <a:srgbClr val="FFC000"/>
                </a:solidFill>
              </a:rPr>
              <a:t>inst_dept</a:t>
            </a:r>
            <a:r>
              <a:rPr lang="en-ID" sz="2000" dirty="0"/>
              <a:t> </a:t>
            </a:r>
            <a:r>
              <a:rPr lang="en-ID" sz="2000" dirty="0" err="1"/>
              <a:t>digantikan</a:t>
            </a:r>
            <a:r>
              <a:rPr lang="en-ID" sz="2000" dirty="0"/>
              <a:t> oleh:</a:t>
            </a:r>
          </a:p>
          <a:p>
            <a:pPr lvl="1"/>
            <a:r>
              <a:rPr lang="en-US" sz="2000" b="1" dirty="0">
                <a:solidFill>
                  <a:srgbClr val="FFC000"/>
                </a:solidFill>
              </a:rPr>
              <a:t>(α U β</a:t>
            </a:r>
            <a:r>
              <a:rPr lang="en-US" sz="2000" b="1" i="1" dirty="0">
                <a:solidFill>
                  <a:srgbClr val="FFC000"/>
                </a:solidFill>
              </a:rPr>
              <a:t> </a:t>
            </a:r>
            <a:r>
              <a:rPr lang="en-US" sz="2000" b="1" dirty="0">
                <a:solidFill>
                  <a:srgbClr val="FFC000"/>
                </a:solidFill>
              </a:rPr>
              <a:t>) = ( </a:t>
            </a:r>
            <a:r>
              <a:rPr lang="en-US" sz="2000" b="1" i="1" dirty="0" err="1">
                <a:solidFill>
                  <a:srgbClr val="FFC000"/>
                </a:solidFill>
              </a:rPr>
              <a:t>dept_name</a:t>
            </a:r>
            <a:r>
              <a:rPr lang="en-US" sz="2000" b="1" i="1" dirty="0">
                <a:solidFill>
                  <a:srgbClr val="FFC000"/>
                </a:solidFill>
              </a:rPr>
              <a:t>, building, budget</a:t>
            </a:r>
            <a:r>
              <a:rPr lang="en-US" sz="2000" b="1" dirty="0">
                <a:solidFill>
                  <a:srgbClr val="FFC000"/>
                </a:solidFill>
              </a:rPr>
              <a:t> )</a:t>
            </a:r>
            <a:endParaRPr lang="en-ID" sz="2000" b="1" dirty="0">
              <a:solidFill>
                <a:srgbClr val="FFC000"/>
              </a:solidFill>
            </a:endParaRPr>
          </a:p>
          <a:p>
            <a:pPr lvl="1"/>
            <a:r>
              <a:rPr lang="en-US" sz="2000" b="1" dirty="0">
                <a:solidFill>
                  <a:srgbClr val="FFC000"/>
                </a:solidFill>
              </a:rPr>
              <a:t>( </a:t>
            </a:r>
            <a:r>
              <a:rPr lang="en-US" sz="2000" b="1" i="1" dirty="0">
                <a:solidFill>
                  <a:srgbClr val="FFC000"/>
                </a:solidFill>
              </a:rPr>
              <a:t>R</a:t>
            </a:r>
            <a:r>
              <a:rPr lang="en-US" sz="2000" b="1" dirty="0">
                <a:solidFill>
                  <a:srgbClr val="FFC000"/>
                </a:solidFill>
              </a:rPr>
              <a:t> - ( </a:t>
            </a:r>
            <a:r>
              <a:rPr lang="en-US" sz="2000" b="1" i="1" dirty="0">
                <a:solidFill>
                  <a:srgbClr val="FFC000"/>
                </a:solidFill>
              </a:rPr>
              <a:t>β - </a:t>
            </a:r>
            <a:r>
              <a:rPr lang="en-US" sz="2000" b="1" dirty="0">
                <a:solidFill>
                  <a:srgbClr val="FFC000"/>
                </a:solidFill>
              </a:rPr>
              <a:t>α ) ) = ( </a:t>
            </a:r>
            <a:r>
              <a:rPr lang="en-US" sz="2000" b="1" i="1" dirty="0">
                <a:solidFill>
                  <a:srgbClr val="FFC000"/>
                </a:solidFill>
              </a:rPr>
              <a:t>ID, name, salary, </a:t>
            </a:r>
            <a:r>
              <a:rPr lang="en-US" sz="2000" b="1" i="1" dirty="0" err="1">
                <a:solidFill>
                  <a:srgbClr val="FFC000"/>
                </a:solidFill>
              </a:rPr>
              <a:t>dept_name</a:t>
            </a:r>
            <a:r>
              <a:rPr lang="en-US" sz="2000" b="1" dirty="0">
                <a:solidFill>
                  <a:srgbClr val="FFC000"/>
                </a:solidFill>
              </a:rPr>
              <a:t> )</a:t>
            </a:r>
            <a:endParaRPr lang="en-ID" sz="2000" b="1" dirty="0">
              <a:solidFill>
                <a:srgbClr val="FFC000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793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D4DE-ED75-7B2F-36E1-AB87F449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BCNF dan </a:t>
            </a:r>
            <a:r>
              <a:rPr lang="en-ID" b="1" dirty="0" err="1"/>
              <a:t>Pemeliharaan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(</a:t>
            </a:r>
            <a:r>
              <a:rPr lang="en-ID" b="1" i="1" dirty="0"/>
              <a:t>Dependency Preservation</a:t>
            </a:r>
            <a:r>
              <a:rPr lang="en-ID" b="1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99B9A-985C-4DF0-CC85-DDEEEA7D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17725"/>
            <a:ext cx="7704000" cy="3926509"/>
          </a:xfrm>
        </p:spPr>
        <p:txBody>
          <a:bodyPr/>
          <a:lstStyle/>
          <a:p>
            <a:pPr marL="152400" indent="0">
              <a:buNone/>
            </a:pPr>
            <a:endParaRPr lang="en-ID" sz="1800" b="1" dirty="0"/>
          </a:p>
          <a:p>
            <a:r>
              <a:rPr lang="en-ID" sz="1800" b="1" dirty="0"/>
              <a:t>Batasan (</a:t>
            </a:r>
            <a:r>
              <a:rPr lang="en-ID" sz="1800" b="1" i="1" dirty="0">
                <a:solidFill>
                  <a:srgbClr val="FFC000"/>
                </a:solidFill>
              </a:rPr>
              <a:t>Constraints</a:t>
            </a:r>
            <a:r>
              <a:rPr lang="en-ID" sz="1800" b="1" dirty="0"/>
              <a:t>)</a:t>
            </a:r>
            <a:r>
              <a:rPr lang="en-ID" sz="1800" dirty="0"/>
              <a:t>, </a:t>
            </a:r>
            <a:r>
              <a:rPr lang="en-ID" sz="1800" dirty="0" err="1"/>
              <a:t>termasuk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, </a:t>
            </a:r>
            <a:r>
              <a:rPr lang="en-ID" sz="1800" dirty="0" err="1"/>
              <a:t>memerlukan</a:t>
            </a:r>
            <a:r>
              <a:rPr lang="en-ID" sz="1800" dirty="0"/>
              <a:t> </a:t>
            </a:r>
            <a:r>
              <a:rPr lang="en-ID" sz="1800" dirty="0" err="1"/>
              <a:t>biaya</a:t>
            </a:r>
            <a:r>
              <a:rPr lang="en-ID" sz="1800" dirty="0"/>
              <a:t> </a:t>
            </a:r>
            <a:r>
              <a:rPr lang="en-ID" sz="1800" dirty="0" err="1"/>
              <a:t>komputasi</a:t>
            </a:r>
            <a:r>
              <a:rPr lang="en-ID" sz="1800" dirty="0"/>
              <a:t> yang </a:t>
            </a:r>
            <a:r>
              <a:rPr lang="en-ID" sz="1800" dirty="0" err="1"/>
              <a:t>tinggi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diperiksa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praktis</a:t>
            </a:r>
            <a:r>
              <a:rPr lang="en-ID" sz="1800" dirty="0"/>
              <a:t>, </a:t>
            </a:r>
            <a:r>
              <a:rPr lang="en-ID" sz="1800" dirty="0" err="1"/>
              <a:t>kecuali</a:t>
            </a:r>
            <a:r>
              <a:rPr lang="en-ID" sz="1800" dirty="0"/>
              <a:t> </a:t>
            </a:r>
            <a:r>
              <a:rPr lang="en-ID" sz="1800" dirty="0" err="1"/>
              <a:t>jika</a:t>
            </a:r>
            <a:r>
              <a:rPr lang="en-ID" sz="1800" dirty="0"/>
              <a:t> </a:t>
            </a:r>
            <a:r>
              <a:rPr lang="en-ID" sz="1800" dirty="0" err="1"/>
              <a:t>batasan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berkaitan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saja</a:t>
            </a:r>
            <a:r>
              <a:rPr lang="en-ID" sz="1800" dirty="0"/>
              <a:t>.</a:t>
            </a:r>
          </a:p>
          <a:p>
            <a:r>
              <a:rPr lang="en-ID" sz="1800" dirty="0"/>
              <a:t>Jika </a:t>
            </a:r>
            <a:r>
              <a:rPr lang="en-ID" sz="1800" dirty="0" err="1"/>
              <a:t>pemeriksaan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pada </a:t>
            </a:r>
            <a:r>
              <a:rPr lang="en-ID" sz="1800" dirty="0" err="1"/>
              <a:t>setiap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individual </a:t>
            </a:r>
            <a:r>
              <a:rPr lang="en-ID" sz="1800" dirty="0" err="1"/>
              <a:t>hasil</a:t>
            </a:r>
            <a:r>
              <a:rPr lang="en-ID" sz="1800" dirty="0"/>
              <a:t> </a:t>
            </a:r>
            <a:r>
              <a:rPr lang="en-ID" sz="1800" dirty="0" err="1"/>
              <a:t>dekomposisi</a:t>
            </a:r>
            <a:r>
              <a:rPr lang="en-ID" sz="1800" dirty="0"/>
              <a:t> </a:t>
            </a:r>
            <a:r>
              <a:rPr lang="en-ID" sz="1800" dirty="0" err="1"/>
              <a:t>sudah</a:t>
            </a:r>
            <a:r>
              <a:rPr lang="en-ID" sz="1800" dirty="0"/>
              <a:t> </a:t>
            </a:r>
            <a:r>
              <a:rPr lang="en-ID" sz="1800" dirty="0" err="1"/>
              <a:t>cukup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memastikan</a:t>
            </a:r>
            <a:r>
              <a:rPr lang="en-ID" sz="1800" dirty="0"/>
              <a:t> </a:t>
            </a:r>
            <a:r>
              <a:rPr lang="en-ID" sz="1800" dirty="0" err="1"/>
              <a:t>bahwa</a:t>
            </a:r>
            <a:r>
              <a:rPr lang="en-ID" sz="1800" dirty="0"/>
              <a:t> </a:t>
            </a:r>
            <a:r>
              <a:rPr lang="en-ID" sz="1800" b="1" dirty="0" err="1"/>
              <a:t>seluruh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terpenuhi</a:t>
            </a:r>
            <a:r>
              <a:rPr lang="en-ID" sz="1800" dirty="0"/>
              <a:t>, </a:t>
            </a:r>
            <a:r>
              <a:rPr lang="en-ID" sz="1800" dirty="0" err="1"/>
              <a:t>maka</a:t>
            </a:r>
            <a:r>
              <a:rPr lang="en-ID" sz="1800" dirty="0"/>
              <a:t> </a:t>
            </a:r>
            <a:r>
              <a:rPr lang="en-ID" sz="1800" dirty="0" err="1"/>
              <a:t>dekomposisi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dikatakan</a:t>
            </a:r>
            <a:r>
              <a:rPr lang="en-ID" sz="1800" dirty="0"/>
              <a:t> </a:t>
            </a: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memelihara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ketergantungan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dependency preserving</a:t>
            </a:r>
            <a:r>
              <a:rPr lang="en-ID" sz="1800" b="1" dirty="0"/>
              <a:t>)</a:t>
            </a:r>
            <a:r>
              <a:rPr lang="en-ID" sz="1800" dirty="0"/>
              <a:t>.</a:t>
            </a:r>
          </a:p>
          <a:p>
            <a:r>
              <a:rPr lang="en-ID" sz="1800" dirty="0"/>
              <a:t>Karena </a:t>
            </a:r>
            <a:r>
              <a:rPr lang="en-ID" sz="1800" dirty="0" err="1"/>
              <a:t>pencapaian</a:t>
            </a:r>
            <a:r>
              <a:rPr lang="en-ID" sz="1800" dirty="0"/>
              <a:t> </a:t>
            </a:r>
            <a:r>
              <a:rPr lang="en-ID" sz="1800" dirty="0" err="1"/>
              <a:t>kondisi</a:t>
            </a:r>
            <a:r>
              <a:rPr lang="en-ID" sz="1800" dirty="0"/>
              <a:t> BCNF </a:t>
            </a:r>
            <a:r>
              <a:rPr lang="en-ID" sz="1800" dirty="0" err="1"/>
              <a:t>sekaligus</a:t>
            </a:r>
            <a:r>
              <a:rPr lang="en-ID" sz="1800" dirty="0"/>
              <a:t> </a:t>
            </a:r>
            <a:r>
              <a:rPr lang="en-ID" sz="1800" dirty="0" err="1"/>
              <a:t>pemeliharaan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selalu</a:t>
            </a:r>
            <a:r>
              <a:rPr lang="en-ID" sz="1800" dirty="0"/>
              <a:t> </a:t>
            </a:r>
            <a:r>
              <a:rPr lang="en-ID" sz="1800" dirty="0" err="1"/>
              <a:t>memungkinkan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dilakukan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bersamaan</a:t>
            </a:r>
            <a:r>
              <a:rPr lang="en-ID" sz="1800" dirty="0"/>
              <a:t>, </a:t>
            </a:r>
            <a:r>
              <a:rPr lang="en-ID" sz="1800" dirty="0" err="1"/>
              <a:t>kita</a:t>
            </a:r>
            <a:r>
              <a:rPr lang="en-ID" sz="1800" dirty="0"/>
              <a:t> </a:t>
            </a:r>
            <a:r>
              <a:rPr lang="en-ID" sz="1800" dirty="0" err="1"/>
              <a:t>mempertimbangkan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normal yang </a:t>
            </a:r>
            <a:r>
              <a:rPr lang="en-ID" sz="1800" dirty="0" err="1"/>
              <a:t>lebih</a:t>
            </a:r>
            <a:r>
              <a:rPr lang="en-ID" sz="1800" dirty="0"/>
              <a:t> </a:t>
            </a:r>
            <a:r>
              <a:rPr lang="en-ID" sz="1800" dirty="0" err="1"/>
              <a:t>longgar</a:t>
            </a:r>
            <a:r>
              <a:rPr lang="en-ID" sz="1800" dirty="0"/>
              <a:t>, yang </a:t>
            </a:r>
            <a:r>
              <a:rPr lang="en-ID" sz="1800" dirty="0" err="1"/>
              <a:t>dikenal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Bentuk</a:t>
            </a:r>
            <a:r>
              <a:rPr lang="en-ID" sz="1800" b="1" dirty="0">
                <a:solidFill>
                  <a:srgbClr val="FFC000"/>
                </a:solidFill>
              </a:rPr>
              <a:t> Normal </a:t>
            </a:r>
            <a:r>
              <a:rPr lang="en-ID" sz="1800" b="1" dirty="0" err="1">
                <a:solidFill>
                  <a:srgbClr val="FFC000"/>
                </a:solidFill>
              </a:rPr>
              <a:t>Ketiga</a:t>
            </a:r>
            <a:r>
              <a:rPr lang="en-ID" sz="1800" b="1" dirty="0">
                <a:solidFill>
                  <a:srgbClr val="FFC000"/>
                </a:solidFill>
              </a:rPr>
              <a:t> (3NF)</a:t>
            </a:r>
            <a:r>
              <a:rPr lang="en-ID" sz="1800" dirty="0"/>
              <a:t>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021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8345-D477-D8D5-E6C3-4A0BD420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Ketiga</a:t>
            </a:r>
            <a:r>
              <a:rPr lang="en-ID" b="1" dirty="0"/>
              <a:t> (</a:t>
            </a:r>
            <a:r>
              <a:rPr lang="en-ID" b="1" i="1" dirty="0"/>
              <a:t>Third Normal Form</a:t>
            </a:r>
            <a:r>
              <a:rPr lang="en-ID" b="1" dirty="0"/>
              <a:t> - 3NF)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41F27-05BB-0B2A-98E9-8E3A7E66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99535"/>
            <a:ext cx="7704000" cy="3846997"/>
          </a:xfrm>
        </p:spPr>
        <p:txBody>
          <a:bodyPr/>
          <a:lstStyle/>
          <a:p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b="1" i="1" dirty="0"/>
              <a:t>R</a:t>
            </a:r>
            <a:r>
              <a:rPr lang="en-ID" sz="1400" dirty="0"/>
              <a:t> </a:t>
            </a:r>
            <a:r>
              <a:rPr lang="en-ID" sz="1400" dirty="0" err="1"/>
              <a:t>dikatakan</a:t>
            </a:r>
            <a:r>
              <a:rPr lang="en-ID" sz="1400" dirty="0"/>
              <a:t> </a:t>
            </a:r>
            <a:r>
              <a:rPr lang="en-ID" sz="1400" dirty="0" err="1"/>
              <a:t>berada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Bentuk</a:t>
            </a:r>
            <a:r>
              <a:rPr lang="en-ID" sz="1400" b="1" dirty="0">
                <a:solidFill>
                  <a:srgbClr val="FFC000"/>
                </a:solidFill>
              </a:rPr>
              <a:t> Normal </a:t>
            </a:r>
            <a:r>
              <a:rPr lang="en-ID" sz="1400" b="1" dirty="0" err="1">
                <a:solidFill>
                  <a:srgbClr val="FFC000"/>
                </a:solidFill>
              </a:rPr>
              <a:t>Ketiga</a:t>
            </a:r>
            <a:r>
              <a:rPr lang="en-ID" sz="1400" b="1" dirty="0">
                <a:solidFill>
                  <a:srgbClr val="FFC000"/>
                </a:solidFill>
              </a:rPr>
              <a:t> (3NF)</a:t>
            </a:r>
            <a:r>
              <a:rPr lang="en-ID" sz="1400" dirty="0"/>
              <a:t>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:</a:t>
            </a:r>
          </a:p>
          <a:p>
            <a:pPr marL="609600" lvl="1" indent="0">
              <a:buNone/>
            </a:pPr>
            <a:r>
              <a:rPr lang="en-US" sz="1400" dirty="0"/>
              <a:t>		</a:t>
            </a:r>
            <a:r>
              <a:rPr lang="en-US" sz="2000" b="1" dirty="0">
                <a:solidFill>
                  <a:srgbClr val="FFC000"/>
                </a:solidFill>
              </a:rPr>
              <a:t>α → </a:t>
            </a:r>
            <a:r>
              <a:rPr lang="en-US" sz="2000" b="1" i="1" dirty="0">
                <a:solidFill>
                  <a:srgbClr val="FFC000"/>
                </a:solidFill>
              </a:rPr>
              <a:t>β</a:t>
            </a:r>
            <a:r>
              <a:rPr lang="en-US" sz="2000" b="1" dirty="0">
                <a:solidFill>
                  <a:srgbClr val="FFC000"/>
                </a:solidFill>
              </a:rPr>
              <a:t> in </a:t>
            </a:r>
            <a:r>
              <a:rPr lang="en-US" sz="2000" b="1" i="1" dirty="0">
                <a:solidFill>
                  <a:srgbClr val="FFC000"/>
                </a:solidFill>
              </a:rPr>
              <a:t>F</a:t>
            </a:r>
            <a:r>
              <a:rPr lang="en-US" sz="2000" b="1" baseline="30000" dirty="0">
                <a:solidFill>
                  <a:srgbClr val="FFC000"/>
                </a:solidFill>
              </a:rPr>
              <a:t>+ </a:t>
            </a:r>
          </a:p>
          <a:p>
            <a:pPr marL="444500" lvl="1" indent="0">
              <a:buNone/>
            </a:pPr>
            <a:r>
              <a:rPr lang="en-ID" sz="1400" dirty="0" err="1"/>
              <a:t>setidaknya</a:t>
            </a:r>
            <a:r>
              <a:rPr lang="en-ID" sz="1400" dirty="0"/>
              <a:t>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berikut</a:t>
            </a:r>
            <a:r>
              <a:rPr lang="en-ID" sz="1400" dirty="0"/>
              <a:t> </a:t>
            </a:r>
            <a:r>
              <a:rPr lang="en-ID" sz="1400" dirty="0" err="1"/>
              <a:t>terpenuhi</a:t>
            </a:r>
            <a:r>
              <a:rPr lang="en-ID" sz="1400" dirty="0"/>
              <a:t>:</a:t>
            </a:r>
          </a:p>
          <a:p>
            <a:pPr marL="1200150" lvl="2" indent="-285750">
              <a:spcBef>
                <a:spcPts val="434"/>
              </a:spcBef>
              <a:buSzPct val="100000"/>
              <a:buChar char="–"/>
            </a:pPr>
            <a:r>
              <a:rPr lang="el-GR" sz="1400" b="1" dirty="0">
                <a:solidFill>
                  <a:srgbClr val="FFC000"/>
                </a:solidFill>
              </a:rPr>
              <a:t>α → </a:t>
            </a:r>
            <a:r>
              <a:rPr lang="el-GR" sz="1400" b="1" i="1" dirty="0">
                <a:solidFill>
                  <a:srgbClr val="FFC000"/>
                </a:solidFill>
              </a:rPr>
              <a:t>β</a:t>
            </a:r>
            <a:r>
              <a:rPr lang="el-GR" sz="1400" i="1" dirty="0"/>
              <a:t> </a:t>
            </a:r>
            <a:r>
              <a:rPr lang="en-US" sz="1400" dirty="0" err="1"/>
              <a:t>bersifat</a:t>
            </a:r>
            <a:r>
              <a:rPr lang="en-US" sz="1400" dirty="0"/>
              <a:t> trivial (</a:t>
            </a:r>
            <a:r>
              <a:rPr lang="en-US" sz="1400" dirty="0" err="1"/>
              <a:t>yaitu</a:t>
            </a:r>
            <a:r>
              <a:rPr lang="en-US" sz="1400" dirty="0"/>
              <a:t>, </a:t>
            </a:r>
            <a:r>
              <a:rPr lang="el-GR" sz="1400" b="1" i="1" dirty="0">
                <a:solidFill>
                  <a:srgbClr val="FFC000"/>
                </a:solidFill>
              </a:rPr>
              <a:t>β </a:t>
            </a:r>
            <a:r>
              <a:rPr lang="el-GR" sz="1400" b="1" dirty="0">
                <a:solidFill>
                  <a:srgbClr val="FFC000"/>
                </a:solidFill>
              </a:rPr>
              <a:t>∈ α</a:t>
            </a:r>
            <a:r>
              <a:rPr lang="el-GR" sz="1400" dirty="0"/>
              <a:t>)</a:t>
            </a:r>
            <a:endParaRPr lang="en-US" sz="1400" dirty="0"/>
          </a:p>
          <a:p>
            <a:pPr marL="1200150" lvl="2" indent="-285750">
              <a:spcBef>
                <a:spcPts val="434"/>
              </a:spcBef>
              <a:buSzPct val="100000"/>
              <a:buChar char="–"/>
            </a:pPr>
            <a:r>
              <a:rPr lang="el-GR" sz="1400" b="1" dirty="0">
                <a:solidFill>
                  <a:srgbClr val="FFC000"/>
                </a:solidFill>
              </a:rPr>
              <a:t>α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superkey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R</a:t>
            </a:r>
            <a:r>
              <a:rPr lang="en-ID" sz="1400" dirty="0"/>
              <a:t>.</a:t>
            </a:r>
          </a:p>
          <a:p>
            <a:pPr marL="1200150" lvl="2" indent="-285750">
              <a:spcBef>
                <a:spcPts val="434"/>
              </a:spcBef>
              <a:buSzPct val="100000"/>
              <a:buChar char="–"/>
            </a:pP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l-GR" sz="1400" b="1" i="1" dirty="0">
                <a:solidFill>
                  <a:srgbClr val="FFC000"/>
                </a:solidFill>
              </a:rPr>
              <a:t>β</a:t>
            </a:r>
            <a:r>
              <a:rPr lang="en-ID" sz="1400" dirty="0"/>
              <a:t> - </a:t>
            </a:r>
            <a:r>
              <a:rPr lang="el-GR" sz="1400" b="1" dirty="0">
                <a:solidFill>
                  <a:srgbClr val="FFC000"/>
                </a:solidFill>
              </a:rPr>
              <a:t>α</a:t>
            </a:r>
            <a:r>
              <a:rPr lang="el-GR" sz="1400" dirty="0"/>
              <a:t> </a:t>
            </a:r>
            <a:r>
              <a:rPr lang="en-ID" sz="1400" dirty="0" err="1"/>
              <a:t>termuat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candidate key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R</a:t>
            </a:r>
            <a:r>
              <a:rPr lang="en-ID" sz="1400" dirty="0"/>
              <a:t>.</a:t>
            </a:r>
          </a:p>
          <a:p>
            <a:pPr marL="1066800" lvl="2" indent="0">
              <a:buNone/>
            </a:pPr>
            <a:r>
              <a:rPr lang="en-ID" i="1" dirty="0"/>
              <a:t>(</a:t>
            </a:r>
            <a:r>
              <a:rPr lang="en-ID" b="1" i="1" dirty="0">
                <a:solidFill>
                  <a:srgbClr val="FFC000"/>
                </a:solidFill>
              </a:rPr>
              <a:t>CATATAN</a:t>
            </a:r>
            <a:r>
              <a:rPr lang="en-ID" i="1" dirty="0"/>
              <a:t>: </a:t>
            </a:r>
            <a:r>
              <a:rPr lang="en-ID" i="1" dirty="0" err="1"/>
              <a:t>setiap</a:t>
            </a:r>
            <a:r>
              <a:rPr lang="en-ID" i="1" dirty="0"/>
              <a:t> </a:t>
            </a:r>
            <a:r>
              <a:rPr lang="en-ID" i="1" dirty="0" err="1"/>
              <a:t>atribut</a:t>
            </a:r>
            <a:r>
              <a:rPr lang="en-ID" i="1" dirty="0"/>
              <a:t> </a:t>
            </a:r>
            <a:r>
              <a:rPr lang="en-ID" i="1" dirty="0" err="1"/>
              <a:t>boleh</a:t>
            </a:r>
            <a:r>
              <a:rPr lang="en-ID" i="1" dirty="0"/>
              <a:t> </a:t>
            </a:r>
            <a:r>
              <a:rPr lang="en-ID" i="1" dirty="0" err="1"/>
              <a:t>berada</a:t>
            </a:r>
            <a:r>
              <a:rPr lang="en-ID" i="1" dirty="0"/>
              <a:t> </a:t>
            </a:r>
            <a:r>
              <a:rPr lang="en-ID" i="1" dirty="0" err="1"/>
              <a:t>dalam</a:t>
            </a:r>
            <a:r>
              <a:rPr lang="en-ID" i="1" dirty="0"/>
              <a:t> candidate key yang </a:t>
            </a:r>
            <a:r>
              <a:rPr lang="en-ID" i="1" dirty="0" err="1"/>
              <a:t>berbeda-beda</a:t>
            </a:r>
            <a:r>
              <a:rPr lang="en-ID" i="1" dirty="0"/>
              <a:t>)</a:t>
            </a:r>
            <a:r>
              <a:rPr lang="en-ID" dirty="0"/>
              <a:t>.</a:t>
            </a:r>
            <a:endParaRPr lang="en-ID" sz="1400" dirty="0"/>
          </a:p>
          <a:p>
            <a:endParaRPr lang="en-ID" sz="1400" b="1" dirty="0"/>
          </a:p>
          <a:p>
            <a:r>
              <a:rPr lang="en-ID" sz="1400" b="1" dirty="0" err="1"/>
              <a:t>Poin-poin</a:t>
            </a:r>
            <a:r>
              <a:rPr lang="en-ID" sz="1400" b="1" dirty="0"/>
              <a:t> </a:t>
            </a:r>
            <a:r>
              <a:rPr lang="en-ID" sz="1400" b="1" dirty="0" err="1"/>
              <a:t>Penting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/>
              <a:t>Jika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berada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BCNF</a:t>
            </a:r>
            <a:r>
              <a:rPr lang="en-ID" sz="1400" dirty="0"/>
              <a:t>, </a:t>
            </a:r>
            <a:r>
              <a:rPr lang="en-ID" sz="1400" dirty="0" err="1"/>
              <a:t>maka</a:t>
            </a:r>
            <a:r>
              <a:rPr lang="en-ID" sz="1400" dirty="0"/>
              <a:t> </a:t>
            </a:r>
            <a:r>
              <a:rPr lang="en-ID" sz="1400" dirty="0" err="1"/>
              <a:t>ia</a:t>
            </a:r>
            <a:r>
              <a:rPr lang="en-ID" sz="1400" dirty="0"/>
              <a:t> 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pasti</a:t>
            </a:r>
            <a:r>
              <a:rPr lang="en-ID" sz="1400" dirty="0"/>
              <a:t> </a:t>
            </a:r>
            <a:r>
              <a:rPr lang="en-ID" sz="1400" dirty="0" err="1"/>
              <a:t>berada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3NF</a:t>
            </a:r>
            <a:r>
              <a:rPr lang="en-ID" sz="1400" dirty="0"/>
              <a:t> (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BCNF</a:t>
            </a:r>
            <a:r>
              <a:rPr lang="en-ID" sz="1400" dirty="0"/>
              <a:t>, salah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dua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pertama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terpenuhi</a:t>
            </a:r>
            <a:r>
              <a:rPr lang="en-ID" sz="1400" dirty="0"/>
              <a:t>).</a:t>
            </a:r>
          </a:p>
          <a:p>
            <a:pPr lvl="1"/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ketiga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b="1" dirty="0" err="1"/>
              <a:t>pelonggaran</a:t>
            </a:r>
            <a:r>
              <a:rPr lang="en-ID" sz="1400" b="1" dirty="0"/>
              <a:t> minimal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BCNF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menjamin</a:t>
            </a:r>
            <a:r>
              <a:rPr lang="en-ID" sz="1400" dirty="0"/>
              <a:t> </a:t>
            </a:r>
            <a:r>
              <a:rPr lang="en-ID" sz="1400" b="1" dirty="0" err="1"/>
              <a:t>pemeliharaan</a:t>
            </a:r>
            <a:r>
              <a:rPr lang="en-ID" sz="1400" b="1" dirty="0"/>
              <a:t> </a:t>
            </a:r>
            <a:r>
              <a:rPr lang="en-ID" sz="1400" b="1" dirty="0" err="1"/>
              <a:t>ketergantungan</a:t>
            </a:r>
            <a:r>
              <a:rPr lang="en-ID" sz="1400" b="1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dependency preservation</a:t>
            </a:r>
            <a:r>
              <a:rPr lang="en-ID" sz="1400" b="1" dirty="0"/>
              <a:t>)</a:t>
            </a:r>
            <a:r>
              <a:rPr lang="en-ID" sz="1400" dirty="0"/>
              <a:t> (</a:t>
            </a:r>
            <a:r>
              <a:rPr lang="en-ID" sz="1400" dirty="0" err="1"/>
              <a:t>penjelasan</a:t>
            </a:r>
            <a:r>
              <a:rPr lang="en-ID" sz="1400" dirty="0"/>
              <a:t> </a:t>
            </a:r>
            <a:r>
              <a:rPr lang="en-ID" sz="1400" dirty="0" err="1"/>
              <a:t>mengenai</a:t>
            </a:r>
            <a:r>
              <a:rPr lang="en-ID" sz="1400" dirty="0"/>
              <a:t> </a:t>
            </a:r>
            <a:r>
              <a:rPr lang="en-ID" sz="1400" dirty="0" err="1"/>
              <a:t>alasan</a:t>
            </a:r>
            <a:r>
              <a:rPr lang="en-ID" sz="1400" dirty="0"/>
              <a:t> </a:t>
            </a:r>
            <a:r>
              <a:rPr lang="en-ID" sz="1400" dirty="0" err="1"/>
              <a:t>hal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dibahas</a:t>
            </a:r>
            <a:r>
              <a:rPr lang="en-ID" sz="1400" dirty="0"/>
              <a:t> </a:t>
            </a:r>
            <a:r>
              <a:rPr lang="en-ID" sz="1400" dirty="0" err="1"/>
              <a:t>kemudian</a:t>
            </a:r>
            <a:r>
              <a:rPr lang="en-ID" sz="1400" dirty="0"/>
              <a:t>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3048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AE8B-EE38-1044-CCB5-FF8B53B67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Pengujian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BCNF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F81C1-0F1F-6EFB-AA98-D4D347048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79366"/>
          </a:xfrm>
        </p:spPr>
        <p:txBody>
          <a:bodyPr/>
          <a:lstStyle/>
          <a:p>
            <a:r>
              <a:rPr lang="en-ID" sz="1300" dirty="0" err="1"/>
              <a:t>Untuk</a:t>
            </a:r>
            <a:r>
              <a:rPr lang="en-ID" sz="1300" dirty="0"/>
              <a:t> </a:t>
            </a:r>
            <a:r>
              <a:rPr lang="en-ID" sz="1300" dirty="0" err="1"/>
              <a:t>memeriksa</a:t>
            </a:r>
            <a:r>
              <a:rPr lang="en-ID" sz="1300" dirty="0"/>
              <a:t> </a:t>
            </a:r>
            <a:r>
              <a:rPr lang="en-ID" sz="1300" dirty="0" err="1"/>
              <a:t>apakah</a:t>
            </a:r>
            <a:r>
              <a:rPr lang="en-ID" sz="1300" dirty="0"/>
              <a:t> </a:t>
            </a:r>
            <a:r>
              <a:rPr lang="en-ID" sz="1300" dirty="0" err="1"/>
              <a:t>sebuah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non-trivial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US" sz="1300" b="1" dirty="0">
                <a:solidFill>
                  <a:srgbClr val="FFC000"/>
                </a:solidFill>
              </a:rPr>
              <a:t>α → β</a:t>
            </a:r>
            <a:r>
              <a:rPr lang="en-ID" sz="1300" dirty="0"/>
              <a:t> </a:t>
            </a:r>
            <a:r>
              <a:rPr lang="en-ID" sz="1300" dirty="0" err="1"/>
              <a:t>menyebabkan</a:t>
            </a:r>
            <a:r>
              <a:rPr lang="en-ID" sz="1300" dirty="0"/>
              <a:t> </a:t>
            </a:r>
            <a:r>
              <a:rPr lang="en-ID" sz="1300" dirty="0" err="1"/>
              <a:t>pelanggaran</a:t>
            </a:r>
            <a:r>
              <a:rPr lang="en-ID" sz="1300" dirty="0"/>
              <a:t> </a:t>
            </a:r>
            <a:r>
              <a:rPr lang="en-ID" sz="1300" dirty="0" err="1"/>
              <a:t>aturan</a:t>
            </a:r>
            <a:r>
              <a:rPr lang="en-ID" sz="1300" dirty="0"/>
              <a:t> BCNF:</a:t>
            </a:r>
          </a:p>
          <a:p>
            <a:pPr lvl="1"/>
            <a:r>
              <a:rPr lang="en-ID" sz="1300" dirty="0" err="1"/>
              <a:t>Hitung</a:t>
            </a:r>
            <a:r>
              <a:rPr lang="en-ID" sz="1300" dirty="0"/>
              <a:t> </a:t>
            </a:r>
            <a:r>
              <a:rPr lang="en-US" sz="1300" b="1" dirty="0">
                <a:solidFill>
                  <a:srgbClr val="FFC000"/>
                </a:solidFill>
              </a:rPr>
              <a:t>α</a:t>
            </a:r>
            <a:r>
              <a:rPr lang="en-US" sz="1300" b="1" baseline="30000" dirty="0">
                <a:solidFill>
                  <a:srgbClr val="FFC000"/>
                </a:solidFill>
              </a:rPr>
              <a:t>+</a:t>
            </a:r>
            <a:r>
              <a:rPr lang="en-ID" sz="1300" dirty="0"/>
              <a:t> (</a:t>
            </a:r>
            <a:r>
              <a:rPr lang="en-ID" sz="1300" dirty="0" err="1"/>
              <a:t>penutupan</a:t>
            </a:r>
            <a:r>
              <a:rPr lang="en-ID" sz="1300" dirty="0"/>
              <a:t> </a:t>
            </a:r>
            <a:r>
              <a:rPr lang="en-ID" sz="1300" dirty="0" err="1"/>
              <a:t>atribut</a:t>
            </a:r>
            <a:r>
              <a:rPr lang="en-ID" sz="1300" dirty="0"/>
              <a:t> </a:t>
            </a:r>
            <a:r>
              <a:rPr lang="en-ID" sz="1300" dirty="0" err="1"/>
              <a:t>atau</a:t>
            </a:r>
            <a:r>
              <a:rPr lang="en-ID" sz="1300" dirty="0"/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attribute closure</a:t>
            </a:r>
            <a:r>
              <a:rPr lang="en-ID" sz="1300" dirty="0"/>
              <a:t> </a:t>
            </a:r>
            <a:r>
              <a:rPr lang="en-ID" sz="1300" dirty="0" err="1"/>
              <a:t>dari</a:t>
            </a:r>
            <a:r>
              <a:rPr lang="en-ID" sz="1300" dirty="0"/>
              <a:t> </a:t>
            </a:r>
            <a:r>
              <a:rPr lang="en-US" sz="1300" b="1" dirty="0">
                <a:solidFill>
                  <a:srgbClr val="FFC000"/>
                </a:solidFill>
              </a:rPr>
              <a:t>α</a:t>
            </a:r>
            <a:r>
              <a:rPr lang="en-ID" sz="1300" dirty="0"/>
              <a:t>), dan</a:t>
            </a:r>
          </a:p>
          <a:p>
            <a:pPr lvl="1"/>
            <a:r>
              <a:rPr lang="en-ID" sz="1300" dirty="0" err="1"/>
              <a:t>Verifikasi</a:t>
            </a:r>
            <a:r>
              <a:rPr lang="en-ID" sz="1300" dirty="0"/>
              <a:t> </a:t>
            </a:r>
            <a:r>
              <a:rPr lang="en-ID" sz="1300" dirty="0" err="1"/>
              <a:t>apakah</a:t>
            </a:r>
            <a:r>
              <a:rPr lang="en-ID" sz="1300" dirty="0"/>
              <a:t> </a:t>
            </a:r>
            <a:r>
              <a:rPr lang="en-ID" sz="1300" dirty="0" err="1"/>
              <a:t>hasil</a:t>
            </a:r>
            <a:r>
              <a:rPr lang="en-ID" sz="1300" dirty="0"/>
              <a:t> </a:t>
            </a:r>
            <a:r>
              <a:rPr lang="en-ID" sz="1300" dirty="0" err="1"/>
              <a:t>penutupan</a:t>
            </a:r>
            <a:r>
              <a:rPr lang="en-ID" sz="1300" dirty="0"/>
              <a:t> </a:t>
            </a:r>
            <a:r>
              <a:rPr lang="en-ID" sz="1300" dirty="0" err="1"/>
              <a:t>tersebut</a:t>
            </a:r>
            <a:r>
              <a:rPr lang="en-ID" sz="1300" dirty="0"/>
              <a:t> </a:t>
            </a:r>
            <a:r>
              <a:rPr lang="en-ID" sz="1300" dirty="0" err="1"/>
              <a:t>mencakup</a:t>
            </a:r>
            <a:r>
              <a:rPr lang="en-ID" sz="1300" dirty="0"/>
              <a:t> </a:t>
            </a:r>
            <a:r>
              <a:rPr lang="en-ID" sz="1300" dirty="0" err="1"/>
              <a:t>seluruh</a:t>
            </a:r>
            <a:r>
              <a:rPr lang="en-ID" sz="1300" dirty="0"/>
              <a:t> </a:t>
            </a:r>
            <a:r>
              <a:rPr lang="en-ID" sz="1300" dirty="0" err="1"/>
              <a:t>atribut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R</a:t>
            </a:r>
            <a:r>
              <a:rPr lang="en-ID" sz="1300" dirty="0"/>
              <a:t>. Jika </a:t>
            </a:r>
            <a:r>
              <a:rPr lang="en-ID" sz="1300" dirty="0" err="1"/>
              <a:t>ya</a:t>
            </a:r>
            <a:r>
              <a:rPr lang="en-ID" sz="1300" dirty="0"/>
              <a:t>, </a:t>
            </a:r>
            <a:r>
              <a:rPr lang="en-ID" sz="1300" dirty="0" err="1"/>
              <a:t>maka</a:t>
            </a:r>
            <a:r>
              <a:rPr lang="en-ID" sz="1300" dirty="0"/>
              <a:t> </a:t>
            </a:r>
            <a:r>
              <a:rPr lang="en-US" sz="1300" b="1" dirty="0">
                <a:solidFill>
                  <a:srgbClr val="FFC000"/>
                </a:solidFill>
              </a:rPr>
              <a:t>α</a:t>
            </a:r>
            <a:r>
              <a:rPr lang="en-ID" sz="1300" dirty="0"/>
              <a:t> </a:t>
            </a:r>
            <a:r>
              <a:rPr lang="en-ID" sz="1300" dirty="0" err="1"/>
              <a:t>adalah</a:t>
            </a:r>
            <a:r>
              <a:rPr lang="en-ID" sz="1300" dirty="0"/>
              <a:t> </a:t>
            </a:r>
            <a:r>
              <a:rPr lang="en-ID" sz="1300" dirty="0" err="1"/>
              <a:t>sebuah</a:t>
            </a:r>
            <a:r>
              <a:rPr lang="en-ID" sz="1300" dirty="0"/>
              <a:t> </a:t>
            </a:r>
            <a:r>
              <a:rPr lang="en-ID" sz="1300" b="1" i="1" dirty="0" err="1">
                <a:solidFill>
                  <a:srgbClr val="FFC000"/>
                </a:solidFill>
              </a:rPr>
              <a:t>superkey</a:t>
            </a:r>
            <a:r>
              <a:rPr lang="en-ID" sz="1300" dirty="0"/>
              <a:t> </a:t>
            </a:r>
            <a:r>
              <a:rPr lang="en-ID" sz="1300" dirty="0" err="1"/>
              <a:t>dari</a:t>
            </a:r>
            <a:r>
              <a:rPr lang="en-ID" sz="1300" dirty="0"/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R</a:t>
            </a:r>
            <a:r>
              <a:rPr lang="en-ID" sz="1300" dirty="0"/>
              <a:t>.</a:t>
            </a:r>
          </a:p>
          <a:p>
            <a:r>
              <a:rPr lang="en-ID" sz="1300" b="1" dirty="0" err="1">
                <a:solidFill>
                  <a:srgbClr val="FFC000"/>
                </a:solidFill>
              </a:rPr>
              <a:t>Pengujian</a:t>
            </a:r>
            <a:r>
              <a:rPr lang="en-ID" sz="1300" b="1" dirty="0">
                <a:solidFill>
                  <a:srgbClr val="FFC000"/>
                </a:solidFill>
              </a:rPr>
              <a:t> yang </a:t>
            </a:r>
            <a:r>
              <a:rPr lang="en-ID" sz="1300" b="1" dirty="0" err="1">
                <a:solidFill>
                  <a:srgbClr val="FFC000"/>
                </a:solidFill>
              </a:rPr>
              <a:t>Disederhanakan</a:t>
            </a:r>
            <a:r>
              <a:rPr lang="en-ID" sz="1300" b="1" dirty="0">
                <a:solidFill>
                  <a:srgbClr val="FFC000"/>
                </a:solidFill>
              </a:rPr>
              <a:t> (</a:t>
            </a:r>
            <a:r>
              <a:rPr lang="en-ID" sz="1300" b="1" i="1" dirty="0">
                <a:solidFill>
                  <a:srgbClr val="FFC000"/>
                </a:solidFill>
              </a:rPr>
              <a:t>Simplified test</a:t>
            </a:r>
            <a:r>
              <a:rPr lang="en-ID" sz="1300" b="1" dirty="0">
                <a:solidFill>
                  <a:srgbClr val="FFC000"/>
                </a:solidFill>
              </a:rPr>
              <a:t>)</a:t>
            </a:r>
            <a:r>
              <a:rPr lang="en-ID" sz="1300" b="1" dirty="0"/>
              <a:t>:</a:t>
            </a:r>
            <a:r>
              <a:rPr lang="en-ID" sz="1300" dirty="0"/>
              <a:t> </a:t>
            </a:r>
            <a:r>
              <a:rPr lang="en-ID" sz="1300" dirty="0" err="1"/>
              <a:t>Untuk</a:t>
            </a:r>
            <a:r>
              <a:rPr lang="en-ID" sz="1300" dirty="0"/>
              <a:t> </a:t>
            </a:r>
            <a:r>
              <a:rPr lang="en-ID" sz="1300" dirty="0" err="1"/>
              <a:t>memeriksa</a:t>
            </a:r>
            <a:r>
              <a:rPr lang="en-ID" sz="1300" dirty="0"/>
              <a:t> </a:t>
            </a:r>
            <a:r>
              <a:rPr lang="en-ID" sz="1300" dirty="0" err="1"/>
              <a:t>apakah</a:t>
            </a:r>
            <a:r>
              <a:rPr lang="en-ID" sz="1300" dirty="0"/>
              <a:t> </a:t>
            </a:r>
            <a:r>
              <a:rPr lang="en-ID" sz="1300" dirty="0" err="1"/>
              <a:t>sebuah</a:t>
            </a:r>
            <a:r>
              <a:rPr lang="en-ID" sz="1300" dirty="0"/>
              <a:t> </a:t>
            </a:r>
            <a:r>
              <a:rPr lang="en-ID" sz="1300" dirty="0" err="1"/>
              <a:t>skema</a:t>
            </a:r>
            <a:r>
              <a:rPr lang="en-ID" sz="1300" dirty="0"/>
              <a:t> </a:t>
            </a:r>
            <a:r>
              <a:rPr lang="en-ID" sz="1300" dirty="0" err="1"/>
              <a:t>relasi</a:t>
            </a:r>
            <a:r>
              <a:rPr lang="en-ID" sz="1300" dirty="0"/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R</a:t>
            </a:r>
            <a:r>
              <a:rPr lang="en-ID" sz="1300" dirty="0"/>
              <a:t> </a:t>
            </a:r>
            <a:r>
              <a:rPr lang="en-ID" sz="1300" dirty="0" err="1"/>
              <a:t>berada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BCNF, </a:t>
            </a:r>
            <a:r>
              <a:rPr lang="en-ID" sz="1300" dirty="0" err="1"/>
              <a:t>cukup</a:t>
            </a:r>
            <a:r>
              <a:rPr lang="en-ID" sz="1300" dirty="0"/>
              <a:t> </a:t>
            </a:r>
            <a:r>
              <a:rPr lang="en-ID" sz="1300" dirty="0" err="1"/>
              <a:t>dengan</a:t>
            </a:r>
            <a:r>
              <a:rPr lang="en-ID" sz="1300" dirty="0"/>
              <a:t> </a:t>
            </a:r>
            <a:r>
              <a:rPr lang="en-ID" sz="1300" dirty="0" err="1"/>
              <a:t>memeriksa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ID" sz="1300" dirty="0" err="1"/>
              <a:t>himpunan</a:t>
            </a:r>
            <a:r>
              <a:rPr lang="en-ID" sz="1300" dirty="0"/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F</a:t>
            </a:r>
            <a:r>
              <a:rPr lang="en-ID" sz="1300" dirty="0"/>
              <a:t> yang </a:t>
            </a:r>
            <a:r>
              <a:rPr lang="en-ID" sz="1300" dirty="0" err="1"/>
              <a:t>diberikan</a:t>
            </a:r>
            <a:r>
              <a:rPr lang="en-ID" sz="1300" dirty="0"/>
              <a:t> </a:t>
            </a:r>
            <a:r>
              <a:rPr lang="en-ID" sz="1300" dirty="0" err="1"/>
              <a:t>saja</a:t>
            </a:r>
            <a:r>
              <a:rPr lang="en-ID" sz="1300" dirty="0"/>
              <a:t> </a:t>
            </a:r>
            <a:r>
              <a:rPr lang="en-ID" sz="1300" dirty="0" err="1"/>
              <a:t>untuk</a:t>
            </a:r>
            <a:r>
              <a:rPr lang="en-ID" sz="1300" dirty="0"/>
              <a:t> </a:t>
            </a:r>
            <a:r>
              <a:rPr lang="en-ID" sz="1300" dirty="0" err="1"/>
              <a:t>melihat</a:t>
            </a:r>
            <a:r>
              <a:rPr lang="en-ID" sz="1300" dirty="0"/>
              <a:t> </a:t>
            </a:r>
            <a:r>
              <a:rPr lang="en-ID" sz="1300" dirty="0" err="1"/>
              <a:t>adanya</a:t>
            </a:r>
            <a:r>
              <a:rPr lang="en-ID" sz="1300" dirty="0"/>
              <a:t> </a:t>
            </a:r>
            <a:r>
              <a:rPr lang="en-ID" sz="1300" dirty="0" err="1"/>
              <a:t>pelanggaran</a:t>
            </a:r>
            <a:r>
              <a:rPr lang="en-ID" sz="1300" dirty="0"/>
              <a:t> BCNF, </a:t>
            </a:r>
            <a:r>
              <a:rPr lang="en-ID" sz="1300" dirty="0" err="1"/>
              <a:t>daripada</a:t>
            </a:r>
            <a:r>
              <a:rPr lang="en-ID" sz="1300" dirty="0"/>
              <a:t> </a:t>
            </a:r>
            <a:r>
              <a:rPr lang="en-ID" sz="1300" dirty="0" err="1"/>
              <a:t>harus</a:t>
            </a:r>
            <a:r>
              <a:rPr lang="en-ID" sz="1300" dirty="0"/>
              <a:t> </a:t>
            </a:r>
            <a:r>
              <a:rPr lang="en-ID" sz="1300" dirty="0" err="1"/>
              <a:t>memeriksa</a:t>
            </a:r>
            <a:r>
              <a:rPr lang="en-ID" sz="1300" dirty="0"/>
              <a:t> </a:t>
            </a:r>
            <a:r>
              <a:rPr lang="en-ID" sz="1300" dirty="0" err="1"/>
              <a:t>seluruh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US" sz="1300" i="1" dirty="0"/>
              <a:t>F</a:t>
            </a:r>
            <a:r>
              <a:rPr lang="en-US" sz="1300" baseline="30000" dirty="0"/>
              <a:t>+</a:t>
            </a:r>
            <a:r>
              <a:rPr lang="en-ID" sz="1300" dirty="0"/>
              <a:t>.</a:t>
            </a:r>
          </a:p>
          <a:p>
            <a:pPr lvl="1"/>
            <a:r>
              <a:rPr lang="en-ID" sz="1300" dirty="0"/>
              <a:t>Jika </a:t>
            </a:r>
            <a:r>
              <a:rPr lang="en-ID" sz="1300" dirty="0" err="1"/>
              <a:t>tidak</a:t>
            </a:r>
            <a:r>
              <a:rPr lang="en-ID" sz="1300" dirty="0"/>
              <a:t> </a:t>
            </a:r>
            <a:r>
              <a:rPr lang="en-ID" sz="1300" dirty="0" err="1"/>
              <a:t>ada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ID" sz="1300" i="1" dirty="0"/>
              <a:t>F</a:t>
            </a:r>
            <a:r>
              <a:rPr lang="en-ID" sz="1300" dirty="0"/>
              <a:t> yang </a:t>
            </a:r>
            <a:r>
              <a:rPr lang="en-ID" sz="1300" dirty="0" err="1"/>
              <a:t>menyebabkan</a:t>
            </a:r>
            <a:r>
              <a:rPr lang="en-ID" sz="1300" dirty="0"/>
              <a:t> </a:t>
            </a:r>
            <a:r>
              <a:rPr lang="en-ID" sz="1300" dirty="0" err="1"/>
              <a:t>pelanggaran</a:t>
            </a:r>
            <a:r>
              <a:rPr lang="en-ID" sz="1300" dirty="0"/>
              <a:t> BCNF, </a:t>
            </a:r>
            <a:r>
              <a:rPr lang="en-ID" sz="1300" dirty="0" err="1"/>
              <a:t>maka</a:t>
            </a:r>
            <a:r>
              <a:rPr lang="en-ID" sz="1300" dirty="0"/>
              <a:t> </a:t>
            </a:r>
            <a:r>
              <a:rPr lang="en-ID" sz="1300" dirty="0" err="1"/>
              <a:t>tidak</a:t>
            </a:r>
            <a:r>
              <a:rPr lang="en-ID" sz="1300" dirty="0"/>
              <a:t> </a:t>
            </a:r>
            <a:r>
              <a:rPr lang="en-ID" sz="1300" dirty="0" err="1"/>
              <a:t>akan</a:t>
            </a:r>
            <a:r>
              <a:rPr lang="en-ID" sz="1300" dirty="0"/>
              <a:t> </a:t>
            </a:r>
            <a:r>
              <a:rPr lang="en-ID" sz="1300" dirty="0" err="1"/>
              <a:t>ada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US" sz="1300" i="1" dirty="0"/>
              <a:t>F</a:t>
            </a:r>
            <a:r>
              <a:rPr lang="en-US" sz="1300" baseline="30000" dirty="0"/>
              <a:t>+</a:t>
            </a:r>
            <a:r>
              <a:rPr lang="en-ID" sz="1300" dirty="0"/>
              <a:t> yang </a:t>
            </a:r>
            <a:r>
              <a:rPr lang="en-ID" sz="1300" dirty="0" err="1"/>
              <a:t>menyebabkan</a:t>
            </a:r>
            <a:r>
              <a:rPr lang="en-ID" sz="1300" dirty="0"/>
              <a:t> </a:t>
            </a:r>
            <a:r>
              <a:rPr lang="en-ID" sz="1300" dirty="0" err="1"/>
              <a:t>pelanggaran</a:t>
            </a:r>
            <a:r>
              <a:rPr lang="en-ID" sz="1300" dirty="0"/>
              <a:t> BCNF pula.</a:t>
            </a:r>
          </a:p>
          <a:p>
            <a:r>
              <a:rPr lang="en-ID" sz="1300" b="1" dirty="0" err="1">
                <a:solidFill>
                  <a:srgbClr val="FFC000"/>
                </a:solidFill>
              </a:rPr>
              <a:t>Namun</a:t>
            </a:r>
            <a:r>
              <a:rPr lang="en-ID" sz="1300" b="1" dirty="0">
                <a:solidFill>
                  <a:srgbClr val="FFC000"/>
                </a:solidFill>
              </a:rPr>
              <a:t>, </a:t>
            </a:r>
            <a:r>
              <a:rPr lang="en-ID" sz="1300" b="1" dirty="0" err="1">
                <a:solidFill>
                  <a:srgbClr val="FFC000"/>
                </a:solidFill>
              </a:rPr>
              <a:t>pengujian</a:t>
            </a:r>
            <a:r>
              <a:rPr lang="en-ID" sz="1300" b="1" dirty="0">
                <a:solidFill>
                  <a:srgbClr val="FFC000"/>
                </a:solidFill>
              </a:rPr>
              <a:t> yang </a:t>
            </a:r>
            <a:r>
              <a:rPr lang="en-ID" sz="1300" b="1" dirty="0" err="1">
                <a:solidFill>
                  <a:srgbClr val="FFC000"/>
                </a:solidFill>
              </a:rPr>
              <a:t>disederhanakan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hanya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menggunakan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F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menjadi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tidak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akurat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saat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menguji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relasi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dalam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hasil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dirty="0" err="1">
                <a:solidFill>
                  <a:srgbClr val="FFC000"/>
                </a:solidFill>
              </a:rPr>
              <a:t>dekomposisi</a:t>
            </a:r>
            <a:r>
              <a:rPr lang="en-ID" sz="1300" b="1" dirty="0">
                <a:solidFill>
                  <a:srgbClr val="FFC000"/>
                </a:solidFill>
              </a:rPr>
              <a:t> </a:t>
            </a:r>
            <a:r>
              <a:rPr lang="en-ID" sz="1300" b="1" i="1" dirty="0">
                <a:solidFill>
                  <a:srgbClr val="FFC000"/>
                </a:solidFill>
              </a:rPr>
              <a:t>R</a:t>
            </a:r>
            <a:r>
              <a:rPr lang="en-ID" sz="1300" b="1" dirty="0"/>
              <a:t>:</a:t>
            </a:r>
            <a:endParaRPr lang="en-ID" sz="1300" dirty="0"/>
          </a:p>
          <a:p>
            <a:pPr lvl="1"/>
            <a:r>
              <a:rPr lang="en-ID" sz="1300" b="1" dirty="0" err="1">
                <a:solidFill>
                  <a:srgbClr val="FFC000"/>
                </a:solidFill>
              </a:rPr>
              <a:t>Pertimbangkan</a:t>
            </a:r>
            <a:r>
              <a:rPr lang="en-ID" sz="1300" b="1" dirty="0"/>
              <a:t>:</a:t>
            </a:r>
            <a:r>
              <a:rPr lang="en-ID" sz="1300" dirty="0"/>
              <a:t> </a:t>
            </a:r>
            <a:r>
              <a:rPr lang="en-US" sz="1300" i="1" dirty="0"/>
              <a:t>R =</a:t>
            </a:r>
            <a:r>
              <a:rPr lang="en-US" sz="1300" dirty="0"/>
              <a:t> (</a:t>
            </a:r>
            <a:r>
              <a:rPr lang="en-US" sz="1300" i="1" dirty="0"/>
              <a:t>A, B, C, D, E</a:t>
            </a:r>
            <a:r>
              <a:rPr lang="en-US" sz="1300" dirty="0"/>
              <a:t>)</a:t>
            </a:r>
            <a:r>
              <a:rPr lang="en-ID" sz="1300" dirty="0"/>
              <a:t>, </a:t>
            </a:r>
            <a:r>
              <a:rPr lang="en-ID" sz="1300" dirty="0" err="1"/>
              <a:t>dengan</a:t>
            </a:r>
            <a:r>
              <a:rPr lang="en-ID" sz="1300" dirty="0"/>
              <a:t> </a:t>
            </a:r>
            <a:r>
              <a:rPr lang="en-US" sz="1300" i="1" dirty="0"/>
              <a:t>F</a:t>
            </a:r>
            <a:r>
              <a:rPr lang="en-US" sz="1300" dirty="0"/>
              <a:t> = { </a:t>
            </a:r>
            <a:r>
              <a:rPr lang="en-US" sz="1300" i="1" dirty="0"/>
              <a:t>A → B, BC → D</a:t>
            </a:r>
            <a:r>
              <a:rPr lang="en-US" sz="1300" dirty="0"/>
              <a:t>}</a:t>
            </a:r>
            <a:endParaRPr lang="en-ID" sz="1300" dirty="0"/>
          </a:p>
          <a:p>
            <a:pPr lvl="1"/>
            <a:r>
              <a:rPr lang="en-ID" sz="1300" dirty="0" err="1"/>
              <a:t>Dekomposisi</a:t>
            </a:r>
            <a:r>
              <a:rPr lang="en-ID" sz="1300" dirty="0"/>
              <a:t> </a:t>
            </a:r>
            <a:r>
              <a:rPr lang="en-ID" sz="1300" i="1" dirty="0"/>
              <a:t>R</a:t>
            </a:r>
            <a:r>
              <a:rPr lang="en-ID" sz="1300" dirty="0"/>
              <a:t> </a:t>
            </a:r>
            <a:r>
              <a:rPr lang="en-ID" sz="1300" dirty="0" err="1"/>
              <a:t>menjadi</a:t>
            </a:r>
            <a:r>
              <a:rPr lang="en-ID" sz="1300" dirty="0"/>
              <a:t> </a:t>
            </a:r>
            <a:r>
              <a:rPr lang="en-US" sz="1300" i="1" dirty="0"/>
              <a:t>R</a:t>
            </a:r>
            <a:r>
              <a:rPr lang="en-US" sz="1300" baseline="-25000" dirty="0"/>
              <a:t>1 </a:t>
            </a:r>
            <a:r>
              <a:rPr lang="en-US" sz="1300" dirty="0"/>
              <a:t>=</a:t>
            </a:r>
            <a:r>
              <a:rPr lang="en-US" sz="1300" baseline="-25000" dirty="0"/>
              <a:t> </a:t>
            </a:r>
            <a:r>
              <a:rPr lang="en-US" sz="1300" dirty="0"/>
              <a:t>(</a:t>
            </a:r>
            <a:r>
              <a:rPr lang="en-US" sz="1300" i="1" dirty="0"/>
              <a:t>A,B</a:t>
            </a:r>
            <a:r>
              <a:rPr lang="en-US" sz="1300" dirty="0"/>
              <a:t>) dan </a:t>
            </a:r>
            <a:r>
              <a:rPr lang="en-US" sz="1300" i="1" dirty="0"/>
              <a:t>R</a:t>
            </a:r>
            <a:r>
              <a:rPr lang="en-US" sz="1300" baseline="-25000" dirty="0"/>
              <a:t>2 </a:t>
            </a:r>
            <a:r>
              <a:rPr lang="en-US" sz="1300" dirty="0"/>
              <a:t>=</a:t>
            </a:r>
            <a:r>
              <a:rPr lang="en-US" sz="1300" baseline="-25000" dirty="0"/>
              <a:t> </a:t>
            </a:r>
            <a:r>
              <a:rPr lang="en-US" sz="1300" dirty="0"/>
              <a:t>(</a:t>
            </a:r>
            <a:r>
              <a:rPr lang="en-US" sz="1300" i="1" dirty="0"/>
              <a:t>A,C,D, E</a:t>
            </a:r>
            <a:r>
              <a:rPr lang="en-US" sz="1300" dirty="0"/>
              <a:t>) </a:t>
            </a:r>
            <a:r>
              <a:rPr lang="en-ID" sz="1300" dirty="0"/>
              <a:t>.</a:t>
            </a:r>
          </a:p>
          <a:p>
            <a:pPr lvl="1"/>
            <a:r>
              <a:rPr lang="en-ID" sz="1300" dirty="0"/>
              <a:t>Tidak </a:t>
            </a:r>
            <a:r>
              <a:rPr lang="en-ID" sz="1300" dirty="0" err="1"/>
              <a:t>ada</a:t>
            </a:r>
            <a:r>
              <a:rPr lang="en-ID" sz="1300" dirty="0"/>
              <a:t>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ID" sz="1300" i="1" dirty="0"/>
              <a:t>F</a:t>
            </a:r>
            <a:r>
              <a:rPr lang="en-ID" sz="1300" dirty="0"/>
              <a:t> yang </a:t>
            </a:r>
            <a:r>
              <a:rPr lang="en-ID" sz="1300" dirty="0" err="1"/>
              <a:t>hanya</a:t>
            </a:r>
            <a:r>
              <a:rPr lang="en-ID" sz="1300" dirty="0"/>
              <a:t> </a:t>
            </a:r>
            <a:r>
              <a:rPr lang="en-ID" sz="1300" dirty="0" err="1"/>
              <a:t>mengandung</a:t>
            </a:r>
            <a:r>
              <a:rPr lang="en-ID" sz="1300" dirty="0"/>
              <a:t> </a:t>
            </a:r>
            <a:r>
              <a:rPr lang="en-ID" sz="1300" dirty="0" err="1"/>
              <a:t>atribut</a:t>
            </a:r>
            <a:r>
              <a:rPr lang="en-ID" sz="1300" dirty="0"/>
              <a:t> </a:t>
            </a:r>
            <a:r>
              <a:rPr lang="en-ID" sz="1300" dirty="0" err="1"/>
              <a:t>dari</a:t>
            </a:r>
            <a:r>
              <a:rPr lang="en-ID" sz="1300" dirty="0"/>
              <a:t> (A, C, D, E), </a:t>
            </a:r>
            <a:r>
              <a:rPr lang="en-ID" sz="1300" dirty="0" err="1"/>
              <a:t>sehingga</a:t>
            </a:r>
            <a:r>
              <a:rPr lang="en-ID" sz="1300" dirty="0"/>
              <a:t> </a:t>
            </a:r>
            <a:r>
              <a:rPr lang="en-ID" sz="1300" dirty="0" err="1"/>
              <a:t>kita</a:t>
            </a:r>
            <a:r>
              <a:rPr lang="en-ID" sz="1300" dirty="0"/>
              <a:t> </a:t>
            </a:r>
            <a:r>
              <a:rPr lang="en-ID" sz="1300" dirty="0" err="1"/>
              <a:t>mungkin</a:t>
            </a:r>
            <a:r>
              <a:rPr lang="en-ID" sz="1300" dirty="0"/>
              <a:t> </a:t>
            </a:r>
            <a:r>
              <a:rPr lang="en-ID" sz="1300" dirty="0" err="1"/>
              <a:t>keliru</a:t>
            </a:r>
            <a:r>
              <a:rPr lang="en-ID" sz="1300" dirty="0"/>
              <a:t> </a:t>
            </a:r>
            <a:r>
              <a:rPr lang="en-ID" sz="1300" dirty="0" err="1"/>
              <a:t>menganggap</a:t>
            </a:r>
            <a:r>
              <a:rPr lang="en-ID" sz="1300" dirty="0"/>
              <a:t> </a:t>
            </a:r>
            <a:r>
              <a:rPr lang="en-ID" sz="1300" dirty="0" err="1"/>
              <a:t>bahwa</a:t>
            </a:r>
            <a:r>
              <a:rPr lang="en-ID" sz="1300" dirty="0"/>
              <a:t> </a:t>
            </a:r>
            <a:r>
              <a:rPr lang="en-US" sz="1300" i="1" dirty="0"/>
              <a:t>R</a:t>
            </a:r>
            <a:r>
              <a:rPr lang="en-US" sz="1300" baseline="-25000" dirty="0"/>
              <a:t>2</a:t>
            </a:r>
            <a:r>
              <a:rPr lang="en-ID" sz="1300" dirty="0"/>
              <a:t> </a:t>
            </a:r>
            <a:r>
              <a:rPr lang="en-ID" sz="1300" dirty="0" err="1"/>
              <a:t>sudah</a:t>
            </a:r>
            <a:r>
              <a:rPr lang="en-ID" sz="1300" dirty="0"/>
              <a:t> </a:t>
            </a:r>
            <a:r>
              <a:rPr lang="en-ID" sz="1300" dirty="0" err="1"/>
              <a:t>memenuhi</a:t>
            </a:r>
            <a:r>
              <a:rPr lang="en-ID" sz="1300" dirty="0"/>
              <a:t> BCNF.</a:t>
            </a:r>
          </a:p>
          <a:p>
            <a:pPr lvl="1"/>
            <a:r>
              <a:rPr lang="en-ID" sz="1300" dirty="0" err="1"/>
              <a:t>Faktanya</a:t>
            </a:r>
            <a:r>
              <a:rPr lang="en-ID" sz="1300" dirty="0"/>
              <a:t>, </a:t>
            </a:r>
            <a:r>
              <a:rPr lang="en-ID" sz="1300" dirty="0" err="1"/>
              <a:t>ketergantungan</a:t>
            </a:r>
            <a:r>
              <a:rPr lang="en-ID" sz="1300" dirty="0"/>
              <a:t> </a:t>
            </a:r>
            <a:r>
              <a:rPr lang="en-US" sz="1300" i="1" dirty="0"/>
              <a:t>AC</a:t>
            </a:r>
            <a:r>
              <a:rPr lang="en-US" sz="1300" dirty="0"/>
              <a:t> → </a:t>
            </a:r>
            <a:r>
              <a:rPr lang="en-US" sz="1300" i="1" dirty="0"/>
              <a:t>D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</a:t>
            </a:r>
            <a:r>
              <a:rPr lang="en-US" sz="1300" i="1" dirty="0"/>
              <a:t>F</a:t>
            </a:r>
            <a:r>
              <a:rPr lang="en-US" sz="1300" baseline="30000" dirty="0"/>
              <a:t>+</a:t>
            </a:r>
            <a:r>
              <a:rPr lang="en-ID" sz="1300" dirty="0"/>
              <a:t> </a:t>
            </a:r>
            <a:r>
              <a:rPr lang="en-ID" sz="1300" dirty="0" err="1"/>
              <a:t>menunjukkan</a:t>
            </a:r>
            <a:r>
              <a:rPr lang="en-ID" sz="1300" dirty="0"/>
              <a:t> </a:t>
            </a:r>
            <a:r>
              <a:rPr lang="en-ID" sz="1300" dirty="0" err="1"/>
              <a:t>bahwa</a:t>
            </a:r>
            <a:r>
              <a:rPr lang="en-ID" sz="1300" dirty="0"/>
              <a:t> </a:t>
            </a:r>
            <a:r>
              <a:rPr lang="en-US" sz="1300" i="1" dirty="0"/>
              <a:t>R</a:t>
            </a:r>
            <a:r>
              <a:rPr lang="en-US" sz="1300" baseline="-25000" dirty="0"/>
              <a:t>2</a:t>
            </a:r>
            <a:r>
              <a:rPr lang="en-ID" sz="1300" dirty="0"/>
              <a:t> </a:t>
            </a:r>
            <a:r>
              <a:rPr lang="en-ID" sz="1300" b="1" dirty="0" err="1"/>
              <a:t>tidak</a:t>
            </a:r>
            <a:r>
              <a:rPr lang="en-ID" sz="1300" dirty="0"/>
              <a:t> </a:t>
            </a:r>
            <a:r>
              <a:rPr lang="en-ID" sz="1300" dirty="0" err="1"/>
              <a:t>berada</a:t>
            </a:r>
            <a:r>
              <a:rPr lang="en-ID" sz="1300" dirty="0"/>
              <a:t> </a:t>
            </a:r>
            <a:r>
              <a:rPr lang="en-ID" sz="1300" dirty="0" err="1"/>
              <a:t>dalam</a:t>
            </a:r>
            <a:r>
              <a:rPr lang="en-ID" sz="1300" dirty="0"/>
              <a:t> BCNF.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88735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213E-67BB-C304-04FE-4601E87F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Menguji</a:t>
            </a:r>
            <a:r>
              <a:rPr lang="en-ID" b="1" dirty="0"/>
              <a:t> </a:t>
            </a:r>
            <a:r>
              <a:rPr lang="en-ID" b="1" dirty="0" err="1"/>
              <a:t>Dekomposisi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BCNF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3B521-50D6-C0B7-1AC6-D4D59E002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95550"/>
          </a:xfrm>
        </p:spPr>
        <p:txBody>
          <a:bodyPr/>
          <a:lstStyle/>
          <a:p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US" sz="1400" i="1" dirty="0"/>
              <a:t>R</a:t>
            </a:r>
            <a:r>
              <a:rPr lang="en-US" sz="1400" i="1" baseline="-25000" dirty="0"/>
              <a:t>i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hasil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 </a:t>
            </a:r>
            <a:r>
              <a:rPr lang="en-US" sz="1400" i="1" dirty="0"/>
              <a:t>R</a:t>
            </a:r>
            <a:r>
              <a:rPr lang="en-ID" sz="1400" dirty="0"/>
              <a:t> </a:t>
            </a:r>
            <a:r>
              <a:rPr lang="en-ID" sz="1400" dirty="0" err="1"/>
              <a:t>berada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b="1" dirty="0"/>
              <a:t>BCNF</a:t>
            </a:r>
            <a:r>
              <a:rPr lang="en-ID" sz="1400" dirty="0"/>
              <a:t>:</a:t>
            </a:r>
          </a:p>
          <a:p>
            <a:pPr lvl="1"/>
            <a:r>
              <a:rPr lang="en-ID" sz="1400" dirty="0" err="1"/>
              <a:t>Lakukan</a:t>
            </a:r>
            <a:r>
              <a:rPr lang="en-ID" sz="1400" dirty="0"/>
              <a:t> </a:t>
            </a:r>
            <a:r>
              <a:rPr lang="en-ID" sz="1400" dirty="0" err="1"/>
              <a:t>pengujian</a:t>
            </a:r>
            <a:r>
              <a:rPr lang="en-ID" sz="1400" dirty="0"/>
              <a:t> </a:t>
            </a:r>
            <a:r>
              <a:rPr lang="en-US" sz="1400" i="1" dirty="0"/>
              <a:t>R</a:t>
            </a:r>
            <a:r>
              <a:rPr lang="en-US" sz="1400" i="1" baseline="-25000" dirty="0"/>
              <a:t>i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BCNF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merujuk</a:t>
            </a:r>
            <a:r>
              <a:rPr lang="en-ID" sz="1400" dirty="0"/>
              <a:t> pada </a:t>
            </a:r>
            <a:r>
              <a:rPr lang="en-ID" sz="1400" b="1" dirty="0" err="1">
                <a:solidFill>
                  <a:srgbClr val="FFC000"/>
                </a:solidFill>
              </a:rPr>
              <a:t>pembatasan</a:t>
            </a:r>
            <a:r>
              <a:rPr lang="en-ID" sz="1400" b="1" dirty="0"/>
              <a:t> (</a:t>
            </a:r>
            <a:r>
              <a:rPr lang="en-ID" sz="1400" b="1" i="1" dirty="0"/>
              <a:t>restriction</a:t>
            </a:r>
            <a:r>
              <a:rPr lang="en-ID" sz="1400" b="1" dirty="0"/>
              <a:t>)</a:t>
            </a:r>
            <a:r>
              <a:rPr lang="en-ID" sz="1400" dirty="0"/>
              <a:t> </a:t>
            </a:r>
            <a:r>
              <a:rPr lang="en-ID" sz="1400" i="1" dirty="0">
                <a:solidFill>
                  <a:srgbClr val="FFC000"/>
                </a:solidFill>
              </a:rPr>
              <a:t>F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ID" sz="1400" dirty="0"/>
              <a:t> (</a:t>
            </a:r>
            <a:r>
              <a:rPr lang="en-ID" sz="1400" dirty="0" err="1"/>
              <a:t>yaitu</a:t>
            </a:r>
            <a:r>
              <a:rPr lang="en-ID" sz="1400" dirty="0"/>
              <a:t>,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i="1" dirty="0"/>
              <a:t>Functional Dependencies</a:t>
            </a:r>
            <a:r>
              <a:rPr lang="en-ID" sz="1400" dirty="0"/>
              <a:t> (</a:t>
            </a:r>
            <a:r>
              <a:rPr lang="en-ID" sz="1400" i="1" dirty="0"/>
              <a:t>FD)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F</a:t>
            </a:r>
            <a:r>
              <a:rPr lang="en-US" sz="1400" b="1" i="1" baseline="30000" dirty="0">
                <a:solidFill>
                  <a:srgbClr val="FFC000"/>
                </a:solidFill>
              </a:rPr>
              <a:t>+</a:t>
            </a:r>
            <a:r>
              <a:rPr lang="en-ID" sz="1400" dirty="0"/>
              <a:t> yang </a:t>
            </a:r>
            <a:r>
              <a:rPr lang="en-ID" sz="1400" dirty="0" err="1"/>
              <a:t>hanya</a:t>
            </a:r>
            <a:r>
              <a:rPr lang="en-ID" sz="1400" dirty="0"/>
              <a:t> </a:t>
            </a:r>
            <a:r>
              <a:rPr lang="en-ID" sz="1400" dirty="0" err="1"/>
              <a:t>mengandung</a:t>
            </a:r>
            <a:r>
              <a:rPr lang="en-ID" sz="1400" dirty="0"/>
              <a:t> </a:t>
            </a:r>
            <a:r>
              <a:rPr lang="en-ID" sz="1400" dirty="0" err="1"/>
              <a:t>atribut-atribut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ID" sz="1400" dirty="0"/>
              <a:t>).</a:t>
            </a:r>
          </a:p>
          <a:p>
            <a:pPr lvl="1"/>
            <a:r>
              <a:rPr lang="en-ID" sz="1400" b="1" dirty="0"/>
              <a:t>Atau</a:t>
            </a:r>
            <a:r>
              <a:rPr lang="en-ID" sz="1400" dirty="0"/>
              <a:t>, </a:t>
            </a:r>
            <a:r>
              <a:rPr lang="en-ID" sz="1400" dirty="0" err="1"/>
              <a:t>gunakan</a:t>
            </a:r>
            <a:r>
              <a:rPr lang="en-ID" sz="1400" dirty="0"/>
              <a:t> 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asli</a:t>
            </a:r>
            <a:r>
              <a:rPr lang="en-ID" sz="1400" dirty="0"/>
              <a:t> </a:t>
            </a:r>
            <a:r>
              <a:rPr lang="en-ID" sz="1400" i="1" dirty="0"/>
              <a:t>F</a:t>
            </a:r>
            <a:r>
              <a:rPr lang="en-ID" sz="1400" dirty="0"/>
              <a:t> yang </a:t>
            </a:r>
            <a:r>
              <a:rPr lang="en-ID" sz="1400" dirty="0" err="1"/>
              <a:t>berlaku</a:t>
            </a:r>
            <a:r>
              <a:rPr lang="en-ID" sz="1400" dirty="0"/>
              <a:t> pada </a:t>
            </a:r>
            <a:r>
              <a:rPr lang="en-ID" sz="1400" i="1" dirty="0"/>
              <a:t>R</a:t>
            </a:r>
            <a:r>
              <a:rPr lang="en-ID" sz="1400" dirty="0"/>
              <a:t>, </a:t>
            </a:r>
            <a:r>
              <a:rPr lang="en-ID" sz="1400" dirty="0" err="1"/>
              <a:t>namun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pengujian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berikut</a:t>
            </a:r>
            <a:r>
              <a:rPr lang="en-ID" sz="1400" dirty="0"/>
              <a:t>:</a:t>
            </a:r>
          </a:p>
          <a:p>
            <a:pPr lvl="2"/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α ⊆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ID" sz="1400" dirty="0"/>
              <a:t>, </a:t>
            </a:r>
            <a:r>
              <a:rPr lang="en-ID" sz="1400" dirty="0" err="1"/>
              <a:t>periksa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α</a:t>
            </a:r>
            <a:r>
              <a:rPr lang="en-US" sz="1400" b="1" baseline="30000" dirty="0">
                <a:solidFill>
                  <a:srgbClr val="FFC000"/>
                </a:solidFill>
              </a:rPr>
              <a:t>+</a:t>
            </a:r>
            <a:r>
              <a:rPr lang="en-ID" sz="1400" dirty="0"/>
              <a:t> (</a:t>
            </a:r>
            <a:r>
              <a:rPr lang="en-ID" sz="1400" dirty="0" err="1"/>
              <a:t>penutupan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α</a:t>
            </a:r>
            <a:r>
              <a:rPr lang="en-ID" sz="1400" dirty="0"/>
              <a:t>)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mengandung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b="1" dirty="0">
                <a:solidFill>
                  <a:srgbClr val="FFC000"/>
                </a:solidFill>
              </a:rPr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 </a:t>
            </a:r>
            <a:r>
              <a:rPr lang="en-US" sz="1400" b="1" dirty="0">
                <a:solidFill>
                  <a:srgbClr val="FFC000"/>
                </a:solidFill>
              </a:rPr>
              <a:t>- α</a:t>
            </a:r>
            <a:r>
              <a:rPr lang="en-ID" sz="1400" dirty="0"/>
              <a:t>, </a:t>
            </a:r>
            <a:r>
              <a:rPr lang="en-ID" sz="1400" b="1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mencakup</a:t>
            </a:r>
            <a:r>
              <a:rPr lang="en-ID" sz="1400" dirty="0"/>
              <a:t>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ID" sz="1400" dirty="0"/>
              <a:t>.</a:t>
            </a:r>
          </a:p>
          <a:p>
            <a:pPr lvl="2"/>
            <a:r>
              <a:rPr lang="en-ID" sz="1400" dirty="0"/>
              <a:t>Jika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dilanggar</a:t>
            </a:r>
            <a:r>
              <a:rPr lang="en-ID" sz="1400" dirty="0"/>
              <a:t> oleh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α → </a:t>
            </a:r>
            <a:r>
              <a:rPr lang="en-US" sz="1400" b="1" i="1" dirty="0">
                <a:solidFill>
                  <a:srgbClr val="FFC000"/>
                </a:solidFill>
              </a:rPr>
              <a:t>β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F</a:t>
            </a:r>
            <a:r>
              <a:rPr lang="en-ID" sz="1400" dirty="0"/>
              <a:t>, </a:t>
            </a:r>
            <a:r>
              <a:rPr lang="en-ID" sz="1400" dirty="0" err="1"/>
              <a:t>maka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:</a:t>
            </a:r>
          </a:p>
          <a:p>
            <a:pPr marL="1524000" lvl="3" indent="0">
              <a:buNone/>
            </a:pPr>
            <a:r>
              <a:rPr lang="en-ID" sz="1400" b="1" dirty="0">
                <a:solidFill>
                  <a:srgbClr val="FFC000"/>
                </a:solidFill>
              </a:rPr>
              <a:t>		</a:t>
            </a:r>
            <a:r>
              <a:rPr lang="en-US" sz="1400" b="1" dirty="0">
                <a:solidFill>
                  <a:srgbClr val="FFC000"/>
                </a:solidFill>
              </a:rPr>
              <a:t> α → (α</a:t>
            </a:r>
            <a:r>
              <a:rPr lang="en-US" sz="1400" b="1" baseline="30000" dirty="0">
                <a:solidFill>
                  <a:srgbClr val="FFC000"/>
                </a:solidFill>
              </a:rPr>
              <a:t>+ </a:t>
            </a:r>
            <a:r>
              <a:rPr lang="en-US" sz="1400" b="1" dirty="0">
                <a:solidFill>
                  <a:srgbClr val="FFC000"/>
                </a:solidFill>
              </a:rPr>
              <a:t>- α) ∩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endParaRPr lang="en-ID" sz="1400" b="1" dirty="0">
              <a:solidFill>
                <a:srgbClr val="FFC000"/>
              </a:solidFill>
            </a:endParaRPr>
          </a:p>
          <a:p>
            <a:pPr lvl="2"/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ditunjukkan</a:t>
            </a:r>
            <a:r>
              <a:rPr lang="en-ID" sz="1400" dirty="0"/>
              <a:t> </a:t>
            </a:r>
            <a:r>
              <a:rPr lang="en-ID" sz="1400" dirty="0" err="1"/>
              <a:t>berlaku</a:t>
            </a:r>
            <a:r>
              <a:rPr lang="en-ID" sz="1400" dirty="0"/>
              <a:t> pada </a:t>
            </a:r>
            <a:r>
              <a:rPr lang="en-US" sz="1400" i="1" dirty="0"/>
              <a:t>R</a:t>
            </a:r>
            <a:r>
              <a:rPr lang="en-US" sz="1400" i="1" baseline="-25000" dirty="0"/>
              <a:t>i</a:t>
            </a:r>
            <a:r>
              <a:rPr lang="en-ID" sz="1400" dirty="0"/>
              <a:t>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ID" sz="1400" dirty="0"/>
              <a:t> </a:t>
            </a:r>
            <a:r>
              <a:rPr lang="en-ID" sz="1400" dirty="0" err="1"/>
              <a:t>melanggar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BCNF.</a:t>
            </a:r>
          </a:p>
          <a:p>
            <a:pPr lvl="2"/>
            <a:r>
              <a:rPr lang="en-ID" sz="1400" dirty="0"/>
              <a:t>Kita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melakukan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lanjut</a:t>
            </a:r>
            <a:r>
              <a:rPr lang="en-ID" sz="1400" dirty="0"/>
              <a:t> pada</a:t>
            </a:r>
            <a:r>
              <a:rPr lang="en-US" sz="1400" i="1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R</a:t>
            </a:r>
            <a:r>
              <a:rPr lang="en-US" sz="1400" b="1" i="1" baseline="-25000" dirty="0">
                <a:solidFill>
                  <a:srgbClr val="FFC000"/>
                </a:solidFill>
              </a:rPr>
              <a:t>i</a:t>
            </a:r>
            <a:r>
              <a:rPr lang="en-US" sz="1400" i="1" baseline="-25000" dirty="0"/>
              <a:t>.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584291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8EED-562F-DF6B-B006-734C7AFE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Decomposition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EBF0F-338B-A19C-B847-5C6A8F1A2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ct val="100000"/>
              <a:buNone/>
            </a:pPr>
            <a:r>
              <a:rPr lang="en-US" sz="1000" i="1" dirty="0"/>
              <a:t>	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{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done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false;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compute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 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(not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done)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(there is a schema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that is not in BCNF)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 begin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→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be a nontrivial functional dependency that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holds on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such that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→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 not 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 </a:t>
            </a:r>
            <a:r>
              <a:rPr lang="en-US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   and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∩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 =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∅;</a:t>
            </a:r>
            <a:b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			  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result – 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∪ 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) ∪ (α,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);</a:t>
            </a:r>
            <a:b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	    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done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true;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spcBef>
                <a:spcPts val="448"/>
              </a:spcBef>
              <a:buSzPct val="100000"/>
              <a:buNone/>
            </a:pPr>
            <a:endParaRPr lang="en-US" b="1" dirty="0"/>
          </a:p>
          <a:p>
            <a:pPr marL="342900" lvl="0" indent="-342900">
              <a:spcBef>
                <a:spcPts val="448"/>
              </a:spcBef>
              <a:buSzPct val="100000"/>
              <a:buNone/>
            </a:pPr>
            <a:r>
              <a:rPr lang="en-US" dirty="0"/>
              <a:t>     Note:  each </a:t>
            </a:r>
            <a:r>
              <a:rPr lang="en-US" i="1" dirty="0"/>
              <a:t>R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is in BCNF, and decomposition is lossless-join</a:t>
            </a:r>
            <a:r>
              <a:rPr lang="en-US" sz="1000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9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96F0-7CA1-1DC2-52E7-F2E98F78C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Dekomposisi</a:t>
            </a:r>
            <a:r>
              <a:rPr lang="en-ID" b="1" dirty="0"/>
              <a:t> BCNF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5BAA2-6990-4465-0C89-5F5126C94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46997"/>
          </a:xfrm>
        </p:spPr>
        <p:txBody>
          <a:bodyPr/>
          <a:lstStyle/>
          <a:p>
            <a:r>
              <a:rPr lang="en-ID" sz="2000" b="1" dirty="0" err="1"/>
              <a:t>Diketahui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ID" sz="2000" dirty="0"/>
              <a:t>Skema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i="1" dirty="0"/>
              <a:t>R = (A, B, C)</a:t>
            </a:r>
          </a:p>
          <a:p>
            <a:pPr lvl="1"/>
            <a:r>
              <a:rPr lang="en-ID" sz="2000" dirty="0" err="1"/>
              <a:t>Himpunan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</a:t>
            </a:r>
            <a:r>
              <a:rPr lang="en-ID" sz="2000" i="1" dirty="0"/>
              <a:t>F </a:t>
            </a:r>
            <a:r>
              <a:rPr lang="en-ID" sz="2000" dirty="0"/>
              <a:t>= </a:t>
            </a:r>
            <a:r>
              <a:rPr lang="en-ID" sz="2000" i="1" dirty="0"/>
              <a:t>{</a:t>
            </a:r>
            <a:r>
              <a:rPr lang="en-US" sz="2000" i="1" dirty="0"/>
              <a:t>A → B</a:t>
            </a:r>
            <a:r>
              <a:rPr lang="en-ID" sz="2000" i="1" dirty="0"/>
              <a:t>, </a:t>
            </a:r>
            <a:r>
              <a:rPr lang="en-US" sz="2000" i="1" dirty="0"/>
              <a:t>B → C</a:t>
            </a:r>
            <a:r>
              <a:rPr lang="en-ID" sz="2000" i="1" dirty="0"/>
              <a:t>}</a:t>
            </a:r>
          </a:p>
          <a:p>
            <a:pPr lvl="1"/>
            <a:r>
              <a:rPr lang="en-ID" sz="2000" dirty="0" err="1"/>
              <a:t>Kunci</a:t>
            </a:r>
            <a:r>
              <a:rPr lang="en-ID" sz="2000" dirty="0"/>
              <a:t> (</a:t>
            </a:r>
            <a:r>
              <a:rPr lang="en-ID" sz="2000" i="1" dirty="0"/>
              <a:t>Key</a:t>
            </a:r>
            <a:r>
              <a:rPr lang="en-ID" sz="2000" dirty="0"/>
              <a:t>) = </a:t>
            </a:r>
            <a:r>
              <a:rPr lang="en-ID" sz="2000" i="1" dirty="0"/>
              <a:t>{A}</a:t>
            </a:r>
          </a:p>
          <a:p>
            <a:r>
              <a:rPr lang="en-ID" sz="2000" b="1" dirty="0" err="1"/>
              <a:t>Analisis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ID" sz="2000" i="1" dirty="0"/>
              <a:t>R</a:t>
            </a:r>
            <a:r>
              <a:rPr lang="en-ID" sz="2000" dirty="0"/>
              <a:t> </a:t>
            </a:r>
            <a:r>
              <a:rPr lang="en-ID" sz="2000" b="1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BCNF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US" sz="2000" i="1" dirty="0"/>
              <a:t>B → C</a:t>
            </a:r>
            <a:r>
              <a:rPr lang="en-ID" sz="2000" dirty="0"/>
              <a:t>, </a:t>
            </a:r>
            <a:r>
              <a:rPr lang="en-ID" sz="2000" dirty="0" err="1"/>
              <a:t>namun</a:t>
            </a:r>
            <a:r>
              <a:rPr lang="en-ID" sz="2000" dirty="0"/>
              <a:t> </a:t>
            </a:r>
            <a:r>
              <a:rPr lang="en-ID" sz="2000" i="1" dirty="0"/>
              <a:t>B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bukan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i="1" dirty="0" err="1">
                <a:solidFill>
                  <a:srgbClr val="FFC000"/>
                </a:solidFill>
              </a:rPr>
              <a:t>superkey</a:t>
            </a:r>
            <a:r>
              <a:rPr lang="en-ID" sz="2000" dirty="0"/>
              <a:t>.</a:t>
            </a:r>
          </a:p>
          <a:p>
            <a:r>
              <a:rPr lang="en-ID" sz="2000" b="1" dirty="0" err="1"/>
              <a:t>Dekomposisi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dirty="0"/>
              <a:t> = (</a:t>
            </a:r>
            <a:r>
              <a:rPr lang="en-US" sz="2000" i="1" dirty="0"/>
              <a:t>B, C)</a:t>
            </a:r>
            <a:endParaRPr lang="en-ID" sz="2000" dirty="0"/>
          </a:p>
          <a:p>
            <a:pPr lvl="1"/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= </a:t>
            </a:r>
            <a:r>
              <a:rPr lang="en-US" sz="2000" i="1" dirty="0"/>
              <a:t>(A,B)</a:t>
            </a:r>
            <a:endParaRPr lang="en-ID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643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64F5-2537-4ED9-5228-70EFCABCF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Dekomposisi</a:t>
            </a:r>
            <a:r>
              <a:rPr lang="en-ID" b="1" dirty="0"/>
              <a:t> BCNF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76B01-6288-F1F5-1F38-5301FD743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63182"/>
          </a:xfrm>
        </p:spPr>
        <p:txBody>
          <a:bodyPr/>
          <a:lstStyle/>
          <a:p>
            <a:r>
              <a:rPr lang="en-ID" sz="1400" b="1" dirty="0"/>
              <a:t>Skema </a:t>
            </a:r>
            <a:r>
              <a:rPr lang="en-ID" sz="1400" b="1" dirty="0" err="1"/>
              <a:t>Relasi</a:t>
            </a:r>
            <a:r>
              <a:rPr lang="en-ID" sz="1400" b="1" dirty="0"/>
              <a:t> </a:t>
            </a:r>
            <a:r>
              <a:rPr lang="en-ID" sz="1400" b="1" i="1" dirty="0"/>
              <a:t>class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b="1" i="1" dirty="0">
                <a:solidFill>
                  <a:srgbClr val="FFC000"/>
                </a:solidFill>
              </a:rPr>
              <a:t>(</a:t>
            </a:r>
            <a:r>
              <a:rPr lang="en-ID" sz="1400" b="1" i="1" dirty="0" err="1">
                <a:solidFill>
                  <a:srgbClr val="FFC000"/>
                </a:solidFill>
              </a:rPr>
              <a:t>course_id</a:t>
            </a:r>
            <a:r>
              <a:rPr lang="en-ID" sz="1400" b="1" i="1" dirty="0">
                <a:solidFill>
                  <a:srgbClr val="FFC000"/>
                </a:solidFill>
              </a:rPr>
              <a:t>, title,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b="1" i="1" dirty="0">
                <a:solidFill>
                  <a:srgbClr val="FFC000"/>
                </a:solidFill>
              </a:rPr>
              <a:t>, credits, </a:t>
            </a:r>
            <a:r>
              <a:rPr lang="en-ID" sz="1400" b="1" i="1" dirty="0" err="1">
                <a:solidFill>
                  <a:srgbClr val="FFC000"/>
                </a:solidFill>
              </a:rPr>
              <a:t>sec_id</a:t>
            </a:r>
            <a:r>
              <a:rPr lang="en-ID" sz="1400" b="1" i="1" dirty="0">
                <a:solidFill>
                  <a:srgbClr val="FFC000"/>
                </a:solidFill>
              </a:rPr>
              <a:t>, semester, year, building, </a:t>
            </a:r>
            <a:r>
              <a:rPr lang="en-ID" sz="1400" b="1" i="1" dirty="0" err="1">
                <a:solidFill>
                  <a:srgbClr val="FFC000"/>
                </a:solidFill>
              </a:rPr>
              <a:t>room_number</a:t>
            </a:r>
            <a:r>
              <a:rPr lang="en-ID" sz="1400" b="1" i="1" dirty="0">
                <a:solidFill>
                  <a:srgbClr val="FFC000"/>
                </a:solidFill>
              </a:rPr>
              <a:t>, capacity, </a:t>
            </a:r>
            <a:r>
              <a:rPr lang="en-ID" sz="1400" b="1" i="1" dirty="0" err="1">
                <a:solidFill>
                  <a:srgbClr val="FFC000"/>
                </a:solidFill>
              </a:rPr>
              <a:t>time_slot_id</a:t>
            </a:r>
            <a:r>
              <a:rPr lang="en-ID" sz="1400" b="1" i="1" dirty="0">
                <a:solidFill>
                  <a:srgbClr val="FFC000"/>
                </a:solidFill>
              </a:rPr>
              <a:t>)</a:t>
            </a:r>
            <a:endParaRPr lang="en-ID" sz="1400" b="1" dirty="0">
              <a:solidFill>
                <a:srgbClr val="FFC000"/>
              </a:solidFill>
            </a:endParaRPr>
          </a:p>
          <a:p>
            <a:r>
              <a:rPr lang="en-ID" sz="1400" b="1" dirty="0" err="1"/>
              <a:t>Ketergantungan</a:t>
            </a:r>
            <a:r>
              <a:rPr lang="en-ID" sz="1400" b="1" dirty="0"/>
              <a:t> </a:t>
            </a:r>
            <a:r>
              <a:rPr lang="en-ID" sz="1400" b="1" dirty="0" err="1"/>
              <a:t>Fungsional</a:t>
            </a:r>
            <a:r>
              <a:rPr lang="en-ID" sz="1400" b="1" dirty="0"/>
              <a:t> (</a:t>
            </a:r>
            <a:r>
              <a:rPr lang="en-ID" sz="1400" b="1" i="1" dirty="0"/>
              <a:t>Functional Dependencies</a:t>
            </a:r>
            <a:r>
              <a:rPr lang="en-ID" sz="1400" b="1" dirty="0"/>
              <a:t>):</a:t>
            </a:r>
            <a:endParaRPr lang="en-ID" sz="1400" dirty="0"/>
          </a:p>
          <a:p>
            <a:pPr lvl="1"/>
            <a:r>
              <a:rPr lang="en-ID" sz="1400" b="1" i="1" dirty="0" err="1">
                <a:solidFill>
                  <a:srgbClr val="FFC000"/>
                </a:solidFill>
              </a:rPr>
              <a:t>course_id</a:t>
            </a:r>
            <a:r>
              <a:rPr lang="en-ID" sz="1400" b="1" i="1" dirty="0">
                <a:solidFill>
                  <a:srgbClr val="FFC000"/>
                </a:solidFill>
              </a:rPr>
              <a:t> → title,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b="1" i="1" dirty="0">
                <a:solidFill>
                  <a:srgbClr val="FFC000"/>
                </a:solidFill>
              </a:rPr>
              <a:t>, credits</a:t>
            </a:r>
          </a:p>
          <a:p>
            <a:pPr lvl="1"/>
            <a:r>
              <a:rPr lang="en-ID" sz="1400" b="1" i="1" dirty="0">
                <a:solidFill>
                  <a:srgbClr val="FFC000"/>
                </a:solidFill>
              </a:rPr>
              <a:t>building, </a:t>
            </a:r>
            <a:r>
              <a:rPr lang="en-ID" sz="1400" b="1" i="1" dirty="0" err="1">
                <a:solidFill>
                  <a:srgbClr val="FFC000"/>
                </a:solidFill>
              </a:rPr>
              <a:t>room_number</a:t>
            </a:r>
            <a:r>
              <a:rPr lang="en-ID" sz="1400" b="1" i="1" dirty="0">
                <a:solidFill>
                  <a:srgbClr val="FFC000"/>
                </a:solidFill>
              </a:rPr>
              <a:t> → capacity</a:t>
            </a:r>
          </a:p>
          <a:p>
            <a:pPr lvl="1"/>
            <a:r>
              <a:rPr lang="en-ID" sz="1400" b="1" i="1" dirty="0" err="1">
                <a:solidFill>
                  <a:srgbClr val="FFC000"/>
                </a:solidFill>
              </a:rPr>
              <a:t>course_id</a:t>
            </a:r>
            <a:r>
              <a:rPr lang="en-ID" sz="1400" b="1" i="1" dirty="0">
                <a:solidFill>
                  <a:srgbClr val="FFC000"/>
                </a:solidFill>
              </a:rPr>
              <a:t>, </a:t>
            </a:r>
            <a:r>
              <a:rPr lang="en-ID" sz="1400" b="1" i="1" dirty="0" err="1">
                <a:solidFill>
                  <a:srgbClr val="FFC000"/>
                </a:solidFill>
              </a:rPr>
              <a:t>sec_id</a:t>
            </a:r>
            <a:r>
              <a:rPr lang="en-ID" sz="1400" b="1" i="1" dirty="0">
                <a:solidFill>
                  <a:srgbClr val="FFC000"/>
                </a:solidFill>
              </a:rPr>
              <a:t>, semester, year → building, </a:t>
            </a:r>
            <a:r>
              <a:rPr lang="en-ID" sz="1400" b="1" i="1" dirty="0" err="1">
                <a:solidFill>
                  <a:srgbClr val="FFC000"/>
                </a:solidFill>
              </a:rPr>
              <a:t>room_number</a:t>
            </a:r>
            <a:r>
              <a:rPr lang="en-ID" sz="1400" b="1" i="1" dirty="0">
                <a:solidFill>
                  <a:srgbClr val="FFC000"/>
                </a:solidFill>
              </a:rPr>
              <a:t>, </a:t>
            </a:r>
            <a:r>
              <a:rPr lang="en-ID" sz="1400" b="1" i="1" dirty="0" err="1">
                <a:solidFill>
                  <a:srgbClr val="FFC000"/>
                </a:solidFill>
              </a:rPr>
              <a:t>time_slot_id</a:t>
            </a:r>
            <a:endParaRPr lang="en-ID" sz="1400" b="1" i="1" dirty="0">
              <a:solidFill>
                <a:srgbClr val="FFC000"/>
              </a:solidFill>
            </a:endParaRPr>
          </a:p>
          <a:p>
            <a:r>
              <a:rPr lang="en-ID" sz="1400" b="1" dirty="0" err="1"/>
              <a:t>Kunci</a:t>
            </a:r>
            <a:r>
              <a:rPr lang="en-ID" sz="1400" b="1" dirty="0"/>
              <a:t> </a:t>
            </a:r>
            <a:r>
              <a:rPr lang="en-ID" sz="1400" b="1" dirty="0" err="1"/>
              <a:t>Kandidat</a:t>
            </a:r>
            <a:r>
              <a:rPr lang="en-ID" sz="1400" b="1" dirty="0"/>
              <a:t> (</a:t>
            </a:r>
            <a:r>
              <a:rPr lang="en-ID" sz="1400" b="1" i="1" dirty="0"/>
              <a:t>Candidate Key</a:t>
            </a:r>
            <a:r>
              <a:rPr lang="en-ID" sz="1400" b="1" dirty="0"/>
              <a:t>):</a:t>
            </a:r>
            <a:endParaRPr lang="en-ID" sz="1400" dirty="0"/>
          </a:p>
          <a:p>
            <a:pPr lvl="1"/>
            <a:r>
              <a:rPr lang="en-US" sz="1400" b="1" dirty="0">
                <a:solidFill>
                  <a:srgbClr val="FFC000"/>
                </a:solidFill>
              </a:rPr>
              <a:t>{</a:t>
            </a:r>
            <a:r>
              <a:rPr lang="en-US" sz="1400" b="1" i="1" dirty="0" err="1">
                <a:solidFill>
                  <a:srgbClr val="FFC000"/>
                </a:solidFill>
              </a:rPr>
              <a:t>course_id</a:t>
            </a:r>
            <a:r>
              <a:rPr lang="en-US" sz="1400" b="1" dirty="0">
                <a:solidFill>
                  <a:srgbClr val="FFC000"/>
                </a:solidFill>
              </a:rPr>
              <a:t>, </a:t>
            </a:r>
            <a:r>
              <a:rPr lang="en-US" sz="1400" b="1" i="1" dirty="0" err="1">
                <a:solidFill>
                  <a:srgbClr val="FFC000"/>
                </a:solidFill>
              </a:rPr>
              <a:t>sec_id</a:t>
            </a:r>
            <a:r>
              <a:rPr lang="en-US" sz="1400" b="1" dirty="0">
                <a:solidFill>
                  <a:srgbClr val="FFC000"/>
                </a:solidFill>
              </a:rPr>
              <a:t>, </a:t>
            </a:r>
            <a:r>
              <a:rPr lang="en-US" sz="1400" b="1" i="1" dirty="0">
                <a:solidFill>
                  <a:srgbClr val="FFC000"/>
                </a:solidFill>
              </a:rPr>
              <a:t>semester</a:t>
            </a:r>
            <a:r>
              <a:rPr lang="en-US" sz="1400" b="1" dirty="0">
                <a:solidFill>
                  <a:srgbClr val="FFC000"/>
                </a:solidFill>
              </a:rPr>
              <a:t>, </a:t>
            </a:r>
            <a:r>
              <a:rPr lang="en-US" sz="1400" b="1" i="1" dirty="0">
                <a:solidFill>
                  <a:srgbClr val="FFC000"/>
                </a:solidFill>
              </a:rPr>
              <a:t>year</a:t>
            </a:r>
            <a:r>
              <a:rPr lang="en-US" sz="1400" b="1" dirty="0">
                <a:solidFill>
                  <a:srgbClr val="FFC000"/>
                </a:solidFill>
              </a:rPr>
              <a:t>}</a:t>
            </a:r>
            <a:endParaRPr lang="en-ID" sz="1400" b="1" dirty="0">
              <a:solidFill>
                <a:srgbClr val="FFC000"/>
              </a:solidFill>
            </a:endParaRPr>
          </a:p>
          <a:p>
            <a:r>
              <a:rPr lang="en-ID" sz="1400" b="1" dirty="0"/>
              <a:t>Proses </a:t>
            </a:r>
            <a:r>
              <a:rPr lang="en-ID" sz="1400" b="1" dirty="0" err="1"/>
              <a:t>Dekomposisi</a:t>
            </a:r>
            <a:r>
              <a:rPr lang="en-ID" sz="1400" b="1" dirty="0"/>
              <a:t> BCNF:</a:t>
            </a:r>
            <a:endParaRPr lang="en-ID" sz="1400" dirty="0"/>
          </a:p>
          <a:p>
            <a:pPr lvl="1"/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US" sz="1400" i="1" dirty="0" err="1"/>
              <a:t>course_id</a:t>
            </a:r>
            <a:r>
              <a:rPr lang="en-US" sz="1400" i="1" dirty="0"/>
              <a:t> </a:t>
            </a:r>
            <a:r>
              <a:rPr lang="en-US" sz="1400" dirty="0"/>
              <a:t>→ </a:t>
            </a:r>
            <a:r>
              <a:rPr lang="en-US" sz="1400" i="1" dirty="0"/>
              <a:t>title</a:t>
            </a:r>
            <a:r>
              <a:rPr lang="en-ID" sz="1400" dirty="0"/>
              <a:t>, </a:t>
            </a:r>
            <a:r>
              <a:rPr lang="en-ID" sz="1400" i="1" dirty="0" err="1"/>
              <a:t>dept_name</a:t>
            </a:r>
            <a:r>
              <a:rPr lang="en-ID" sz="1400" dirty="0"/>
              <a:t>, </a:t>
            </a:r>
            <a:r>
              <a:rPr lang="en-ID" sz="1400" i="1" dirty="0"/>
              <a:t>credits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berlaku</a:t>
            </a:r>
            <a:r>
              <a:rPr lang="en-ID" sz="1400" b="1" dirty="0">
                <a:solidFill>
                  <a:srgbClr val="FFC000"/>
                </a:solidFill>
              </a:rPr>
              <a:t>(holds)</a:t>
            </a:r>
            <a:r>
              <a:rPr lang="en-ID" sz="1400" dirty="0"/>
              <a:t>, </a:t>
            </a:r>
            <a:r>
              <a:rPr lang="en-ID" sz="1400" dirty="0" err="1"/>
              <a:t>namun</a:t>
            </a:r>
            <a:r>
              <a:rPr lang="en-ID" sz="1400" dirty="0"/>
              <a:t> </a:t>
            </a:r>
            <a:r>
              <a:rPr lang="en-US" sz="1400" i="1" dirty="0" err="1"/>
              <a:t>course_id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bukan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superkey</a:t>
            </a:r>
            <a:r>
              <a:rPr lang="en-ID" sz="1400" dirty="0"/>
              <a:t>.</a:t>
            </a:r>
          </a:p>
          <a:p>
            <a:pPr lvl="1"/>
            <a:r>
              <a:rPr lang="en-ID" sz="1400" dirty="0"/>
              <a:t>Oleh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mengganti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b="1" i="1" dirty="0"/>
              <a:t>class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:</a:t>
            </a:r>
          </a:p>
          <a:p>
            <a:pPr lvl="2"/>
            <a:r>
              <a:rPr lang="en-ID" sz="1400" b="1" dirty="0"/>
              <a:t>course</a:t>
            </a:r>
            <a:r>
              <a:rPr lang="en-ID" sz="1400" dirty="0"/>
              <a:t> </a:t>
            </a:r>
            <a:r>
              <a:rPr lang="en-ID" sz="1400" i="1" dirty="0"/>
              <a:t>(</a:t>
            </a:r>
            <a:r>
              <a:rPr lang="en-ID" sz="1400" i="1" dirty="0" err="1"/>
              <a:t>course_id</a:t>
            </a:r>
            <a:r>
              <a:rPr lang="en-ID" sz="1400" i="1" dirty="0"/>
              <a:t>, title, </a:t>
            </a:r>
            <a:r>
              <a:rPr lang="en-ID" sz="1400" i="1" dirty="0" err="1"/>
              <a:t>dept_name</a:t>
            </a:r>
            <a:r>
              <a:rPr lang="en-ID" sz="1400" i="1" dirty="0"/>
              <a:t>, credits)</a:t>
            </a:r>
            <a:endParaRPr lang="en-ID" sz="1400" dirty="0"/>
          </a:p>
          <a:p>
            <a:pPr lvl="2"/>
            <a:r>
              <a:rPr lang="en-ID" sz="1400" b="1" dirty="0"/>
              <a:t>class-1</a:t>
            </a:r>
            <a:r>
              <a:rPr lang="en-ID" sz="1400" dirty="0"/>
              <a:t> </a:t>
            </a:r>
            <a:r>
              <a:rPr lang="en-ID" sz="1400" i="1" dirty="0"/>
              <a:t>(</a:t>
            </a:r>
            <a:r>
              <a:rPr lang="en-ID" sz="1400" i="1" dirty="0" err="1"/>
              <a:t>course_id</a:t>
            </a:r>
            <a:r>
              <a:rPr lang="en-ID" sz="1400" i="1" dirty="0"/>
              <a:t>, </a:t>
            </a:r>
            <a:r>
              <a:rPr lang="en-ID" sz="1400" i="1" dirty="0" err="1"/>
              <a:t>sec_id</a:t>
            </a:r>
            <a:r>
              <a:rPr lang="en-ID" sz="1400" i="1" dirty="0"/>
              <a:t>, semester, year, building, </a:t>
            </a:r>
            <a:r>
              <a:rPr lang="en-ID" sz="1400" i="1" dirty="0" err="1"/>
              <a:t>room_number</a:t>
            </a:r>
            <a:r>
              <a:rPr lang="en-ID" sz="1400" i="1" dirty="0"/>
              <a:t>, capacity, </a:t>
            </a:r>
            <a:r>
              <a:rPr lang="en-ID" sz="1400" i="1" dirty="0" err="1"/>
              <a:t>time_slot_id</a:t>
            </a:r>
            <a:r>
              <a:rPr lang="en-ID" sz="1400" i="1" dirty="0"/>
              <a:t>)</a:t>
            </a:r>
            <a:endParaRPr lang="en-ID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22134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6B470-0952-B5CE-8359-4A711A85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Dekomposisi</a:t>
            </a:r>
            <a:r>
              <a:rPr lang="en-ID" b="1" dirty="0"/>
              <a:t> BCNF (</a:t>
            </a:r>
            <a:r>
              <a:rPr lang="en-ID" b="1" dirty="0" err="1"/>
              <a:t>Lanjutan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A1377-D332-54B8-D6C6-E1E9A7AC9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55089"/>
          </a:xfrm>
        </p:spPr>
        <p:txBody>
          <a:bodyPr/>
          <a:lstStyle/>
          <a:p>
            <a:r>
              <a:rPr lang="en-ID" sz="1600" b="1" dirty="0"/>
              <a:t>Mari </a:t>
            </a:r>
            <a:r>
              <a:rPr lang="en-ID" sz="1600" b="1" dirty="0" err="1"/>
              <a:t>kita</a:t>
            </a:r>
            <a:r>
              <a:rPr lang="en-ID" sz="1600" b="1" dirty="0"/>
              <a:t> </a:t>
            </a:r>
            <a:r>
              <a:rPr lang="en-ID" sz="1600" b="1" dirty="0" err="1"/>
              <a:t>periksa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relasi-relasi</a:t>
            </a:r>
            <a:r>
              <a:rPr lang="en-ID" sz="1600" b="1" dirty="0"/>
              <a:t> </a:t>
            </a:r>
            <a:r>
              <a:rPr lang="en-ID" sz="1600" b="1" dirty="0" err="1"/>
              <a:t>berikut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b="1" i="1" dirty="0"/>
              <a:t>course</a:t>
            </a:r>
            <a:r>
              <a:rPr lang="en-ID" sz="1600" dirty="0"/>
              <a:t> </a:t>
            </a:r>
            <a:r>
              <a:rPr lang="en-ID" sz="1600" i="1" dirty="0"/>
              <a:t>(</a:t>
            </a:r>
            <a:r>
              <a:rPr lang="en-ID" sz="1600" i="1" dirty="0" err="1"/>
              <a:t>course_id</a:t>
            </a:r>
            <a:r>
              <a:rPr lang="en-ID" sz="1600" i="1" dirty="0"/>
              <a:t>, title, </a:t>
            </a:r>
            <a:r>
              <a:rPr lang="en-ID" sz="1600" i="1" dirty="0" err="1"/>
              <a:t>dept_name</a:t>
            </a:r>
            <a:r>
              <a:rPr lang="en-ID" sz="1600" i="1" dirty="0"/>
              <a:t>, credits)</a:t>
            </a:r>
            <a:endParaRPr lang="en-ID" sz="1600" dirty="0"/>
          </a:p>
          <a:p>
            <a:pPr lvl="1"/>
            <a:r>
              <a:rPr lang="en-ID" sz="1600" b="1" i="1" dirty="0"/>
              <a:t>class-1</a:t>
            </a:r>
            <a:r>
              <a:rPr lang="en-ID" sz="1600" dirty="0"/>
              <a:t> </a:t>
            </a:r>
            <a:r>
              <a:rPr lang="en-ID" sz="1600" i="1" dirty="0"/>
              <a:t>(</a:t>
            </a:r>
            <a:r>
              <a:rPr lang="en-ID" sz="1600" i="1" dirty="0" err="1"/>
              <a:t>course_id</a:t>
            </a:r>
            <a:r>
              <a:rPr lang="en-ID" sz="1600" i="1" dirty="0"/>
              <a:t>, </a:t>
            </a:r>
            <a:r>
              <a:rPr lang="en-ID" sz="1600" i="1" dirty="0" err="1"/>
              <a:t>sec_id</a:t>
            </a:r>
            <a:r>
              <a:rPr lang="en-ID" sz="1600" i="1" dirty="0"/>
              <a:t>, semester, year, building, </a:t>
            </a:r>
            <a:r>
              <a:rPr lang="en-ID" sz="1600" i="1" dirty="0" err="1"/>
              <a:t>room_number</a:t>
            </a:r>
            <a:r>
              <a:rPr lang="en-ID" sz="1600" i="1" dirty="0"/>
              <a:t>, capacity, </a:t>
            </a:r>
            <a:r>
              <a:rPr lang="en-ID" sz="1600" i="1" dirty="0" err="1"/>
              <a:t>time_slot_id</a:t>
            </a:r>
            <a:r>
              <a:rPr lang="en-ID" sz="1600" i="1" dirty="0"/>
              <a:t>)</a:t>
            </a:r>
            <a:endParaRPr lang="en-ID" sz="1600" dirty="0"/>
          </a:p>
          <a:p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course</a:t>
            </a:r>
            <a:r>
              <a:rPr lang="en-ID" sz="1600" b="1" dirty="0"/>
              <a:t> </a:t>
            </a:r>
            <a:r>
              <a:rPr lang="en-ID" sz="1600" b="1" dirty="0" err="1"/>
              <a:t>sudah</a:t>
            </a:r>
            <a:r>
              <a:rPr lang="en-ID" sz="1600" b="1" dirty="0"/>
              <a:t> </a:t>
            </a:r>
            <a:r>
              <a:rPr lang="en-ID" sz="1600" b="1" dirty="0" err="1"/>
              <a:t>berada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BCNF</a:t>
            </a:r>
            <a:endParaRPr lang="en-ID" sz="1600" dirty="0">
              <a:solidFill>
                <a:srgbClr val="FFC000"/>
              </a:solidFill>
            </a:endParaRPr>
          </a:p>
          <a:p>
            <a:pPr lvl="1"/>
            <a:r>
              <a:rPr lang="en-ID" sz="1600" dirty="0" err="1"/>
              <a:t>Bagaimana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mengetahui</a:t>
            </a:r>
            <a:r>
              <a:rPr lang="en-ID" sz="1600" dirty="0"/>
              <a:t> </a:t>
            </a:r>
            <a:r>
              <a:rPr lang="en-ID" sz="1600" dirty="0" err="1"/>
              <a:t>hal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? (Karena </a:t>
            </a:r>
            <a:r>
              <a:rPr lang="en-ID" sz="1600" dirty="0" err="1"/>
              <a:t>satu-satunya</a:t>
            </a:r>
            <a:r>
              <a:rPr lang="en-ID" sz="1600" dirty="0"/>
              <a:t> </a:t>
            </a:r>
            <a:r>
              <a:rPr lang="en-ID" sz="1600" dirty="0" err="1"/>
              <a:t>penentu</a:t>
            </a:r>
            <a:r>
              <a:rPr lang="en-ID" sz="1600" dirty="0"/>
              <a:t>, </a:t>
            </a:r>
            <a:r>
              <a:rPr lang="en-ID" sz="1600" i="1" dirty="0" err="1"/>
              <a:t>course_id</a:t>
            </a:r>
            <a:r>
              <a:rPr lang="en-ID" sz="1600" dirty="0"/>
              <a:t>,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).</a:t>
            </a:r>
          </a:p>
          <a:p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/>
              <a:t> </a:t>
            </a:r>
            <a:r>
              <a:rPr lang="en-US" sz="1600" i="1" dirty="0"/>
              <a:t>building</a:t>
            </a:r>
            <a:r>
              <a:rPr lang="en-US" sz="1600" dirty="0"/>
              <a:t>, </a:t>
            </a:r>
            <a:r>
              <a:rPr lang="en-US" sz="1600" i="1" dirty="0" err="1"/>
              <a:t>room_number</a:t>
            </a:r>
            <a:r>
              <a:rPr lang="en-US" sz="1600" i="1" dirty="0"/>
              <a:t> </a:t>
            </a:r>
            <a:r>
              <a:rPr lang="en-US" sz="1600" dirty="0"/>
              <a:t>→ </a:t>
            </a:r>
            <a:r>
              <a:rPr lang="en-US" sz="1600" i="1" dirty="0"/>
              <a:t>capacity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berlaku</a:t>
            </a:r>
            <a:r>
              <a:rPr lang="en-ID" sz="1600" b="1" dirty="0"/>
              <a:t> pada </a:t>
            </a:r>
            <a:r>
              <a:rPr lang="en-ID" sz="1600" b="1" i="1" dirty="0"/>
              <a:t>class-1</a:t>
            </a:r>
            <a:endParaRPr lang="en-ID" sz="1600" dirty="0"/>
          </a:p>
          <a:p>
            <a:pPr lvl="1"/>
            <a:r>
              <a:rPr lang="en-ID" sz="1600" dirty="0" err="1"/>
              <a:t>Namun</a:t>
            </a:r>
            <a:r>
              <a:rPr lang="en-ID" sz="1600" dirty="0"/>
              <a:t>, </a:t>
            </a:r>
            <a:r>
              <a:rPr lang="en-ID" sz="1600" i="1" dirty="0"/>
              <a:t>{building, </a:t>
            </a:r>
            <a:r>
              <a:rPr lang="en-ID" sz="1600" i="1" dirty="0" err="1"/>
              <a:t>room_number</a:t>
            </a:r>
            <a:r>
              <a:rPr lang="en-ID" sz="1600" i="1" dirty="0"/>
              <a:t>}</a:t>
            </a:r>
            <a:r>
              <a:rPr lang="en-ID" sz="1600" dirty="0"/>
              <a:t> </a:t>
            </a:r>
            <a:r>
              <a:rPr lang="en-ID" sz="1600" b="1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i="1" dirty="0" err="1"/>
              <a:t>superkey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b="1" i="1" dirty="0"/>
              <a:t>class-1</a:t>
            </a:r>
            <a:r>
              <a:rPr lang="en-ID" sz="1600" dirty="0"/>
              <a:t>.</a:t>
            </a:r>
          </a:p>
          <a:p>
            <a:r>
              <a:rPr lang="en-ID" sz="1600" b="1" dirty="0"/>
              <a:t>Kita </a:t>
            </a:r>
            <a:r>
              <a:rPr lang="en-ID" sz="1600" b="1" dirty="0" err="1">
                <a:solidFill>
                  <a:srgbClr val="FFC000"/>
                </a:solidFill>
              </a:rPr>
              <a:t>mengganti</a:t>
            </a:r>
            <a:r>
              <a:rPr lang="en-ID" sz="1600" b="1" dirty="0"/>
              <a:t> </a:t>
            </a:r>
            <a:r>
              <a:rPr lang="en-ID" sz="1600" b="1" i="1" dirty="0"/>
              <a:t>class-1</a:t>
            </a:r>
            <a:r>
              <a:rPr lang="en-ID" sz="1600" b="1" dirty="0"/>
              <a:t> </a:t>
            </a:r>
            <a:r>
              <a:rPr lang="en-ID" sz="1600" b="1" dirty="0" err="1"/>
              <a:t>dengan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b="1" i="1" dirty="0"/>
              <a:t>classroom</a:t>
            </a:r>
            <a:r>
              <a:rPr lang="en-ID" sz="1600" dirty="0"/>
              <a:t> </a:t>
            </a:r>
            <a:r>
              <a:rPr lang="en-ID" sz="1600" i="1" dirty="0"/>
              <a:t>(building, </a:t>
            </a:r>
            <a:r>
              <a:rPr lang="en-ID" sz="1600" i="1" dirty="0" err="1"/>
              <a:t>room_number</a:t>
            </a:r>
            <a:r>
              <a:rPr lang="en-ID" sz="1600" i="1" dirty="0"/>
              <a:t>, capacity)</a:t>
            </a:r>
            <a:endParaRPr lang="en-ID" sz="1600" dirty="0"/>
          </a:p>
          <a:p>
            <a:pPr lvl="1"/>
            <a:r>
              <a:rPr lang="en-ID" sz="1600" b="1" i="1" dirty="0"/>
              <a:t>section</a:t>
            </a:r>
            <a:r>
              <a:rPr lang="en-ID" sz="1600" dirty="0"/>
              <a:t> </a:t>
            </a:r>
            <a:r>
              <a:rPr lang="en-ID" sz="1600" i="1" dirty="0"/>
              <a:t>(</a:t>
            </a:r>
            <a:r>
              <a:rPr lang="en-ID" sz="1600" i="1" dirty="0" err="1"/>
              <a:t>course_id</a:t>
            </a:r>
            <a:r>
              <a:rPr lang="en-ID" sz="1600" i="1" dirty="0"/>
              <a:t>, </a:t>
            </a:r>
            <a:r>
              <a:rPr lang="en-ID" sz="1600" i="1" dirty="0" err="1"/>
              <a:t>sec_id</a:t>
            </a:r>
            <a:r>
              <a:rPr lang="en-ID" sz="1600" i="1" dirty="0"/>
              <a:t>, semester, year, building, </a:t>
            </a:r>
            <a:r>
              <a:rPr lang="en-ID" sz="1600" i="1" dirty="0" err="1"/>
              <a:t>room_number</a:t>
            </a:r>
            <a:r>
              <a:rPr lang="en-ID" sz="1600" i="1" dirty="0"/>
              <a:t>, </a:t>
            </a:r>
            <a:r>
              <a:rPr lang="en-ID" sz="1600" i="1" dirty="0" err="1"/>
              <a:t>time_slot_id</a:t>
            </a:r>
            <a:r>
              <a:rPr lang="en-ID" sz="1600" i="1" dirty="0"/>
              <a:t>)</a:t>
            </a:r>
            <a:endParaRPr lang="en-ID" sz="1600" dirty="0"/>
          </a:p>
          <a:p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classroom</a:t>
            </a:r>
            <a:r>
              <a:rPr lang="en-ID" sz="1600" b="1" dirty="0"/>
              <a:t> dan </a:t>
            </a:r>
            <a:r>
              <a:rPr lang="en-ID" sz="1600" b="1" i="1" dirty="0">
                <a:solidFill>
                  <a:srgbClr val="FFC000"/>
                </a:solidFill>
              </a:rPr>
              <a:t>section</a:t>
            </a:r>
            <a:r>
              <a:rPr lang="en-ID" sz="1600" b="1" dirty="0"/>
              <a:t> </a:t>
            </a:r>
            <a:r>
              <a:rPr lang="en-ID" sz="1600" b="1" dirty="0" err="1"/>
              <a:t>kini</a:t>
            </a:r>
            <a:r>
              <a:rPr lang="en-ID" sz="1600" b="1" dirty="0"/>
              <a:t> </a:t>
            </a:r>
            <a:r>
              <a:rPr lang="en-ID" sz="1600" b="1" dirty="0" err="1"/>
              <a:t>telah</a:t>
            </a:r>
            <a:r>
              <a:rPr lang="en-ID" sz="1600" b="1" dirty="0"/>
              <a:t> </a:t>
            </a:r>
            <a:r>
              <a:rPr lang="en-ID" sz="1600" b="1" dirty="0" err="1"/>
              <a:t>berada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BCNF</a:t>
            </a:r>
            <a:r>
              <a:rPr lang="en-ID" sz="1600" b="1" dirty="0"/>
              <a:t>.</a:t>
            </a:r>
            <a:endParaRPr lang="en-ID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3181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D1FE-2C24-BFE6-1A4F-47616FA9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BCNF dan </a:t>
            </a:r>
            <a:r>
              <a:rPr lang="en-ID" b="1" dirty="0" err="1"/>
              <a:t>Pemeliharaan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(</a:t>
            </a:r>
            <a:r>
              <a:rPr lang="en-ID" b="1" i="1" dirty="0"/>
              <a:t>Dependency Preservation</a:t>
            </a:r>
            <a:r>
              <a:rPr lang="en-ID" b="1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D62C-F85A-E481-D937-99081F55F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36010"/>
          </a:xfrm>
        </p:spPr>
        <p:txBody>
          <a:bodyPr/>
          <a:lstStyle/>
          <a:p>
            <a:endParaRPr lang="en-ID" sz="1600" b="1" dirty="0"/>
          </a:p>
          <a:p>
            <a:r>
              <a:rPr lang="en-ID" sz="1600" dirty="0"/>
              <a:t>Tidak </a:t>
            </a:r>
            <a:r>
              <a:rPr lang="en-ID" sz="1600" dirty="0" err="1"/>
              <a:t>selalu</a:t>
            </a:r>
            <a:r>
              <a:rPr lang="en-ID" sz="1600" dirty="0"/>
              <a:t>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memperoleh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 BCNF yang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memelihara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dependency preserving</a:t>
            </a:r>
            <a:r>
              <a:rPr lang="en-ID" sz="1600" dirty="0"/>
              <a:t>).</a:t>
            </a:r>
          </a:p>
          <a:p>
            <a:r>
              <a:rPr lang="en-ID" sz="1600" b="1" dirty="0" err="1"/>
              <a:t>Diketahui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/>
              <a:t>Skema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i="1" dirty="0"/>
              <a:t>R = (J, K, L)</a:t>
            </a:r>
          </a:p>
          <a:p>
            <a:pPr lvl="1"/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i="1" dirty="0"/>
              <a:t>F = {JK </a:t>
            </a:r>
            <a:r>
              <a:rPr lang="en-US" sz="1600" i="1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ID" sz="1600" i="1" dirty="0"/>
              <a:t> L, L </a:t>
            </a:r>
            <a:r>
              <a:rPr lang="en-US" sz="1600" i="1" dirty="0"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ID" sz="1600" i="1" dirty="0"/>
              <a:t> K}</a:t>
            </a:r>
          </a:p>
          <a:p>
            <a:pPr lvl="1"/>
            <a:r>
              <a:rPr lang="en-ID" sz="1600" dirty="0"/>
              <a:t>Dua 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 (</a:t>
            </a:r>
            <a:r>
              <a:rPr lang="en-ID" sz="1600" i="1" dirty="0"/>
              <a:t>candidate keys</a:t>
            </a:r>
            <a:r>
              <a:rPr lang="en-ID" sz="1600" dirty="0"/>
              <a:t>) = </a:t>
            </a:r>
            <a:r>
              <a:rPr lang="en-ID" sz="1600" i="1" dirty="0"/>
              <a:t>JK</a:t>
            </a:r>
            <a:r>
              <a:rPr lang="en-ID" sz="1600" dirty="0"/>
              <a:t> dan </a:t>
            </a:r>
            <a:r>
              <a:rPr lang="en-ID" sz="1600" i="1" dirty="0"/>
              <a:t>JL</a:t>
            </a:r>
          </a:p>
          <a:p>
            <a:r>
              <a:rPr lang="en-ID" sz="1600" b="1" dirty="0" err="1"/>
              <a:t>Analisis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/>
              <a:t>R </a:t>
            </a:r>
            <a:r>
              <a:rPr lang="en-ID" sz="1600" b="1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berada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BCNF (</a:t>
            </a:r>
            <a:r>
              <a:rPr lang="en-ID" sz="1600" dirty="0" err="1"/>
              <a:t>karena</a:t>
            </a:r>
            <a:r>
              <a:rPr lang="en-ID" sz="1600" dirty="0"/>
              <a:t> pada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US" sz="1600" i="1" dirty="0">
                <a:latin typeface="Calibri"/>
                <a:ea typeface="Calibri"/>
                <a:cs typeface="Calibri"/>
                <a:sym typeface="Calibri"/>
              </a:rPr>
              <a:t>L </a:t>
            </a:r>
            <a:r>
              <a:rPr lang="en-US" sz="1600" dirty="0"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600" i="1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ID" sz="1600" dirty="0"/>
              <a:t>,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i="1" dirty="0"/>
              <a:t>L</a:t>
            </a:r>
            <a:r>
              <a:rPr lang="en-ID" sz="1600" dirty="0"/>
              <a:t> </a:t>
            </a:r>
            <a:r>
              <a:rPr lang="en-ID" sz="1600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i="1" dirty="0" err="1">
                <a:solidFill>
                  <a:srgbClr val="FFC000"/>
                </a:solidFill>
              </a:rPr>
              <a:t>superkey</a:t>
            </a:r>
            <a:r>
              <a:rPr lang="en-ID" sz="1600" dirty="0"/>
              <a:t>).</a:t>
            </a:r>
          </a:p>
          <a:p>
            <a:r>
              <a:rPr lang="en-ID" sz="1600" b="1" dirty="0" err="1"/>
              <a:t>Konsekuensi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i="1" dirty="0"/>
              <a:t>R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gagal</a:t>
            </a:r>
            <a:r>
              <a:rPr lang="en-ID" sz="1600" dirty="0"/>
              <a:t> </a:t>
            </a:r>
            <a:r>
              <a:rPr lang="en-ID" sz="1600" dirty="0" err="1"/>
              <a:t>memelihara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JK </a:t>
            </a:r>
            <a:r>
              <a:rPr lang="en-US" sz="16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ID" sz="1600" b="1" i="1" dirty="0">
                <a:solidFill>
                  <a:srgbClr val="FFC000"/>
                </a:solidFill>
              </a:rPr>
              <a:t> L</a:t>
            </a:r>
            <a:r>
              <a:rPr lang="en-ID" sz="1600" dirty="0"/>
              <a:t>.</a:t>
            </a:r>
          </a:p>
          <a:p>
            <a:pPr lvl="1"/>
            <a:r>
              <a:rPr lang="en-ID" sz="1600" dirty="0"/>
              <a:t>Hal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berimplikasi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pengujian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JK </a:t>
            </a:r>
            <a:r>
              <a:rPr lang="en-US" sz="1600" b="1" i="1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lang="en-ID" sz="1600" b="1" i="1" dirty="0">
                <a:solidFill>
                  <a:srgbClr val="FFC000"/>
                </a:solidFill>
              </a:rPr>
              <a:t> L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memerlukan</a:t>
            </a:r>
            <a:r>
              <a:rPr lang="en-ID" sz="1600" dirty="0"/>
              <a:t> </a:t>
            </a:r>
            <a:r>
              <a:rPr lang="en-ID" sz="1600" dirty="0" err="1"/>
              <a:t>operasi</a:t>
            </a:r>
            <a:r>
              <a:rPr lang="en-ID" sz="1600" dirty="0"/>
              <a:t> </a:t>
            </a:r>
            <a:r>
              <a:rPr lang="en-ID" sz="1600" dirty="0" err="1"/>
              <a:t>penggabungan</a:t>
            </a:r>
            <a:r>
              <a:rPr lang="en-ID" sz="1600" dirty="0"/>
              <a:t> (</a:t>
            </a:r>
            <a:r>
              <a:rPr lang="en-ID" sz="1600" b="1" i="1" dirty="0"/>
              <a:t>join</a:t>
            </a:r>
            <a:r>
              <a:rPr lang="en-ID" sz="1600" dirty="0"/>
              <a:t>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105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3FD5-65C6-FD4D-196E-688B8329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Ketiga</a:t>
            </a:r>
            <a:r>
              <a:rPr lang="en-ID" b="1" dirty="0"/>
              <a:t>: </a:t>
            </a:r>
            <a:r>
              <a:rPr lang="en-ID" b="1" dirty="0" err="1"/>
              <a:t>Motivasi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3416C-C885-A230-E6CD-6143CF985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641699"/>
          </a:xfrm>
        </p:spPr>
        <p:txBody>
          <a:bodyPr/>
          <a:lstStyle/>
          <a:p>
            <a:r>
              <a:rPr lang="en-ID" sz="1600" dirty="0" err="1"/>
              <a:t>Terdapat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situasi</a:t>
            </a:r>
            <a:r>
              <a:rPr lang="en-ID" sz="1600" dirty="0"/>
              <a:t> di mana:</a:t>
            </a:r>
          </a:p>
          <a:p>
            <a:pPr lvl="1"/>
            <a:r>
              <a:rPr lang="en-ID" sz="1600" b="1" dirty="0"/>
              <a:t>BCNF </a:t>
            </a:r>
            <a:r>
              <a:rPr lang="en-ID" sz="1600" b="1" dirty="0" err="1">
                <a:solidFill>
                  <a:srgbClr val="FF0000"/>
                </a:solidFill>
              </a:rPr>
              <a:t>tidak</a:t>
            </a:r>
            <a:r>
              <a:rPr lang="en-ID" sz="1600" b="1" dirty="0"/>
              <a:t> </a:t>
            </a:r>
            <a:r>
              <a:rPr lang="en-ID" sz="1600" b="1" dirty="0" err="1"/>
              <a:t>bersifat</a:t>
            </a:r>
            <a:r>
              <a:rPr lang="en-ID" sz="1600" b="1" dirty="0"/>
              <a:t> </a:t>
            </a:r>
            <a:r>
              <a:rPr lang="en-ID" sz="1600" b="1" dirty="0" err="1"/>
              <a:t>memelihara</a:t>
            </a:r>
            <a:r>
              <a:rPr lang="en-ID" sz="1600" b="1" dirty="0"/>
              <a:t> </a:t>
            </a:r>
            <a:r>
              <a:rPr lang="en-ID" sz="1600" b="1" dirty="0" err="1"/>
              <a:t>ketergantungan</a:t>
            </a:r>
            <a:r>
              <a:rPr lang="en-ID" sz="1600" b="1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dependency preserving</a:t>
            </a:r>
            <a:r>
              <a:rPr lang="en-ID" sz="1600" b="1" dirty="0"/>
              <a:t>)</a:t>
            </a:r>
            <a:r>
              <a:rPr lang="en-ID" sz="1600" dirty="0"/>
              <a:t>, dan</a:t>
            </a:r>
          </a:p>
          <a:p>
            <a:pPr lvl="1"/>
            <a:r>
              <a:rPr lang="en-ID" sz="1600" dirty="0" err="1"/>
              <a:t>Pemeriksaan</a:t>
            </a:r>
            <a:r>
              <a:rPr lang="en-ID" sz="1600" dirty="0"/>
              <a:t> </a:t>
            </a:r>
            <a:r>
              <a:rPr lang="en-ID" sz="1600" dirty="0" err="1"/>
              <a:t>pelanggaran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Fungsional</a:t>
            </a:r>
            <a:r>
              <a:rPr lang="en-ID" sz="1600" b="1" dirty="0"/>
              <a:t> (FD)</a:t>
            </a:r>
            <a:r>
              <a:rPr lang="en-ID" sz="1600" dirty="0"/>
              <a:t> yang </a:t>
            </a:r>
            <a:r>
              <a:rPr lang="en-ID" sz="1600" dirty="0" err="1"/>
              <a:t>efisien</a:t>
            </a:r>
            <a:r>
              <a:rPr lang="en-ID" sz="1600" dirty="0"/>
              <a:t> </a:t>
            </a:r>
            <a:r>
              <a:rPr lang="en-ID" sz="1600" dirty="0" err="1"/>
              <a:t>saat</a:t>
            </a:r>
            <a:r>
              <a:rPr lang="en-ID" sz="1600" dirty="0"/>
              <a:t> </a:t>
            </a:r>
            <a:r>
              <a:rPr lang="en-ID" sz="1600" dirty="0" err="1"/>
              <a:t>terjadi</a:t>
            </a:r>
            <a:r>
              <a:rPr lang="en-ID" sz="1600" dirty="0"/>
              <a:t> </a:t>
            </a:r>
            <a:r>
              <a:rPr lang="en-ID" sz="1600" dirty="0" err="1"/>
              <a:t>pembaruan</a:t>
            </a:r>
            <a:r>
              <a:rPr lang="en-ID" sz="1600" dirty="0"/>
              <a:t> data (</a:t>
            </a:r>
            <a:r>
              <a:rPr lang="en-ID" sz="1600" b="1" i="1" dirty="0">
                <a:solidFill>
                  <a:srgbClr val="FFC000"/>
                </a:solidFill>
              </a:rPr>
              <a:t>update</a:t>
            </a:r>
            <a:r>
              <a:rPr lang="en-ID" sz="1600" dirty="0"/>
              <a:t>) </a:t>
            </a:r>
            <a:r>
              <a:rPr lang="en-ID" sz="1600" dirty="0" err="1"/>
              <a:t>sangatlah</a:t>
            </a:r>
            <a:r>
              <a:rPr lang="en-ID" sz="1600" dirty="0"/>
              <a:t> </a:t>
            </a:r>
            <a:r>
              <a:rPr lang="en-ID" sz="1600" dirty="0" err="1"/>
              <a:t>penting</a:t>
            </a:r>
            <a:r>
              <a:rPr lang="en-ID" sz="1600" dirty="0"/>
              <a:t>.</a:t>
            </a:r>
          </a:p>
          <a:p>
            <a:r>
              <a:rPr lang="en-ID" sz="1600" b="1" dirty="0"/>
              <a:t>Solusi:</a:t>
            </a:r>
            <a:r>
              <a:rPr lang="en-ID" sz="1600" dirty="0"/>
              <a:t> </a:t>
            </a:r>
            <a:r>
              <a:rPr lang="en-ID" sz="1600" dirty="0" err="1"/>
              <a:t>Mendefinisikan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normal yang </a:t>
            </a:r>
            <a:r>
              <a:rPr lang="en-ID" sz="1600" dirty="0" err="1"/>
              <a:t>lebih</a:t>
            </a:r>
            <a:r>
              <a:rPr lang="en-ID" sz="1600" dirty="0"/>
              <a:t> </a:t>
            </a:r>
            <a:r>
              <a:rPr lang="en-ID" sz="1600" dirty="0" err="1"/>
              <a:t>longgar</a:t>
            </a:r>
            <a:r>
              <a:rPr lang="en-ID" sz="1600" dirty="0"/>
              <a:t>, yang </a:t>
            </a:r>
            <a:r>
              <a:rPr lang="en-ID" sz="1600" dirty="0" err="1"/>
              <a:t>disebut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Bentuk</a:t>
            </a:r>
            <a:r>
              <a:rPr lang="en-ID" sz="1600" b="1" dirty="0">
                <a:solidFill>
                  <a:srgbClr val="FFC000"/>
                </a:solidFill>
              </a:rPr>
              <a:t> Normal </a:t>
            </a:r>
            <a:r>
              <a:rPr lang="en-ID" sz="1600" b="1" dirty="0" err="1">
                <a:solidFill>
                  <a:srgbClr val="FFC000"/>
                </a:solidFill>
              </a:rPr>
              <a:t>Ketiga</a:t>
            </a:r>
            <a:r>
              <a:rPr lang="en-ID" sz="1600" b="1" dirty="0">
                <a:solidFill>
                  <a:srgbClr val="FFC000"/>
                </a:solidFill>
              </a:rPr>
              <a:t> (3NF)</a:t>
            </a:r>
            <a:r>
              <a:rPr lang="en-ID" sz="1600" dirty="0"/>
              <a:t>.</a:t>
            </a:r>
          </a:p>
          <a:p>
            <a:pPr lvl="1"/>
            <a:r>
              <a:rPr lang="en-ID" sz="1600" dirty="0" err="1"/>
              <a:t>Mengizinkan</a:t>
            </a:r>
            <a:r>
              <a:rPr lang="en-ID" sz="1600" dirty="0"/>
              <a:t> </a:t>
            </a:r>
            <a:r>
              <a:rPr lang="en-ID" sz="1600" dirty="0" err="1"/>
              <a:t>adanya</a:t>
            </a:r>
            <a:r>
              <a:rPr lang="en-ID" sz="1600" dirty="0"/>
              <a:t> </a:t>
            </a:r>
            <a:r>
              <a:rPr lang="en-ID" sz="1600" dirty="0" err="1"/>
              <a:t>redundansi</a:t>
            </a:r>
            <a:r>
              <a:rPr lang="en-ID" sz="1600" dirty="0"/>
              <a:t> </a:t>
            </a:r>
            <a:r>
              <a:rPr lang="en-ID" sz="1600" dirty="0" err="1"/>
              <a:t>tertentu</a:t>
            </a:r>
            <a:r>
              <a:rPr lang="en-ID" sz="1600" dirty="0"/>
              <a:t> (</a:t>
            </a:r>
            <a:r>
              <a:rPr lang="en-ID" sz="1600" dirty="0" err="1"/>
              <a:t>beserta</a:t>
            </a:r>
            <a:r>
              <a:rPr lang="en-ID" sz="1600" dirty="0"/>
              <a:t> </a:t>
            </a:r>
            <a:r>
              <a:rPr lang="en-ID" sz="1600" dirty="0" err="1"/>
              <a:t>konsekuensi</a:t>
            </a:r>
            <a:r>
              <a:rPr lang="en-ID" sz="1600" dirty="0"/>
              <a:t> </a:t>
            </a:r>
            <a:r>
              <a:rPr lang="en-ID" sz="1600" dirty="0" err="1"/>
              <a:t>masalah</a:t>
            </a:r>
            <a:r>
              <a:rPr lang="en-ID" sz="1600" dirty="0"/>
              <a:t> 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ditimbulkan</a:t>
            </a:r>
            <a:r>
              <a:rPr lang="en-ID" sz="1600" dirty="0"/>
              <a:t>; </a:t>
            </a:r>
            <a:r>
              <a:rPr lang="en-ID" sz="1600" dirty="0" err="1"/>
              <a:t>contoh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dibahas</a:t>
            </a:r>
            <a:r>
              <a:rPr lang="en-ID" sz="1600" dirty="0"/>
              <a:t> </a:t>
            </a:r>
            <a:r>
              <a:rPr lang="en-ID" sz="1600" dirty="0" err="1"/>
              <a:t>kemudian</a:t>
            </a:r>
            <a:r>
              <a:rPr lang="en-ID" sz="1600" dirty="0"/>
              <a:t>).</a:t>
            </a:r>
          </a:p>
          <a:p>
            <a:pPr lvl="1"/>
            <a:r>
              <a:rPr lang="en-ID" sz="1600" dirty="0" err="1"/>
              <a:t>Namun</a:t>
            </a:r>
            <a:r>
              <a:rPr lang="en-ID" sz="1600" dirty="0"/>
              <a:t>,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diperiksa</a:t>
            </a:r>
            <a:r>
              <a:rPr lang="en-ID" sz="1600" dirty="0"/>
              <a:t> pada </a:t>
            </a:r>
            <a:r>
              <a:rPr lang="en-ID" sz="1600" dirty="0" err="1"/>
              <a:t>relasi</a:t>
            </a:r>
            <a:r>
              <a:rPr lang="en-ID" sz="1600" dirty="0"/>
              <a:t> individual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dirty="0" err="1"/>
              <a:t>operasi</a:t>
            </a:r>
            <a:r>
              <a:rPr lang="en-ID" sz="1600" dirty="0"/>
              <a:t> </a:t>
            </a:r>
            <a:r>
              <a:rPr lang="en-ID" sz="1600" dirty="0" err="1"/>
              <a:t>penggabungan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join</a:t>
            </a:r>
            <a:r>
              <a:rPr lang="en-ID" sz="1600" dirty="0"/>
              <a:t>).</a:t>
            </a:r>
          </a:p>
          <a:p>
            <a:pPr lvl="1"/>
            <a:r>
              <a:rPr lang="en-ID" sz="1600" dirty="0" err="1"/>
              <a:t>Selalu</a:t>
            </a:r>
            <a:r>
              <a:rPr lang="en-ID" sz="1600" dirty="0"/>
              <a:t> </a:t>
            </a:r>
            <a:r>
              <a:rPr lang="en-ID" sz="1600" dirty="0" err="1"/>
              <a:t>terdapat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3NF</a:t>
            </a:r>
            <a:r>
              <a:rPr lang="en-ID" sz="1600" dirty="0"/>
              <a:t> yang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lossless-join</a:t>
            </a:r>
            <a:r>
              <a:rPr lang="en-ID" sz="1600" dirty="0"/>
              <a:t> (</a:t>
            </a:r>
            <a:r>
              <a:rPr lang="en-ID" sz="1600" dirty="0" err="1"/>
              <a:t>penggabungan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kehilangan</a:t>
            </a:r>
            <a:r>
              <a:rPr lang="en-ID" sz="1600" dirty="0"/>
              <a:t> data) dan </a:t>
            </a:r>
            <a:r>
              <a:rPr lang="en-ID" sz="1600" b="1" i="1" dirty="0">
                <a:solidFill>
                  <a:srgbClr val="FFC000"/>
                </a:solidFill>
              </a:rPr>
              <a:t>dependency-preserving</a:t>
            </a:r>
            <a:r>
              <a:rPr lang="en-ID" sz="1600" dirty="0"/>
              <a:t> (</a:t>
            </a:r>
            <a:r>
              <a:rPr lang="en-ID" sz="1600" dirty="0" err="1"/>
              <a:t>memelihara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1985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E54F-6735-CB5F-30FD-A8E4FD1FB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Ketiga</a:t>
            </a:r>
            <a:r>
              <a:rPr lang="en-ID" b="1" dirty="0"/>
              <a:t> (3NF)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1C2C4-5EDF-C905-B49C-815B09F31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03642"/>
          </a:xfrm>
        </p:spPr>
        <p:txBody>
          <a:bodyPr/>
          <a:lstStyle/>
          <a:p>
            <a:r>
              <a:rPr lang="en-ID" sz="1800" b="1" dirty="0" err="1"/>
              <a:t>Relasi</a:t>
            </a:r>
            <a:r>
              <a:rPr lang="en-ID" sz="1800" b="1" dirty="0"/>
              <a:t> </a:t>
            </a:r>
            <a:r>
              <a:rPr lang="en-ID" sz="1800" b="1" i="1" dirty="0" err="1">
                <a:solidFill>
                  <a:srgbClr val="FFC000"/>
                </a:solidFill>
              </a:rPr>
              <a:t>dept_advisor</a:t>
            </a:r>
            <a:r>
              <a:rPr lang="en-ID" sz="1800" b="1" dirty="0"/>
              <a:t>:</a:t>
            </a:r>
            <a:endParaRPr lang="en-ID" sz="1800" dirty="0"/>
          </a:p>
          <a:p>
            <a:pPr lvl="1"/>
            <a:r>
              <a:rPr lang="en-ID" sz="1800" b="1" i="1" dirty="0" err="1"/>
              <a:t>dept_advisor</a:t>
            </a:r>
            <a:r>
              <a:rPr lang="en-ID" sz="1800" dirty="0"/>
              <a:t> </a:t>
            </a:r>
            <a:r>
              <a:rPr lang="en-ID" sz="1800" i="1" dirty="0"/>
              <a:t>(</a:t>
            </a:r>
            <a:r>
              <a:rPr lang="en-ID" sz="1800" i="1" dirty="0" err="1"/>
              <a:t>s_ID</a:t>
            </a:r>
            <a:r>
              <a:rPr lang="en-ID" sz="1800" i="1" dirty="0"/>
              <a:t>, </a:t>
            </a:r>
            <a:r>
              <a:rPr lang="en-ID" sz="1800" i="1" dirty="0" err="1"/>
              <a:t>i_ID</a:t>
            </a:r>
            <a:r>
              <a:rPr lang="en-ID" sz="1800" i="1" dirty="0"/>
              <a:t>, </a:t>
            </a:r>
            <a:r>
              <a:rPr lang="en-ID" sz="1800" i="1" dirty="0" err="1"/>
              <a:t>dept_name</a:t>
            </a:r>
            <a:r>
              <a:rPr lang="en-ID" sz="1800" i="1" dirty="0"/>
              <a:t>)</a:t>
            </a:r>
            <a:endParaRPr lang="en-ID" sz="1800" dirty="0"/>
          </a:p>
          <a:p>
            <a:pPr lvl="1"/>
            <a:r>
              <a:rPr lang="en-US" sz="1800" i="1" dirty="0"/>
              <a:t>F = </a:t>
            </a:r>
            <a:r>
              <a:rPr lang="en-US" sz="1800" dirty="0"/>
              <a:t>{</a:t>
            </a:r>
            <a:r>
              <a:rPr lang="en-US" sz="1800" i="1" dirty="0" err="1"/>
              <a:t>s_ID</a:t>
            </a:r>
            <a:r>
              <a:rPr lang="en-US" sz="1800" i="1" dirty="0"/>
              <a:t>, </a:t>
            </a:r>
            <a:r>
              <a:rPr lang="en-US" sz="1800" i="1" dirty="0" err="1"/>
              <a:t>dept_name</a:t>
            </a:r>
            <a:r>
              <a:rPr lang="en-US" sz="1800" i="1" dirty="0"/>
              <a:t> </a:t>
            </a:r>
            <a:r>
              <a:rPr lang="en-US" sz="1800" dirty="0"/>
              <a:t>→</a:t>
            </a:r>
            <a:r>
              <a:rPr lang="en-US" sz="1800" i="1" dirty="0"/>
              <a:t> </a:t>
            </a:r>
            <a:r>
              <a:rPr lang="en-US" sz="1800" i="1" dirty="0" err="1"/>
              <a:t>i_ID</a:t>
            </a:r>
            <a:r>
              <a:rPr lang="en-US" sz="1800" i="1" dirty="0"/>
              <a:t>,  </a:t>
            </a:r>
            <a:r>
              <a:rPr lang="en-US" sz="1800" i="1" dirty="0" err="1"/>
              <a:t>i_ID</a:t>
            </a:r>
            <a:r>
              <a:rPr lang="en-US" sz="1800" i="1" dirty="0"/>
              <a:t> </a:t>
            </a:r>
            <a:r>
              <a:rPr lang="en-US" sz="1800" dirty="0"/>
              <a:t>→</a:t>
            </a:r>
            <a:r>
              <a:rPr lang="en-US" sz="1800" i="1" dirty="0"/>
              <a:t> </a:t>
            </a:r>
            <a:r>
              <a:rPr lang="en-US" sz="1800" i="1" dirty="0" err="1"/>
              <a:t>dept_name</a:t>
            </a:r>
            <a:r>
              <a:rPr lang="en-US" sz="1800" dirty="0"/>
              <a:t>}</a:t>
            </a:r>
            <a:endParaRPr lang="en-ID" sz="1800" dirty="0"/>
          </a:p>
          <a:p>
            <a:r>
              <a:rPr lang="en-ID" sz="1800" b="1" dirty="0"/>
              <a:t>Dua </a:t>
            </a:r>
            <a:r>
              <a:rPr lang="en-ID" sz="1800" b="1" dirty="0" err="1"/>
              <a:t>kunci</a:t>
            </a:r>
            <a:r>
              <a:rPr lang="en-ID" sz="1800" b="1" dirty="0"/>
              <a:t> </a:t>
            </a:r>
            <a:r>
              <a:rPr lang="en-ID" sz="1800" b="1" dirty="0" err="1"/>
              <a:t>kandidat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candidate keys</a:t>
            </a:r>
            <a:r>
              <a:rPr lang="en-ID" sz="1800" b="1" dirty="0"/>
              <a:t>):</a:t>
            </a:r>
            <a:endParaRPr lang="en-ID" sz="1800" dirty="0"/>
          </a:p>
          <a:p>
            <a:pPr lvl="1"/>
            <a:r>
              <a:rPr lang="en-US" sz="1800" i="1" dirty="0" err="1"/>
              <a:t>s_ID</a:t>
            </a:r>
            <a:r>
              <a:rPr lang="en-US" sz="1800" i="1" dirty="0"/>
              <a:t>, </a:t>
            </a:r>
            <a:r>
              <a:rPr lang="en-US" sz="1800" i="1" dirty="0" err="1"/>
              <a:t>dept_name</a:t>
            </a:r>
            <a:r>
              <a:rPr lang="en-US" sz="1800" i="1" dirty="0"/>
              <a:t>, </a:t>
            </a:r>
            <a:r>
              <a:rPr lang="en-US" sz="1800" dirty="0"/>
              <a:t>dan </a:t>
            </a:r>
            <a:r>
              <a:rPr lang="en-US" sz="1800" i="1" dirty="0"/>
              <a:t> </a:t>
            </a:r>
            <a:r>
              <a:rPr lang="en-US" sz="1800" i="1" dirty="0" err="1"/>
              <a:t>i_ID</a:t>
            </a:r>
            <a:r>
              <a:rPr lang="en-US" sz="1800" i="1" dirty="0"/>
              <a:t>, </a:t>
            </a:r>
            <a:r>
              <a:rPr lang="en-US" sz="1800" i="1" dirty="0" err="1"/>
              <a:t>s_ID</a:t>
            </a:r>
            <a:endParaRPr lang="en-ID" sz="1800" dirty="0"/>
          </a:p>
          <a:p>
            <a:r>
              <a:rPr lang="en-ID" sz="1800" b="1" dirty="0" err="1"/>
              <a:t>Relasi</a:t>
            </a:r>
            <a:r>
              <a:rPr lang="en-ID" sz="1800" b="1" dirty="0"/>
              <a:t> R </a:t>
            </a:r>
            <a:r>
              <a:rPr lang="en-ID" sz="1800" b="1" dirty="0" err="1"/>
              <a:t>berada</a:t>
            </a:r>
            <a:r>
              <a:rPr lang="en-ID" sz="1800" b="1" dirty="0"/>
              <a:t> </a:t>
            </a:r>
            <a:r>
              <a:rPr lang="en-ID" sz="1800" b="1" dirty="0" err="1"/>
              <a:t>dalam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3NF</a:t>
            </a:r>
            <a:r>
              <a:rPr lang="en-ID" sz="1800" b="1" dirty="0"/>
              <a:t>:</a:t>
            </a:r>
            <a:endParaRPr lang="en-ID" sz="1800" dirty="0"/>
          </a:p>
          <a:p>
            <a:pPr lvl="1"/>
            <a:r>
              <a:rPr lang="en-ID" sz="1800" b="1" dirty="0" err="1"/>
              <a:t>Untuk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ketergantungan</a:t>
            </a:r>
            <a:r>
              <a:rPr lang="en-ID" sz="1800" b="1" dirty="0"/>
              <a:t> </a:t>
            </a:r>
            <a:r>
              <a:rPr lang="en-US" sz="1800" b="1" i="1" dirty="0" err="1">
                <a:solidFill>
                  <a:srgbClr val="92D050"/>
                </a:solidFill>
              </a:rPr>
              <a:t>s_ID</a:t>
            </a:r>
            <a:r>
              <a:rPr lang="en-US" sz="1800" b="1" i="1" dirty="0">
                <a:solidFill>
                  <a:srgbClr val="92D050"/>
                </a:solidFill>
              </a:rPr>
              <a:t>, </a:t>
            </a:r>
            <a:r>
              <a:rPr lang="en-US" sz="1800" b="1" i="1" dirty="0" err="1">
                <a:solidFill>
                  <a:srgbClr val="92D050"/>
                </a:solidFill>
              </a:rPr>
              <a:t>dept_name</a:t>
            </a:r>
            <a:r>
              <a:rPr lang="en-US" sz="1800" b="1" i="1" dirty="0">
                <a:solidFill>
                  <a:srgbClr val="92D050"/>
                </a:solidFill>
              </a:rPr>
              <a:t> </a:t>
            </a:r>
            <a:r>
              <a:rPr lang="en-US" sz="1800" b="1" dirty="0">
                <a:solidFill>
                  <a:srgbClr val="92D050"/>
                </a:solidFill>
              </a:rPr>
              <a:t>→</a:t>
            </a:r>
            <a:r>
              <a:rPr lang="en-US" sz="1800" b="1" i="1" dirty="0">
                <a:solidFill>
                  <a:srgbClr val="92D050"/>
                </a:solidFill>
              </a:rPr>
              <a:t> </a:t>
            </a:r>
            <a:r>
              <a:rPr lang="en-US" sz="1800" b="1" i="1" dirty="0" err="1">
                <a:solidFill>
                  <a:srgbClr val="92D050"/>
                </a:solidFill>
              </a:rPr>
              <a:t>i_ID</a:t>
            </a:r>
            <a:r>
              <a:rPr lang="en-US" sz="1800" i="1" dirty="0"/>
              <a:t> </a:t>
            </a:r>
            <a:r>
              <a:rPr lang="en-ID" sz="1800" b="1" dirty="0"/>
              <a:t>:</a:t>
            </a:r>
            <a:endParaRPr lang="en-ID" sz="1800" dirty="0"/>
          </a:p>
          <a:p>
            <a:pPr lvl="2"/>
            <a:r>
              <a:rPr lang="en-US" sz="1800" i="1" dirty="0" err="1"/>
              <a:t>s_ID</a:t>
            </a:r>
            <a:r>
              <a:rPr lang="en-US" sz="1800" i="1" dirty="0"/>
              <a:t>, </a:t>
            </a:r>
            <a:r>
              <a:rPr lang="en-US" sz="1800" i="1" dirty="0" err="1"/>
              <a:t>dept_name</a:t>
            </a:r>
            <a:r>
              <a:rPr lang="en-US" sz="1800" i="1" dirty="0"/>
              <a:t> </a:t>
            </a:r>
            <a:r>
              <a:rPr lang="en-US" sz="1800" dirty="0"/>
              <a:t>is a </a:t>
            </a:r>
            <a:r>
              <a:rPr lang="en-US" sz="1800" b="1" dirty="0" err="1">
                <a:solidFill>
                  <a:srgbClr val="FFC000"/>
                </a:solidFill>
              </a:rPr>
              <a:t>superkey</a:t>
            </a:r>
            <a:r>
              <a:rPr lang="en-ID" sz="1800" dirty="0"/>
              <a:t>.</a:t>
            </a:r>
          </a:p>
          <a:p>
            <a:pPr lvl="1"/>
            <a:r>
              <a:rPr lang="en-ID" sz="1800" b="1" dirty="0" err="1"/>
              <a:t>Untuk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ketergantungan</a:t>
            </a:r>
            <a:r>
              <a:rPr lang="en-ID" sz="1800" b="1" dirty="0"/>
              <a:t> </a:t>
            </a:r>
            <a:r>
              <a:rPr lang="en-US" sz="1800" b="1" i="1" dirty="0" err="1">
                <a:solidFill>
                  <a:srgbClr val="92D050"/>
                </a:solidFill>
              </a:rPr>
              <a:t>i_ID</a:t>
            </a:r>
            <a:r>
              <a:rPr lang="en-US" sz="1800" b="1" i="1" dirty="0">
                <a:solidFill>
                  <a:srgbClr val="92D050"/>
                </a:solidFill>
              </a:rPr>
              <a:t> </a:t>
            </a:r>
            <a:r>
              <a:rPr lang="en-US" sz="1800" b="1" dirty="0">
                <a:solidFill>
                  <a:srgbClr val="92D050"/>
                </a:solidFill>
              </a:rPr>
              <a:t>→</a:t>
            </a:r>
            <a:r>
              <a:rPr lang="en-US" sz="1800" b="1" i="1" dirty="0">
                <a:solidFill>
                  <a:srgbClr val="92D050"/>
                </a:solidFill>
              </a:rPr>
              <a:t> </a:t>
            </a:r>
            <a:r>
              <a:rPr lang="en-US" sz="1800" b="1" i="1" dirty="0" err="1">
                <a:solidFill>
                  <a:srgbClr val="92D050"/>
                </a:solidFill>
              </a:rPr>
              <a:t>dept_name</a:t>
            </a:r>
            <a:r>
              <a:rPr lang="en-US" sz="1800" i="1" dirty="0"/>
              <a:t> </a:t>
            </a:r>
            <a:r>
              <a:rPr lang="en-ID" sz="1800" b="1" dirty="0"/>
              <a:t>:</a:t>
            </a:r>
            <a:endParaRPr lang="en-ID" sz="1800" dirty="0"/>
          </a:p>
          <a:p>
            <a:pPr lvl="2"/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i="1" dirty="0" err="1"/>
              <a:t>dept_name</a:t>
            </a:r>
            <a:r>
              <a:rPr lang="en-ID" sz="1800" dirty="0"/>
              <a:t> </a:t>
            </a:r>
            <a:r>
              <a:rPr lang="en-ID" sz="1800" dirty="0" err="1"/>
              <a:t>termuat</a:t>
            </a:r>
            <a:r>
              <a:rPr lang="en-ID" sz="1800" dirty="0"/>
              <a:t> di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b="1" i="1" dirty="0"/>
              <a:t>candidate key</a:t>
            </a:r>
            <a:r>
              <a:rPr lang="en-ID" sz="1800" dirty="0"/>
              <a:t> (</a:t>
            </a:r>
            <a:r>
              <a:rPr lang="en-ID" sz="1800" dirty="0" err="1"/>
              <a:t>yaitu</a:t>
            </a:r>
            <a:r>
              <a:rPr lang="en-ID" sz="1800" dirty="0"/>
              <a:t> </a:t>
            </a:r>
            <a:r>
              <a:rPr lang="en-ID" sz="1800" i="1" dirty="0"/>
              <a:t>{</a:t>
            </a:r>
            <a:r>
              <a:rPr lang="en-ID" sz="1800" i="1" dirty="0" err="1"/>
              <a:t>s_ID</a:t>
            </a:r>
            <a:r>
              <a:rPr lang="en-ID" sz="1800" i="1" dirty="0"/>
              <a:t>, </a:t>
            </a:r>
            <a:r>
              <a:rPr lang="en-ID" sz="1800" i="1" dirty="0" err="1"/>
              <a:t>dept_name</a:t>
            </a:r>
            <a:r>
              <a:rPr lang="en-ID" sz="1800" i="1" dirty="0"/>
              <a:t>}</a:t>
            </a:r>
            <a:r>
              <a:rPr lang="en-ID" sz="1800" dirty="0"/>
              <a:t>).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3872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5CAF3-7A26-BE55-1895-A4602BB1D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Redundansi</a:t>
            </a:r>
            <a:r>
              <a:rPr lang="en-ID" b="1" dirty="0"/>
              <a:t> pada 3NF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88EA3-06BA-BA43-AFF1-D95A5EE46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6651844" cy="3927918"/>
          </a:xfrm>
        </p:spPr>
        <p:txBody>
          <a:bodyPr/>
          <a:lstStyle/>
          <a:p>
            <a:r>
              <a:rPr lang="en-ID" sz="1400" b="1" dirty="0">
                <a:solidFill>
                  <a:srgbClr val="FFC000"/>
                </a:solidFill>
              </a:rPr>
              <a:t>3NF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cukup</a:t>
            </a:r>
            <a:r>
              <a:rPr lang="en-ID" sz="1400" dirty="0"/>
              <a:t> </a:t>
            </a:r>
            <a:r>
              <a:rPr lang="en-ID" sz="1400" dirty="0" err="1"/>
              <a:t>memadai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menangani</a:t>
            </a:r>
            <a:r>
              <a:rPr lang="en-ID" sz="1400" dirty="0"/>
              <a:t> </a:t>
            </a:r>
            <a:r>
              <a:rPr lang="en-ID" sz="1400" dirty="0" err="1"/>
              <a:t>kasus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yang:</a:t>
            </a:r>
          </a:p>
          <a:p>
            <a:pPr lvl="1"/>
            <a:r>
              <a:rPr lang="en-ID" sz="1400" dirty="0" err="1"/>
              <a:t>Memiliki</a:t>
            </a:r>
            <a:r>
              <a:rPr lang="en-ID" sz="1400" dirty="0"/>
              <a:t> dua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kandidat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candidate keys</a:t>
            </a:r>
            <a:r>
              <a:rPr lang="en-ID" sz="1400" dirty="0"/>
              <a:t>), </a:t>
            </a:r>
            <a:r>
              <a:rPr lang="en-ID" sz="1400" dirty="0" err="1"/>
              <a:t>sedemikian</a:t>
            </a:r>
            <a:r>
              <a:rPr lang="en-ID" sz="1400" dirty="0"/>
              <a:t> </a:t>
            </a:r>
            <a:r>
              <a:rPr lang="en-ID" sz="1400" dirty="0" err="1"/>
              <a:t>rupa</a:t>
            </a:r>
            <a:r>
              <a:rPr lang="en-ID" sz="1400" dirty="0"/>
              <a:t> </a:t>
            </a:r>
            <a:r>
              <a:rPr lang="en-ID" sz="1400" dirty="0" err="1"/>
              <a:t>sehingga</a:t>
            </a:r>
            <a:r>
              <a:rPr lang="en-ID" sz="1400" dirty="0"/>
              <a:t>:</a:t>
            </a:r>
          </a:p>
          <a:p>
            <a:pPr lvl="2"/>
            <a:r>
              <a:rPr lang="en-ID" sz="1400" dirty="0" err="1"/>
              <a:t>Kunci-kunci</a:t>
            </a:r>
            <a:r>
              <a:rPr lang="en-ID" sz="1400" dirty="0"/>
              <a:t> </a:t>
            </a:r>
            <a:r>
              <a:rPr lang="en-ID" sz="1400" dirty="0" err="1"/>
              <a:t>kandidat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dirty="0" err="1"/>
              <a:t>komposit</a:t>
            </a:r>
            <a:r>
              <a:rPr lang="en-ID" sz="1400" dirty="0"/>
              <a:t> (</a:t>
            </a:r>
            <a:r>
              <a:rPr lang="en-ID" sz="1400" dirty="0" err="1"/>
              <a:t>terdiri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), dan</a:t>
            </a:r>
          </a:p>
          <a:p>
            <a:pPr lvl="2"/>
            <a:r>
              <a:rPr lang="en-ID" sz="1400" dirty="0" err="1"/>
              <a:t>Kunci-kunci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saling</a:t>
            </a:r>
            <a:r>
              <a:rPr lang="en-ID" sz="1400" dirty="0"/>
              <a:t> </a:t>
            </a:r>
            <a:r>
              <a:rPr lang="en-ID" sz="1400" dirty="0" err="1"/>
              <a:t>tumpang</a:t>
            </a:r>
            <a:r>
              <a:rPr lang="en-ID" sz="1400" dirty="0"/>
              <a:t> </a:t>
            </a:r>
            <a:r>
              <a:rPr lang="en-ID" sz="1400" dirty="0" err="1"/>
              <a:t>tindih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overlapping</a:t>
            </a:r>
            <a:r>
              <a:rPr lang="en-ID" sz="1400" dirty="0"/>
              <a:t>), </a:t>
            </a:r>
            <a:r>
              <a:rPr lang="en-ID" sz="1400" dirty="0" err="1"/>
              <a:t>yaitu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setidaknya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yang </a:t>
            </a:r>
            <a:r>
              <a:rPr lang="en-ID" sz="1400" dirty="0" err="1"/>
              <a:t>sama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redundansi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seperti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.</a:t>
            </a:r>
          </a:p>
          <a:p>
            <a:r>
              <a:rPr lang="en-ID" sz="1400" b="1" dirty="0" err="1"/>
              <a:t>Contoh</a:t>
            </a:r>
            <a:r>
              <a:rPr lang="en-ID" sz="1400" b="1" dirty="0"/>
              <a:t> </a:t>
            </a:r>
            <a:r>
              <a:rPr lang="en-ID" sz="1400" b="1" dirty="0" err="1"/>
              <a:t>masalah</a:t>
            </a:r>
            <a:r>
              <a:rPr lang="en-ID" sz="1400" b="1" dirty="0"/>
              <a:t> </a:t>
            </a:r>
            <a:r>
              <a:rPr lang="en-ID" sz="1400" b="1" dirty="0" err="1"/>
              <a:t>akibat</a:t>
            </a:r>
            <a:r>
              <a:rPr lang="en-ID" sz="1400" b="1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redundansi</a:t>
            </a:r>
            <a:r>
              <a:rPr lang="en-ID" sz="1400" b="1" dirty="0"/>
              <a:t> pada </a:t>
            </a:r>
            <a:r>
              <a:rPr lang="en-ID" sz="1400" b="1" dirty="0">
                <a:solidFill>
                  <a:srgbClr val="FFC000"/>
                </a:solidFill>
              </a:rPr>
              <a:t>3NF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US" sz="1400" i="1" dirty="0"/>
              <a:t>R = </a:t>
            </a:r>
            <a:r>
              <a:rPr lang="en-US" sz="1400" dirty="0"/>
              <a:t>(</a:t>
            </a:r>
            <a:r>
              <a:rPr lang="en-US" sz="1400" i="1" dirty="0"/>
              <a:t>J, K, L) </a:t>
            </a:r>
          </a:p>
          <a:p>
            <a:pPr lvl="1"/>
            <a:r>
              <a:rPr lang="en-US" sz="1400" i="1" dirty="0"/>
              <a:t>F = </a:t>
            </a:r>
            <a:r>
              <a:rPr lang="en-US" sz="1400" dirty="0"/>
              <a:t>{</a:t>
            </a:r>
            <a:r>
              <a:rPr lang="en-US" sz="1400" i="1" dirty="0"/>
              <a:t>JK </a:t>
            </a:r>
            <a:r>
              <a:rPr lang="en-US" sz="1400" dirty="0"/>
              <a:t>→ </a:t>
            </a:r>
            <a:r>
              <a:rPr lang="en-US" sz="1400" i="1" dirty="0"/>
              <a:t>L, L </a:t>
            </a:r>
            <a:r>
              <a:rPr lang="en-US" sz="1400" dirty="0"/>
              <a:t>→ </a:t>
            </a:r>
            <a:r>
              <a:rPr lang="en-US" sz="1400" i="1" dirty="0"/>
              <a:t>K </a:t>
            </a:r>
            <a:r>
              <a:rPr lang="en-US" sz="1400" dirty="0"/>
              <a:t>}</a:t>
            </a:r>
            <a:endParaRPr lang="en-ID" sz="1400" dirty="0"/>
          </a:p>
          <a:p>
            <a:r>
              <a:rPr lang="en-ID" sz="1400" b="1" dirty="0" err="1"/>
              <a:t>Repetisi</a:t>
            </a:r>
            <a:r>
              <a:rPr lang="en-ID" sz="1400" b="1" dirty="0"/>
              <a:t> </a:t>
            </a:r>
            <a:r>
              <a:rPr lang="en-ID" sz="1400" b="1" dirty="0" err="1"/>
              <a:t>informasi</a:t>
            </a:r>
            <a:r>
              <a:rPr lang="en-ID" sz="1400" dirty="0"/>
              <a:t> (</a:t>
            </a:r>
            <a:r>
              <a:rPr lang="en-ID" sz="1400" dirty="0" err="1"/>
              <a:t>misalnya</a:t>
            </a:r>
            <a:r>
              <a:rPr lang="en-ID" sz="1400" dirty="0"/>
              <a:t>, </a:t>
            </a:r>
            <a:r>
              <a:rPr lang="en-ID" sz="1400" dirty="0" err="1"/>
              <a:t>hubungan</a:t>
            </a:r>
            <a:r>
              <a:rPr lang="en-ID" sz="1400" dirty="0"/>
              <a:t>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US" sz="1400" i="1" dirty="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4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4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D" sz="1400" dirty="0"/>
              <a:t>dan </a:t>
            </a:r>
            <a:r>
              <a:rPr lang="en-US" sz="1400" i="1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baseline="-25000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ID" sz="1400" dirty="0"/>
              <a:t>):</a:t>
            </a:r>
          </a:p>
          <a:p>
            <a:pPr lvl="1"/>
            <a:r>
              <a:rPr lang="en-ID" sz="1400" dirty="0" err="1"/>
              <a:t>Contoh</a:t>
            </a:r>
            <a:r>
              <a:rPr lang="en-ID" sz="1400" dirty="0"/>
              <a:t> </a:t>
            </a:r>
            <a:r>
              <a:rPr lang="en-ID" sz="1400" dirty="0" err="1"/>
              <a:t>nyata</a:t>
            </a:r>
            <a:r>
              <a:rPr lang="en-ID" sz="1400" dirty="0"/>
              <a:t>: </a:t>
            </a:r>
            <a:r>
              <a:rPr lang="en-ID" sz="1400" dirty="0" err="1"/>
              <a:t>pasangan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(</a:t>
            </a:r>
            <a:r>
              <a:rPr lang="en-ID" sz="1400" b="1" i="1" dirty="0" err="1">
                <a:solidFill>
                  <a:srgbClr val="FFC000"/>
                </a:solidFill>
              </a:rPr>
              <a:t>i_ID</a:t>
            </a:r>
            <a:r>
              <a:rPr lang="en-ID" sz="1400" b="1" i="1" dirty="0">
                <a:solidFill>
                  <a:srgbClr val="FFC000"/>
                </a:solidFill>
              </a:rPr>
              <a:t>,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b="1" i="1" dirty="0">
                <a:solidFill>
                  <a:srgbClr val="FFC000"/>
                </a:solidFill>
              </a:rPr>
              <a:t>)</a:t>
            </a:r>
            <a:r>
              <a:rPr lang="en-ID" sz="1400" dirty="0"/>
              <a:t> yang </a:t>
            </a:r>
            <a:r>
              <a:rPr lang="en-ID" sz="1400" dirty="0" err="1"/>
              <a:t>muncul</a:t>
            </a:r>
            <a:r>
              <a:rPr lang="en-ID" sz="1400" dirty="0"/>
              <a:t> </a:t>
            </a:r>
            <a:r>
              <a:rPr lang="en-ID" sz="1400" dirty="0" err="1"/>
              <a:t>berulang</a:t>
            </a:r>
            <a:r>
              <a:rPr lang="en-ID" sz="1400" dirty="0"/>
              <a:t> kali.</a:t>
            </a:r>
          </a:p>
          <a:p>
            <a:r>
              <a:rPr lang="en-ID" sz="1400" b="1" dirty="0" err="1"/>
              <a:t>Kebutuhan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dirty="0" err="1"/>
              <a:t>nilai</a:t>
            </a:r>
            <a:r>
              <a:rPr lang="en-ID" sz="1400" b="1" dirty="0"/>
              <a:t> </a:t>
            </a:r>
            <a:r>
              <a:rPr lang="en-ID" sz="1400" b="1" i="1" dirty="0"/>
              <a:t>null</a:t>
            </a:r>
            <a:r>
              <a:rPr lang="en-ID" sz="1400" dirty="0"/>
              <a:t> (</a:t>
            </a:r>
            <a:r>
              <a:rPr lang="en-ID" sz="1400" dirty="0" err="1"/>
              <a:t>misalnya</a:t>
            </a:r>
            <a:r>
              <a:rPr lang="en-ID" sz="1400" dirty="0"/>
              <a:t>,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merepresentasikan</a:t>
            </a:r>
            <a:r>
              <a:rPr lang="en-ID" sz="1400" dirty="0"/>
              <a:t> </a:t>
            </a:r>
            <a:r>
              <a:rPr lang="en-ID" sz="1400" dirty="0" err="1"/>
              <a:t>hubungan</a:t>
            </a:r>
            <a:r>
              <a:rPr lang="en-ID" sz="1400" dirty="0"/>
              <a:t>  </a:t>
            </a:r>
            <a:r>
              <a:rPr lang="en-US" sz="1400" i="1" dirty="0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400" baseline="-25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D" sz="1400" dirty="0"/>
              <a:t> dan </a:t>
            </a:r>
            <a:r>
              <a:rPr lang="en-US" sz="1400" i="1" dirty="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1400" baseline="-25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ID" sz="1400" dirty="0"/>
              <a:t> di mana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yang </a:t>
            </a:r>
            <a:r>
              <a:rPr lang="en-ID" sz="1400" dirty="0" err="1"/>
              <a:t>sesuai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i="1" dirty="0"/>
              <a:t>J</a:t>
            </a:r>
            <a:r>
              <a:rPr lang="en-ID" sz="1400" dirty="0"/>
              <a:t>):</a:t>
            </a:r>
          </a:p>
          <a:p>
            <a:pPr lvl="1"/>
            <a:r>
              <a:rPr lang="en-ID" sz="1400" dirty="0" err="1"/>
              <a:t>Contoh</a:t>
            </a:r>
            <a:r>
              <a:rPr lang="en-ID" sz="1400" dirty="0"/>
              <a:t> </a:t>
            </a:r>
            <a:r>
              <a:rPr lang="en-ID" sz="1400" dirty="0" err="1"/>
              <a:t>nyata</a:t>
            </a:r>
            <a:r>
              <a:rPr lang="en-ID" sz="1400" dirty="0"/>
              <a:t>: </a:t>
            </a:r>
            <a:r>
              <a:rPr lang="en-ID" sz="1400" dirty="0" err="1"/>
              <a:t>pasangan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(</a:t>
            </a:r>
            <a:r>
              <a:rPr lang="en-ID" sz="1400" b="1" i="1" dirty="0" err="1">
                <a:solidFill>
                  <a:srgbClr val="FFC000"/>
                </a:solidFill>
              </a:rPr>
              <a:t>i_ID</a:t>
            </a:r>
            <a:r>
              <a:rPr lang="en-ID" sz="1400" b="1" i="1" dirty="0">
                <a:solidFill>
                  <a:srgbClr val="FFC000"/>
                </a:solidFill>
              </a:rPr>
              <a:t>,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b="1" i="1" dirty="0">
                <a:solidFill>
                  <a:srgbClr val="FFC000"/>
                </a:solidFill>
              </a:rPr>
              <a:t>)</a:t>
            </a:r>
            <a:r>
              <a:rPr lang="en-ID" sz="1400" dirty="0"/>
              <a:t>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terpisah</a:t>
            </a:r>
            <a:r>
              <a:rPr lang="en-ID" sz="1400" dirty="0"/>
              <a:t> yang </a:t>
            </a:r>
            <a:r>
              <a:rPr lang="en-ID" sz="1400" dirty="0" err="1"/>
              <a:t>memetakan</a:t>
            </a:r>
            <a:r>
              <a:rPr lang="en-ID" sz="1400" dirty="0"/>
              <a:t> </a:t>
            </a:r>
            <a:r>
              <a:rPr lang="en-ID" sz="1400" dirty="0" err="1"/>
              <a:t>instruktur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departemen</a:t>
            </a:r>
            <a:r>
              <a:rPr lang="en-ID" sz="1400" dirty="0"/>
              <a:t>.</a:t>
            </a:r>
          </a:p>
          <a:p>
            <a:endParaRPr lang="en-US" sz="1400" dirty="0"/>
          </a:p>
        </p:txBody>
      </p:sp>
      <p:grpSp>
        <p:nvGrpSpPr>
          <p:cNvPr id="4" name="Google Shape;631;p52">
            <a:extLst>
              <a:ext uri="{FF2B5EF4-FFF2-40B4-BE49-F238E27FC236}">
                <a16:creationId xmlns:a16="http://schemas.microsoft.com/office/drawing/2014/main" id="{32387D91-3A94-71DE-6C1E-E9EC4D0FDA60}"/>
              </a:ext>
            </a:extLst>
          </p:cNvPr>
          <p:cNvGrpSpPr/>
          <p:nvPr/>
        </p:nvGrpSpPr>
        <p:grpSpPr>
          <a:xfrm>
            <a:off x="7444339" y="2681046"/>
            <a:ext cx="1524000" cy="1952625"/>
            <a:chOff x="6732240" y="2988543"/>
            <a:chExt cx="1524000" cy="1952625"/>
          </a:xfrm>
        </p:grpSpPr>
        <p:sp>
          <p:nvSpPr>
            <p:cNvPr id="5" name="Google Shape;632;p52">
              <a:extLst>
                <a:ext uri="{FF2B5EF4-FFF2-40B4-BE49-F238E27FC236}">
                  <a16:creationId xmlns:a16="http://schemas.microsoft.com/office/drawing/2014/main" id="{3E34DEDE-48C0-447F-59F3-EF2EB3051975}"/>
                </a:ext>
              </a:extLst>
            </p:cNvPr>
            <p:cNvSpPr/>
            <p:nvPr/>
          </p:nvSpPr>
          <p:spPr>
            <a:xfrm>
              <a:off x="6732240" y="2988543"/>
              <a:ext cx="609600" cy="381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endParaRPr/>
            </a:p>
          </p:txBody>
        </p:sp>
        <p:sp>
          <p:nvSpPr>
            <p:cNvPr id="6" name="Google Shape;633;p52">
              <a:extLst>
                <a:ext uri="{FF2B5EF4-FFF2-40B4-BE49-F238E27FC236}">
                  <a16:creationId xmlns:a16="http://schemas.microsoft.com/office/drawing/2014/main" id="{D7397748-C52E-8C99-A7BF-6C481774451C}"/>
                </a:ext>
              </a:extLst>
            </p:cNvPr>
            <p:cNvSpPr/>
            <p:nvPr/>
          </p:nvSpPr>
          <p:spPr>
            <a:xfrm>
              <a:off x="6732240" y="3417168"/>
              <a:ext cx="609600" cy="1524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null</a:t>
              </a: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634;p52">
              <a:extLst>
                <a:ext uri="{FF2B5EF4-FFF2-40B4-BE49-F238E27FC236}">
                  <a16:creationId xmlns:a16="http://schemas.microsoft.com/office/drawing/2014/main" id="{AC9A84DF-FF92-AA9D-8BA2-61A73E4940A5}"/>
                </a:ext>
              </a:extLst>
            </p:cNvPr>
            <p:cNvSpPr/>
            <p:nvPr/>
          </p:nvSpPr>
          <p:spPr>
            <a:xfrm>
              <a:off x="7341840" y="2988543"/>
              <a:ext cx="457200" cy="381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endParaRPr/>
            </a:p>
          </p:txBody>
        </p:sp>
        <p:sp>
          <p:nvSpPr>
            <p:cNvPr id="8" name="Google Shape;635;p52">
              <a:extLst>
                <a:ext uri="{FF2B5EF4-FFF2-40B4-BE49-F238E27FC236}">
                  <a16:creationId xmlns:a16="http://schemas.microsoft.com/office/drawing/2014/main" id="{9B3008C2-812B-C67E-3F14-142C503C4918}"/>
                </a:ext>
              </a:extLst>
            </p:cNvPr>
            <p:cNvSpPr/>
            <p:nvPr/>
          </p:nvSpPr>
          <p:spPr>
            <a:xfrm>
              <a:off x="7341840" y="3417168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9" name="Google Shape;636;p52">
              <a:extLst>
                <a:ext uri="{FF2B5EF4-FFF2-40B4-BE49-F238E27FC236}">
                  <a16:creationId xmlns:a16="http://schemas.microsoft.com/office/drawing/2014/main" id="{ECF33607-0271-61FD-085F-ED01D9E7BCE9}"/>
                </a:ext>
              </a:extLst>
            </p:cNvPr>
            <p:cNvSpPr/>
            <p:nvPr/>
          </p:nvSpPr>
          <p:spPr>
            <a:xfrm>
              <a:off x="7799040" y="2988543"/>
              <a:ext cx="457200" cy="381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 dirty="0"/>
            </a:p>
          </p:txBody>
        </p:sp>
        <p:sp>
          <p:nvSpPr>
            <p:cNvPr id="10" name="Google Shape;637;p52">
              <a:extLst>
                <a:ext uri="{FF2B5EF4-FFF2-40B4-BE49-F238E27FC236}">
                  <a16:creationId xmlns:a16="http://schemas.microsoft.com/office/drawing/2014/main" id="{4ADF874C-9155-01B4-6880-915A7C97C405}"/>
                </a:ext>
              </a:extLst>
            </p:cNvPr>
            <p:cNvSpPr/>
            <p:nvPr/>
          </p:nvSpPr>
          <p:spPr>
            <a:xfrm>
              <a:off x="7794277" y="3417168"/>
              <a:ext cx="457200" cy="15240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1800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3360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F3E4-98AC-EB76-706C-7AD2BDA1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Pengujian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3NF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0A3D3-F2EA-175C-5503-ACE7CFEF2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55089"/>
          </a:xfrm>
        </p:spPr>
        <p:txBody>
          <a:bodyPr/>
          <a:lstStyle/>
          <a:p>
            <a:r>
              <a:rPr lang="en-ID" sz="1600" b="1" dirty="0" err="1"/>
              <a:t>Optimasi</a:t>
            </a:r>
            <a:r>
              <a:rPr lang="en-ID" sz="1600" b="1" dirty="0"/>
              <a:t>:</a:t>
            </a:r>
            <a:r>
              <a:rPr lang="en-ID" sz="1600" dirty="0"/>
              <a:t>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memeriksa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Fungsional</a:t>
            </a:r>
            <a:r>
              <a:rPr lang="en-ID" sz="1600" b="1" dirty="0"/>
              <a:t> (FD)</a:t>
            </a:r>
            <a:r>
              <a:rPr lang="en-ID" sz="1600" dirty="0"/>
              <a:t> yang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i="1" dirty="0"/>
              <a:t>F</a:t>
            </a:r>
            <a:r>
              <a:rPr lang="en-ID" sz="1600" dirty="0"/>
              <a:t>,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memeriksa</a:t>
            </a:r>
            <a:r>
              <a:rPr lang="en-ID" sz="1600" dirty="0"/>
              <a:t> </a:t>
            </a:r>
            <a:r>
              <a:rPr lang="en-ID" sz="1600" dirty="0" err="1"/>
              <a:t>seluruh</a:t>
            </a:r>
            <a:r>
              <a:rPr lang="en-ID" sz="1600" dirty="0"/>
              <a:t> FD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i="1" dirty="0"/>
              <a:t>F</a:t>
            </a:r>
            <a:r>
              <a:rPr lang="en-US" sz="1600" i="1" baseline="30000" dirty="0"/>
              <a:t>+</a:t>
            </a:r>
            <a:r>
              <a:rPr lang="en-ID" sz="1600" dirty="0"/>
              <a:t>.</a:t>
            </a:r>
          </a:p>
          <a:p>
            <a:r>
              <a:rPr lang="en-ID" sz="1600" dirty="0" err="1"/>
              <a:t>Gunakan</a:t>
            </a:r>
            <a:r>
              <a:rPr lang="en-ID" sz="1600" dirty="0"/>
              <a:t> </a:t>
            </a:r>
            <a:r>
              <a:rPr lang="en-ID" sz="1600" b="1" i="1" dirty="0"/>
              <a:t>attribute closure</a:t>
            </a:r>
            <a:r>
              <a:rPr lang="en-ID" sz="1600" dirty="0"/>
              <a:t> (</a:t>
            </a:r>
            <a:r>
              <a:rPr lang="en-ID" sz="1600" dirty="0" err="1"/>
              <a:t>penutupan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)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memeriksa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α → β</a:t>
            </a:r>
            <a:r>
              <a:rPr lang="en-ID" sz="1600" dirty="0"/>
              <a:t>, guna </a:t>
            </a:r>
            <a:r>
              <a:rPr lang="en-ID" sz="1600" dirty="0" err="1"/>
              <a:t>memastikan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α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i="1" dirty="0" err="1"/>
              <a:t>superkey</a:t>
            </a:r>
            <a:r>
              <a:rPr lang="en-ID" sz="1600" dirty="0"/>
              <a:t>.</a:t>
            </a:r>
          </a:p>
          <a:p>
            <a:r>
              <a:rPr lang="en-ID" sz="1600" dirty="0"/>
              <a:t>Jika </a:t>
            </a:r>
            <a:r>
              <a:rPr lang="en-US" sz="1600" b="1" dirty="0">
                <a:solidFill>
                  <a:srgbClr val="FFC000"/>
                </a:solidFill>
              </a:rPr>
              <a:t>α </a:t>
            </a:r>
            <a:r>
              <a:rPr lang="en-ID" sz="1600" b="1" dirty="0" err="1"/>
              <a:t>bukan</a:t>
            </a:r>
            <a:r>
              <a:rPr lang="en-ID" sz="1600" dirty="0"/>
              <a:t> </a:t>
            </a:r>
            <a:r>
              <a:rPr lang="en-ID" sz="1600" dirty="0" err="1"/>
              <a:t>merupakan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i="1" dirty="0" err="1"/>
              <a:t>superkey</a:t>
            </a:r>
            <a:r>
              <a:rPr lang="en-ID" sz="1600" dirty="0"/>
              <a:t>,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harus</a:t>
            </a:r>
            <a:r>
              <a:rPr lang="en-ID" sz="1600" dirty="0"/>
              <a:t> </a:t>
            </a:r>
            <a:r>
              <a:rPr lang="en-ID" sz="1600" dirty="0" err="1"/>
              <a:t>memverifikasi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β </a:t>
            </a:r>
            <a:r>
              <a:rPr lang="en-ID" sz="1600" dirty="0" err="1"/>
              <a:t>termuat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i="1" dirty="0"/>
              <a:t>candidate key</a:t>
            </a:r>
            <a:r>
              <a:rPr lang="en-ID" sz="1600" dirty="0"/>
              <a:t> (</a:t>
            </a:r>
            <a:r>
              <a:rPr lang="en-ID" sz="1600" dirty="0" err="1"/>
              <a:t>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)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b="1" i="1" dirty="0"/>
              <a:t>R</a:t>
            </a:r>
            <a:r>
              <a:rPr lang="en-ID" sz="1600" dirty="0"/>
              <a:t>.</a:t>
            </a:r>
          </a:p>
          <a:p>
            <a:pPr lvl="1"/>
            <a:r>
              <a:rPr lang="en-ID" sz="1600" dirty="0" err="1"/>
              <a:t>Pengujian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cenderung</a:t>
            </a:r>
            <a:r>
              <a:rPr lang="en-ID" sz="1600" dirty="0"/>
              <a:t> </a:t>
            </a:r>
            <a:r>
              <a:rPr lang="en-ID" sz="1600" dirty="0" err="1"/>
              <a:t>lebih</a:t>
            </a:r>
            <a:r>
              <a:rPr lang="en-ID" sz="1600" dirty="0"/>
              <a:t> mahal (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komputasi</a:t>
            </a:r>
            <a:r>
              <a:rPr lang="en-ID" sz="1600" dirty="0"/>
              <a:t>),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melibatkan</a:t>
            </a:r>
            <a:r>
              <a:rPr lang="en-ID" sz="1600" dirty="0"/>
              <a:t> proses </a:t>
            </a:r>
            <a:r>
              <a:rPr lang="en-ID" sz="1600" dirty="0" err="1"/>
              <a:t>pencarian</a:t>
            </a:r>
            <a:r>
              <a:rPr lang="en-ID" sz="1600" dirty="0"/>
              <a:t> </a:t>
            </a:r>
            <a:r>
              <a:rPr lang="en-ID" sz="1600" dirty="0" err="1"/>
              <a:t>kunci-kunci</a:t>
            </a:r>
            <a:r>
              <a:rPr lang="en-ID" sz="1600" dirty="0"/>
              <a:t> </a:t>
            </a:r>
            <a:r>
              <a:rPr lang="en-ID" sz="1600" dirty="0" err="1"/>
              <a:t>kandidat</a:t>
            </a:r>
            <a:r>
              <a:rPr lang="en-ID" sz="1600" dirty="0"/>
              <a:t>.</a:t>
            </a:r>
          </a:p>
          <a:p>
            <a:pPr lvl="1"/>
            <a:r>
              <a:rPr lang="en-ID" sz="1600" dirty="0" err="1"/>
              <a:t>Pengujian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3NF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terbukti</a:t>
            </a:r>
            <a:r>
              <a:rPr lang="en-ID" sz="1600" dirty="0"/>
              <a:t> </a:t>
            </a:r>
            <a:r>
              <a:rPr lang="en-ID" sz="1600" dirty="0" err="1"/>
              <a:t>termasuk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kategori</a:t>
            </a:r>
            <a:r>
              <a:rPr lang="en-ID" sz="1600" dirty="0"/>
              <a:t> </a:t>
            </a:r>
            <a:r>
              <a:rPr lang="en-ID" sz="1600" dirty="0" err="1"/>
              <a:t>permasalahan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0000"/>
                </a:solidFill>
              </a:rPr>
              <a:t>NP-hard</a:t>
            </a:r>
            <a:r>
              <a:rPr lang="en-ID" sz="1600" dirty="0"/>
              <a:t>.</a:t>
            </a:r>
          </a:p>
          <a:p>
            <a:pPr lvl="1"/>
            <a:r>
              <a:rPr lang="en-ID" sz="1600" dirty="0" err="1"/>
              <a:t>Menariknya</a:t>
            </a:r>
            <a:r>
              <a:rPr lang="en-ID" sz="1600" dirty="0"/>
              <a:t>, </a:t>
            </a:r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normal </a:t>
            </a:r>
            <a:r>
              <a:rPr lang="en-ID" sz="1600" dirty="0" err="1"/>
              <a:t>ketiga</a:t>
            </a:r>
            <a:r>
              <a:rPr lang="en-ID" sz="1600" dirty="0"/>
              <a:t> (yang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dijelaskan</a:t>
            </a:r>
            <a:r>
              <a:rPr lang="en-ID" sz="1600" dirty="0"/>
              <a:t> </a:t>
            </a:r>
            <a:r>
              <a:rPr lang="en-ID" sz="1600" dirty="0" err="1"/>
              <a:t>segera</a:t>
            </a:r>
            <a:r>
              <a:rPr lang="en-ID" sz="1600" dirty="0"/>
              <a:t>)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dilakukan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dirty="0" err="1"/>
              <a:t>waktu</a:t>
            </a:r>
            <a:r>
              <a:rPr lang="en-ID" sz="1600" b="1" dirty="0"/>
              <a:t> </a:t>
            </a:r>
            <a:r>
              <a:rPr lang="en-ID" sz="1600" b="1" dirty="0" err="1"/>
              <a:t>polinomial</a:t>
            </a:r>
            <a:r>
              <a:rPr lang="en-ID" sz="16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77335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351C-702D-8CEB-A3A6-B6349FF46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3NF Decomposition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DD33D-2D5B-23E0-4A21-60503D0E4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90000"/>
              </a:lnSpc>
              <a:buSzPct val="100000"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00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be a canonical cover for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0;</a:t>
            </a: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each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functional dependency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→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100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 of the schemas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≤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≤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contains 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</a:t>
            </a:r>
            <a:b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 begin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+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l-GR" dirty="0">
                <a:latin typeface="Courier New" panose="02070309020205020404" pitchFamily="49" charset="0"/>
                <a:cs typeface="Courier New" panose="02070309020205020404" pitchFamily="49" charset="0"/>
              </a:rPr>
              <a:t>α </a:t>
            </a: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β </a:t>
            </a:r>
            <a:b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l-GR" i="1" dirty="0">
                <a:latin typeface="Courier New" panose="02070309020205020404" pitchFamily="49" charset="0"/>
                <a:cs typeface="Courier New" panose="02070309020205020404" pitchFamily="49" charset="0"/>
              </a:rPr>
              <a:t>			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none of the schemas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050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 ≤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j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≤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contains a candidate key for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b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 begin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:=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05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any candidate key for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R;</a:t>
            </a:r>
            <a:b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	    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end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/* Optionally, remove redundant relations */</a:t>
            </a: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repeat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any schema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105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is contained in another schema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050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05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br>
              <a:rPr lang="en-US" sz="1050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50" i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 /*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105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i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 R;</a:t>
            </a:r>
            <a:b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=i-1;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0" indent="-342900">
              <a:lnSpc>
                <a:spcPct val="90000"/>
              </a:lnSpc>
              <a:spcBef>
                <a:spcPts val="448"/>
              </a:spcBef>
              <a:buSzPct val="100000"/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(R</a:t>
            </a:r>
            <a:r>
              <a:rPr lang="en-US" sz="1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...,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050" i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)	</a:t>
            </a:r>
            <a:r>
              <a:rPr lang="en-US" sz="800" i="1" dirty="0"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765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5DF0-733D-A9C0-596D-6CE5353C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Algoritma</a:t>
            </a:r>
            <a:r>
              <a:rPr lang="en-ID" b="1" dirty="0"/>
              <a:t> </a:t>
            </a:r>
            <a:r>
              <a:rPr lang="en-ID" b="1" dirty="0" err="1"/>
              <a:t>Dekomposisi</a:t>
            </a:r>
            <a:r>
              <a:rPr lang="en-ID" b="1" dirty="0"/>
              <a:t> 3NF (</a:t>
            </a:r>
            <a:r>
              <a:rPr lang="en-ID" b="1" dirty="0" err="1"/>
              <a:t>Lanjutan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B364-240C-885F-0CB4-0B2B2719C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2389157"/>
          </a:xfrm>
        </p:spPr>
        <p:txBody>
          <a:bodyPr/>
          <a:lstStyle/>
          <a:p>
            <a:r>
              <a:rPr lang="en-ID" sz="2000" b="1" dirty="0" err="1"/>
              <a:t>Algoritma</a:t>
            </a:r>
            <a:r>
              <a:rPr lang="en-ID" sz="2000" b="1" dirty="0"/>
              <a:t> </a:t>
            </a:r>
            <a:r>
              <a:rPr lang="en-ID" sz="2000" b="1" dirty="0" err="1"/>
              <a:t>sebelumnya</a:t>
            </a:r>
            <a:r>
              <a:rPr lang="en-ID" sz="2000" b="1" dirty="0"/>
              <a:t> </a:t>
            </a:r>
            <a:r>
              <a:rPr lang="en-ID" sz="2000" b="1" dirty="0" err="1"/>
              <a:t>menjamin</a:t>
            </a:r>
            <a:r>
              <a:rPr lang="en-ID" sz="2000" b="1" dirty="0"/>
              <a:t> </a:t>
            </a:r>
            <a:r>
              <a:rPr lang="en-ID" sz="2000" b="1" dirty="0" err="1"/>
              <a:t>bahwa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US" sz="2000" i="1" dirty="0"/>
              <a:t>R</a:t>
            </a:r>
            <a:r>
              <a:rPr lang="en-US" sz="2000" i="1" baseline="-25000" dirty="0"/>
              <a:t>i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3NF</a:t>
            </a:r>
            <a:r>
              <a:rPr lang="en-ID" sz="2000" dirty="0"/>
              <a:t>.</a:t>
            </a:r>
          </a:p>
          <a:p>
            <a:pPr lvl="1"/>
            <a:r>
              <a:rPr lang="en-ID" sz="2000" dirty="0" err="1"/>
              <a:t>Dekomposisi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bersifat</a:t>
            </a:r>
            <a:r>
              <a:rPr lang="en-ID" sz="2000" dirty="0"/>
              <a:t> </a:t>
            </a:r>
            <a:r>
              <a:rPr lang="en-ID" sz="2000" b="1" dirty="0" err="1"/>
              <a:t>memelihara</a:t>
            </a:r>
            <a:r>
              <a:rPr lang="en-ID" sz="2000" b="1" dirty="0"/>
              <a:t> </a:t>
            </a:r>
            <a:r>
              <a:rPr lang="en-ID" sz="2000" b="1" dirty="0" err="1"/>
              <a:t>ketergantungan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C000"/>
                </a:solidFill>
              </a:rPr>
              <a:t>dependency preserving</a:t>
            </a:r>
            <a:r>
              <a:rPr lang="en-ID" sz="2000" b="1" dirty="0"/>
              <a:t>)</a:t>
            </a:r>
            <a:r>
              <a:rPr lang="en-ID" sz="2000" dirty="0"/>
              <a:t> dan </a:t>
            </a:r>
            <a:r>
              <a:rPr lang="en-ID" sz="2000" b="1" i="1" dirty="0">
                <a:solidFill>
                  <a:srgbClr val="FFC000"/>
                </a:solidFill>
              </a:rPr>
              <a:t>lossless-join</a:t>
            </a:r>
            <a:r>
              <a:rPr lang="en-ID" sz="2000" dirty="0"/>
              <a:t> (</a:t>
            </a:r>
            <a:r>
              <a:rPr lang="en-ID" sz="2000" dirty="0" err="1"/>
              <a:t>penggabungan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kehilangan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8347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016F-9B9A-0702-5C73-A6BB1254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Dekomposisi</a:t>
            </a:r>
            <a:r>
              <a:rPr lang="en-ID" b="1" dirty="0"/>
              <a:t> 3NF: </a:t>
            </a:r>
            <a:r>
              <a:rPr lang="en-ID" b="1" dirty="0" err="1"/>
              <a:t>Sebuah</a:t>
            </a:r>
            <a:r>
              <a:rPr lang="en-ID" b="1" dirty="0"/>
              <a:t> </a:t>
            </a:r>
            <a:r>
              <a:rPr lang="en-ID" b="1" dirty="0" err="1"/>
              <a:t>Contoh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B266F-6F4D-3544-D8C3-19BB83E8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95550"/>
          </a:xfrm>
        </p:spPr>
        <p:txBody>
          <a:bodyPr/>
          <a:lstStyle/>
          <a:p>
            <a:r>
              <a:rPr lang="en-ID" sz="1600" b="1" dirty="0"/>
              <a:t>Skema </a:t>
            </a:r>
            <a:r>
              <a:rPr lang="en-ID" sz="1600" b="1" dirty="0" err="1"/>
              <a:t>Relasi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US" sz="1600" i="1" dirty="0" err="1"/>
              <a:t>cust_banker_branch</a:t>
            </a:r>
            <a:r>
              <a:rPr lang="en-US" sz="1600" i="1" dirty="0"/>
              <a:t> = </a:t>
            </a:r>
            <a:r>
              <a:rPr lang="en-US" sz="1600" dirty="0"/>
              <a:t>(</a:t>
            </a:r>
            <a:r>
              <a:rPr lang="en-US" sz="1600" i="1" u="sng" dirty="0" err="1"/>
              <a:t>customer_id</a:t>
            </a:r>
            <a:r>
              <a:rPr lang="en-US" sz="1600" i="1" u="sng" dirty="0"/>
              <a:t>, </a:t>
            </a:r>
            <a:r>
              <a:rPr lang="en-US" sz="1600" i="1" u="sng" dirty="0" err="1"/>
              <a:t>employee_id</a:t>
            </a:r>
            <a:r>
              <a:rPr lang="en-US" sz="1600" i="1" dirty="0"/>
              <a:t>, </a:t>
            </a:r>
            <a:r>
              <a:rPr lang="en-US" sz="1600" i="1" dirty="0" err="1"/>
              <a:t>branch_name</a:t>
            </a:r>
            <a:r>
              <a:rPr lang="en-US" sz="1600" i="1" dirty="0"/>
              <a:t>, type </a:t>
            </a:r>
            <a:r>
              <a:rPr lang="en-US" sz="1600" dirty="0"/>
              <a:t>)</a:t>
            </a:r>
            <a:endParaRPr lang="en-ID" sz="1600" dirty="0"/>
          </a:p>
          <a:p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Fungsional</a:t>
            </a:r>
            <a:r>
              <a:rPr lang="en-ID" sz="1600" b="1" dirty="0"/>
              <a:t> (FD)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skema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dirty="0" err="1"/>
              <a:t>ini</a:t>
            </a:r>
            <a:r>
              <a:rPr lang="en-ID" sz="1600" b="1" dirty="0"/>
              <a:t> </a:t>
            </a:r>
            <a:r>
              <a:rPr lang="en-ID" sz="1600" b="1" dirty="0" err="1"/>
              <a:t>adalah</a:t>
            </a:r>
            <a:r>
              <a:rPr lang="en-ID" sz="1600" b="1" dirty="0"/>
              <a:t>:</a:t>
            </a:r>
            <a:endParaRPr lang="en-ID" sz="1600" b="1" dirty="0">
              <a:solidFill>
                <a:srgbClr val="92D050"/>
              </a:solidFill>
            </a:endParaRPr>
          </a:p>
          <a:p>
            <a:pPr lvl="1"/>
            <a:r>
              <a:rPr lang="en-US" sz="1600" b="1" i="1" dirty="0" err="1">
                <a:solidFill>
                  <a:srgbClr val="92D050"/>
                </a:solidFill>
              </a:rPr>
              <a:t>customer_id</a:t>
            </a:r>
            <a:r>
              <a:rPr lang="en-US" sz="1600" b="1" i="1" dirty="0">
                <a:solidFill>
                  <a:srgbClr val="92D050"/>
                </a:solidFill>
              </a:rPr>
              <a:t>, </a:t>
            </a:r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 </a:t>
            </a:r>
            <a:r>
              <a:rPr lang="en-US" sz="1600" b="1" i="1" dirty="0" err="1">
                <a:solidFill>
                  <a:srgbClr val="92D050"/>
                </a:solidFill>
              </a:rPr>
              <a:t>branch_name</a:t>
            </a:r>
            <a:r>
              <a:rPr lang="en-US" sz="1600" b="1" i="1" dirty="0">
                <a:solidFill>
                  <a:srgbClr val="92D050"/>
                </a:solidFill>
              </a:rPr>
              <a:t>, type</a:t>
            </a:r>
            <a:endParaRPr lang="en-ID" sz="1600" b="1" dirty="0">
              <a:solidFill>
                <a:srgbClr val="92D050"/>
              </a:solidFill>
            </a:endParaRPr>
          </a:p>
          <a:p>
            <a:pPr lvl="1"/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i="1" dirty="0" err="1">
                <a:solidFill>
                  <a:srgbClr val="92D050"/>
                </a:solidFill>
              </a:rPr>
              <a:t>branch_name</a:t>
            </a:r>
            <a:endParaRPr lang="en-ID" sz="1600" b="1" dirty="0">
              <a:solidFill>
                <a:srgbClr val="92D050"/>
              </a:solidFill>
            </a:endParaRPr>
          </a:p>
          <a:p>
            <a:pPr lvl="1"/>
            <a:r>
              <a:rPr lang="en-US" sz="1600" b="1" i="1" dirty="0" err="1">
                <a:solidFill>
                  <a:srgbClr val="92D050"/>
                </a:solidFill>
              </a:rPr>
              <a:t>customer_id</a:t>
            </a:r>
            <a:r>
              <a:rPr lang="en-US" sz="1600" b="1" i="1" dirty="0">
                <a:solidFill>
                  <a:srgbClr val="92D050"/>
                </a:solidFill>
              </a:rPr>
              <a:t>, </a:t>
            </a:r>
            <a:r>
              <a:rPr lang="en-US" sz="1600" b="1" i="1" dirty="0" err="1">
                <a:solidFill>
                  <a:srgbClr val="92D050"/>
                </a:solidFill>
              </a:rPr>
              <a:t>branch_name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 </a:t>
            </a:r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endParaRPr lang="en-ID" sz="1600" b="1" dirty="0">
              <a:solidFill>
                <a:srgbClr val="92D050"/>
              </a:solidFill>
            </a:endParaRPr>
          </a:p>
          <a:p>
            <a:r>
              <a:rPr lang="en-ID" sz="1600" b="1" dirty="0" err="1"/>
              <a:t>Pertama</a:t>
            </a:r>
            <a:r>
              <a:rPr lang="en-ID" sz="1600" b="1" dirty="0"/>
              <a:t>, </a:t>
            </a:r>
            <a:r>
              <a:rPr lang="en-ID" sz="1600" b="1" dirty="0" err="1"/>
              <a:t>kita</a:t>
            </a:r>
            <a:r>
              <a:rPr lang="en-ID" sz="1600" b="1" dirty="0"/>
              <a:t> </a:t>
            </a:r>
            <a:r>
              <a:rPr lang="en-ID" sz="1600" b="1" dirty="0" err="1"/>
              <a:t>menghitung</a:t>
            </a:r>
            <a:r>
              <a:rPr lang="en-ID" sz="1600" b="1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canonical cover</a:t>
            </a:r>
            <a:r>
              <a:rPr lang="en-ID" sz="1600" b="1" dirty="0">
                <a:solidFill>
                  <a:srgbClr val="FFC000"/>
                </a:solidFill>
              </a:rPr>
              <a:t> (</a:t>
            </a:r>
            <a:r>
              <a:rPr lang="en-US" sz="1600" b="1" i="1" dirty="0">
                <a:solidFill>
                  <a:srgbClr val="FFC000"/>
                </a:solidFill>
              </a:rPr>
              <a:t>F</a:t>
            </a:r>
            <a:r>
              <a:rPr lang="en-US" sz="1600" b="1" i="1" baseline="-25000" dirty="0">
                <a:solidFill>
                  <a:srgbClr val="FFC000"/>
                </a:solidFill>
              </a:rPr>
              <a:t>C</a:t>
            </a:r>
            <a:r>
              <a:rPr lang="en-ID" sz="1600" b="1" dirty="0">
                <a:solidFill>
                  <a:srgbClr val="FFC000"/>
                </a:solidFill>
              </a:rPr>
              <a:t>)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i="1" dirty="0" err="1"/>
              <a:t>branch_name</a:t>
            </a:r>
            <a:r>
              <a:rPr lang="en-ID" sz="1600" dirty="0"/>
              <a:t>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ekstraneus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extraneous</a:t>
            </a:r>
            <a:r>
              <a:rPr lang="en-ID" sz="1600" dirty="0"/>
              <a:t>) pada </a:t>
            </a:r>
            <a:r>
              <a:rPr lang="en-ID" sz="1600" dirty="0" err="1"/>
              <a:t>sisi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(</a:t>
            </a:r>
            <a:r>
              <a:rPr lang="en-ID" sz="1600" dirty="0" err="1"/>
              <a:t>r.h.s</a:t>
            </a:r>
            <a:r>
              <a:rPr lang="en-ID" sz="1600" dirty="0"/>
              <a:t>)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pertama</a:t>
            </a:r>
            <a:r>
              <a:rPr lang="en-ID" sz="1600" dirty="0"/>
              <a:t>.</a:t>
            </a:r>
          </a:p>
          <a:p>
            <a:pPr lvl="1"/>
            <a:r>
              <a:rPr lang="en-ID" sz="1600" dirty="0"/>
              <a:t>Tidak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lain yang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ekstraneus</a:t>
            </a:r>
            <a:r>
              <a:rPr lang="en-ID" sz="1600" dirty="0"/>
              <a:t>, </a:t>
            </a:r>
            <a:r>
              <a:rPr lang="en-ID" sz="1600" dirty="0" err="1"/>
              <a:t>sehingga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memperoleh</a:t>
            </a:r>
            <a:r>
              <a:rPr lang="en-ID" sz="1600" dirty="0"/>
              <a:t> </a:t>
            </a:r>
            <a:r>
              <a:rPr lang="en-US" sz="1600" i="1" dirty="0"/>
              <a:t>F</a:t>
            </a:r>
            <a:r>
              <a:rPr lang="en-US" sz="1600" i="1" baseline="-25000" dirty="0"/>
              <a:t>C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</a:t>
            </a:r>
          </a:p>
          <a:p>
            <a:pPr lvl="2"/>
            <a:r>
              <a:rPr lang="en-US" sz="1600" b="1" i="1" dirty="0" err="1">
                <a:solidFill>
                  <a:srgbClr val="92D050"/>
                </a:solidFill>
              </a:rPr>
              <a:t>customer_id</a:t>
            </a:r>
            <a:r>
              <a:rPr lang="en-US" sz="1600" b="1" i="1" dirty="0">
                <a:solidFill>
                  <a:srgbClr val="92D050"/>
                </a:solidFill>
              </a:rPr>
              <a:t>, </a:t>
            </a:r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</a:t>
            </a:r>
            <a:r>
              <a:rPr lang="en-US" sz="1600" b="1" i="1" dirty="0">
                <a:solidFill>
                  <a:srgbClr val="92D050"/>
                </a:solidFill>
              </a:rPr>
              <a:t> type</a:t>
            </a:r>
            <a:endParaRPr lang="en-ID" sz="1600" b="1" dirty="0">
              <a:solidFill>
                <a:srgbClr val="92D050"/>
              </a:solidFill>
            </a:endParaRPr>
          </a:p>
          <a:p>
            <a:pPr lvl="2"/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i="1" dirty="0" err="1">
                <a:solidFill>
                  <a:srgbClr val="92D050"/>
                </a:solidFill>
              </a:rPr>
              <a:t>branch_name</a:t>
            </a:r>
            <a:endParaRPr lang="en-ID" sz="1600" b="1" dirty="0">
              <a:solidFill>
                <a:srgbClr val="92D050"/>
              </a:solidFill>
            </a:endParaRPr>
          </a:p>
          <a:p>
            <a:pPr lvl="2"/>
            <a:r>
              <a:rPr lang="en-US" sz="1600" b="1" i="1" dirty="0" err="1">
                <a:solidFill>
                  <a:srgbClr val="92D050"/>
                </a:solidFill>
              </a:rPr>
              <a:t>customer_id</a:t>
            </a:r>
            <a:r>
              <a:rPr lang="en-US" sz="1600" b="1" i="1" dirty="0">
                <a:solidFill>
                  <a:srgbClr val="92D050"/>
                </a:solidFill>
              </a:rPr>
              <a:t>, </a:t>
            </a:r>
            <a:r>
              <a:rPr lang="en-US" sz="1600" b="1" i="1" dirty="0" err="1">
                <a:solidFill>
                  <a:srgbClr val="92D050"/>
                </a:solidFill>
              </a:rPr>
              <a:t>branch_name</a:t>
            </a:r>
            <a:r>
              <a:rPr lang="en-US" sz="1600" b="1" i="1" dirty="0">
                <a:solidFill>
                  <a:srgbClr val="92D050"/>
                </a:solidFill>
              </a:rPr>
              <a:t> </a:t>
            </a:r>
            <a:r>
              <a:rPr lang="en-US" sz="1600" b="1" dirty="0">
                <a:solidFill>
                  <a:srgbClr val="92D050"/>
                </a:solidFill>
              </a:rPr>
              <a:t>→ </a:t>
            </a:r>
            <a:r>
              <a:rPr lang="en-US" sz="1600" b="1" i="1" dirty="0" err="1">
                <a:solidFill>
                  <a:srgbClr val="92D050"/>
                </a:solidFill>
              </a:rPr>
              <a:t>employee_id</a:t>
            </a:r>
            <a:endParaRPr lang="en-ID" sz="1600" b="1" dirty="0">
              <a:solidFill>
                <a:srgbClr val="92D050"/>
              </a:solidFill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97142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7420-B072-A6E4-65B7-CE76CB449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Dekomposisi</a:t>
            </a:r>
            <a:r>
              <a:rPr lang="en-ID" b="1" dirty="0"/>
              <a:t> 3NF (</a:t>
            </a:r>
            <a:r>
              <a:rPr lang="en-ID" b="1" dirty="0" err="1"/>
              <a:t>Lanjutan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17CFA-092B-6715-FA9E-E3FF4AC42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55089"/>
          </a:xfrm>
        </p:spPr>
        <p:txBody>
          <a:bodyPr/>
          <a:lstStyle/>
          <a:p>
            <a:r>
              <a:rPr lang="en-ID" sz="1400" b="1" dirty="0" err="1"/>
              <a:t>Iterasi</a:t>
            </a:r>
            <a:r>
              <a:rPr lang="en-ID" sz="1400" b="1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loop</a:t>
            </a:r>
            <a:r>
              <a:rPr lang="en-ID" sz="1400" b="1" dirty="0"/>
              <a:t> </a:t>
            </a:r>
            <a:r>
              <a:rPr lang="en-ID" sz="1400" b="1" dirty="0" err="1"/>
              <a:t>menghasilkan</a:t>
            </a:r>
            <a:r>
              <a:rPr lang="en-ID" sz="1400" b="1" dirty="0"/>
              <a:t> </a:t>
            </a:r>
            <a:r>
              <a:rPr lang="en-ID" sz="1400" b="1" dirty="0" err="1"/>
              <a:t>skema</a:t>
            </a:r>
            <a:r>
              <a:rPr lang="en-ID" sz="1400" b="1" dirty="0"/>
              <a:t> 3NF </a:t>
            </a:r>
            <a:r>
              <a:rPr lang="en-ID" sz="1400" b="1" dirty="0" err="1"/>
              <a:t>sebagai</a:t>
            </a:r>
            <a:r>
              <a:rPr lang="en-ID" sz="1400" b="1" dirty="0"/>
              <a:t> </a:t>
            </a:r>
            <a:r>
              <a:rPr lang="en-ID" sz="1400" b="1" dirty="0" err="1"/>
              <a:t>berikut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US" sz="1400" b="1" dirty="0">
                <a:solidFill>
                  <a:srgbClr val="92D050"/>
                </a:solidFill>
              </a:rPr>
              <a:t>(</a:t>
            </a:r>
            <a:r>
              <a:rPr lang="en-US" sz="1400" b="1" i="1" dirty="0" err="1">
                <a:solidFill>
                  <a:srgbClr val="92D050"/>
                </a:solidFill>
              </a:rPr>
              <a:t>customer_id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, type </a:t>
            </a:r>
            <a:r>
              <a:rPr lang="en-US" sz="1400" b="1" dirty="0">
                <a:solidFill>
                  <a:srgbClr val="92D050"/>
                </a:solidFill>
              </a:rPr>
              <a:t>)</a:t>
            </a:r>
            <a:endParaRPr lang="en-ID" sz="1400" b="1" dirty="0">
              <a:solidFill>
                <a:srgbClr val="92D050"/>
              </a:solidFill>
            </a:endParaRPr>
          </a:p>
          <a:p>
            <a:pPr lvl="1"/>
            <a:r>
              <a:rPr lang="en-US" sz="1400" b="1" dirty="0">
                <a:solidFill>
                  <a:srgbClr val="92D050"/>
                </a:solidFill>
              </a:rPr>
              <a:t>(</a:t>
            </a:r>
            <a:r>
              <a:rPr lang="en-US" sz="1400" b="1" i="1" u="sng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branch_name</a:t>
            </a:r>
            <a:r>
              <a:rPr lang="en-US" sz="1400" b="1" dirty="0">
                <a:solidFill>
                  <a:srgbClr val="92D050"/>
                </a:solidFill>
              </a:rPr>
              <a:t>)</a:t>
            </a:r>
            <a:endParaRPr lang="en-ID" sz="1400" b="1" dirty="0">
              <a:solidFill>
                <a:srgbClr val="92D050"/>
              </a:solidFill>
            </a:endParaRPr>
          </a:p>
          <a:p>
            <a:pPr lvl="1"/>
            <a:r>
              <a:rPr lang="en-US" sz="1400" b="1" dirty="0">
                <a:solidFill>
                  <a:srgbClr val="92D050"/>
                </a:solidFill>
              </a:rPr>
              <a:t>(</a:t>
            </a:r>
            <a:r>
              <a:rPr lang="en-US" sz="1400" b="1" i="1" dirty="0" err="1">
                <a:solidFill>
                  <a:srgbClr val="92D050"/>
                </a:solidFill>
              </a:rPr>
              <a:t>customer_id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branch_name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)</a:t>
            </a:r>
            <a:endParaRPr lang="en-ID" sz="1400" b="1" dirty="0">
              <a:solidFill>
                <a:srgbClr val="92D050"/>
              </a:solidFill>
            </a:endParaRPr>
          </a:p>
          <a:p>
            <a:pPr lvl="1"/>
            <a:r>
              <a:rPr lang="en-ID" sz="1400" b="1" dirty="0" err="1">
                <a:solidFill>
                  <a:srgbClr val="FFC000"/>
                </a:solidFill>
              </a:rPr>
              <a:t>Observasi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Perhatikan</a:t>
            </a:r>
            <a:r>
              <a:rPr lang="en-ID" sz="1400" dirty="0"/>
              <a:t> </a:t>
            </a:r>
            <a:r>
              <a:rPr lang="en-ID" sz="1400" dirty="0" err="1"/>
              <a:t>bahwa</a:t>
            </a:r>
            <a:r>
              <a:rPr lang="en-ID" sz="1400" dirty="0"/>
              <a:t> </a:t>
            </a:r>
            <a:r>
              <a:rPr lang="en-US" sz="1400" dirty="0"/>
              <a:t>(</a:t>
            </a:r>
            <a:r>
              <a:rPr lang="en-US" sz="1400" b="1" i="1" dirty="0" err="1">
                <a:solidFill>
                  <a:srgbClr val="92D050"/>
                </a:solidFill>
              </a:rPr>
              <a:t>customer_id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, type</a:t>
            </a:r>
            <a:r>
              <a:rPr lang="en-US" sz="1400" i="1" dirty="0"/>
              <a:t> </a:t>
            </a:r>
            <a:r>
              <a:rPr lang="en-US" sz="1400" dirty="0"/>
              <a:t>)</a:t>
            </a:r>
            <a:r>
              <a:rPr lang="en-ID" sz="1400" dirty="0"/>
              <a:t> 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memuat</a:t>
            </a:r>
            <a:r>
              <a:rPr lang="en-ID" sz="1400" dirty="0"/>
              <a:t> 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kandidat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asli</a:t>
            </a:r>
            <a:r>
              <a:rPr lang="en-ID" sz="1400" dirty="0"/>
              <a:t>,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perlu</a:t>
            </a:r>
            <a:r>
              <a:rPr lang="en-ID" sz="1400" dirty="0"/>
              <a:t> </a:t>
            </a:r>
            <a:r>
              <a:rPr lang="en-ID" sz="1400" dirty="0" err="1"/>
              <a:t>menambahkan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lanjut</a:t>
            </a:r>
            <a:r>
              <a:rPr lang="en-ID" sz="1400" dirty="0"/>
              <a:t>.</a:t>
            </a:r>
          </a:p>
          <a:p>
            <a:r>
              <a:rPr lang="en-ID" sz="1400" b="1" dirty="0"/>
              <a:t>Pada </a:t>
            </a:r>
            <a:r>
              <a:rPr lang="en-ID" sz="1400" b="1" dirty="0" err="1"/>
              <a:t>akhir</a:t>
            </a:r>
            <a:r>
              <a:rPr lang="en-ID" sz="1400" b="1" dirty="0"/>
              <a:t> </a:t>
            </a:r>
            <a:r>
              <a:rPr lang="en-ID" sz="1400" b="1" dirty="0" err="1"/>
              <a:t>iterasi</a:t>
            </a:r>
            <a:r>
              <a:rPr lang="en-ID" sz="1400" b="1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loop</a:t>
            </a:r>
            <a:r>
              <a:rPr lang="en-ID" sz="1400" b="1" dirty="0"/>
              <a:t>, </a:t>
            </a:r>
            <a:r>
              <a:rPr lang="en-ID" sz="1400" b="1" dirty="0" err="1"/>
              <a:t>lakukan</a:t>
            </a:r>
            <a:r>
              <a:rPr lang="en-ID" sz="1400" b="1" dirty="0"/>
              <a:t> </a:t>
            </a:r>
            <a:r>
              <a:rPr lang="en-ID" sz="1400" b="1" dirty="0" err="1"/>
              <a:t>deteksi</a:t>
            </a:r>
            <a:r>
              <a:rPr lang="en-ID" sz="1400" b="1" dirty="0"/>
              <a:t> dan </a:t>
            </a:r>
            <a:r>
              <a:rPr lang="en-ID" sz="1400" b="1" dirty="0" err="1"/>
              <a:t>penghapusan</a:t>
            </a:r>
            <a:r>
              <a:rPr lang="en-ID" sz="1400" b="1" dirty="0"/>
              <a:t> </a:t>
            </a:r>
            <a:r>
              <a:rPr lang="en-ID" sz="1400" b="1" dirty="0" err="1"/>
              <a:t>skema</a:t>
            </a:r>
            <a:r>
              <a:rPr lang="en-ID" sz="1400" b="1" dirty="0"/>
              <a:t> yang </a:t>
            </a:r>
            <a:r>
              <a:rPr lang="en-ID" sz="1400" b="1" dirty="0" err="1"/>
              <a:t>merupakan</a:t>
            </a:r>
            <a:r>
              <a:rPr lang="en-ID" sz="1400" b="1" dirty="0"/>
              <a:t> </a:t>
            </a:r>
            <a:r>
              <a:rPr lang="en-ID" sz="1400" b="1" dirty="0" err="1"/>
              <a:t>bagian</a:t>
            </a:r>
            <a:r>
              <a:rPr lang="en-ID" sz="1400" b="1" dirty="0"/>
              <a:t> (</a:t>
            </a:r>
            <a:r>
              <a:rPr lang="en-ID" sz="1400" b="1" i="1" dirty="0"/>
              <a:t>subset</a:t>
            </a:r>
            <a:r>
              <a:rPr lang="en-ID" sz="1400" b="1" dirty="0"/>
              <a:t>) </a:t>
            </a:r>
            <a:r>
              <a:rPr lang="en-ID" sz="1400" b="1" dirty="0" err="1"/>
              <a:t>dari</a:t>
            </a:r>
            <a:r>
              <a:rPr lang="en-ID" sz="1400" b="1" dirty="0"/>
              <a:t> </a:t>
            </a:r>
            <a:r>
              <a:rPr lang="en-ID" sz="1400" b="1" dirty="0" err="1"/>
              <a:t>skema</a:t>
            </a:r>
            <a:r>
              <a:rPr lang="en-ID" sz="1400" b="1" dirty="0"/>
              <a:t> </a:t>
            </a:r>
            <a:r>
              <a:rPr lang="en-ID" sz="1400" b="1" dirty="0" err="1"/>
              <a:t>lainnya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 err="1"/>
              <a:t>Contoh</a:t>
            </a:r>
            <a:r>
              <a:rPr lang="en-ID" sz="1400" dirty="0"/>
              <a:t>: </a:t>
            </a:r>
            <a:r>
              <a:rPr lang="en-US" sz="1400" b="1" dirty="0">
                <a:solidFill>
                  <a:srgbClr val="FFC000"/>
                </a:solidFill>
              </a:rPr>
              <a:t>(</a:t>
            </a:r>
            <a:r>
              <a:rPr lang="en-US" sz="1400" b="1" i="1" u="sng" dirty="0" err="1">
                <a:solidFill>
                  <a:srgbClr val="FFC000"/>
                </a:solidFill>
              </a:rPr>
              <a:t>employee_id</a:t>
            </a:r>
            <a:r>
              <a:rPr lang="en-US" sz="1400" b="1" i="1" dirty="0">
                <a:solidFill>
                  <a:srgbClr val="FFC000"/>
                </a:solidFill>
              </a:rPr>
              <a:t>, </a:t>
            </a:r>
            <a:r>
              <a:rPr lang="en-US" sz="1400" b="1" i="1" dirty="0" err="1">
                <a:solidFill>
                  <a:srgbClr val="FFC000"/>
                </a:solidFill>
              </a:rPr>
              <a:t>branch_name</a:t>
            </a:r>
            <a:r>
              <a:rPr lang="en-US" sz="1400" b="1" dirty="0">
                <a:solidFill>
                  <a:srgbClr val="FFC000"/>
                </a:solidFill>
              </a:rPr>
              <a:t>)</a:t>
            </a:r>
            <a:r>
              <a:rPr lang="en-ID" sz="1400" dirty="0"/>
              <a:t> </a:t>
            </a:r>
            <a:r>
              <a:rPr lang="en-ID" sz="1400" dirty="0" err="1"/>
              <a:t>dihapus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i="1" dirty="0"/>
              <a:t>subset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lain.</a:t>
            </a:r>
          </a:p>
          <a:p>
            <a:pPr lvl="1"/>
            <a:r>
              <a:rPr lang="en-ID" sz="1400" dirty="0"/>
              <a:t>Hasil </a:t>
            </a:r>
            <a:r>
              <a:rPr lang="en-ID" sz="1400" dirty="0" err="1"/>
              <a:t>akhir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bergantung</a:t>
            </a:r>
            <a:r>
              <a:rPr lang="en-ID" sz="1400" dirty="0"/>
              <a:t> pada </a:t>
            </a:r>
            <a:r>
              <a:rPr lang="en-ID" sz="1400" dirty="0" err="1"/>
              <a:t>urutan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(FD) yang </a:t>
            </a:r>
            <a:r>
              <a:rPr lang="en-ID" sz="1400" dirty="0" err="1"/>
              <a:t>dipertimbangkan</a:t>
            </a:r>
            <a:r>
              <a:rPr lang="en-ID" sz="1400" dirty="0"/>
              <a:t>.</a:t>
            </a:r>
          </a:p>
          <a:p>
            <a:r>
              <a:rPr lang="en-ID" sz="1400" b="1" dirty="0"/>
              <a:t>Skema 3NF </a:t>
            </a:r>
            <a:r>
              <a:rPr lang="en-ID" sz="1400" b="1" dirty="0" err="1"/>
              <a:t>hasil</a:t>
            </a:r>
            <a:r>
              <a:rPr lang="en-ID" sz="1400" b="1" dirty="0"/>
              <a:t> </a:t>
            </a:r>
            <a:r>
              <a:rPr lang="en-ID" sz="1400" b="1" dirty="0" err="1"/>
              <a:t>penyederhanaan</a:t>
            </a:r>
            <a:r>
              <a:rPr lang="en-ID" sz="1400" b="1" dirty="0"/>
              <a:t> </a:t>
            </a:r>
            <a:r>
              <a:rPr lang="en-ID" sz="1400" b="1" dirty="0" err="1"/>
              <a:t>adalah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US" sz="1400" b="1" dirty="0">
                <a:solidFill>
                  <a:srgbClr val="92D050"/>
                </a:solidFill>
              </a:rPr>
              <a:t>(</a:t>
            </a:r>
            <a:r>
              <a:rPr lang="en-US" sz="1400" b="1" i="1" dirty="0" err="1">
                <a:solidFill>
                  <a:srgbClr val="92D050"/>
                </a:solidFill>
              </a:rPr>
              <a:t>customer_id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, type</a:t>
            </a:r>
            <a:r>
              <a:rPr lang="en-US" sz="1400" b="1" dirty="0">
                <a:solidFill>
                  <a:srgbClr val="92D050"/>
                </a:solidFill>
              </a:rPr>
              <a:t>)</a:t>
            </a:r>
            <a:endParaRPr lang="en-ID" sz="1400" b="1" dirty="0">
              <a:solidFill>
                <a:srgbClr val="92D050"/>
              </a:solidFill>
            </a:endParaRPr>
          </a:p>
          <a:p>
            <a:pPr lvl="1"/>
            <a:r>
              <a:rPr lang="en-US" sz="1400" b="1" dirty="0">
                <a:solidFill>
                  <a:srgbClr val="92D050"/>
                </a:solidFill>
              </a:rPr>
              <a:t>(</a:t>
            </a:r>
            <a:r>
              <a:rPr lang="en-US" sz="1400" b="1" i="1" dirty="0" err="1">
                <a:solidFill>
                  <a:srgbClr val="92D050"/>
                </a:solidFill>
              </a:rPr>
              <a:t>customer_id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branch_name</a:t>
            </a:r>
            <a:r>
              <a:rPr lang="en-US" sz="1400" b="1" i="1" dirty="0">
                <a:solidFill>
                  <a:srgbClr val="92D050"/>
                </a:solidFill>
              </a:rPr>
              <a:t>, </a:t>
            </a:r>
            <a:r>
              <a:rPr lang="en-US" sz="1400" b="1" i="1" dirty="0" err="1">
                <a:solidFill>
                  <a:srgbClr val="92D050"/>
                </a:solidFill>
              </a:rPr>
              <a:t>employee_id</a:t>
            </a:r>
            <a:r>
              <a:rPr lang="en-US" sz="1400" b="1" i="1" dirty="0">
                <a:solidFill>
                  <a:srgbClr val="92D050"/>
                </a:solidFill>
              </a:rPr>
              <a:t>)</a:t>
            </a:r>
            <a:endParaRPr lang="en-ID" sz="1400" b="1" dirty="0">
              <a:solidFill>
                <a:srgbClr val="92D050"/>
              </a:solidFill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66001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4BFF-49F2-1A36-5440-21A0FB25B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Perbandingan</a:t>
            </a:r>
            <a:r>
              <a:rPr lang="en-ID" b="1" dirty="0"/>
              <a:t> BCNF dan 3NF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3DAE5-C9C4-4506-8AC4-1BBDCC517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600" b="1" dirty="0" err="1"/>
              <a:t>Selalu</a:t>
            </a:r>
            <a:r>
              <a:rPr lang="en-ID" sz="1600" b="1" dirty="0"/>
              <a:t> </a:t>
            </a:r>
            <a:r>
              <a:rPr lang="en-ID" sz="1600" b="1" dirty="0" err="1"/>
              <a:t>memungkinkan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mendekomposisi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dirty="0" err="1"/>
              <a:t>ke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sekumpulan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yang </a:t>
            </a:r>
            <a:r>
              <a:rPr lang="en-ID" sz="1600" b="1" dirty="0" err="1"/>
              <a:t>berada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bentuk</a:t>
            </a:r>
            <a:r>
              <a:rPr lang="en-ID" sz="1600" b="1" dirty="0"/>
              <a:t> 3NF </a:t>
            </a:r>
            <a:r>
              <a:rPr lang="en-ID" sz="1600" b="1" dirty="0" err="1"/>
              <a:t>sedemikian</a:t>
            </a:r>
            <a:r>
              <a:rPr lang="en-ID" sz="1600" b="1" dirty="0"/>
              <a:t> </a:t>
            </a:r>
            <a:r>
              <a:rPr lang="en-ID" sz="1600" b="1" dirty="0" err="1"/>
              <a:t>rupa</a:t>
            </a:r>
            <a:r>
              <a:rPr lang="en-ID" sz="1600" b="1" dirty="0"/>
              <a:t> </a:t>
            </a:r>
            <a:r>
              <a:rPr lang="en-ID" sz="1600" b="1" dirty="0" err="1"/>
              <a:t>sehingga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b="1" i="1" dirty="0"/>
              <a:t>lossless</a:t>
            </a:r>
            <a:r>
              <a:rPr lang="en-ID" sz="1600" dirty="0"/>
              <a:t> (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data yang </a:t>
            </a:r>
            <a:r>
              <a:rPr lang="en-ID" sz="1600" dirty="0" err="1"/>
              <a:t>hilang</a:t>
            </a:r>
            <a:r>
              <a:rPr lang="en-ID" sz="1600" dirty="0"/>
              <a:t>).</a:t>
            </a:r>
          </a:p>
          <a:p>
            <a:pPr lvl="1"/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tetap</a:t>
            </a:r>
            <a:r>
              <a:rPr lang="en-ID" sz="1600" dirty="0"/>
              <a:t> </a:t>
            </a:r>
            <a:r>
              <a:rPr lang="en-ID" sz="1600" dirty="0" err="1"/>
              <a:t>terpelihara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dependencies are preserved</a:t>
            </a:r>
            <a:r>
              <a:rPr lang="en-ID" sz="1600" dirty="0"/>
              <a:t>).</a:t>
            </a:r>
          </a:p>
          <a:p>
            <a:r>
              <a:rPr lang="en-ID" sz="1600" b="1" dirty="0" err="1"/>
              <a:t>Selalu</a:t>
            </a:r>
            <a:r>
              <a:rPr lang="en-ID" sz="1600" b="1" dirty="0"/>
              <a:t> </a:t>
            </a:r>
            <a:r>
              <a:rPr lang="en-ID" sz="1600" b="1" dirty="0" err="1"/>
              <a:t>memungkinkan</a:t>
            </a:r>
            <a:r>
              <a:rPr lang="en-ID" sz="1600" b="1" dirty="0"/>
              <a:t> </a:t>
            </a:r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mendekomposisi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</a:t>
            </a:r>
            <a:r>
              <a:rPr lang="en-ID" sz="1600" b="1" dirty="0" err="1"/>
              <a:t>ke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sekumpulan</a:t>
            </a:r>
            <a:r>
              <a:rPr lang="en-ID" sz="1600" b="1" dirty="0"/>
              <a:t> </a:t>
            </a:r>
            <a:r>
              <a:rPr lang="en-ID" sz="1600" b="1" dirty="0" err="1"/>
              <a:t>relasi</a:t>
            </a:r>
            <a:r>
              <a:rPr lang="en-ID" sz="1600" b="1" dirty="0"/>
              <a:t> yang </a:t>
            </a:r>
            <a:r>
              <a:rPr lang="en-ID" sz="1600" b="1" dirty="0" err="1"/>
              <a:t>berada</a:t>
            </a:r>
            <a:r>
              <a:rPr lang="en-ID" sz="1600" b="1" dirty="0"/>
              <a:t>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ID" sz="1600" b="1" dirty="0" err="1"/>
              <a:t>bentuk</a:t>
            </a:r>
            <a:r>
              <a:rPr lang="en-ID" sz="1600" b="1" dirty="0"/>
              <a:t> BCNF </a:t>
            </a:r>
            <a:r>
              <a:rPr lang="en-ID" sz="1600" b="1" dirty="0" err="1"/>
              <a:t>sedemikian</a:t>
            </a:r>
            <a:r>
              <a:rPr lang="en-ID" sz="1600" b="1" dirty="0"/>
              <a:t> </a:t>
            </a:r>
            <a:r>
              <a:rPr lang="en-ID" sz="1600" b="1" dirty="0" err="1"/>
              <a:t>rupa</a:t>
            </a:r>
            <a:r>
              <a:rPr lang="en-ID" sz="1600" b="1" dirty="0"/>
              <a:t> </a:t>
            </a:r>
            <a:r>
              <a:rPr lang="en-ID" sz="1600" b="1" dirty="0" err="1"/>
              <a:t>sehingga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b="1" i="1" dirty="0"/>
              <a:t>lossless</a:t>
            </a:r>
            <a:r>
              <a:rPr lang="en-ID" sz="1600" dirty="0"/>
              <a:t> (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data yang </a:t>
            </a:r>
            <a:r>
              <a:rPr lang="en-ID" sz="1600" dirty="0" err="1"/>
              <a:t>hilang</a:t>
            </a:r>
            <a:r>
              <a:rPr lang="en-ID" sz="1600" dirty="0"/>
              <a:t>).</a:t>
            </a:r>
          </a:p>
          <a:p>
            <a:pPr lvl="1"/>
            <a:r>
              <a:rPr lang="en-ID" sz="1600" dirty="0" err="1"/>
              <a:t>Namun</a:t>
            </a:r>
            <a:r>
              <a:rPr lang="en-ID" sz="1600" dirty="0"/>
              <a:t>, </a:t>
            </a:r>
            <a:r>
              <a:rPr lang="en-ID" sz="1600" b="1" dirty="0" err="1"/>
              <a:t>mungkin</a:t>
            </a:r>
            <a:r>
              <a:rPr lang="en-ID" sz="1600" b="1" dirty="0"/>
              <a:t> </a:t>
            </a:r>
            <a:r>
              <a:rPr lang="en-ID" sz="1600" b="1" dirty="0" err="1"/>
              <a:t>tidak</a:t>
            </a:r>
            <a:r>
              <a:rPr lang="en-ID" sz="1600" b="1" dirty="0"/>
              <a:t> </a:t>
            </a:r>
            <a:r>
              <a:rPr lang="en-ID" sz="1600" b="1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memelihara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preserve dependencies</a:t>
            </a:r>
            <a:r>
              <a:rPr lang="en-ID" sz="1600" dirty="0"/>
              <a:t>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98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DA20-DB99-90E7-E779-D52244706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Seberapa</a:t>
            </a:r>
            <a:r>
              <a:rPr lang="en-ID" b="1" dirty="0"/>
              <a:t> Baik BCNF?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311F8-62E2-994A-FA78-47692BCEF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941855"/>
          </a:xfrm>
        </p:spPr>
        <p:txBody>
          <a:bodyPr/>
          <a:lstStyle/>
          <a:p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basis data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bentuk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BCNF</a:t>
            </a:r>
            <a:r>
              <a:rPr lang="en-ID" sz="1400" dirty="0"/>
              <a:t> yang </a:t>
            </a:r>
            <a:r>
              <a:rPr lang="en-ID" sz="1400" dirty="0" err="1"/>
              <a:t>tampaknya</a:t>
            </a:r>
            <a:r>
              <a:rPr lang="en-ID" sz="1400" dirty="0"/>
              <a:t>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ternormalisasi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memadai</a:t>
            </a:r>
            <a:r>
              <a:rPr lang="en-ID" sz="1400" dirty="0"/>
              <a:t>.</a:t>
            </a:r>
          </a:p>
          <a:p>
            <a:r>
              <a:rPr lang="en-ID" sz="1400" b="1" dirty="0" err="1">
                <a:solidFill>
                  <a:srgbClr val="FF0000"/>
                </a:solidFill>
              </a:rPr>
              <a:t>Pertimbangkan</a:t>
            </a:r>
            <a:r>
              <a:rPr lang="en-ID" sz="1400" b="1" dirty="0"/>
              <a:t> </a:t>
            </a:r>
            <a:r>
              <a:rPr lang="en-ID" sz="1400" b="1" dirty="0" err="1"/>
              <a:t>sebuah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b="1" i="1" dirty="0" err="1">
                <a:solidFill>
                  <a:srgbClr val="92D050"/>
                </a:solidFill>
              </a:rPr>
              <a:t>inst_info</a:t>
            </a:r>
            <a:r>
              <a:rPr lang="en-ID" sz="1400" dirty="0">
                <a:solidFill>
                  <a:srgbClr val="92D050"/>
                </a:solidFill>
              </a:rPr>
              <a:t> </a:t>
            </a:r>
            <a:r>
              <a:rPr lang="en-ID" sz="1400" i="1" dirty="0">
                <a:solidFill>
                  <a:srgbClr val="92D050"/>
                </a:solidFill>
              </a:rPr>
              <a:t>(ID, </a:t>
            </a:r>
            <a:r>
              <a:rPr lang="en-ID" sz="1400" i="1" dirty="0" err="1">
                <a:solidFill>
                  <a:srgbClr val="92D050"/>
                </a:solidFill>
              </a:rPr>
              <a:t>child_name</a:t>
            </a:r>
            <a:r>
              <a:rPr lang="en-ID" sz="1400" i="1" dirty="0">
                <a:solidFill>
                  <a:srgbClr val="92D050"/>
                </a:solidFill>
              </a:rPr>
              <a:t>, phone)</a:t>
            </a:r>
            <a:endParaRPr lang="en-ID" sz="1400" dirty="0">
              <a:solidFill>
                <a:srgbClr val="92D050"/>
              </a:solidFill>
            </a:endParaRPr>
          </a:p>
          <a:p>
            <a:pPr lvl="1"/>
            <a:r>
              <a:rPr lang="en-ID" sz="1400" dirty="0"/>
              <a:t>Di mana </a:t>
            </a:r>
            <a:r>
              <a:rPr lang="en-ID" sz="1400" dirty="0" err="1"/>
              <a:t>seorang</a:t>
            </a:r>
            <a:r>
              <a:rPr lang="en-ID" sz="1400" dirty="0"/>
              <a:t> </a:t>
            </a:r>
            <a:r>
              <a:rPr lang="en-ID" sz="1400" dirty="0" err="1"/>
              <a:t>instruktur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nomor</a:t>
            </a:r>
            <a:r>
              <a:rPr lang="en-ID" sz="1400" dirty="0"/>
              <a:t> </a:t>
            </a:r>
            <a:r>
              <a:rPr lang="en-ID" sz="1400" dirty="0" err="1"/>
              <a:t>telepon</a:t>
            </a:r>
            <a:r>
              <a:rPr lang="en-ID" sz="1400" dirty="0"/>
              <a:t> dan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anak</a:t>
            </a:r>
            <a:r>
              <a:rPr lang="en-ID" sz="1400" dirty="0"/>
              <a:t>.</a:t>
            </a:r>
          </a:p>
          <a:p>
            <a:endParaRPr lang="en-US" sz="1400" dirty="0"/>
          </a:p>
        </p:txBody>
      </p:sp>
      <p:sp>
        <p:nvSpPr>
          <p:cNvPr id="4" name="Google Shape;710;p59">
            <a:extLst>
              <a:ext uri="{FF2B5EF4-FFF2-40B4-BE49-F238E27FC236}">
                <a16:creationId xmlns:a16="http://schemas.microsoft.com/office/drawing/2014/main" id="{E037B136-C3B7-8BCB-0244-7E53228A5440}"/>
              </a:ext>
            </a:extLst>
          </p:cNvPr>
          <p:cNvSpPr/>
          <p:nvPr/>
        </p:nvSpPr>
        <p:spPr>
          <a:xfrm>
            <a:off x="1460612" y="2903727"/>
            <a:ext cx="2133600" cy="30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/>
          </a:p>
        </p:txBody>
      </p:sp>
      <p:sp>
        <p:nvSpPr>
          <p:cNvPr id="5" name="Google Shape;711;p59">
            <a:extLst>
              <a:ext uri="{FF2B5EF4-FFF2-40B4-BE49-F238E27FC236}">
                <a16:creationId xmlns:a16="http://schemas.microsoft.com/office/drawing/2014/main" id="{98E51F0B-859D-B1EC-84DB-7082CE860709}"/>
              </a:ext>
            </a:extLst>
          </p:cNvPr>
          <p:cNvSpPr/>
          <p:nvPr/>
        </p:nvSpPr>
        <p:spPr>
          <a:xfrm>
            <a:off x="3594212" y="2903727"/>
            <a:ext cx="2133600" cy="30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child_name</a:t>
            </a:r>
            <a:endParaRPr/>
          </a:p>
        </p:txBody>
      </p:sp>
      <p:sp>
        <p:nvSpPr>
          <p:cNvPr id="6" name="Google Shape;712;p59">
            <a:extLst>
              <a:ext uri="{FF2B5EF4-FFF2-40B4-BE49-F238E27FC236}">
                <a16:creationId xmlns:a16="http://schemas.microsoft.com/office/drawing/2014/main" id="{59FD161E-91D8-D68F-6387-FDBF1DB2631E}"/>
              </a:ext>
            </a:extLst>
          </p:cNvPr>
          <p:cNvSpPr/>
          <p:nvPr/>
        </p:nvSpPr>
        <p:spPr>
          <a:xfrm>
            <a:off x="5727812" y="2903727"/>
            <a:ext cx="2133600" cy="304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phone</a:t>
            </a:r>
            <a:endParaRPr/>
          </a:p>
        </p:txBody>
      </p:sp>
      <p:sp>
        <p:nvSpPr>
          <p:cNvPr id="7" name="Google Shape;713;p59">
            <a:extLst>
              <a:ext uri="{FF2B5EF4-FFF2-40B4-BE49-F238E27FC236}">
                <a16:creationId xmlns:a16="http://schemas.microsoft.com/office/drawing/2014/main" id="{9EF3E998-C0A9-18EB-7834-35B0B40A5804}"/>
              </a:ext>
            </a:extLst>
          </p:cNvPr>
          <p:cNvSpPr/>
          <p:nvPr/>
        </p:nvSpPr>
        <p:spPr>
          <a:xfrm>
            <a:off x="1460612" y="3284727"/>
            <a:ext cx="2133600" cy="13128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99999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99999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99999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99999</a:t>
            </a:r>
            <a:endParaRPr dirty="0"/>
          </a:p>
        </p:txBody>
      </p:sp>
      <p:sp>
        <p:nvSpPr>
          <p:cNvPr id="8" name="Google Shape;714;p59">
            <a:extLst>
              <a:ext uri="{FF2B5EF4-FFF2-40B4-BE49-F238E27FC236}">
                <a16:creationId xmlns:a16="http://schemas.microsoft.com/office/drawing/2014/main" id="{45F691A0-DDF8-0807-5BF7-4E15CFC2CF57}"/>
              </a:ext>
            </a:extLst>
          </p:cNvPr>
          <p:cNvSpPr/>
          <p:nvPr/>
        </p:nvSpPr>
        <p:spPr>
          <a:xfrm>
            <a:off x="3594212" y="3284727"/>
            <a:ext cx="2133600" cy="13112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David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William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Willian</a:t>
            </a:r>
            <a:endParaRPr/>
          </a:p>
        </p:txBody>
      </p:sp>
      <p:sp>
        <p:nvSpPr>
          <p:cNvPr id="9" name="Google Shape;715;p59">
            <a:extLst>
              <a:ext uri="{FF2B5EF4-FFF2-40B4-BE49-F238E27FC236}">
                <a16:creationId xmlns:a16="http://schemas.microsoft.com/office/drawing/2014/main" id="{0BBB290B-0F8F-CCD4-B7D6-C6BDEF44473E}"/>
              </a:ext>
            </a:extLst>
          </p:cNvPr>
          <p:cNvSpPr/>
          <p:nvPr/>
        </p:nvSpPr>
        <p:spPr>
          <a:xfrm>
            <a:off x="5727812" y="3284727"/>
            <a:ext cx="2133600" cy="131127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512-555-1234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512-555-4321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512-555-1234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512-555-4321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16;p59">
            <a:extLst>
              <a:ext uri="{FF2B5EF4-FFF2-40B4-BE49-F238E27FC236}">
                <a16:creationId xmlns:a16="http://schemas.microsoft.com/office/drawing/2014/main" id="{6EE8CB2A-B18B-1D4E-F536-07639B6647D7}"/>
              </a:ext>
            </a:extLst>
          </p:cNvPr>
          <p:cNvSpPr txBox="1"/>
          <p:nvPr/>
        </p:nvSpPr>
        <p:spPr>
          <a:xfrm>
            <a:off x="3943462" y="4631919"/>
            <a:ext cx="1035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inst_info</a:t>
            </a:r>
            <a:endParaRPr sz="18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5673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2BA54-27BA-4DE0-1FBD-A4CEEA81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Seberapa</a:t>
            </a:r>
            <a:r>
              <a:rPr lang="en-ID" b="1" dirty="0"/>
              <a:t> Baik BCNF? (</a:t>
            </a:r>
            <a:r>
              <a:rPr lang="en-ID" b="1" dirty="0" err="1"/>
              <a:t>Lanjutan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7DD7E-795E-3CF9-75C0-5FAA47DB6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000" dirty="0"/>
              <a:t>Tidak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(</a:t>
            </a:r>
            <a:r>
              <a:rPr lang="en-ID" sz="2000" i="1" dirty="0"/>
              <a:t>functional dependencies</a:t>
            </a:r>
            <a:r>
              <a:rPr lang="en-ID" sz="2000" dirty="0"/>
              <a:t>) yang non-trivial, oleh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dirty="0"/>
              <a:t>.</a:t>
            </a:r>
          </a:p>
          <a:p>
            <a:r>
              <a:rPr lang="en-ID" sz="2000" b="1" dirty="0" err="1">
                <a:solidFill>
                  <a:srgbClr val="FFC000"/>
                </a:solidFill>
              </a:rPr>
              <a:t>Anomali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Insersi</a:t>
            </a:r>
            <a:r>
              <a:rPr lang="en-ID" sz="2000" b="1" dirty="0"/>
              <a:t> (</a:t>
            </a:r>
            <a:r>
              <a:rPr lang="en-ID" sz="2000" b="1" i="1" dirty="0"/>
              <a:t>Insertion Anomalies</a:t>
            </a:r>
            <a:r>
              <a:rPr lang="en-ID" sz="2000" b="1" dirty="0"/>
              <a:t>)</a:t>
            </a:r>
            <a:r>
              <a:rPr lang="en-ID" sz="2000" dirty="0"/>
              <a:t> —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contoh</a:t>
            </a:r>
            <a:r>
              <a:rPr lang="en-ID" sz="2000" dirty="0"/>
              <a:t>, </a:t>
            </a:r>
            <a:r>
              <a:rPr lang="en-ID" sz="2000" dirty="0" err="1"/>
              <a:t>jika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menambahkan</a:t>
            </a:r>
            <a:r>
              <a:rPr lang="en-ID" sz="2000" dirty="0"/>
              <a:t> </a:t>
            </a:r>
            <a:r>
              <a:rPr lang="en-ID" sz="2000" dirty="0" err="1"/>
              <a:t>nomor</a:t>
            </a:r>
            <a:r>
              <a:rPr lang="en-ID" sz="2000" dirty="0"/>
              <a:t> </a:t>
            </a:r>
            <a:r>
              <a:rPr lang="en-ID" sz="2000" dirty="0" err="1"/>
              <a:t>telepon</a:t>
            </a:r>
            <a:r>
              <a:rPr lang="en-ID" sz="2000" dirty="0"/>
              <a:t> 981-992-3443 </a:t>
            </a:r>
            <a:r>
              <a:rPr lang="en-ID" sz="2000" dirty="0" err="1"/>
              <a:t>untuk</a:t>
            </a:r>
            <a:r>
              <a:rPr lang="en-ID" sz="2000" dirty="0"/>
              <a:t> ID 99999, </a:t>
            </a:r>
            <a:r>
              <a:rPr lang="en-ID" sz="2000" dirty="0" err="1"/>
              <a:t>maka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menambahkan</a:t>
            </a:r>
            <a:r>
              <a:rPr lang="en-ID" sz="2000" dirty="0"/>
              <a:t> dua </a:t>
            </a:r>
            <a:r>
              <a:rPr lang="en-ID" sz="2000" dirty="0" err="1"/>
              <a:t>tupel</a:t>
            </a:r>
            <a:r>
              <a:rPr lang="en-ID" sz="2000" dirty="0"/>
              <a:t> (baris):</a:t>
            </a:r>
          </a:p>
          <a:p>
            <a:pPr lvl="1"/>
            <a:r>
              <a:rPr lang="en-ID" sz="2000" dirty="0"/>
              <a:t>(99999, David, 981-992-3443)</a:t>
            </a:r>
          </a:p>
          <a:p>
            <a:pPr lvl="1"/>
            <a:r>
              <a:rPr lang="en-ID" sz="2000" dirty="0"/>
              <a:t>(99999, William, 981-992-3443)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39461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D3DE-D440-7FB4-6E25-DB98D641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Seberapa</a:t>
            </a:r>
            <a:r>
              <a:rPr lang="en-ID" b="1" dirty="0"/>
              <a:t> Baik BCNF? (</a:t>
            </a:r>
            <a:r>
              <a:rPr lang="en-ID" b="1" dirty="0" err="1"/>
              <a:t>Lanjutan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DA178-4804-B988-DF75-04FD970F7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Oleh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dekomposisi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relasi</a:t>
            </a:r>
            <a:r>
              <a:rPr lang="en-ID" dirty="0"/>
              <a:t> </a:t>
            </a:r>
            <a:r>
              <a:rPr lang="en-ID" b="1" i="1" dirty="0" err="1">
                <a:solidFill>
                  <a:srgbClr val="FFC000"/>
                </a:solidFill>
              </a:rPr>
              <a:t>inst_info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: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perlunya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normal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b="1" dirty="0" err="1">
                <a:solidFill>
                  <a:srgbClr val="FFC000"/>
                </a:solidFill>
              </a:rPr>
              <a:t>Bentuk</a:t>
            </a:r>
            <a:r>
              <a:rPr lang="en-ID" b="1" dirty="0">
                <a:solidFill>
                  <a:srgbClr val="FFC000"/>
                </a:solidFill>
              </a:rPr>
              <a:t> Normal </a:t>
            </a:r>
            <a:r>
              <a:rPr lang="en-ID" b="1" dirty="0" err="1">
                <a:solidFill>
                  <a:srgbClr val="FFC000"/>
                </a:solidFill>
              </a:rPr>
              <a:t>Keempat</a:t>
            </a:r>
            <a:r>
              <a:rPr lang="en-ID" b="1" dirty="0">
                <a:solidFill>
                  <a:srgbClr val="FFC000"/>
                </a:solidFill>
              </a:rPr>
              <a:t> (4NF)</a:t>
            </a:r>
            <a:r>
              <a:rPr lang="en-ID" b="1" dirty="0"/>
              <a:t>.</a:t>
            </a:r>
          </a:p>
          <a:p>
            <a:r>
              <a:rPr lang="en-ID" b="1" dirty="0">
                <a:solidFill>
                  <a:srgbClr val="FFC000"/>
                </a:solidFill>
              </a:rPr>
              <a:t>4NF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b="1" dirty="0" err="1">
                <a:solidFill>
                  <a:srgbClr val="FFC000"/>
                </a:solidFill>
              </a:rPr>
              <a:t>Ketergantungan</a:t>
            </a:r>
            <a:r>
              <a:rPr lang="en-ID" b="1" dirty="0">
                <a:solidFill>
                  <a:srgbClr val="FFC000"/>
                </a:solidFill>
              </a:rPr>
              <a:t> Multi-</a:t>
            </a:r>
            <a:r>
              <a:rPr lang="en-ID" b="1" dirty="0" err="1">
                <a:solidFill>
                  <a:srgbClr val="FFC000"/>
                </a:solidFill>
              </a:rPr>
              <a:t>nilai</a:t>
            </a:r>
            <a:r>
              <a:rPr lang="en-ID" b="1" dirty="0">
                <a:solidFill>
                  <a:srgbClr val="FFC000"/>
                </a:solidFill>
              </a:rPr>
              <a:t> (</a:t>
            </a:r>
            <a:r>
              <a:rPr lang="en-ID" b="1" i="1" dirty="0">
                <a:solidFill>
                  <a:srgbClr val="FFC000"/>
                </a:solidFill>
              </a:rPr>
              <a:t>Multivalued Dependencies</a:t>
            </a:r>
            <a:r>
              <a:rPr lang="en-ID" b="1" dirty="0">
                <a:solidFill>
                  <a:srgbClr val="FFC000"/>
                </a:solidFill>
              </a:rPr>
              <a:t>)</a:t>
            </a:r>
            <a:endParaRPr lang="en-ID" dirty="0">
              <a:solidFill>
                <a:srgbClr val="FFC000"/>
              </a:solidFill>
            </a:endParaRP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pPr marL="152400" indent="0">
              <a:buNone/>
            </a:pPr>
            <a:endParaRPr lang="en-ID" dirty="0"/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D6FEA25-E3F3-390D-7393-B2FDD98DFE56}"/>
              </a:ext>
            </a:extLst>
          </p:cNvPr>
          <p:cNvGrpSpPr/>
          <p:nvPr/>
        </p:nvGrpSpPr>
        <p:grpSpPr>
          <a:xfrm>
            <a:off x="2076353" y="1478576"/>
            <a:ext cx="4793786" cy="2608148"/>
            <a:chOff x="1380437" y="1365227"/>
            <a:chExt cx="6118225" cy="3655689"/>
          </a:xfrm>
        </p:grpSpPr>
        <p:sp>
          <p:nvSpPr>
            <p:cNvPr id="4" name="Google Shape;738;p61">
              <a:extLst>
                <a:ext uri="{FF2B5EF4-FFF2-40B4-BE49-F238E27FC236}">
                  <a16:creationId xmlns:a16="http://schemas.microsoft.com/office/drawing/2014/main" id="{7A1339A6-8663-FDEF-0216-D8EA549DBA50}"/>
                </a:ext>
              </a:extLst>
            </p:cNvPr>
            <p:cNvSpPr/>
            <p:nvPr/>
          </p:nvSpPr>
          <p:spPr>
            <a:xfrm>
              <a:off x="3194949" y="1365227"/>
              <a:ext cx="2133600" cy="304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</a:t>
              </a:r>
              <a:endParaRPr sz="1200"/>
            </a:p>
          </p:txBody>
        </p:sp>
        <p:sp>
          <p:nvSpPr>
            <p:cNvPr id="5" name="Google Shape;739;p61">
              <a:extLst>
                <a:ext uri="{FF2B5EF4-FFF2-40B4-BE49-F238E27FC236}">
                  <a16:creationId xmlns:a16="http://schemas.microsoft.com/office/drawing/2014/main" id="{4594326F-54AC-223E-949D-94DFE2315E6C}"/>
                </a:ext>
              </a:extLst>
            </p:cNvPr>
            <p:cNvSpPr/>
            <p:nvPr/>
          </p:nvSpPr>
          <p:spPr>
            <a:xfrm>
              <a:off x="5328549" y="1365227"/>
              <a:ext cx="2133600" cy="304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child_name</a:t>
              </a:r>
              <a:endParaRPr sz="1200"/>
            </a:p>
          </p:txBody>
        </p:sp>
        <p:sp>
          <p:nvSpPr>
            <p:cNvPr id="6" name="Google Shape;740;p61">
              <a:extLst>
                <a:ext uri="{FF2B5EF4-FFF2-40B4-BE49-F238E27FC236}">
                  <a16:creationId xmlns:a16="http://schemas.microsoft.com/office/drawing/2014/main" id="{68FBD1A9-31B7-BDE1-CCB1-E0679EDF1FB6}"/>
                </a:ext>
              </a:extLst>
            </p:cNvPr>
            <p:cNvSpPr/>
            <p:nvPr/>
          </p:nvSpPr>
          <p:spPr>
            <a:xfrm>
              <a:off x="3194949" y="1746227"/>
              <a:ext cx="2133600" cy="13128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</p:txBody>
        </p:sp>
        <p:sp>
          <p:nvSpPr>
            <p:cNvPr id="7" name="Google Shape;741;p61">
              <a:extLst>
                <a:ext uri="{FF2B5EF4-FFF2-40B4-BE49-F238E27FC236}">
                  <a16:creationId xmlns:a16="http://schemas.microsoft.com/office/drawing/2014/main" id="{0FA9306C-CD0D-CC29-41F8-38885C8D94B6}"/>
                </a:ext>
              </a:extLst>
            </p:cNvPr>
            <p:cNvSpPr/>
            <p:nvPr/>
          </p:nvSpPr>
          <p:spPr>
            <a:xfrm>
              <a:off x="5328549" y="1746227"/>
              <a:ext cx="2133600" cy="131127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David</a:t>
              </a:r>
              <a:endParaRPr sz="120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David</a:t>
              </a:r>
              <a:endParaRPr sz="120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William</a:t>
              </a:r>
              <a:endParaRPr sz="120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Willian</a:t>
              </a:r>
              <a:endParaRPr sz="1200"/>
            </a:p>
          </p:txBody>
        </p:sp>
        <p:sp>
          <p:nvSpPr>
            <p:cNvPr id="8" name="Google Shape;742;p61">
              <a:extLst>
                <a:ext uri="{FF2B5EF4-FFF2-40B4-BE49-F238E27FC236}">
                  <a16:creationId xmlns:a16="http://schemas.microsoft.com/office/drawing/2014/main" id="{CFBD2D57-F266-2F41-23C9-D1ADEE9D602E}"/>
                </a:ext>
              </a:extLst>
            </p:cNvPr>
            <p:cNvSpPr txBox="1"/>
            <p:nvPr/>
          </p:nvSpPr>
          <p:spPr>
            <a:xfrm>
              <a:off x="1413773" y="1816078"/>
              <a:ext cx="1136650" cy="338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inst_child</a:t>
              </a:r>
              <a:endParaRPr sz="1200"/>
            </a:p>
          </p:txBody>
        </p:sp>
        <p:sp>
          <p:nvSpPr>
            <p:cNvPr id="9" name="Google Shape;743;p61">
              <a:extLst>
                <a:ext uri="{FF2B5EF4-FFF2-40B4-BE49-F238E27FC236}">
                  <a16:creationId xmlns:a16="http://schemas.microsoft.com/office/drawing/2014/main" id="{53F3BCAB-8ABF-D899-1123-8D5C48A9328A}"/>
                </a:ext>
              </a:extLst>
            </p:cNvPr>
            <p:cNvSpPr/>
            <p:nvPr/>
          </p:nvSpPr>
          <p:spPr>
            <a:xfrm>
              <a:off x="3240987" y="3327054"/>
              <a:ext cx="2133600" cy="304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</a:t>
              </a:r>
              <a:endParaRPr sz="1200"/>
            </a:p>
          </p:txBody>
        </p:sp>
        <p:sp>
          <p:nvSpPr>
            <p:cNvPr id="10" name="Google Shape;744;p61">
              <a:extLst>
                <a:ext uri="{FF2B5EF4-FFF2-40B4-BE49-F238E27FC236}">
                  <a16:creationId xmlns:a16="http://schemas.microsoft.com/office/drawing/2014/main" id="{7DBD8F01-3608-D8AE-3FEA-159AB8F61A22}"/>
                </a:ext>
              </a:extLst>
            </p:cNvPr>
            <p:cNvSpPr/>
            <p:nvPr/>
          </p:nvSpPr>
          <p:spPr>
            <a:xfrm>
              <a:off x="5365062" y="3327054"/>
              <a:ext cx="2133600" cy="3048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phone</a:t>
              </a:r>
              <a:endParaRPr sz="1200"/>
            </a:p>
          </p:txBody>
        </p:sp>
        <p:sp>
          <p:nvSpPr>
            <p:cNvPr id="11" name="Google Shape;745;p61">
              <a:extLst>
                <a:ext uri="{FF2B5EF4-FFF2-40B4-BE49-F238E27FC236}">
                  <a16:creationId xmlns:a16="http://schemas.microsoft.com/office/drawing/2014/main" id="{20E87A96-96B9-CFCB-D10D-CC699FC9E421}"/>
                </a:ext>
              </a:extLst>
            </p:cNvPr>
            <p:cNvSpPr/>
            <p:nvPr/>
          </p:nvSpPr>
          <p:spPr>
            <a:xfrm>
              <a:off x="3240987" y="3708054"/>
              <a:ext cx="2133600" cy="131286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99999</a:t>
              </a:r>
              <a:endParaRPr sz="1200"/>
            </a:p>
          </p:txBody>
        </p:sp>
        <p:sp>
          <p:nvSpPr>
            <p:cNvPr id="12" name="Google Shape;746;p61">
              <a:extLst>
                <a:ext uri="{FF2B5EF4-FFF2-40B4-BE49-F238E27FC236}">
                  <a16:creationId xmlns:a16="http://schemas.microsoft.com/office/drawing/2014/main" id="{236F082F-2DB9-33B6-6C9A-D10FCE6D17D6}"/>
                </a:ext>
              </a:extLst>
            </p:cNvPr>
            <p:cNvSpPr/>
            <p:nvPr/>
          </p:nvSpPr>
          <p:spPr>
            <a:xfrm>
              <a:off x="5365062" y="3708054"/>
              <a:ext cx="2133600" cy="131127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512-555-1234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512-555-4321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512-555-1234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512-555-4321</a:t>
              </a:r>
              <a:endParaRPr sz="120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47;p61">
              <a:extLst>
                <a:ext uri="{FF2B5EF4-FFF2-40B4-BE49-F238E27FC236}">
                  <a16:creationId xmlns:a16="http://schemas.microsoft.com/office/drawing/2014/main" id="{5FA147C7-DF5B-CE67-3B32-BD5C76A597F2}"/>
                </a:ext>
              </a:extLst>
            </p:cNvPr>
            <p:cNvSpPr txBox="1"/>
            <p:nvPr/>
          </p:nvSpPr>
          <p:spPr>
            <a:xfrm>
              <a:off x="1380437" y="3822355"/>
              <a:ext cx="1301749" cy="3388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inst_phone</a:t>
              </a:r>
              <a:endParaRPr sz="1200"/>
            </a:p>
          </p:txBody>
        </p:sp>
      </p:grpSp>
    </p:spTree>
    <p:extLst>
      <p:ext uri="{BB962C8B-B14F-4D97-AF65-F5344CB8AC3E}">
        <p14:creationId xmlns:p14="http://schemas.microsoft.com/office/powerpoint/2010/main" val="3569119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24EBA-78CE-35AD-DB6A-99A38D889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Tujuan Desain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562C4-914D-6DB2-B6CB-3111A5815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87757"/>
          </a:xfrm>
        </p:spPr>
        <p:txBody>
          <a:bodyPr/>
          <a:lstStyle/>
          <a:p>
            <a:r>
              <a:rPr lang="en-ID" sz="1400" b="1" dirty="0"/>
              <a:t>Tujuan </a:t>
            </a:r>
            <a:r>
              <a:rPr lang="en-ID" sz="1400" b="1" dirty="0" err="1"/>
              <a:t>utama</a:t>
            </a:r>
            <a:r>
              <a:rPr lang="en-ID" sz="1400" b="1" dirty="0"/>
              <a:t> </a:t>
            </a:r>
            <a:r>
              <a:rPr lang="en-ID" sz="1400" b="1" dirty="0" err="1"/>
              <a:t>dari</a:t>
            </a:r>
            <a:r>
              <a:rPr lang="en-ID" sz="1400" b="1" dirty="0"/>
              <a:t> </a:t>
            </a:r>
            <a:r>
              <a:rPr lang="en-ID" sz="1400" b="1" dirty="0" err="1"/>
              <a:t>desain</a:t>
            </a:r>
            <a:r>
              <a:rPr lang="en-ID" sz="1400" b="1" dirty="0"/>
              <a:t> basis data </a:t>
            </a:r>
            <a:r>
              <a:rPr lang="en-ID" sz="1400" b="1" dirty="0" err="1"/>
              <a:t>relasional</a:t>
            </a:r>
            <a:r>
              <a:rPr lang="en-ID" sz="1400" b="1" dirty="0"/>
              <a:t> </a:t>
            </a:r>
            <a:r>
              <a:rPr lang="en-ID" sz="1400" b="1" dirty="0" err="1"/>
              <a:t>adalah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 err="1"/>
              <a:t>Mencapai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BCNF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Lossless join</a:t>
            </a:r>
            <a:r>
              <a:rPr lang="en-ID" sz="1400" dirty="0"/>
              <a:t> (</a:t>
            </a:r>
            <a:r>
              <a:rPr lang="en-ID" sz="1400" dirty="0" err="1"/>
              <a:t>penggabungan</a:t>
            </a:r>
            <a:r>
              <a:rPr lang="en-ID" sz="1400" dirty="0"/>
              <a:t> </a:t>
            </a:r>
            <a:r>
              <a:rPr lang="en-ID" sz="1400" dirty="0" err="1"/>
              <a:t>tanpa</a:t>
            </a:r>
            <a:r>
              <a:rPr lang="en-ID" sz="1400" dirty="0"/>
              <a:t> </a:t>
            </a:r>
            <a:r>
              <a:rPr lang="en-ID" sz="1400" dirty="0" err="1"/>
              <a:t>kehilangan</a:t>
            </a:r>
            <a:r>
              <a:rPr lang="en-ID" sz="1400" dirty="0"/>
              <a:t> data).</a:t>
            </a:r>
          </a:p>
          <a:p>
            <a:pPr lvl="1"/>
            <a:r>
              <a:rPr lang="en-ID" sz="1400" dirty="0" err="1"/>
              <a:t>Memelihara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Dependency preservation</a:t>
            </a:r>
            <a:r>
              <a:rPr lang="en-ID" sz="1400" dirty="0"/>
              <a:t>).</a:t>
            </a:r>
          </a:p>
          <a:p>
            <a:r>
              <a:rPr lang="en-ID" sz="1400" b="1" dirty="0"/>
              <a:t>Jika </a:t>
            </a:r>
            <a:r>
              <a:rPr lang="en-ID" sz="1400" b="1" dirty="0" err="1"/>
              <a:t>kita</a:t>
            </a:r>
            <a:r>
              <a:rPr lang="en-ID" sz="1400" b="1" dirty="0"/>
              <a:t> </a:t>
            </a:r>
            <a:r>
              <a:rPr lang="en-ID" sz="1400" b="1" dirty="0" err="1"/>
              <a:t>tidak</a:t>
            </a:r>
            <a:r>
              <a:rPr lang="en-ID" sz="1400" b="1" dirty="0"/>
              <a:t> </a:t>
            </a:r>
            <a:r>
              <a:rPr lang="en-ID" sz="1400" b="1" dirty="0" err="1"/>
              <a:t>dapat</a:t>
            </a:r>
            <a:r>
              <a:rPr lang="en-ID" sz="1400" b="1" dirty="0"/>
              <a:t> </a:t>
            </a:r>
            <a:r>
              <a:rPr lang="en-ID" sz="1400" b="1" dirty="0" err="1"/>
              <a:t>mencapai</a:t>
            </a:r>
            <a:r>
              <a:rPr lang="en-ID" sz="1400" b="1" dirty="0"/>
              <a:t> </a:t>
            </a:r>
            <a:r>
              <a:rPr lang="en-ID" sz="1400" b="1" dirty="0" err="1"/>
              <a:t>semua</a:t>
            </a:r>
            <a:r>
              <a:rPr lang="en-ID" sz="1400" b="1" dirty="0"/>
              <a:t> </a:t>
            </a:r>
            <a:r>
              <a:rPr lang="en-ID" sz="1400" b="1" dirty="0" err="1"/>
              <a:t>tujuan</a:t>
            </a:r>
            <a:r>
              <a:rPr lang="en-ID" sz="1400" b="1" dirty="0"/>
              <a:t> </a:t>
            </a:r>
            <a:r>
              <a:rPr lang="en-ID" sz="1400" b="1" dirty="0" err="1"/>
              <a:t>tersebut</a:t>
            </a:r>
            <a:r>
              <a:rPr lang="en-ID" sz="1400" b="1" dirty="0"/>
              <a:t>, </a:t>
            </a:r>
            <a:r>
              <a:rPr lang="en-ID" sz="1400" b="1" dirty="0" err="1"/>
              <a:t>kita</a:t>
            </a:r>
            <a:r>
              <a:rPr lang="en-ID" sz="1400" b="1" dirty="0"/>
              <a:t> </a:t>
            </a:r>
            <a:r>
              <a:rPr lang="en-ID" sz="1400" b="1" dirty="0" err="1"/>
              <a:t>menerima</a:t>
            </a:r>
            <a:r>
              <a:rPr lang="en-ID" sz="1400" b="1" dirty="0"/>
              <a:t> salah </a:t>
            </a:r>
            <a:r>
              <a:rPr lang="en-ID" sz="1400" b="1" dirty="0" err="1"/>
              <a:t>satu</a:t>
            </a:r>
            <a:r>
              <a:rPr lang="en-ID" sz="1400" b="1" dirty="0"/>
              <a:t> </a:t>
            </a:r>
            <a:r>
              <a:rPr lang="en-ID" sz="1400" b="1" dirty="0" err="1"/>
              <a:t>kondisi</a:t>
            </a:r>
            <a:r>
              <a:rPr lang="en-ID" sz="1400" b="1" dirty="0"/>
              <a:t> </a:t>
            </a:r>
            <a:r>
              <a:rPr lang="en-ID" sz="1400" b="1" dirty="0" err="1"/>
              <a:t>berikut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 err="1"/>
              <a:t>Kurangnya</a:t>
            </a:r>
            <a:r>
              <a:rPr lang="en-ID" sz="1400" dirty="0"/>
              <a:t> </a:t>
            </a:r>
            <a:r>
              <a:rPr lang="en-ID" sz="1400" dirty="0" err="1"/>
              <a:t>pemeliharaan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(</a:t>
            </a:r>
            <a:r>
              <a:rPr lang="en-ID" sz="1400" i="1" dirty="0"/>
              <a:t>lack of dependency preservation</a:t>
            </a:r>
            <a:r>
              <a:rPr lang="en-ID" sz="1400" dirty="0"/>
              <a:t>).</a:t>
            </a:r>
          </a:p>
          <a:p>
            <a:pPr lvl="1"/>
            <a:r>
              <a:rPr lang="en-ID" sz="1400" dirty="0"/>
              <a:t>Adanya </a:t>
            </a:r>
            <a:r>
              <a:rPr lang="en-ID" sz="1400" dirty="0" err="1"/>
              <a:t>redundansi</a:t>
            </a:r>
            <a:r>
              <a:rPr lang="en-ID" sz="1400" dirty="0"/>
              <a:t> </a:t>
            </a:r>
            <a:r>
              <a:rPr lang="en-ID" sz="1400" dirty="0" err="1"/>
              <a:t>akibat</a:t>
            </a:r>
            <a:r>
              <a:rPr lang="en-ID" sz="1400" dirty="0"/>
              <a:t> </a:t>
            </a:r>
            <a:r>
              <a:rPr lang="en-ID" sz="1400" dirty="0" err="1"/>
              <a:t>penggunaan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3NF</a:t>
            </a:r>
            <a:r>
              <a:rPr lang="en-ID" sz="1400" dirty="0"/>
              <a:t>.</a:t>
            </a:r>
          </a:p>
          <a:p>
            <a:r>
              <a:rPr lang="en-ID" sz="1400" b="1" dirty="0"/>
              <a:t>Hal yang </a:t>
            </a:r>
            <a:r>
              <a:rPr lang="en-ID" sz="1400" b="1" dirty="0" err="1"/>
              <a:t>menarik</a:t>
            </a:r>
            <a:r>
              <a:rPr lang="en-ID" sz="1400" b="1" dirty="0"/>
              <a:t>, </a:t>
            </a:r>
            <a:r>
              <a:rPr lang="en-ID" sz="1400" b="1" dirty="0">
                <a:solidFill>
                  <a:srgbClr val="FFC000"/>
                </a:solidFill>
              </a:rPr>
              <a:t>SQL</a:t>
            </a:r>
            <a:r>
              <a:rPr lang="en-ID" sz="1400" b="1" dirty="0"/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tidak</a:t>
            </a:r>
            <a:r>
              <a:rPr lang="en-ID" sz="1400" b="1" dirty="0">
                <a:solidFill>
                  <a:srgbClr val="FF0000"/>
                </a:solidFill>
              </a:rPr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menyediakan</a:t>
            </a:r>
            <a:r>
              <a:rPr lang="en-ID" sz="1400" b="1" dirty="0">
                <a:solidFill>
                  <a:srgbClr val="FF0000"/>
                </a:solidFill>
              </a:rPr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cara</a:t>
            </a:r>
            <a:r>
              <a:rPr lang="en-ID" sz="1400" b="1" dirty="0">
                <a:solidFill>
                  <a:srgbClr val="FF0000"/>
                </a:solidFill>
              </a:rPr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langsung</a:t>
            </a:r>
            <a:r>
              <a:rPr lang="en-ID" sz="1400" b="1" dirty="0"/>
              <a:t> </a:t>
            </a:r>
            <a:r>
              <a:rPr lang="en-ID" sz="1400" b="1" dirty="0" err="1"/>
              <a:t>untuk</a:t>
            </a:r>
            <a:r>
              <a:rPr lang="en-ID" sz="1400" b="1" dirty="0"/>
              <a:t> </a:t>
            </a:r>
            <a:r>
              <a:rPr lang="en-ID" sz="1400" b="1" dirty="0" err="1"/>
              <a:t>menentukan</a:t>
            </a:r>
            <a:r>
              <a:rPr lang="en-ID" sz="1400" b="1" dirty="0"/>
              <a:t> </a:t>
            </a:r>
            <a:r>
              <a:rPr lang="en-ID" sz="1400" b="1" dirty="0" err="1"/>
              <a:t>ketergantungan</a:t>
            </a:r>
            <a:r>
              <a:rPr lang="en-ID" sz="1400" b="1" dirty="0"/>
              <a:t> </a:t>
            </a:r>
            <a:r>
              <a:rPr lang="en-ID" sz="1400" b="1" dirty="0" err="1"/>
              <a:t>fungsional</a:t>
            </a:r>
            <a:r>
              <a:rPr lang="en-ID" sz="1400" b="1" dirty="0"/>
              <a:t> </a:t>
            </a:r>
            <a:r>
              <a:rPr lang="en-ID" sz="1400" b="1" dirty="0" err="1"/>
              <a:t>selain</a:t>
            </a:r>
            <a:r>
              <a:rPr lang="en-ID" sz="1400" b="1" dirty="0"/>
              <a:t> </a:t>
            </a:r>
            <a:r>
              <a:rPr lang="en-ID" sz="1400" b="1" dirty="0" err="1"/>
              <a:t>melalui</a:t>
            </a:r>
            <a:r>
              <a:rPr lang="en-ID" sz="1400" b="1" dirty="0"/>
              <a:t> </a:t>
            </a:r>
            <a:r>
              <a:rPr lang="en-ID" sz="1400" b="1" i="1" dirty="0" err="1"/>
              <a:t>superkeys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/>
              <a:t>Kita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(FD)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assertions</a:t>
            </a:r>
            <a:r>
              <a:rPr lang="en-ID" sz="1400" dirty="0"/>
              <a:t>, </a:t>
            </a:r>
            <a:r>
              <a:rPr lang="en-ID" sz="1400" dirty="0" err="1"/>
              <a:t>namun</a:t>
            </a:r>
            <a:r>
              <a:rPr lang="en-ID" sz="1400" dirty="0"/>
              <a:t> sangat mahal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diuji</a:t>
            </a:r>
            <a:r>
              <a:rPr lang="en-ID" sz="1400" dirty="0"/>
              <a:t> (dan </a:t>
            </a:r>
            <a:r>
              <a:rPr lang="en-ID" sz="1400" dirty="0" err="1"/>
              <a:t>saat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didukung</a:t>
            </a:r>
            <a:r>
              <a:rPr lang="en-ID" sz="1400" dirty="0"/>
              <a:t> oleh </a:t>
            </a:r>
            <a:r>
              <a:rPr lang="en-ID" sz="1400" dirty="0" err="1"/>
              <a:t>sebagian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basis data yang </a:t>
            </a:r>
            <a:r>
              <a:rPr lang="en-ID" sz="1400" dirty="0" err="1"/>
              <a:t>umum</a:t>
            </a:r>
            <a:r>
              <a:rPr lang="en-ID" sz="1400" dirty="0"/>
              <a:t> </a:t>
            </a:r>
            <a:r>
              <a:rPr lang="en-ID" sz="1400" dirty="0" err="1"/>
              <a:t>digunakan</a:t>
            </a:r>
            <a:r>
              <a:rPr lang="en-ID" sz="1400" dirty="0"/>
              <a:t>!).</a:t>
            </a:r>
          </a:p>
          <a:p>
            <a:r>
              <a:rPr lang="en-ID" sz="1400" b="1" dirty="0" err="1"/>
              <a:t>Bahkan</a:t>
            </a:r>
            <a:r>
              <a:rPr lang="en-ID" sz="1400" b="1" dirty="0"/>
              <a:t> </a:t>
            </a:r>
            <a:r>
              <a:rPr lang="en-ID" sz="1400" b="1" dirty="0" err="1"/>
              <a:t>jika</a:t>
            </a:r>
            <a:r>
              <a:rPr lang="en-ID" sz="1400" b="1" dirty="0"/>
              <a:t> </a:t>
            </a:r>
            <a:r>
              <a:rPr lang="en-ID" sz="1400" b="1" dirty="0" err="1"/>
              <a:t>kita</a:t>
            </a:r>
            <a:r>
              <a:rPr lang="en-ID" sz="1400" b="1" dirty="0"/>
              <a:t> </a:t>
            </a:r>
            <a:r>
              <a:rPr lang="en-ID" sz="1400" b="1" dirty="0" err="1"/>
              <a:t>memiliki</a:t>
            </a:r>
            <a:r>
              <a:rPr lang="en-ID" sz="1400" b="1" dirty="0"/>
              <a:t> </a:t>
            </a:r>
            <a:r>
              <a:rPr lang="en-ID" sz="1400" b="1" dirty="0" err="1"/>
              <a:t>dekomposisi</a:t>
            </a:r>
            <a:r>
              <a:rPr lang="en-ID" sz="1400" b="1" dirty="0"/>
              <a:t> yang </a:t>
            </a:r>
            <a:r>
              <a:rPr lang="en-ID" sz="1400" b="1" dirty="0" err="1"/>
              <a:t>memelihara</a:t>
            </a:r>
            <a:r>
              <a:rPr lang="en-ID" sz="1400" b="1" dirty="0"/>
              <a:t> </a:t>
            </a:r>
            <a:r>
              <a:rPr lang="en-ID" sz="1400" b="1" dirty="0" err="1"/>
              <a:t>ketergantungan</a:t>
            </a:r>
            <a:r>
              <a:rPr lang="en-ID" sz="1400" b="1" dirty="0"/>
              <a:t>, </a:t>
            </a:r>
            <a:r>
              <a:rPr lang="en-ID" sz="1400" b="1" dirty="0" err="1"/>
              <a:t>dengan</a:t>
            </a:r>
            <a:r>
              <a:rPr lang="en-ID" sz="1400" b="1" dirty="0"/>
              <a:t> </a:t>
            </a:r>
            <a:r>
              <a:rPr lang="en-ID" sz="1400" b="1" dirty="0" err="1"/>
              <a:t>menggunakan</a:t>
            </a:r>
            <a:r>
              <a:rPr lang="en-ID" sz="1400" b="1" dirty="0"/>
              <a:t> SQL </a:t>
            </a:r>
            <a:r>
              <a:rPr lang="en-ID" sz="1400" b="1" dirty="0" err="1"/>
              <a:t>kita</a:t>
            </a:r>
            <a:r>
              <a:rPr lang="en-ID" sz="1400" b="1" dirty="0"/>
              <a:t> </a:t>
            </a:r>
            <a:r>
              <a:rPr lang="en-ID" sz="1400" b="1" dirty="0" err="1"/>
              <a:t>tetap</a:t>
            </a:r>
            <a:r>
              <a:rPr lang="en-ID" sz="1400" b="1" dirty="0"/>
              <a:t> </a:t>
            </a:r>
            <a:r>
              <a:rPr lang="en-ID" sz="1400" b="1" dirty="0" err="1"/>
              <a:t>tidak</a:t>
            </a:r>
            <a:r>
              <a:rPr lang="en-ID" sz="1400" b="1" dirty="0"/>
              <a:t> </a:t>
            </a:r>
            <a:r>
              <a:rPr lang="en-ID" sz="1400" b="1" dirty="0" err="1"/>
              <a:t>akan</a:t>
            </a:r>
            <a:r>
              <a:rPr lang="en-ID" sz="1400" b="1" dirty="0"/>
              <a:t> </a:t>
            </a:r>
            <a:r>
              <a:rPr lang="en-ID" sz="1400" b="1" dirty="0" err="1"/>
              <a:t>mampu</a:t>
            </a:r>
            <a:r>
              <a:rPr lang="en-ID" sz="1400" b="1" dirty="0"/>
              <a:t> </a:t>
            </a:r>
            <a:r>
              <a:rPr lang="en-ID" sz="1400" b="1" dirty="0" err="1"/>
              <a:t>menguji</a:t>
            </a:r>
            <a:r>
              <a:rPr lang="en-ID" sz="1400" b="1" dirty="0"/>
              <a:t> </a:t>
            </a:r>
            <a:r>
              <a:rPr lang="en-ID" sz="1400" b="1" dirty="0" err="1"/>
              <a:t>secara</a:t>
            </a:r>
            <a:r>
              <a:rPr lang="en-ID" sz="1400" b="1" dirty="0"/>
              <a:t> </a:t>
            </a:r>
            <a:r>
              <a:rPr lang="en-ID" sz="1400" b="1" dirty="0" err="1"/>
              <a:t>efisien</a:t>
            </a:r>
            <a:r>
              <a:rPr lang="en-ID" sz="1400" b="1" dirty="0"/>
              <a:t> </a:t>
            </a:r>
            <a:r>
              <a:rPr lang="en-ID" sz="1400" b="1" dirty="0" err="1"/>
              <a:t>suatu</a:t>
            </a:r>
            <a:r>
              <a:rPr lang="en-ID" sz="1400" b="1" dirty="0"/>
              <a:t> </a:t>
            </a:r>
            <a:r>
              <a:rPr lang="en-ID" sz="1400" b="1" dirty="0" err="1"/>
              <a:t>ketergantungan</a:t>
            </a:r>
            <a:r>
              <a:rPr lang="en-ID" sz="1400" b="1" dirty="0"/>
              <a:t> </a:t>
            </a:r>
            <a:r>
              <a:rPr lang="en-ID" sz="1400" b="1" dirty="0" err="1"/>
              <a:t>fungsional</a:t>
            </a:r>
            <a:r>
              <a:rPr lang="en-ID" sz="1400" b="1" dirty="0"/>
              <a:t> yang </a:t>
            </a:r>
            <a:r>
              <a:rPr lang="en-ID" sz="1400" b="1" dirty="0" err="1"/>
              <a:t>sisi</a:t>
            </a:r>
            <a:r>
              <a:rPr lang="en-ID" sz="1400" b="1" dirty="0"/>
              <a:t> </a:t>
            </a:r>
            <a:r>
              <a:rPr lang="en-ID" sz="1400" b="1" dirty="0" err="1"/>
              <a:t>kirinya</a:t>
            </a:r>
            <a:r>
              <a:rPr lang="en-ID" sz="1400" b="1" dirty="0"/>
              <a:t> (</a:t>
            </a:r>
            <a:r>
              <a:rPr lang="en-ID" sz="1400" b="1" i="1" dirty="0"/>
              <a:t>left hand side</a:t>
            </a:r>
            <a:r>
              <a:rPr lang="en-ID" sz="1400" b="1" dirty="0"/>
              <a:t>) </a:t>
            </a:r>
            <a:r>
              <a:rPr lang="en-ID" sz="1400" b="1" dirty="0" err="1"/>
              <a:t>bukan</a:t>
            </a:r>
            <a:r>
              <a:rPr lang="en-ID" sz="1400" b="1" dirty="0"/>
              <a:t> </a:t>
            </a:r>
            <a:r>
              <a:rPr lang="en-ID" sz="1400" b="1" dirty="0" err="1"/>
              <a:t>merupakan</a:t>
            </a:r>
            <a:r>
              <a:rPr lang="en-ID" sz="1400" b="1" dirty="0"/>
              <a:t> </a:t>
            </a:r>
            <a:r>
              <a:rPr lang="en-ID" sz="1400" b="1" dirty="0" err="1"/>
              <a:t>sebuah</a:t>
            </a:r>
            <a:r>
              <a:rPr lang="en-ID" sz="1400" b="1" dirty="0"/>
              <a:t> </a:t>
            </a:r>
            <a:r>
              <a:rPr lang="en-ID" sz="1400" b="1" dirty="0" err="1"/>
              <a:t>kunci</a:t>
            </a:r>
            <a:r>
              <a:rPr lang="en-ID" sz="1400" b="1" dirty="0"/>
              <a:t> (</a:t>
            </a:r>
            <a:r>
              <a:rPr lang="en-ID" sz="1400" b="1" i="1" dirty="0"/>
              <a:t>key</a:t>
            </a:r>
            <a:r>
              <a:rPr lang="en-ID" sz="1400" b="1" dirty="0"/>
              <a:t>).</a:t>
            </a:r>
            <a:endParaRPr lang="en-ID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86391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275D-D1F0-1749-841F-3E20B9A7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Pengujian</a:t>
            </a:r>
            <a:r>
              <a:rPr lang="en-ID" b="1" dirty="0"/>
              <a:t> FD Lintas </a:t>
            </a:r>
            <a:r>
              <a:rPr lang="en-ID" b="1" dirty="0" err="1"/>
              <a:t>Relasi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82AD3-5873-4811-83BF-A566CBB8A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38905"/>
          </a:xfrm>
        </p:spPr>
        <p:txBody>
          <a:bodyPr/>
          <a:lstStyle/>
          <a:p>
            <a:r>
              <a:rPr lang="en-ID" dirty="0"/>
              <a:t>Jika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dekomposisi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bersifat</a:t>
            </a:r>
            <a:r>
              <a:rPr lang="en-ID" dirty="0"/>
              <a:t> </a:t>
            </a:r>
            <a:r>
              <a:rPr lang="en-ID" dirty="0" err="1"/>
              <a:t>memelihara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(</a:t>
            </a:r>
            <a:r>
              <a:rPr lang="en-ID" i="1" dirty="0"/>
              <a:t>dependency preserving</a:t>
            </a:r>
            <a:r>
              <a:rPr lang="en-ID" dirty="0"/>
              <a:t>),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b="1" i="1" dirty="0">
                <a:solidFill>
                  <a:srgbClr val="FFC000"/>
                </a:solidFill>
              </a:rPr>
              <a:t>materialized view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US" b="1" dirty="0">
                <a:solidFill>
                  <a:srgbClr val="FFC000"/>
                </a:solidFill>
              </a:rPr>
              <a:t>α →β in F</a:t>
            </a:r>
            <a:r>
              <a:rPr lang="en-US" b="1" baseline="-25000" dirty="0">
                <a:solidFill>
                  <a:srgbClr val="FFC000"/>
                </a:solidFill>
              </a:rPr>
              <a:t>c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terpelihara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dekomposisi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b="1" i="1" dirty="0"/>
              <a:t>Materialized view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didefinisikan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proyeksi</a:t>
            </a:r>
            <a:r>
              <a:rPr lang="en-ID" dirty="0"/>
              <a:t> pada </a:t>
            </a:r>
            <a:r>
              <a:rPr lang="en-US" b="1" dirty="0">
                <a:solidFill>
                  <a:srgbClr val="FFC000"/>
                </a:solidFill>
              </a:rPr>
              <a:t>α β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penggabungan</a:t>
            </a:r>
            <a:r>
              <a:rPr lang="en-ID" dirty="0"/>
              <a:t> (</a:t>
            </a:r>
            <a:r>
              <a:rPr lang="en-ID" i="1" dirty="0"/>
              <a:t>join</a:t>
            </a:r>
            <a:r>
              <a:rPr lang="en-ID" dirty="0"/>
              <a:t>) </a:t>
            </a:r>
            <a:r>
              <a:rPr lang="en-ID" dirty="0" err="1"/>
              <a:t>relasi-relasi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dekomposisi</a:t>
            </a:r>
            <a:r>
              <a:rPr lang="en-ID" dirty="0"/>
              <a:t>.</a:t>
            </a:r>
          </a:p>
          <a:p>
            <a:r>
              <a:rPr lang="en-ID" dirty="0"/>
              <a:t>Banyak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terbaru</a:t>
            </a:r>
            <a:r>
              <a:rPr lang="en-ID" dirty="0"/>
              <a:t> yang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b="1" i="1" dirty="0"/>
              <a:t>materialized views</a:t>
            </a:r>
            <a:r>
              <a:rPr lang="en-ID" dirty="0"/>
              <a:t>, di mana </a:t>
            </a:r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memperbarui</a:t>
            </a:r>
            <a:r>
              <a:rPr lang="en-ID" dirty="0"/>
              <a:t> </a:t>
            </a:r>
            <a:r>
              <a:rPr lang="en-ID" i="1" dirty="0"/>
              <a:t>view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relasi-relasi</a:t>
            </a:r>
            <a:r>
              <a:rPr lang="en-ID" dirty="0"/>
              <a:t> </a:t>
            </a:r>
            <a:r>
              <a:rPr lang="en-ID" dirty="0" err="1"/>
              <a:t>asalnya</a:t>
            </a:r>
            <a:r>
              <a:rPr lang="en-ID" dirty="0"/>
              <a:t> </a:t>
            </a:r>
            <a:r>
              <a:rPr lang="en-ID" dirty="0" err="1"/>
              <a:t>diperbarui</a:t>
            </a:r>
            <a:r>
              <a:rPr lang="en-ID" dirty="0"/>
              <a:t>.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diperlukan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pemrograman</a:t>
            </a:r>
            <a:r>
              <a:rPr lang="en-ID" dirty="0"/>
              <a:t> (</a:t>
            </a:r>
            <a:r>
              <a:rPr lang="en-ID" i="1" dirty="0"/>
              <a:t>coding</a:t>
            </a:r>
            <a:r>
              <a:rPr lang="en-ID" dirty="0"/>
              <a:t>)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pemrogram</a:t>
            </a:r>
            <a:r>
              <a:rPr lang="en-ID" dirty="0"/>
              <a:t>.</a:t>
            </a:r>
          </a:p>
          <a:p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US" b="1" dirty="0">
                <a:solidFill>
                  <a:srgbClr val="FFC000"/>
                </a:solidFill>
              </a:rPr>
              <a:t>α → β</a:t>
            </a:r>
            <a:r>
              <a:rPr lang="en-ID" dirty="0"/>
              <a:t> </a:t>
            </a:r>
            <a:r>
              <a:rPr lang="en-ID" dirty="0" err="1"/>
              <a:t>dinyatakan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mendeklarasikan</a:t>
            </a:r>
            <a:r>
              <a:rPr lang="en-ID" dirty="0"/>
              <a:t> </a:t>
            </a:r>
            <a:r>
              <a:rPr lang="en-US" b="1" dirty="0">
                <a:solidFill>
                  <a:srgbClr val="FFC000"/>
                </a:solidFill>
              </a:rPr>
              <a:t>α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i="1" dirty="0"/>
              <a:t>candidate key</a:t>
            </a:r>
            <a:r>
              <a:rPr lang="en-ID" dirty="0"/>
              <a:t> pada </a:t>
            </a:r>
            <a:r>
              <a:rPr lang="en-ID" b="1" i="1" dirty="0"/>
              <a:t>materialized view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  <a:p>
            <a:r>
              <a:rPr lang="en-ID" dirty="0" err="1"/>
              <a:t>Memeriksa</a:t>
            </a:r>
            <a:r>
              <a:rPr lang="en-ID" dirty="0"/>
              <a:t> </a:t>
            </a:r>
            <a:r>
              <a:rPr lang="en-ID" b="1" i="1" dirty="0"/>
              <a:t>candidate key</a:t>
            </a:r>
            <a:r>
              <a:rPr lang="en-ID" dirty="0"/>
              <a:t> </a:t>
            </a:r>
            <a:r>
              <a:rPr lang="en-ID" dirty="0" err="1"/>
              <a:t>jauh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murah</a:t>
            </a:r>
            <a:r>
              <a:rPr lang="en-ID" dirty="0"/>
              <a:t> (</a:t>
            </a:r>
            <a:r>
              <a:rPr lang="en-ID" dirty="0" err="1"/>
              <a:t>efisien</a:t>
            </a:r>
            <a:r>
              <a:rPr lang="en-ID" dirty="0"/>
              <a:t>) </a:t>
            </a:r>
            <a:r>
              <a:rPr lang="en-ID" dirty="0" err="1"/>
              <a:t>dibandingkan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memeriksa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  </a:t>
            </a:r>
            <a:r>
              <a:rPr lang="en-US" b="1" dirty="0">
                <a:solidFill>
                  <a:srgbClr val="FFC000"/>
                </a:solidFill>
              </a:rPr>
              <a:t>α → β</a:t>
            </a:r>
            <a:r>
              <a:rPr lang="en-ID" dirty="0"/>
              <a:t>.</a:t>
            </a:r>
          </a:p>
          <a:p>
            <a:r>
              <a:rPr lang="en-ID" b="1" dirty="0"/>
              <a:t>NAMUN:</a:t>
            </a:r>
            <a:endParaRPr lang="en-ID" dirty="0"/>
          </a:p>
          <a:p>
            <a:pPr lvl="1"/>
            <a:r>
              <a:rPr lang="en-ID" b="1" i="1" dirty="0">
                <a:solidFill>
                  <a:srgbClr val="FFC000"/>
                </a:solidFill>
              </a:rPr>
              <a:t>Space overhead</a:t>
            </a:r>
            <a:r>
              <a:rPr lang="en-ID" dirty="0"/>
              <a:t>: </a:t>
            </a:r>
            <a:r>
              <a:rPr lang="en-ID" dirty="0" err="1"/>
              <a:t>Dibutuhkan</a:t>
            </a:r>
            <a:r>
              <a:rPr lang="en-ID" dirty="0"/>
              <a:t> </a:t>
            </a:r>
            <a:r>
              <a:rPr lang="en-ID" dirty="0" err="1"/>
              <a:t>ruang</a:t>
            </a:r>
            <a:r>
              <a:rPr lang="en-ID" dirty="0"/>
              <a:t> </a:t>
            </a:r>
            <a:r>
              <a:rPr lang="en-ID" dirty="0" err="1"/>
              <a:t>penyimpanan</a:t>
            </a:r>
            <a:r>
              <a:rPr lang="en-ID" dirty="0"/>
              <a:t> </a:t>
            </a:r>
            <a:r>
              <a:rPr lang="en-ID" dirty="0" err="1"/>
              <a:t>tambahan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</a:t>
            </a:r>
            <a:r>
              <a:rPr lang="en-ID" b="1" i="1" dirty="0">
                <a:solidFill>
                  <a:srgbClr val="FFC000"/>
                </a:solidFill>
              </a:rPr>
              <a:t>materialized view</a:t>
            </a:r>
            <a:r>
              <a:rPr lang="en-ID" dirty="0"/>
              <a:t>.</a:t>
            </a:r>
          </a:p>
          <a:p>
            <a:pPr lvl="1"/>
            <a:r>
              <a:rPr lang="en-ID" b="1" i="1" dirty="0">
                <a:solidFill>
                  <a:srgbClr val="FFC000"/>
                </a:solidFill>
              </a:rPr>
              <a:t>Time overhead</a:t>
            </a:r>
            <a:r>
              <a:rPr lang="en-ID" dirty="0">
                <a:solidFill>
                  <a:srgbClr val="FFC000"/>
                </a:solidFill>
              </a:rPr>
              <a:t>: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agar </a:t>
            </a:r>
            <a:r>
              <a:rPr lang="en-ID" b="1" i="1" dirty="0"/>
              <a:t>materialized view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mutakhir</a:t>
            </a:r>
            <a:r>
              <a:rPr lang="en-ID" dirty="0"/>
              <a:t> (</a:t>
            </a:r>
            <a:r>
              <a:rPr lang="en-ID" i="1" dirty="0"/>
              <a:t>up to date</a:t>
            </a:r>
            <a:r>
              <a:rPr lang="en-ID" dirty="0"/>
              <a:t>)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relasi-relasi</a:t>
            </a:r>
            <a:r>
              <a:rPr lang="en-ID" dirty="0"/>
              <a:t> </a:t>
            </a:r>
            <a:r>
              <a:rPr lang="en-ID" dirty="0" err="1"/>
              <a:t>diperbarui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Sistem</a:t>
            </a:r>
            <a:r>
              <a:rPr lang="en-ID" dirty="0"/>
              <a:t> basis data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</a:t>
            </a:r>
            <a:r>
              <a:rPr lang="en-ID" dirty="0" err="1"/>
              <a:t>deklarasi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(</a:t>
            </a:r>
            <a:r>
              <a:rPr lang="en-ID" i="1" dirty="0"/>
              <a:t>key declarations</a:t>
            </a:r>
            <a:r>
              <a:rPr lang="en-ID" dirty="0"/>
              <a:t>) pada </a:t>
            </a:r>
            <a:r>
              <a:rPr lang="en-ID" b="1" i="1" dirty="0"/>
              <a:t>materialized views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51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BB61-55E7-953E-72AB-5D6591040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Proses Desain Basis Data </a:t>
            </a:r>
            <a:r>
              <a:rPr lang="en-ID" b="1" dirty="0" err="1"/>
              <a:t>Secara</a:t>
            </a:r>
            <a:r>
              <a:rPr lang="en-ID" b="1" dirty="0"/>
              <a:t> </a:t>
            </a:r>
            <a:r>
              <a:rPr lang="en-ID" b="1" dirty="0" err="1"/>
              <a:t>Keseluruhan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8AA6B-3112-8050-4A64-0D46FFA3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38905"/>
          </a:xfrm>
        </p:spPr>
        <p:txBody>
          <a:bodyPr/>
          <a:lstStyle/>
          <a:p>
            <a:r>
              <a:rPr lang="en-ID" sz="2000" b="1" dirty="0"/>
              <a:t>Kita </a:t>
            </a:r>
            <a:r>
              <a:rPr lang="en-ID" sz="2000" b="1" dirty="0" err="1">
                <a:solidFill>
                  <a:srgbClr val="92D050"/>
                </a:solidFill>
              </a:rPr>
              <a:t>berasumsi</a:t>
            </a:r>
            <a:r>
              <a:rPr lang="en-ID" sz="2000" b="1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bahwa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skema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R</a:t>
            </a:r>
            <a:r>
              <a:rPr lang="en-ID" sz="2000" b="1" dirty="0"/>
              <a:t> </a:t>
            </a:r>
            <a:r>
              <a:rPr lang="en-ID" sz="2000" b="1" dirty="0" err="1"/>
              <a:t>telah</a:t>
            </a:r>
            <a:r>
              <a:rPr lang="en-ID" sz="2000" b="1" dirty="0"/>
              <a:t> </a:t>
            </a:r>
            <a:r>
              <a:rPr lang="en-ID" sz="2000" b="1" dirty="0" err="1"/>
              <a:t>diberikan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ID" sz="2000" b="1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dihasilkan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mengonversi</a:t>
            </a:r>
            <a:r>
              <a:rPr lang="en-ID" sz="2000" dirty="0"/>
              <a:t> diagram E-R (</a:t>
            </a:r>
            <a:r>
              <a:rPr lang="en-ID" sz="2000" i="1" dirty="0">
                <a:solidFill>
                  <a:srgbClr val="FFC000"/>
                </a:solidFill>
              </a:rPr>
              <a:t>Entity-Relationship</a:t>
            </a:r>
            <a:r>
              <a:rPr lang="en-ID" sz="2000" dirty="0"/>
              <a:t>)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tabel</a:t>
            </a:r>
            <a:r>
              <a:rPr lang="en-ID" sz="2000" dirty="0"/>
              <a:t>.</a:t>
            </a:r>
          </a:p>
          <a:p>
            <a:pPr lvl="1"/>
            <a:r>
              <a:rPr lang="en-ID" sz="2000" b="1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berupa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tunggal</a:t>
            </a:r>
            <a:r>
              <a:rPr lang="en-ID" sz="2000" dirty="0"/>
              <a:t> yang </a:t>
            </a:r>
            <a:r>
              <a:rPr lang="en-ID" sz="2000" dirty="0" err="1"/>
              <a:t>berisi</a:t>
            </a:r>
            <a:r>
              <a:rPr lang="en-ID" sz="2000" dirty="0"/>
              <a:t> </a:t>
            </a:r>
            <a:r>
              <a:rPr lang="en-ID" sz="2000" dirty="0" err="1"/>
              <a:t>seluruh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diperlukan</a:t>
            </a:r>
            <a:r>
              <a:rPr lang="en-ID" sz="2000" dirty="0"/>
              <a:t> (</a:t>
            </a:r>
            <a:r>
              <a:rPr lang="en-ID" sz="2000" dirty="0" err="1"/>
              <a:t>disebut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b="1" dirty="0">
                <a:solidFill>
                  <a:srgbClr val="FFC000"/>
                </a:solidFill>
              </a:rPr>
              <a:t> universal</a:t>
            </a:r>
            <a:r>
              <a:rPr lang="en-ID" sz="2000" dirty="0"/>
              <a:t>).</a:t>
            </a:r>
          </a:p>
          <a:p>
            <a:pPr lvl="2"/>
            <a:r>
              <a:rPr lang="en-ID" sz="2000" dirty="0" err="1"/>
              <a:t>Normalisasi</a:t>
            </a:r>
            <a:r>
              <a:rPr lang="en-ID" sz="2000" dirty="0"/>
              <a:t> </a:t>
            </a:r>
            <a:r>
              <a:rPr lang="en-ID" sz="2000" dirty="0" err="1"/>
              <a:t>memecah</a:t>
            </a:r>
            <a:r>
              <a:rPr lang="en-ID" sz="2000" dirty="0"/>
              <a:t> </a:t>
            </a:r>
            <a:r>
              <a:rPr lang="en-ID" sz="2000" b="1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relasi-relasi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kecil</a:t>
            </a:r>
            <a:r>
              <a:rPr lang="en-ID" sz="2000" dirty="0"/>
              <a:t>.</a:t>
            </a:r>
          </a:p>
          <a:p>
            <a:pPr lvl="1"/>
            <a:r>
              <a:rPr lang="en-ID" sz="2000" b="1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</a:t>
            </a:r>
            <a:r>
              <a:rPr lang="en-ID" sz="2000" dirty="0" err="1"/>
              <a:t>hasil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beberapa</a:t>
            </a:r>
            <a:r>
              <a:rPr lang="en-ID" sz="2000" dirty="0"/>
              <a:t> </a:t>
            </a:r>
            <a:r>
              <a:rPr lang="en-ID" sz="2000" dirty="0" err="1"/>
              <a:t>desain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i="1" dirty="0"/>
              <a:t>ad hoc</a:t>
            </a:r>
            <a:r>
              <a:rPr lang="en-ID" sz="2000" dirty="0"/>
              <a:t>, yang </a:t>
            </a:r>
            <a:r>
              <a:rPr lang="en-ID" sz="2000" dirty="0" err="1"/>
              <a:t>kemudian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uji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konversi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normal.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2643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C5C3-C850-5941-2486-96FA0FDD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Model ER dan </a:t>
            </a:r>
            <a:r>
              <a:rPr lang="en-ID" b="1" dirty="0" err="1"/>
              <a:t>Normalisasi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37E55-1B0F-56A1-C2F1-36A3EB34D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63182"/>
          </a:xfrm>
        </p:spPr>
        <p:txBody>
          <a:bodyPr/>
          <a:lstStyle/>
          <a:p>
            <a:r>
              <a:rPr lang="en-ID" sz="1400" dirty="0"/>
              <a:t>Ketika </a:t>
            </a:r>
            <a:r>
              <a:rPr lang="en-ID" sz="1400" dirty="0" err="1"/>
              <a:t>sebuah</a:t>
            </a:r>
            <a:r>
              <a:rPr lang="en-ID" sz="1400" dirty="0"/>
              <a:t> diagram E-R </a:t>
            </a:r>
            <a:r>
              <a:rPr lang="en-ID" sz="1400" dirty="0" err="1"/>
              <a:t>dirancang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teliti</a:t>
            </a:r>
            <a:r>
              <a:rPr lang="en-ID" sz="1400" dirty="0"/>
              <a:t>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mengidentifikasi</a:t>
            </a:r>
            <a:r>
              <a:rPr lang="en-ID" sz="1400" dirty="0"/>
              <a:t>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benar</a:t>
            </a:r>
            <a:r>
              <a:rPr lang="en-ID" sz="1400" dirty="0"/>
              <a:t>, </a:t>
            </a:r>
            <a:r>
              <a:rPr lang="en-ID" sz="1400" dirty="0" err="1"/>
              <a:t>tabel-tabel</a:t>
            </a:r>
            <a:r>
              <a:rPr lang="en-ID" sz="1400" dirty="0"/>
              <a:t> yang </a:t>
            </a:r>
            <a:r>
              <a:rPr lang="en-ID" sz="1400" dirty="0" err="1"/>
              <a:t>dihasilkan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diagram E-R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seharusnya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memerlukan</a:t>
            </a:r>
            <a:r>
              <a:rPr lang="en-ID" sz="1400" dirty="0"/>
              <a:t> </a:t>
            </a:r>
            <a:r>
              <a:rPr lang="en-ID" sz="1400" dirty="0" err="1"/>
              <a:t>normalisasi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lanjut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Namun</a:t>
            </a:r>
            <a:r>
              <a:rPr lang="en-ID" sz="1400" dirty="0"/>
              <a:t>,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desain</a:t>
            </a:r>
            <a:r>
              <a:rPr lang="en-ID" sz="1400" dirty="0"/>
              <a:t> dunia </a:t>
            </a:r>
            <a:r>
              <a:rPr lang="en-ID" sz="1400" dirty="0" err="1"/>
              <a:t>nyata</a:t>
            </a:r>
            <a:r>
              <a:rPr lang="en-ID" sz="1400" dirty="0"/>
              <a:t> (yang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sempurna</a:t>
            </a:r>
            <a:r>
              <a:rPr lang="en-ID" sz="1400" dirty="0"/>
              <a:t>),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muncul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non-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lainnya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yang </a:t>
            </a:r>
            <a:r>
              <a:rPr lang="en-ID" sz="1400" dirty="0" err="1"/>
              <a:t>sama</a:t>
            </a:r>
            <a:r>
              <a:rPr lang="en-ID" sz="1400" dirty="0"/>
              <a:t>.</a:t>
            </a:r>
          </a:p>
          <a:p>
            <a:pPr lvl="1"/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i="1" dirty="0"/>
              <a:t>employee</a:t>
            </a:r>
            <a:r>
              <a:rPr lang="en-ID" sz="1400" dirty="0"/>
              <a:t> (</a:t>
            </a:r>
            <a:r>
              <a:rPr lang="en-ID" sz="1400" dirty="0" err="1"/>
              <a:t>karyawan</a:t>
            </a:r>
            <a:r>
              <a:rPr lang="en-ID" sz="1400" dirty="0"/>
              <a:t>)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i="1" dirty="0" err="1"/>
              <a:t>department_name</a:t>
            </a:r>
            <a:r>
              <a:rPr lang="en-ID" sz="1400" dirty="0"/>
              <a:t> (nama </a:t>
            </a:r>
            <a:r>
              <a:rPr lang="en-ID" sz="1400" dirty="0" err="1"/>
              <a:t>departemen</a:t>
            </a:r>
            <a:r>
              <a:rPr lang="en-ID" sz="1400" dirty="0"/>
              <a:t>) dan </a:t>
            </a:r>
            <a:r>
              <a:rPr lang="en-ID" sz="1400" i="1" dirty="0"/>
              <a:t>building</a:t>
            </a:r>
            <a:r>
              <a:rPr lang="en-ID" sz="1400" dirty="0"/>
              <a:t> (</a:t>
            </a:r>
            <a:r>
              <a:rPr lang="en-ID" sz="1400" dirty="0" err="1"/>
              <a:t>gedung</a:t>
            </a:r>
            <a:r>
              <a:rPr lang="en-ID" sz="1400" dirty="0"/>
              <a:t>),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:</a:t>
            </a:r>
          </a:p>
          <a:p>
            <a:pPr lvl="1"/>
            <a:r>
              <a:rPr lang="en-US" sz="1400" b="1" i="1" dirty="0" err="1">
                <a:solidFill>
                  <a:srgbClr val="FFC000"/>
                </a:solidFill>
              </a:rPr>
              <a:t>department_name</a:t>
            </a:r>
            <a:r>
              <a:rPr lang="en-US" sz="1400" b="1" i="1" dirty="0">
                <a:solidFill>
                  <a:srgbClr val="FFC000"/>
                </a:solidFill>
              </a:rPr>
              <a:t>→ building</a:t>
            </a:r>
            <a:endParaRPr lang="en-ID" sz="1400" b="1" dirty="0">
              <a:solidFill>
                <a:srgbClr val="FFC000"/>
              </a:solidFill>
            </a:endParaRPr>
          </a:p>
          <a:p>
            <a:pPr lvl="1"/>
            <a:r>
              <a:rPr lang="en-ID" sz="1400" dirty="0"/>
              <a:t>Desain yang </a:t>
            </a:r>
            <a:r>
              <a:rPr lang="en-ID" sz="1400" dirty="0" err="1"/>
              <a:t>baik</a:t>
            </a:r>
            <a:r>
              <a:rPr lang="en-ID" sz="1400" dirty="0"/>
              <a:t> </a:t>
            </a:r>
            <a:r>
              <a:rPr lang="en-ID" sz="1400" dirty="0" err="1"/>
              <a:t>seharusnya</a:t>
            </a:r>
            <a:r>
              <a:rPr lang="en-ID" sz="1400" dirty="0"/>
              <a:t> </a:t>
            </a:r>
            <a:r>
              <a:rPr lang="en-ID" sz="1400" dirty="0" err="1"/>
              <a:t>menjadikan</a:t>
            </a:r>
            <a:r>
              <a:rPr lang="en-ID" sz="1400" dirty="0"/>
              <a:t> </a:t>
            </a:r>
            <a:r>
              <a:rPr lang="en-ID" sz="1400" i="1" dirty="0"/>
              <a:t>department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entitas</a:t>
            </a:r>
            <a:r>
              <a:rPr lang="en-ID" sz="1400" dirty="0"/>
              <a:t> </a:t>
            </a:r>
            <a:r>
              <a:rPr lang="en-ID" sz="1400" dirty="0" err="1"/>
              <a:t>tersendiri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non-</a:t>
            </a:r>
            <a:r>
              <a:rPr lang="en-ID" sz="1400" dirty="0" err="1"/>
              <a:t>kunci</a:t>
            </a:r>
            <a:r>
              <a:rPr lang="en-ID" sz="1400" dirty="0"/>
              <a:t> pada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i="1" dirty="0"/>
              <a:t>relationship set</a:t>
            </a:r>
            <a:r>
              <a:rPr lang="en-ID" sz="1400" dirty="0"/>
              <a:t> (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) </a:t>
            </a:r>
            <a:r>
              <a:rPr lang="en-ID" sz="1400" dirty="0" err="1"/>
              <a:t>mungkin</a:t>
            </a:r>
            <a:r>
              <a:rPr lang="en-ID" sz="1400" dirty="0"/>
              <a:t> </a:t>
            </a:r>
            <a:r>
              <a:rPr lang="en-ID" sz="1400" dirty="0" err="1"/>
              <a:t>saja</a:t>
            </a:r>
            <a:r>
              <a:rPr lang="en-ID" sz="1400" dirty="0"/>
              <a:t> </a:t>
            </a:r>
            <a:r>
              <a:rPr lang="en-ID" sz="1400" dirty="0" err="1"/>
              <a:t>terjadi</a:t>
            </a:r>
            <a:r>
              <a:rPr lang="en-ID" sz="1400" dirty="0"/>
              <a:t>, </a:t>
            </a:r>
            <a:r>
              <a:rPr lang="en-ID" sz="1400" dirty="0" err="1"/>
              <a:t>namun</a:t>
            </a:r>
            <a:r>
              <a:rPr lang="en-ID" sz="1400" dirty="0"/>
              <a:t> </a:t>
            </a:r>
            <a:r>
              <a:rPr lang="en-ID" sz="1400" dirty="0" err="1"/>
              <a:t>jarang</a:t>
            </a:r>
            <a:r>
              <a:rPr lang="en-ID" sz="1400" dirty="0"/>
              <a:t>—</a:t>
            </a:r>
            <a:r>
              <a:rPr lang="en-ID" sz="1400" dirty="0" err="1"/>
              <a:t>mengingat</a:t>
            </a:r>
            <a:r>
              <a:rPr lang="en-ID" sz="1400" dirty="0"/>
              <a:t> </a:t>
            </a:r>
            <a:r>
              <a:rPr lang="en-ID" sz="1400" dirty="0" err="1"/>
              <a:t>sebagian</a:t>
            </a:r>
            <a:r>
              <a:rPr lang="en-ID" sz="1400" dirty="0"/>
              <a:t> </a:t>
            </a:r>
            <a:r>
              <a:rPr lang="en-ID" sz="1400" dirty="0" err="1"/>
              <a:t>besar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biner.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96854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FD07-14D2-4000-F2E5-419E0CBF0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Denormalisasi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Performa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5E499-68C1-C2CD-5895-50969BF14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760757"/>
          </a:xfrm>
        </p:spPr>
        <p:txBody>
          <a:bodyPr/>
          <a:lstStyle/>
          <a:p>
            <a:r>
              <a:rPr lang="en-ID" sz="1400" dirty="0"/>
              <a:t>Ada </a:t>
            </a:r>
            <a:r>
              <a:rPr lang="en-ID" sz="1400" dirty="0" err="1"/>
              <a:t>kalanya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ingin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yang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ternormalisasi</a:t>
            </a:r>
            <a:r>
              <a:rPr lang="en-ID" sz="1400" dirty="0"/>
              <a:t> demi </a:t>
            </a:r>
            <a:r>
              <a:rPr lang="en-ID" sz="1400" dirty="0" err="1"/>
              <a:t>alasan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92D050"/>
                </a:solidFill>
              </a:rPr>
              <a:t>performa</a:t>
            </a:r>
            <a:r>
              <a:rPr lang="en-ID" sz="1400" dirty="0"/>
              <a:t>.</a:t>
            </a:r>
          </a:p>
          <a:p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Menampilkan</a:t>
            </a:r>
            <a:r>
              <a:rPr lang="en-ID" sz="1400" dirty="0"/>
              <a:t> data </a:t>
            </a:r>
            <a:r>
              <a:rPr lang="en-ID" sz="1400" dirty="0" err="1"/>
              <a:t>prasyarat</a:t>
            </a:r>
            <a:r>
              <a:rPr lang="en-ID" sz="1400" dirty="0"/>
              <a:t> (</a:t>
            </a:r>
            <a:r>
              <a:rPr lang="en-ID" sz="1400" i="1" dirty="0" err="1"/>
              <a:t>prereqs</a:t>
            </a:r>
            <a:r>
              <a:rPr lang="en-ID" sz="1400" dirty="0"/>
              <a:t>) </a:t>
            </a:r>
            <a:r>
              <a:rPr lang="en-ID" sz="1400" dirty="0" err="1"/>
              <a:t>bersama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course_id</a:t>
            </a:r>
            <a:r>
              <a:rPr lang="en-ID" sz="1400" dirty="0"/>
              <a:t> dan </a:t>
            </a:r>
            <a:r>
              <a:rPr lang="en-ID" sz="1400" b="1" i="1" dirty="0">
                <a:solidFill>
                  <a:srgbClr val="FFC000"/>
                </a:solidFill>
              </a:rPr>
              <a:t>title</a:t>
            </a:r>
            <a:r>
              <a:rPr lang="en-ID" sz="1400" dirty="0"/>
              <a:t> </a:t>
            </a:r>
            <a:r>
              <a:rPr lang="en-ID" sz="1400" dirty="0" err="1"/>
              <a:t>membutuhkan</a:t>
            </a:r>
            <a:r>
              <a:rPr lang="en-ID" sz="1400" dirty="0"/>
              <a:t> </a:t>
            </a:r>
            <a:r>
              <a:rPr lang="en-ID" sz="1400" dirty="0" err="1"/>
              <a:t>operasi</a:t>
            </a:r>
            <a:r>
              <a:rPr lang="en-ID" sz="1400" dirty="0"/>
              <a:t> </a:t>
            </a:r>
            <a:r>
              <a:rPr lang="en-ID" sz="1400" dirty="0" err="1"/>
              <a:t>penggabungan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join</a:t>
            </a:r>
            <a:r>
              <a:rPr lang="en-ID" sz="1400" dirty="0"/>
              <a:t>) </a:t>
            </a:r>
            <a:r>
              <a:rPr lang="en-ID" sz="1400" dirty="0" err="1"/>
              <a:t>antara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course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prereq</a:t>
            </a:r>
            <a:r>
              <a:rPr lang="en-ID" sz="1400" dirty="0"/>
              <a:t>.</a:t>
            </a:r>
          </a:p>
          <a:p>
            <a:r>
              <a:rPr lang="en-ID" sz="1400" b="1" dirty="0" err="1"/>
              <a:t>Alternatif</a:t>
            </a:r>
            <a:r>
              <a:rPr lang="en-ID" sz="1400" b="1" dirty="0"/>
              <a:t> 1: </a:t>
            </a: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dirty="0" err="1"/>
              <a:t>relasi</a:t>
            </a:r>
            <a:r>
              <a:rPr lang="en-ID" sz="1400" b="1" dirty="0"/>
              <a:t> yang </a:t>
            </a:r>
            <a:r>
              <a:rPr lang="en-ID" sz="1400" b="1" dirty="0" err="1">
                <a:solidFill>
                  <a:srgbClr val="FFC000"/>
                </a:solidFill>
              </a:rPr>
              <a:t>didenormalisasi</a:t>
            </a:r>
            <a:r>
              <a:rPr lang="en-ID" sz="1400" dirty="0"/>
              <a:t> yang </a:t>
            </a:r>
            <a:r>
              <a:rPr lang="en-ID" sz="1400" dirty="0" err="1"/>
              <a:t>berisi</a:t>
            </a:r>
            <a:r>
              <a:rPr lang="en-ID" sz="1400" dirty="0"/>
              <a:t> </a:t>
            </a:r>
            <a:r>
              <a:rPr lang="en-ID" sz="1400" dirty="0" err="1"/>
              <a:t>atribut-atribut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i="1" dirty="0"/>
              <a:t>course</a:t>
            </a:r>
            <a:r>
              <a:rPr lang="en-ID" sz="1400" dirty="0"/>
              <a:t> </a:t>
            </a:r>
            <a:r>
              <a:rPr lang="en-ID" sz="1400" dirty="0" err="1"/>
              <a:t>sekaligus</a:t>
            </a:r>
            <a:r>
              <a:rPr lang="en-ID" sz="1400" dirty="0"/>
              <a:t> </a:t>
            </a:r>
            <a:r>
              <a:rPr lang="en-ID" sz="1400" i="1" dirty="0" err="1"/>
              <a:t>prereq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Pencarian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lookup</a:t>
            </a:r>
            <a:r>
              <a:rPr lang="en-ID" sz="1400" dirty="0"/>
              <a:t>)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cepat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Membutuhkan</a:t>
            </a:r>
            <a:r>
              <a:rPr lang="en-ID" sz="1400" dirty="0"/>
              <a:t> </a:t>
            </a:r>
            <a:r>
              <a:rPr lang="en-ID" sz="1400" dirty="0" err="1"/>
              <a:t>ruang</a:t>
            </a:r>
            <a:r>
              <a:rPr lang="en-ID" sz="1400" dirty="0"/>
              <a:t> </a:t>
            </a:r>
            <a:r>
              <a:rPr lang="en-ID" sz="1400" dirty="0" err="1"/>
              <a:t>penyimpanan</a:t>
            </a:r>
            <a:r>
              <a:rPr lang="en-ID" sz="1400" dirty="0"/>
              <a:t> </a:t>
            </a:r>
            <a:r>
              <a:rPr lang="en-ID" sz="1400" dirty="0" err="1"/>
              <a:t>tambahan</a:t>
            </a:r>
            <a:r>
              <a:rPr lang="en-ID" sz="1400" dirty="0"/>
              <a:t> dan </a:t>
            </a:r>
            <a:r>
              <a:rPr lang="en-ID" sz="1400" dirty="0" err="1"/>
              <a:t>waktu</a:t>
            </a:r>
            <a:r>
              <a:rPr lang="en-ID" sz="1400" dirty="0"/>
              <a:t> </a:t>
            </a:r>
            <a:r>
              <a:rPr lang="en-ID" sz="1400" dirty="0" err="1"/>
              <a:t>eksekusi</a:t>
            </a:r>
            <a:r>
              <a:rPr lang="en-ID" sz="1400" dirty="0"/>
              <a:t> </a:t>
            </a:r>
            <a:r>
              <a:rPr lang="en-ID" sz="1400" dirty="0" err="1"/>
              <a:t>ekstra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proses </a:t>
            </a:r>
            <a:r>
              <a:rPr lang="en-ID" sz="1400" dirty="0" err="1"/>
              <a:t>pembaruan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updates</a:t>
            </a:r>
            <a:r>
              <a:rPr lang="en-ID" sz="1400" dirty="0"/>
              <a:t>).</a:t>
            </a:r>
          </a:p>
          <a:p>
            <a:pPr lvl="1"/>
            <a:r>
              <a:rPr lang="en-ID" sz="1400" dirty="0"/>
              <a:t>Beban </a:t>
            </a:r>
            <a:r>
              <a:rPr lang="en-ID" sz="1400" dirty="0" err="1"/>
              <a:t>kerja</a:t>
            </a:r>
            <a:r>
              <a:rPr lang="en-ID" sz="1400" dirty="0"/>
              <a:t> </a:t>
            </a:r>
            <a:r>
              <a:rPr lang="en-ID" sz="1400" dirty="0" err="1"/>
              <a:t>pemrograman</a:t>
            </a:r>
            <a:r>
              <a:rPr lang="en-ID" sz="1400" dirty="0"/>
              <a:t> </a:t>
            </a:r>
            <a:r>
              <a:rPr lang="en-ID" sz="1400" dirty="0" err="1"/>
              <a:t>bertambah</a:t>
            </a:r>
            <a:r>
              <a:rPr lang="en-ID" sz="1400" dirty="0"/>
              <a:t> </a:t>
            </a:r>
            <a:r>
              <a:rPr lang="en-ID" sz="1400" dirty="0" err="1"/>
              <a:t>bagi</a:t>
            </a:r>
            <a:r>
              <a:rPr lang="en-ID" sz="1400" dirty="0"/>
              <a:t> </a:t>
            </a:r>
            <a:r>
              <a:rPr lang="en-ID" sz="1400" dirty="0" err="1"/>
              <a:t>pemrogram</a:t>
            </a:r>
            <a:r>
              <a:rPr lang="en-ID" sz="1400" dirty="0"/>
              <a:t> dan </a:t>
            </a:r>
            <a:r>
              <a:rPr lang="en-ID" sz="1400" dirty="0" err="1"/>
              <a:t>adanya</a:t>
            </a:r>
            <a:r>
              <a:rPr lang="en-ID" sz="1400" dirty="0"/>
              <a:t> </a:t>
            </a:r>
            <a:r>
              <a:rPr lang="en-ID" sz="1400" dirty="0" err="1"/>
              <a:t>kemungkinan</a:t>
            </a:r>
            <a:r>
              <a:rPr lang="en-ID" sz="1400" dirty="0"/>
              <a:t> </a:t>
            </a:r>
            <a:r>
              <a:rPr lang="en-ID" sz="1400" dirty="0" err="1"/>
              <a:t>kesalahan</a:t>
            </a:r>
            <a:r>
              <a:rPr lang="en-ID" sz="1400" dirty="0"/>
              <a:t> pada </a:t>
            </a:r>
            <a:r>
              <a:rPr lang="en-ID" sz="1400" dirty="0" err="1"/>
              <a:t>kode</a:t>
            </a:r>
            <a:r>
              <a:rPr lang="en-ID" sz="1400" dirty="0"/>
              <a:t> </a:t>
            </a:r>
            <a:r>
              <a:rPr lang="en-ID" sz="1400" dirty="0" err="1"/>
              <a:t>tambahan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.</a:t>
            </a:r>
          </a:p>
          <a:p>
            <a:r>
              <a:rPr lang="en-ID" sz="1400" b="1" dirty="0" err="1"/>
              <a:t>Alternatif</a:t>
            </a:r>
            <a:r>
              <a:rPr lang="en-ID" sz="1400" b="1" dirty="0"/>
              <a:t> 2: </a:t>
            </a: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materialized view</a:t>
            </a:r>
            <a:r>
              <a:rPr lang="en-ID" sz="1400" b="1" dirty="0"/>
              <a:t> yang </a:t>
            </a:r>
            <a:r>
              <a:rPr lang="en-ID" sz="1400" b="1" dirty="0" err="1"/>
              <a:t>didefinisikan</a:t>
            </a:r>
            <a:r>
              <a:rPr lang="en-ID" sz="1400" b="1" dirty="0"/>
              <a:t> </a:t>
            </a:r>
            <a:r>
              <a:rPr lang="en-ID" sz="1400" b="1" dirty="0" err="1"/>
              <a:t>sebagai</a:t>
            </a:r>
            <a:r>
              <a:rPr lang="en-ID" sz="1400" b="1" dirty="0"/>
              <a:t>:</a:t>
            </a:r>
            <a:endParaRPr lang="en-ID" sz="1400" dirty="0"/>
          </a:p>
          <a:p>
            <a:r>
              <a:rPr lang="en-ID" sz="1400" b="1" dirty="0">
                <a:solidFill>
                  <a:srgbClr val="FFC000"/>
                </a:solidFill>
              </a:rPr>
              <a:t>course</a:t>
            </a:r>
            <a:r>
              <a:rPr lang="en-ID" sz="1400" b="1" dirty="0"/>
              <a:t>       </a:t>
            </a:r>
            <a:r>
              <a:rPr lang="en-ID" sz="1400" b="1" dirty="0" err="1">
                <a:solidFill>
                  <a:srgbClr val="FFC000"/>
                </a:solidFill>
              </a:rPr>
              <a:t>prereq</a:t>
            </a:r>
            <a:endParaRPr lang="en-ID" sz="1400" b="1" dirty="0">
              <a:solidFill>
                <a:srgbClr val="FFC000"/>
              </a:solidFill>
            </a:endParaRPr>
          </a:p>
          <a:p>
            <a:pPr lvl="1"/>
            <a:r>
              <a:rPr lang="en-ID" sz="1400" dirty="0" err="1"/>
              <a:t>Keuntungan</a:t>
            </a:r>
            <a:r>
              <a:rPr lang="en-ID" sz="1400" dirty="0"/>
              <a:t> dan </a:t>
            </a:r>
            <a:r>
              <a:rPr lang="en-ID" sz="1400" dirty="0" err="1"/>
              <a:t>kekurangannya</a:t>
            </a:r>
            <a:r>
              <a:rPr lang="en-ID" sz="1400" dirty="0"/>
              <a:t> </a:t>
            </a:r>
            <a:r>
              <a:rPr lang="en-ID" sz="1400" dirty="0" err="1"/>
              <a:t>sama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, </a:t>
            </a:r>
            <a:r>
              <a:rPr lang="en-ID" sz="1400" dirty="0" err="1"/>
              <a:t>kecuali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ada</a:t>
            </a:r>
            <a:r>
              <a:rPr lang="en-ID" sz="1400" dirty="0"/>
              <a:t> </a:t>
            </a:r>
            <a:r>
              <a:rPr lang="en-ID" sz="1400" dirty="0" err="1"/>
              <a:t>beban</a:t>
            </a:r>
            <a:r>
              <a:rPr lang="en-ID" sz="1400" dirty="0"/>
              <a:t> </a:t>
            </a:r>
            <a:r>
              <a:rPr lang="en-ID" sz="1400" dirty="0" err="1"/>
              <a:t>kerja</a:t>
            </a:r>
            <a:r>
              <a:rPr lang="en-ID" sz="1400" dirty="0"/>
              <a:t> </a:t>
            </a:r>
            <a:r>
              <a:rPr lang="en-ID" sz="1400" dirty="0" err="1"/>
              <a:t>pemrograman</a:t>
            </a:r>
            <a:r>
              <a:rPr lang="en-ID" sz="1400" dirty="0"/>
              <a:t> </a:t>
            </a:r>
            <a:r>
              <a:rPr lang="en-ID" sz="1400" dirty="0" err="1"/>
              <a:t>tambahan</a:t>
            </a:r>
            <a:r>
              <a:rPr lang="en-ID" sz="1400" dirty="0"/>
              <a:t> </a:t>
            </a:r>
            <a:r>
              <a:rPr lang="en-ID" sz="1400" dirty="0" err="1"/>
              <a:t>bagi</a:t>
            </a:r>
            <a:r>
              <a:rPr lang="en-ID" sz="1400" dirty="0"/>
              <a:t> </a:t>
            </a:r>
            <a:r>
              <a:rPr lang="en-ID" sz="1400" dirty="0" err="1"/>
              <a:t>pemrogram</a:t>
            </a:r>
            <a:r>
              <a:rPr lang="en-ID" sz="1400" dirty="0"/>
              <a:t> dan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menghindari</a:t>
            </a:r>
            <a:r>
              <a:rPr lang="en-ID" sz="1400" dirty="0"/>
              <a:t> </a:t>
            </a:r>
            <a:r>
              <a:rPr lang="en-ID" sz="1400" dirty="0" err="1"/>
              <a:t>potensi</a:t>
            </a:r>
            <a:r>
              <a:rPr lang="en-ID" sz="1400" dirty="0"/>
              <a:t> </a:t>
            </a:r>
            <a:r>
              <a:rPr lang="en-ID" sz="1400" dirty="0" err="1"/>
              <a:t>kesalahan</a:t>
            </a:r>
            <a:r>
              <a:rPr lang="en-ID" sz="1400" dirty="0"/>
              <a:t> </a:t>
            </a:r>
            <a:r>
              <a:rPr lang="en-ID" sz="1400" dirty="0" err="1"/>
              <a:t>kode</a:t>
            </a:r>
            <a:r>
              <a:rPr lang="en-ID" sz="1400" dirty="0"/>
              <a:t>.</a:t>
            </a:r>
          </a:p>
          <a:p>
            <a:pPr marL="152400" indent="0">
              <a:buNone/>
            </a:pPr>
            <a:br>
              <a:rPr lang="en-ID" sz="1400" dirty="0"/>
            </a:br>
            <a:endParaRPr lang="en-ID" sz="1400" dirty="0"/>
          </a:p>
          <a:p>
            <a:endParaRPr lang="en-US" sz="1400" dirty="0"/>
          </a:p>
        </p:txBody>
      </p:sp>
      <p:sp>
        <p:nvSpPr>
          <p:cNvPr id="4" name="Google Shape;794;p66">
            <a:extLst>
              <a:ext uri="{FF2B5EF4-FFF2-40B4-BE49-F238E27FC236}">
                <a16:creationId xmlns:a16="http://schemas.microsoft.com/office/drawing/2014/main" id="{715174C8-5363-5F28-6D2A-BE4155DEDBF7}"/>
              </a:ext>
            </a:extLst>
          </p:cNvPr>
          <p:cNvSpPr/>
          <p:nvPr/>
        </p:nvSpPr>
        <p:spPr>
          <a:xfrm>
            <a:off x="1901462" y="375011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82" h="182" extrusionOk="0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127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63403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0150-05FE-8183-B8DC-28804D27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Masalah</a:t>
            </a:r>
            <a:r>
              <a:rPr lang="en-ID" b="1" dirty="0"/>
              <a:t> Desain </a:t>
            </a:r>
            <a:r>
              <a:rPr lang="en-ID" b="1" dirty="0" err="1"/>
              <a:t>Lainnya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368F8-EC8C-9710-A1FD-F71D77C5B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38905"/>
          </a:xfrm>
        </p:spPr>
        <p:txBody>
          <a:bodyPr/>
          <a:lstStyle/>
          <a:p>
            <a:r>
              <a:rPr lang="en-ID" sz="1500" dirty="0" err="1"/>
              <a:t>Beberapa</a:t>
            </a:r>
            <a:r>
              <a:rPr lang="en-ID" sz="1500" dirty="0"/>
              <a:t> </a:t>
            </a:r>
            <a:r>
              <a:rPr lang="en-ID" sz="1500" dirty="0" err="1"/>
              <a:t>aspek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dirty="0" err="1"/>
              <a:t>desain</a:t>
            </a:r>
            <a:r>
              <a:rPr lang="en-ID" sz="1500" dirty="0"/>
              <a:t> basis data </a:t>
            </a:r>
            <a:r>
              <a:rPr lang="en-ID" sz="1500" dirty="0" err="1"/>
              <a:t>tidak</a:t>
            </a:r>
            <a:r>
              <a:rPr lang="en-ID" sz="1500" dirty="0"/>
              <a:t> </a:t>
            </a:r>
            <a:r>
              <a:rPr lang="en-ID" sz="1500" dirty="0" err="1"/>
              <a:t>dapat</a:t>
            </a:r>
            <a:r>
              <a:rPr lang="en-ID" sz="1500" dirty="0"/>
              <a:t> </a:t>
            </a:r>
            <a:r>
              <a:rPr lang="en-ID" sz="1500" dirty="0" err="1"/>
              <a:t>ditangani</a:t>
            </a:r>
            <a:r>
              <a:rPr lang="en-ID" sz="1500" dirty="0"/>
              <a:t> </a:t>
            </a:r>
            <a:r>
              <a:rPr lang="en-ID" sz="1500" dirty="0" err="1"/>
              <a:t>hanya</a:t>
            </a:r>
            <a:r>
              <a:rPr lang="en-ID" sz="1500" dirty="0"/>
              <a:t> </a:t>
            </a:r>
            <a:r>
              <a:rPr lang="en-ID" sz="1500" dirty="0" err="1"/>
              <a:t>dengan</a:t>
            </a:r>
            <a:r>
              <a:rPr lang="en-ID" sz="1500" dirty="0"/>
              <a:t> </a:t>
            </a:r>
            <a:r>
              <a:rPr lang="en-ID" sz="1500" dirty="0" err="1"/>
              <a:t>normalisasi</a:t>
            </a:r>
            <a:r>
              <a:rPr lang="en-ID" sz="1500" dirty="0"/>
              <a:t>.</a:t>
            </a:r>
          </a:p>
          <a:p>
            <a:r>
              <a:rPr lang="en-ID" sz="1500" b="1" dirty="0" err="1"/>
              <a:t>Contoh</a:t>
            </a:r>
            <a:r>
              <a:rPr lang="en-ID" sz="1500" b="1" dirty="0"/>
              <a:t> </a:t>
            </a:r>
            <a:r>
              <a:rPr lang="en-ID" sz="1500" b="1" dirty="0" err="1"/>
              <a:t>desain</a:t>
            </a:r>
            <a:r>
              <a:rPr lang="en-ID" sz="1500" b="1" dirty="0"/>
              <a:t> basis data yang </a:t>
            </a:r>
            <a:r>
              <a:rPr lang="en-ID" sz="1500" b="1" dirty="0" err="1">
                <a:solidFill>
                  <a:srgbClr val="FF0000"/>
                </a:solidFill>
              </a:rPr>
              <a:t>buruk</a:t>
            </a:r>
            <a:r>
              <a:rPr lang="en-ID" sz="1500" b="1" dirty="0"/>
              <a:t> dan </a:t>
            </a:r>
            <a:r>
              <a:rPr lang="en-ID" sz="1500" b="1" dirty="0" err="1"/>
              <a:t>harus</a:t>
            </a:r>
            <a:r>
              <a:rPr lang="en-ID" sz="1500" b="1" dirty="0"/>
              <a:t> </a:t>
            </a:r>
            <a:r>
              <a:rPr lang="en-ID" sz="1500" b="1" dirty="0" err="1">
                <a:solidFill>
                  <a:srgbClr val="92D050"/>
                </a:solidFill>
              </a:rPr>
              <a:t>dihindari</a:t>
            </a:r>
            <a:r>
              <a:rPr lang="en-ID" sz="1500" b="1" dirty="0"/>
              <a:t>:</a:t>
            </a:r>
            <a:r>
              <a:rPr lang="en-ID" sz="1500" dirty="0"/>
              <a:t> Alih-</a:t>
            </a:r>
            <a:r>
              <a:rPr lang="en-ID" sz="1500" dirty="0" err="1"/>
              <a:t>alih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format </a:t>
            </a:r>
            <a:r>
              <a:rPr lang="en-ID" sz="1500" b="1" dirty="0">
                <a:solidFill>
                  <a:srgbClr val="FFC000"/>
                </a:solidFill>
              </a:rPr>
              <a:t>earnings</a:t>
            </a:r>
            <a:r>
              <a:rPr lang="en-ID" sz="1500" dirty="0"/>
              <a:t> (</a:t>
            </a:r>
            <a:r>
              <a:rPr lang="en-ID" sz="1500" b="1" i="1" dirty="0" err="1">
                <a:solidFill>
                  <a:srgbClr val="FFC000"/>
                </a:solidFill>
              </a:rPr>
              <a:t>company_id</a:t>
            </a:r>
            <a:r>
              <a:rPr lang="en-ID" sz="1500" b="1" i="1" dirty="0">
                <a:solidFill>
                  <a:srgbClr val="FFC000"/>
                </a:solidFill>
              </a:rPr>
              <a:t>, year, amount</a:t>
            </a:r>
            <a:r>
              <a:rPr lang="en-ID" sz="1500" dirty="0"/>
              <a:t>), </a:t>
            </a:r>
            <a:r>
              <a:rPr lang="en-ID" sz="1500" dirty="0" err="1"/>
              <a:t>hindari</a:t>
            </a:r>
            <a:r>
              <a:rPr lang="en-ID" sz="1500" dirty="0"/>
              <a:t> </a:t>
            </a:r>
            <a:r>
              <a:rPr lang="en-ID" sz="1500" dirty="0" err="1"/>
              <a:t>penggunaan</a:t>
            </a:r>
            <a:r>
              <a:rPr lang="en-ID" sz="1500" dirty="0"/>
              <a:t>:</a:t>
            </a:r>
          </a:p>
          <a:p>
            <a:pPr lvl="1"/>
            <a:r>
              <a:rPr lang="en-ID" sz="1500" b="1" dirty="0">
                <a:solidFill>
                  <a:srgbClr val="FFC000"/>
                </a:solidFill>
              </a:rPr>
              <a:t>earnings_2004, earnings_2005, earnings_2006</a:t>
            </a:r>
            <a:r>
              <a:rPr lang="en-ID" sz="1500" dirty="0"/>
              <a:t>, </a:t>
            </a:r>
            <a:r>
              <a:rPr lang="en-ID" sz="1500" dirty="0" err="1"/>
              <a:t>dst</a:t>
            </a:r>
            <a:r>
              <a:rPr lang="en-ID" sz="1500" dirty="0"/>
              <a:t>., yang </a:t>
            </a:r>
            <a:r>
              <a:rPr lang="en-ID" sz="1500" dirty="0" err="1"/>
              <a:t>semuanya</a:t>
            </a:r>
            <a:r>
              <a:rPr lang="en-ID" sz="1500" dirty="0"/>
              <a:t> </a:t>
            </a:r>
            <a:r>
              <a:rPr lang="en-ID" sz="1500" dirty="0" err="1"/>
              <a:t>menggunakan</a:t>
            </a:r>
            <a:r>
              <a:rPr lang="en-ID" sz="1500" dirty="0"/>
              <a:t> </a:t>
            </a:r>
            <a:r>
              <a:rPr lang="en-ID" sz="1500" dirty="0" err="1"/>
              <a:t>skema</a:t>
            </a:r>
            <a:r>
              <a:rPr lang="en-ID" sz="1500" dirty="0"/>
              <a:t> (</a:t>
            </a:r>
            <a:r>
              <a:rPr lang="en-ID" sz="1500" b="1" i="1" dirty="0" err="1">
                <a:solidFill>
                  <a:srgbClr val="FFC000"/>
                </a:solidFill>
              </a:rPr>
              <a:t>company_id</a:t>
            </a:r>
            <a:r>
              <a:rPr lang="en-ID" sz="1500" b="1" i="1" dirty="0">
                <a:solidFill>
                  <a:srgbClr val="FFC000"/>
                </a:solidFill>
              </a:rPr>
              <a:t>, earnings</a:t>
            </a:r>
            <a:r>
              <a:rPr lang="en-ID" sz="1500" dirty="0"/>
              <a:t>).</a:t>
            </a:r>
          </a:p>
          <a:p>
            <a:pPr lvl="2"/>
            <a:r>
              <a:rPr lang="en-ID" sz="1500" dirty="0"/>
              <a:t>Format di </a:t>
            </a:r>
            <a:r>
              <a:rPr lang="en-ID" sz="1500" dirty="0" err="1"/>
              <a:t>atas</a:t>
            </a:r>
            <a:r>
              <a:rPr lang="en-ID" sz="1500" dirty="0"/>
              <a:t> </a:t>
            </a:r>
            <a:r>
              <a:rPr lang="en-ID" sz="1500" dirty="0" err="1"/>
              <a:t>memang</a:t>
            </a:r>
            <a:r>
              <a:rPr lang="en-ID" sz="1500" dirty="0"/>
              <a:t> </a:t>
            </a:r>
            <a:r>
              <a:rPr lang="en-ID" sz="1500" dirty="0" err="1"/>
              <a:t>memenuhi</a:t>
            </a:r>
            <a:r>
              <a:rPr lang="en-ID" sz="1500" dirty="0"/>
              <a:t> </a:t>
            </a:r>
            <a:r>
              <a:rPr lang="en-ID" sz="1500" b="1" dirty="0">
                <a:solidFill>
                  <a:srgbClr val="FFC000"/>
                </a:solidFill>
              </a:rPr>
              <a:t>BCNF</a:t>
            </a:r>
            <a:r>
              <a:rPr lang="en-ID" sz="1500" dirty="0"/>
              <a:t>, </a:t>
            </a:r>
            <a:r>
              <a:rPr lang="en-ID" sz="1500" dirty="0" err="1"/>
              <a:t>namun</a:t>
            </a:r>
            <a:r>
              <a:rPr lang="en-ID" sz="1500" dirty="0"/>
              <a:t> </a:t>
            </a:r>
            <a:r>
              <a:rPr lang="en-ID" sz="1500" dirty="0" err="1"/>
              <a:t>membuat</a:t>
            </a:r>
            <a:r>
              <a:rPr lang="en-ID" sz="1500" dirty="0"/>
              <a:t> </a:t>
            </a:r>
            <a:r>
              <a:rPr lang="en-ID" sz="1500" dirty="0" err="1"/>
              <a:t>kueri</a:t>
            </a:r>
            <a:r>
              <a:rPr lang="en-ID" sz="1500" dirty="0"/>
              <a:t> </a:t>
            </a:r>
            <a:r>
              <a:rPr lang="en-ID" sz="1500" dirty="0" err="1"/>
              <a:t>lintas</a:t>
            </a:r>
            <a:r>
              <a:rPr lang="en-ID" sz="1500" dirty="0"/>
              <a:t> </a:t>
            </a:r>
            <a:r>
              <a:rPr lang="en-ID" sz="1500" dirty="0" err="1"/>
              <a:t>tahun</a:t>
            </a:r>
            <a:r>
              <a:rPr lang="en-ID" sz="1500" dirty="0"/>
              <a:t> </a:t>
            </a:r>
            <a:r>
              <a:rPr lang="en-ID" sz="1500" dirty="0" err="1"/>
              <a:t>menjadi</a:t>
            </a:r>
            <a:r>
              <a:rPr lang="en-ID" sz="1500" dirty="0"/>
              <a:t> </a:t>
            </a:r>
            <a:r>
              <a:rPr lang="en-ID" sz="1500" dirty="0" err="1"/>
              <a:t>sulit</a:t>
            </a:r>
            <a:r>
              <a:rPr lang="en-ID" sz="1500" dirty="0"/>
              <a:t> dan </a:t>
            </a:r>
            <a:r>
              <a:rPr lang="en-ID" sz="1500" dirty="0" err="1"/>
              <a:t>membutuhkan</a:t>
            </a:r>
            <a:r>
              <a:rPr lang="en-ID" sz="1500" dirty="0"/>
              <a:t> </a:t>
            </a:r>
            <a:r>
              <a:rPr lang="en-ID" sz="1500" dirty="0" err="1"/>
              <a:t>pembuatan</a:t>
            </a:r>
            <a:r>
              <a:rPr lang="en-ID" sz="1500" dirty="0"/>
              <a:t> </a:t>
            </a:r>
            <a:r>
              <a:rPr lang="en-ID" sz="1500" dirty="0" err="1"/>
              <a:t>tabel</a:t>
            </a:r>
            <a:r>
              <a:rPr lang="en-ID" sz="1500" dirty="0"/>
              <a:t> </a:t>
            </a:r>
            <a:r>
              <a:rPr lang="en-ID" sz="1500" dirty="0" err="1"/>
              <a:t>baru</a:t>
            </a:r>
            <a:r>
              <a:rPr lang="en-ID" sz="1500" dirty="0"/>
              <a:t> </a:t>
            </a:r>
            <a:r>
              <a:rPr lang="en-ID" sz="1500" dirty="0" err="1"/>
              <a:t>setiap</a:t>
            </a:r>
            <a:r>
              <a:rPr lang="en-ID" sz="1500" dirty="0"/>
              <a:t> </a:t>
            </a:r>
            <a:r>
              <a:rPr lang="en-ID" sz="1500" dirty="0" err="1"/>
              <a:t>tahunnya</a:t>
            </a:r>
            <a:r>
              <a:rPr lang="en-ID" sz="1500" dirty="0"/>
              <a:t>.</a:t>
            </a:r>
          </a:p>
          <a:p>
            <a:pPr lvl="1"/>
            <a:r>
              <a:rPr lang="en-ID" sz="1500" b="1" dirty="0" err="1">
                <a:solidFill>
                  <a:srgbClr val="FFC000"/>
                </a:solidFill>
              </a:rPr>
              <a:t>company_year</a:t>
            </a:r>
            <a:r>
              <a:rPr lang="en-ID" sz="1500" b="1" dirty="0">
                <a:solidFill>
                  <a:srgbClr val="FFC000"/>
                </a:solidFill>
              </a:rPr>
              <a:t> (</a:t>
            </a:r>
            <a:r>
              <a:rPr lang="en-ID" sz="1500" b="1" i="1" dirty="0" err="1">
                <a:solidFill>
                  <a:srgbClr val="FFC000"/>
                </a:solidFill>
              </a:rPr>
              <a:t>company_id</a:t>
            </a:r>
            <a:r>
              <a:rPr lang="en-ID" sz="1500" b="1" i="1" dirty="0">
                <a:solidFill>
                  <a:srgbClr val="FFC000"/>
                </a:solidFill>
              </a:rPr>
              <a:t>, earnings_2004, earnings_2005, earnings_2006</a:t>
            </a:r>
            <a:r>
              <a:rPr lang="en-ID" sz="1500" b="1" dirty="0">
                <a:solidFill>
                  <a:srgbClr val="FFC000"/>
                </a:solidFill>
              </a:rPr>
              <a:t>)</a:t>
            </a:r>
            <a:r>
              <a:rPr lang="en-ID" sz="1500" dirty="0"/>
              <a:t>.</a:t>
            </a:r>
          </a:p>
          <a:p>
            <a:pPr lvl="2"/>
            <a:r>
              <a:rPr lang="en-ID" sz="1500" dirty="0"/>
              <a:t>Format </a:t>
            </a:r>
            <a:r>
              <a:rPr lang="en-ID" sz="1500" dirty="0" err="1"/>
              <a:t>ini</a:t>
            </a:r>
            <a:r>
              <a:rPr lang="en-ID" sz="1500" dirty="0"/>
              <a:t> juga </a:t>
            </a:r>
            <a:r>
              <a:rPr lang="en-ID" sz="1500" dirty="0" err="1"/>
              <a:t>memenuhi</a:t>
            </a:r>
            <a:r>
              <a:rPr lang="en-ID" sz="1500" dirty="0"/>
              <a:t> </a:t>
            </a:r>
            <a:r>
              <a:rPr lang="en-ID" sz="1500" b="1" dirty="0">
                <a:solidFill>
                  <a:srgbClr val="FFC000"/>
                </a:solidFill>
              </a:rPr>
              <a:t>BCNF</a:t>
            </a:r>
            <a:r>
              <a:rPr lang="en-ID" sz="1500" dirty="0"/>
              <a:t>, </a:t>
            </a:r>
            <a:r>
              <a:rPr lang="en-ID" sz="1500" dirty="0" err="1"/>
              <a:t>tetapi</a:t>
            </a:r>
            <a:r>
              <a:rPr lang="en-ID" sz="1500" dirty="0"/>
              <a:t> </a:t>
            </a:r>
            <a:r>
              <a:rPr lang="en-ID" sz="1500" dirty="0" err="1"/>
              <a:t>tetap</a:t>
            </a:r>
            <a:r>
              <a:rPr lang="en-ID" sz="1500" dirty="0"/>
              <a:t> </a:t>
            </a:r>
            <a:r>
              <a:rPr lang="en-ID" sz="1500" dirty="0" err="1"/>
              <a:t>menyulitkan</a:t>
            </a:r>
            <a:r>
              <a:rPr lang="en-ID" sz="1500" dirty="0"/>
              <a:t> </a:t>
            </a:r>
            <a:r>
              <a:rPr lang="en-ID" sz="1500" dirty="0" err="1"/>
              <a:t>kueri</a:t>
            </a:r>
            <a:r>
              <a:rPr lang="en-ID" sz="1500" dirty="0"/>
              <a:t> </a:t>
            </a:r>
            <a:r>
              <a:rPr lang="en-ID" sz="1500" dirty="0" err="1"/>
              <a:t>lintas</a:t>
            </a:r>
            <a:r>
              <a:rPr lang="en-ID" sz="1500" dirty="0"/>
              <a:t> </a:t>
            </a:r>
            <a:r>
              <a:rPr lang="en-ID" sz="1500" dirty="0" err="1"/>
              <a:t>tahun</a:t>
            </a:r>
            <a:r>
              <a:rPr lang="en-ID" sz="1500" dirty="0"/>
              <a:t> dan </a:t>
            </a:r>
            <a:r>
              <a:rPr lang="en-ID" sz="1500" dirty="0" err="1"/>
              <a:t>membutuhkan</a:t>
            </a:r>
            <a:r>
              <a:rPr lang="en-ID" sz="1500" dirty="0"/>
              <a:t> </a:t>
            </a:r>
            <a:r>
              <a:rPr lang="en-ID" sz="1500" dirty="0" err="1"/>
              <a:t>penambahan</a:t>
            </a:r>
            <a:r>
              <a:rPr lang="en-ID" sz="1500" dirty="0"/>
              <a:t> </a:t>
            </a:r>
            <a:r>
              <a:rPr lang="en-ID" sz="1500" dirty="0" err="1"/>
              <a:t>atribut</a:t>
            </a:r>
            <a:r>
              <a:rPr lang="en-ID" sz="1500" dirty="0"/>
              <a:t> </a:t>
            </a:r>
            <a:r>
              <a:rPr lang="en-ID" sz="1500" dirty="0" err="1"/>
              <a:t>baru</a:t>
            </a:r>
            <a:r>
              <a:rPr lang="en-ID" sz="1500" dirty="0"/>
              <a:t> </a:t>
            </a:r>
            <a:r>
              <a:rPr lang="en-ID" sz="1500" dirty="0" err="1"/>
              <a:t>setiap</a:t>
            </a:r>
            <a:r>
              <a:rPr lang="en-ID" sz="1500" dirty="0"/>
              <a:t> </a:t>
            </a:r>
            <a:r>
              <a:rPr lang="en-ID" sz="1500" dirty="0" err="1"/>
              <a:t>tahunnya</a:t>
            </a:r>
            <a:r>
              <a:rPr lang="en-ID" sz="1500" dirty="0"/>
              <a:t>.</a:t>
            </a:r>
          </a:p>
          <a:p>
            <a:pPr lvl="2"/>
            <a:r>
              <a:rPr lang="en-ID" sz="1500" dirty="0"/>
              <a:t>Ini </a:t>
            </a:r>
            <a:r>
              <a:rPr lang="en-ID" sz="1500" dirty="0" err="1"/>
              <a:t>merupakan</a:t>
            </a:r>
            <a:r>
              <a:rPr lang="en-ID" sz="1500" dirty="0"/>
              <a:t> </a:t>
            </a:r>
            <a:r>
              <a:rPr lang="en-ID" sz="1500" dirty="0" err="1"/>
              <a:t>contoh</a:t>
            </a:r>
            <a:r>
              <a:rPr lang="en-ID" sz="1500" dirty="0"/>
              <a:t> </a:t>
            </a:r>
            <a:r>
              <a:rPr lang="en-ID" sz="1500" dirty="0" err="1"/>
              <a:t>dari</a:t>
            </a:r>
            <a:r>
              <a:rPr lang="en-ID" sz="1500" dirty="0"/>
              <a:t> </a:t>
            </a:r>
            <a:r>
              <a:rPr lang="en-ID" sz="1500" b="1" i="1" dirty="0">
                <a:solidFill>
                  <a:srgbClr val="FFC000"/>
                </a:solidFill>
              </a:rPr>
              <a:t>crosstab</a:t>
            </a:r>
            <a:r>
              <a:rPr lang="en-ID" sz="1500" dirty="0"/>
              <a:t>, di mana </a:t>
            </a:r>
            <a:r>
              <a:rPr lang="en-ID" sz="1500" dirty="0" err="1"/>
              <a:t>nilai</a:t>
            </a:r>
            <a:r>
              <a:rPr lang="en-ID" sz="1500" dirty="0"/>
              <a:t> </a:t>
            </a:r>
            <a:r>
              <a:rPr lang="en-ID" sz="1500" dirty="0" err="1"/>
              <a:t>dari</a:t>
            </a:r>
            <a:r>
              <a:rPr lang="en-ID" sz="1500" dirty="0"/>
              <a:t> </a:t>
            </a:r>
            <a:r>
              <a:rPr lang="en-ID" sz="1500" dirty="0" err="1"/>
              <a:t>satu</a:t>
            </a:r>
            <a:r>
              <a:rPr lang="en-ID" sz="1500" dirty="0"/>
              <a:t> </a:t>
            </a:r>
            <a:r>
              <a:rPr lang="en-ID" sz="1500" dirty="0" err="1"/>
              <a:t>atribut</a:t>
            </a:r>
            <a:r>
              <a:rPr lang="en-ID" sz="1500" dirty="0"/>
              <a:t> </a:t>
            </a:r>
            <a:r>
              <a:rPr lang="en-ID" sz="1500" dirty="0" err="1"/>
              <a:t>dijadikan</a:t>
            </a:r>
            <a:r>
              <a:rPr lang="en-ID" sz="1500" dirty="0"/>
              <a:t> </a:t>
            </a:r>
            <a:r>
              <a:rPr lang="en-ID" sz="1500" dirty="0" err="1"/>
              <a:t>sebagai</a:t>
            </a:r>
            <a:r>
              <a:rPr lang="en-ID" sz="1500" dirty="0"/>
              <a:t> nama </a:t>
            </a:r>
            <a:r>
              <a:rPr lang="en-ID" sz="1500" dirty="0" err="1"/>
              <a:t>kolom</a:t>
            </a:r>
            <a:r>
              <a:rPr lang="en-ID" sz="1500" dirty="0"/>
              <a:t>.</a:t>
            </a:r>
          </a:p>
          <a:p>
            <a:pPr lvl="2"/>
            <a:r>
              <a:rPr lang="en-ID" sz="1500" dirty="0" err="1"/>
              <a:t>Umumnya</a:t>
            </a:r>
            <a:r>
              <a:rPr lang="en-ID" sz="1500" dirty="0"/>
              <a:t> </a:t>
            </a:r>
            <a:r>
              <a:rPr lang="en-ID" sz="1500" dirty="0" err="1"/>
              <a:t>digunakan</a:t>
            </a:r>
            <a:r>
              <a:rPr lang="en-ID" sz="1500" dirty="0"/>
              <a:t> </a:t>
            </a:r>
            <a:r>
              <a:rPr lang="en-ID" sz="1500" dirty="0" err="1"/>
              <a:t>dalam</a:t>
            </a:r>
            <a:r>
              <a:rPr lang="en-ID" sz="1500" dirty="0"/>
              <a:t> </a:t>
            </a:r>
            <a:r>
              <a:rPr lang="en-ID" sz="1500" b="1" i="1" dirty="0">
                <a:solidFill>
                  <a:srgbClr val="92D050"/>
                </a:solidFill>
              </a:rPr>
              <a:t>spreadsheet</a:t>
            </a:r>
            <a:r>
              <a:rPr lang="en-ID" sz="1500" dirty="0"/>
              <a:t> dan </a:t>
            </a:r>
            <a:r>
              <a:rPr lang="en-ID" sz="1500" dirty="0" err="1"/>
              <a:t>alat</a:t>
            </a:r>
            <a:r>
              <a:rPr lang="en-ID" sz="1500" dirty="0"/>
              <a:t> </a:t>
            </a:r>
            <a:r>
              <a:rPr lang="en-ID" sz="1500" dirty="0" err="1"/>
              <a:t>analisis</a:t>
            </a:r>
            <a:r>
              <a:rPr lang="en-ID" sz="1500" dirty="0"/>
              <a:t> data.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290891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276F2-9B43-12EB-6A76-348FF5FA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Keempat</a:t>
            </a:r>
            <a:r>
              <a:rPr lang="en-ID" b="1" dirty="0"/>
              <a:t> (4NF)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20DA-14BB-A8ED-FE55-26A0B215E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083424"/>
          </a:xfrm>
        </p:spPr>
        <p:txBody>
          <a:bodyPr/>
          <a:lstStyle/>
          <a:p>
            <a:r>
              <a:rPr lang="en-ID" sz="1600" b="1" dirty="0" err="1">
                <a:solidFill>
                  <a:srgbClr val="FFC000"/>
                </a:solidFill>
              </a:rPr>
              <a:t>Bentuk</a:t>
            </a:r>
            <a:r>
              <a:rPr lang="en-ID" sz="1600" b="1" dirty="0">
                <a:solidFill>
                  <a:srgbClr val="FFC000"/>
                </a:solidFill>
              </a:rPr>
              <a:t> Normal </a:t>
            </a:r>
            <a:r>
              <a:rPr lang="en-ID" sz="1600" b="1" dirty="0" err="1">
                <a:solidFill>
                  <a:srgbClr val="FFC000"/>
                </a:solidFill>
              </a:rPr>
              <a:t>Keempat</a:t>
            </a:r>
            <a:r>
              <a:rPr lang="en-ID" sz="1600" b="1" dirty="0">
                <a:solidFill>
                  <a:srgbClr val="FFC000"/>
                </a:solidFill>
              </a:rPr>
              <a:t> (4NF)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tahapan</a:t>
            </a:r>
            <a:r>
              <a:rPr lang="en-ID" sz="1600" dirty="0"/>
              <a:t> </a:t>
            </a:r>
            <a:r>
              <a:rPr lang="en-ID" sz="1600" dirty="0" err="1"/>
              <a:t>normalisasi</a:t>
            </a:r>
            <a:r>
              <a:rPr lang="en-ID" sz="1600" dirty="0"/>
              <a:t> </a:t>
            </a:r>
            <a:r>
              <a:rPr lang="en-ID" sz="1600" dirty="0" err="1"/>
              <a:t>tingkat</a:t>
            </a:r>
            <a:r>
              <a:rPr lang="en-ID" sz="1600" dirty="0"/>
              <a:t> </a:t>
            </a:r>
            <a:r>
              <a:rPr lang="en-ID" sz="1600" dirty="0" err="1"/>
              <a:t>lanjut</a:t>
            </a:r>
            <a:r>
              <a:rPr lang="en-ID" sz="1600" dirty="0"/>
              <a:t>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menangani</a:t>
            </a:r>
            <a:r>
              <a:rPr lang="en-ID" sz="1600" dirty="0"/>
              <a:t> </a:t>
            </a:r>
            <a:r>
              <a:rPr lang="en-ID" sz="1600" dirty="0" err="1"/>
              <a:t>masalah</a:t>
            </a:r>
            <a:r>
              <a:rPr lang="en-ID" sz="1600" dirty="0"/>
              <a:t>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diselesaikan</a:t>
            </a:r>
            <a:r>
              <a:rPr lang="en-ID" sz="1600" dirty="0"/>
              <a:t> oleh </a:t>
            </a:r>
            <a:r>
              <a:rPr lang="en-ID" sz="1600" b="1" dirty="0">
                <a:solidFill>
                  <a:srgbClr val="FFC000"/>
                </a:solidFill>
              </a:rPr>
              <a:t>BCNF</a:t>
            </a:r>
            <a:r>
              <a:rPr lang="en-ID" sz="1600" dirty="0"/>
              <a:t>. </a:t>
            </a:r>
            <a:r>
              <a:rPr lang="en-ID" sz="1600" dirty="0" err="1"/>
              <a:t>Fokus</a:t>
            </a:r>
            <a:r>
              <a:rPr lang="en-ID" sz="1600" dirty="0"/>
              <a:t> </a:t>
            </a:r>
            <a:r>
              <a:rPr lang="en-ID" sz="1600" dirty="0" err="1"/>
              <a:t>utama</a:t>
            </a:r>
            <a:r>
              <a:rPr lang="en-ID" sz="1600" dirty="0"/>
              <a:t> 4NF </a:t>
            </a:r>
            <a:r>
              <a:rPr lang="en-ID" sz="1600" b="1" dirty="0" err="1">
                <a:solidFill>
                  <a:srgbClr val="FF0000"/>
                </a:solidFill>
              </a:rPr>
              <a:t>bukan</a:t>
            </a:r>
            <a:r>
              <a:rPr lang="en-ID" sz="1600" dirty="0"/>
              <a:t> </a:t>
            </a:r>
            <a:r>
              <a:rPr lang="en-ID" sz="1600" dirty="0" err="1"/>
              <a:t>lagi</a:t>
            </a:r>
            <a:r>
              <a:rPr lang="en-ID" sz="1600" dirty="0"/>
              <a:t> pada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(</a:t>
            </a:r>
            <a:r>
              <a:rPr lang="en-ID" sz="1600" i="1" dirty="0">
                <a:solidFill>
                  <a:srgbClr val="92D050"/>
                </a:solidFill>
              </a:rPr>
              <a:t>Functional Dependency</a:t>
            </a:r>
            <a:r>
              <a:rPr lang="en-ID" sz="1600" dirty="0"/>
              <a:t>), </a:t>
            </a:r>
            <a:r>
              <a:rPr lang="en-ID" sz="1600" dirty="0" err="1"/>
              <a:t>melainkan</a:t>
            </a:r>
            <a:r>
              <a:rPr lang="en-ID" sz="1600" dirty="0"/>
              <a:t> pada </a:t>
            </a:r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>
                <a:solidFill>
                  <a:srgbClr val="FFC000"/>
                </a:solidFill>
              </a:rPr>
              <a:t> Multi-</a:t>
            </a:r>
            <a:r>
              <a:rPr lang="en-ID" sz="1600" b="1" dirty="0" err="1">
                <a:solidFill>
                  <a:srgbClr val="FFC000"/>
                </a:solidFill>
              </a:rPr>
              <a:t>nilai</a:t>
            </a:r>
            <a:r>
              <a:rPr lang="en-ID" sz="1600" b="1" dirty="0">
                <a:solidFill>
                  <a:srgbClr val="FFC000"/>
                </a:solidFill>
              </a:rPr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Multi-valued Dependency</a:t>
            </a:r>
            <a:r>
              <a:rPr lang="en-ID" sz="1600" b="1" dirty="0">
                <a:solidFill>
                  <a:srgbClr val="FFC000"/>
                </a:solidFill>
              </a:rPr>
              <a:t>)</a:t>
            </a:r>
            <a:r>
              <a:rPr lang="en-ID" sz="1600" dirty="0"/>
              <a:t>.</a:t>
            </a:r>
          </a:p>
          <a:p>
            <a:endParaRPr lang="en-ID" sz="1600" dirty="0"/>
          </a:p>
          <a:p>
            <a:pPr marL="152400" indent="0">
              <a:buNone/>
            </a:pPr>
            <a:r>
              <a:rPr lang="en-ID" sz="1600" b="1" dirty="0"/>
              <a:t>1. </a:t>
            </a:r>
            <a:r>
              <a:rPr lang="en-ID" sz="1600" b="1" dirty="0" err="1">
                <a:solidFill>
                  <a:srgbClr val="FFC000"/>
                </a:solidFill>
              </a:rPr>
              <a:t>Syarat</a:t>
            </a:r>
            <a:r>
              <a:rPr lang="en-ID" sz="1600" b="1" dirty="0">
                <a:solidFill>
                  <a:srgbClr val="FFC000"/>
                </a:solidFill>
              </a:rPr>
              <a:t> Utama 4NF</a:t>
            </a:r>
          </a:p>
          <a:p>
            <a:pPr lvl="1"/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dikatakan</a:t>
            </a:r>
            <a:r>
              <a:rPr lang="en-ID" sz="1600" dirty="0"/>
              <a:t> </a:t>
            </a:r>
            <a:r>
              <a:rPr lang="en-ID" sz="1600" dirty="0" err="1"/>
              <a:t>berada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</a:t>
            </a:r>
            <a:r>
              <a:rPr lang="en-ID" sz="1600" b="1" dirty="0"/>
              <a:t>4NF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dan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:</a:t>
            </a:r>
          </a:p>
          <a:p>
            <a:pPr lvl="2"/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sudah</a:t>
            </a:r>
            <a:r>
              <a:rPr lang="en-ID" sz="1600" dirty="0"/>
              <a:t> </a:t>
            </a:r>
            <a:r>
              <a:rPr lang="en-ID" sz="1600" dirty="0" err="1"/>
              <a:t>memenuhi</a:t>
            </a:r>
            <a:r>
              <a:rPr lang="en-ID" sz="1600" dirty="0"/>
              <a:t> </a:t>
            </a:r>
            <a:r>
              <a:rPr lang="en-ID" sz="1600" dirty="0" err="1"/>
              <a:t>syarat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BCNF</a:t>
            </a:r>
            <a:r>
              <a:rPr lang="en-ID" sz="1600" dirty="0"/>
              <a:t>.</a:t>
            </a:r>
          </a:p>
          <a:p>
            <a:pPr lvl="2"/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tidak</a:t>
            </a:r>
            <a:r>
              <a:rPr lang="en-ID" sz="1600" b="1" dirty="0"/>
              <a:t> </a:t>
            </a:r>
            <a:r>
              <a:rPr lang="en-ID" sz="1600" b="1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multi-</a:t>
            </a:r>
            <a:r>
              <a:rPr lang="en-ID" sz="1600" dirty="0" err="1"/>
              <a:t>nilai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Multi-valued Dependency</a:t>
            </a:r>
            <a:r>
              <a:rPr lang="en-ID" sz="1600" b="1" dirty="0">
                <a:solidFill>
                  <a:srgbClr val="FFC000"/>
                </a:solidFill>
              </a:rPr>
              <a:t> - MVD</a:t>
            </a:r>
            <a:r>
              <a:rPr lang="en-ID" sz="1600" dirty="0"/>
              <a:t>) yang </a:t>
            </a:r>
            <a:r>
              <a:rPr lang="en-ID" sz="1600" b="1" dirty="0">
                <a:solidFill>
                  <a:srgbClr val="FF0000"/>
                </a:solidFill>
              </a:rPr>
              <a:t>non-trivial</a:t>
            </a:r>
            <a:r>
              <a:rPr lang="en-ID" sz="16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2559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C17C-31A1-AB6B-E517-1EC8FD3C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F4B4-539D-CE88-E8C8-C7319A69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Keempat</a:t>
            </a:r>
            <a:r>
              <a:rPr lang="en-ID" b="1" dirty="0"/>
              <a:t> (4NF)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91485-6C84-7132-4A41-7A7405264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752291"/>
          </a:xfrm>
        </p:spPr>
        <p:txBody>
          <a:bodyPr/>
          <a:lstStyle/>
          <a:p>
            <a:pPr marL="152400" indent="0">
              <a:buNone/>
            </a:pPr>
            <a:r>
              <a:rPr lang="en-ID" sz="1800" b="1" dirty="0"/>
              <a:t>2. </a:t>
            </a:r>
            <a:r>
              <a:rPr lang="en-ID" sz="1800" b="1" dirty="0" err="1"/>
              <a:t>Memahami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Multi-valued Dependency (MVD)</a:t>
            </a:r>
          </a:p>
          <a:p>
            <a:r>
              <a:rPr lang="en-ID" sz="1800" dirty="0" err="1"/>
              <a:t>Ketergantungan</a:t>
            </a:r>
            <a:r>
              <a:rPr lang="en-ID" sz="1800" dirty="0"/>
              <a:t> Multi-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 </a:t>
            </a:r>
            <a:r>
              <a:rPr lang="en-ID" sz="1800" dirty="0" err="1"/>
              <a:t>ketika</a:t>
            </a:r>
            <a:r>
              <a:rPr lang="en-ID" sz="1800" dirty="0"/>
              <a:t> </a:t>
            </a:r>
            <a:r>
              <a:rPr lang="en-ID" sz="1800" dirty="0" err="1"/>
              <a:t>keberadaan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dirty="0" err="1"/>
              <a:t>lebih</a:t>
            </a:r>
            <a:r>
              <a:rPr lang="en-ID" sz="1800" dirty="0"/>
              <a:t> baris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</a:t>
            </a:r>
            <a:r>
              <a:rPr lang="en-ID" sz="1800" dirty="0" err="1"/>
              <a:t>menyiratkan</a:t>
            </a:r>
            <a:r>
              <a:rPr lang="en-ID" sz="1800" dirty="0"/>
              <a:t> </a:t>
            </a:r>
            <a:r>
              <a:rPr lang="en-ID" sz="1800" dirty="0" err="1"/>
              <a:t>keberadaan</a:t>
            </a:r>
            <a:r>
              <a:rPr lang="en-ID" sz="1800" dirty="0"/>
              <a:t> baris lain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yang </a:t>
            </a:r>
            <a:r>
              <a:rPr lang="en-ID" sz="1800" dirty="0" err="1"/>
              <a:t>sama</a:t>
            </a:r>
            <a:r>
              <a:rPr lang="en-ID" sz="1800" dirty="0"/>
              <a:t>.</a:t>
            </a:r>
          </a:p>
          <a:p>
            <a:r>
              <a:rPr lang="en-ID" sz="1800" b="1" dirty="0" err="1"/>
              <a:t>Notasi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US" sz="1800" b="1" dirty="0">
                <a:solidFill>
                  <a:srgbClr val="FFC000"/>
                </a:solidFill>
              </a:rPr>
              <a:t> α ⇒ β</a:t>
            </a:r>
            <a:endParaRPr lang="en-ID" sz="1800" dirty="0"/>
          </a:p>
          <a:p>
            <a:pPr lvl="1"/>
            <a:r>
              <a:rPr lang="en-ID" sz="1800" dirty="0" err="1"/>
              <a:t>Artinya</a:t>
            </a:r>
            <a:r>
              <a:rPr lang="en-ID" sz="1800" dirty="0"/>
              <a:t>,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US" sz="1800" b="1" dirty="0">
                <a:solidFill>
                  <a:srgbClr val="FFC000"/>
                </a:solidFill>
              </a:rPr>
              <a:t>α</a:t>
            </a:r>
            <a:r>
              <a:rPr lang="en-ID" sz="1800" dirty="0"/>
              <a:t>, </a:t>
            </a:r>
            <a:r>
              <a:rPr lang="en-ID" sz="1800" dirty="0" err="1"/>
              <a:t>terdapat</a:t>
            </a:r>
            <a:r>
              <a:rPr lang="en-ID" sz="1800" dirty="0"/>
              <a:t> </a:t>
            </a:r>
            <a:r>
              <a:rPr lang="en-ID" sz="1800" dirty="0" err="1"/>
              <a:t>sekumpulan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US" sz="1800" b="1" dirty="0">
                <a:solidFill>
                  <a:srgbClr val="FFC000"/>
                </a:solidFill>
              </a:rPr>
              <a:t>β</a:t>
            </a:r>
            <a:r>
              <a:rPr lang="en-ID" sz="1800" dirty="0"/>
              <a:t> yang </a:t>
            </a:r>
            <a:r>
              <a:rPr lang="en-ID" sz="1800" dirty="0" err="1"/>
              <a:t>terkait</a:t>
            </a:r>
            <a:r>
              <a:rPr lang="en-ID" sz="1800" dirty="0"/>
              <a:t>, </a:t>
            </a:r>
            <a:r>
              <a:rPr lang="en-ID" sz="1800" dirty="0" err="1"/>
              <a:t>namun</a:t>
            </a:r>
            <a:r>
              <a:rPr lang="en-ID" sz="1800" dirty="0"/>
              <a:t> </a:t>
            </a:r>
            <a:r>
              <a:rPr lang="en-ID" sz="1800" dirty="0" err="1"/>
              <a:t>kumpulan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</a:t>
            </a:r>
            <a:r>
              <a:rPr lang="en-US" sz="1800" b="1" dirty="0">
                <a:solidFill>
                  <a:srgbClr val="FFC000"/>
                </a:solidFill>
              </a:rPr>
              <a:t>β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independen</a:t>
            </a:r>
            <a:r>
              <a:rPr lang="en-ID" sz="1800" dirty="0"/>
              <a:t> (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berhubungan</a:t>
            </a:r>
            <a:r>
              <a:rPr lang="en-ID" sz="1800" dirty="0"/>
              <a:t>)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lain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 lvl="1"/>
            <a:r>
              <a:rPr lang="en-ID" sz="1800" b="1" dirty="0" err="1"/>
              <a:t>Analogi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Bayangkan</a:t>
            </a:r>
            <a:r>
              <a:rPr lang="en-ID" sz="1800" dirty="0"/>
              <a:t> </a:t>
            </a:r>
            <a:r>
              <a:rPr lang="en-ID" sz="1800" dirty="0" err="1"/>
              <a:t>seorang</a:t>
            </a:r>
            <a:r>
              <a:rPr lang="en-ID" sz="1800" dirty="0"/>
              <a:t> Dosen yang </a:t>
            </a:r>
            <a:r>
              <a:rPr lang="en-ID" sz="1800" dirty="0" err="1"/>
              <a:t>mengampu</a:t>
            </a:r>
            <a:r>
              <a:rPr lang="en-ID" sz="1800" dirty="0"/>
              <a:t>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Mata Kuliah</a:t>
            </a:r>
            <a:r>
              <a:rPr lang="en-ID" sz="1800" dirty="0"/>
              <a:t> dan </a:t>
            </a:r>
            <a:r>
              <a:rPr lang="en-ID" sz="1800" dirty="0" err="1"/>
              <a:t>memiliki</a:t>
            </a:r>
            <a:r>
              <a:rPr lang="en-ID" sz="1800" dirty="0"/>
              <a:t> </a:t>
            </a:r>
            <a:r>
              <a:rPr lang="en-ID" sz="1800" dirty="0" err="1"/>
              <a:t>banyak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Hobi</a:t>
            </a:r>
            <a:r>
              <a:rPr lang="en-ID" sz="1800" dirty="0"/>
              <a:t>. Antara Mata Kuliah dan Hobi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langsung</a:t>
            </a:r>
            <a:r>
              <a:rPr lang="en-ID" sz="1800" dirty="0"/>
              <a:t>, </a:t>
            </a:r>
            <a:r>
              <a:rPr lang="en-ID" sz="1800" dirty="0" err="1"/>
              <a:t>tetapi</a:t>
            </a:r>
            <a:r>
              <a:rPr lang="en-ID" sz="1800" dirty="0"/>
              <a:t> </a:t>
            </a:r>
            <a:r>
              <a:rPr lang="en-ID" sz="1800" dirty="0" err="1"/>
              <a:t>keduanya</a:t>
            </a:r>
            <a:r>
              <a:rPr lang="en-ID" sz="1800" dirty="0"/>
              <a:t> </a:t>
            </a:r>
            <a:r>
              <a:rPr lang="en-ID" sz="1800" dirty="0" err="1"/>
              <a:t>terikat</a:t>
            </a:r>
            <a:r>
              <a:rPr lang="en-ID" sz="1800" dirty="0"/>
              <a:t> pada Dosen yang </a:t>
            </a:r>
            <a:r>
              <a:rPr lang="en-ID" sz="1800" dirty="0" err="1"/>
              <a:t>sama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51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BC84-E094-6278-E1E8-8BC0431C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899E-9161-0B49-2501-5717DE60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Keempat</a:t>
            </a:r>
            <a:r>
              <a:rPr lang="en-ID" b="1" dirty="0"/>
              <a:t> (4NF)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EB7C7-FEB8-D05A-F386-7990983D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4008838"/>
          </a:xfrm>
        </p:spPr>
        <p:txBody>
          <a:bodyPr/>
          <a:lstStyle/>
          <a:p>
            <a:pPr marL="152400" indent="0">
              <a:buNone/>
            </a:pPr>
            <a:r>
              <a:rPr lang="en-ID" b="1" dirty="0"/>
              <a:t>3. </a:t>
            </a:r>
            <a:r>
              <a:rPr lang="en-ID" b="1" dirty="0" err="1"/>
              <a:t>Contoh</a:t>
            </a:r>
            <a:r>
              <a:rPr lang="en-ID" b="1" dirty="0"/>
              <a:t> Kasus: </a:t>
            </a:r>
            <a:r>
              <a:rPr lang="en-ID" b="1" dirty="0" err="1">
                <a:solidFill>
                  <a:srgbClr val="FF0000"/>
                </a:solidFill>
              </a:rPr>
              <a:t>Pelanggaran</a:t>
            </a:r>
            <a:r>
              <a:rPr lang="en-ID" b="1" dirty="0">
                <a:solidFill>
                  <a:srgbClr val="FFC000"/>
                </a:solidFill>
              </a:rPr>
              <a:t> 4NF</a:t>
            </a:r>
          </a:p>
          <a:p>
            <a:r>
              <a:rPr lang="en-ID" dirty="0" err="1"/>
              <a:t>Misalkan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b="1" dirty="0" err="1">
                <a:solidFill>
                  <a:srgbClr val="FFC000"/>
                </a:solidFill>
              </a:rPr>
              <a:t>Dosen_Info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pPr marL="152400" indent="0">
              <a:buNone/>
            </a:pPr>
            <a:r>
              <a:rPr lang="en-ID" dirty="0" err="1"/>
              <a:t>Masalah</a:t>
            </a:r>
            <a:r>
              <a:rPr lang="en-ID" dirty="0"/>
              <a:t> pada </a:t>
            </a:r>
            <a:r>
              <a:rPr lang="en-ID" dirty="0" err="1"/>
              <a:t>tabel</a:t>
            </a:r>
            <a:r>
              <a:rPr lang="en-ID" dirty="0"/>
              <a:t>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:</a:t>
            </a:r>
          </a:p>
          <a:p>
            <a:r>
              <a:rPr lang="en-ID" b="1" dirty="0" err="1">
                <a:solidFill>
                  <a:srgbClr val="FFC000"/>
                </a:solidFill>
              </a:rPr>
              <a:t>Redundansi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Eksponensial</a:t>
            </a:r>
            <a:r>
              <a:rPr lang="en-ID" b="1" dirty="0"/>
              <a:t>:</a:t>
            </a:r>
            <a:r>
              <a:rPr lang="en-ID" dirty="0"/>
              <a:t> Jika Dosen D001 </a:t>
            </a:r>
            <a:r>
              <a:rPr lang="en-ID" dirty="0" err="1"/>
              <a:t>menambah</a:t>
            </a:r>
            <a:r>
              <a:rPr lang="en-ID" dirty="0"/>
              <a:t> 1 </a:t>
            </a:r>
            <a:r>
              <a:rPr lang="en-ID" dirty="0" err="1"/>
              <a:t>hobi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menambah</a:t>
            </a:r>
            <a:r>
              <a:rPr lang="en-ID" dirty="0"/>
              <a:t> 2 baris </a:t>
            </a:r>
            <a:r>
              <a:rPr lang="en-ID" dirty="0" err="1"/>
              <a:t>baru</a:t>
            </a:r>
            <a:r>
              <a:rPr lang="en-ID" dirty="0"/>
              <a:t> (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).</a:t>
            </a:r>
          </a:p>
          <a:p>
            <a:r>
              <a:rPr lang="en-ID" b="1" dirty="0" err="1">
                <a:solidFill>
                  <a:srgbClr val="FFC000"/>
                </a:solidFill>
              </a:rPr>
              <a:t>Anomali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Insersi</a:t>
            </a:r>
            <a:r>
              <a:rPr lang="en-ID" b="1" dirty="0"/>
              <a:t>:</a:t>
            </a:r>
            <a:r>
              <a:rPr lang="en-ID" dirty="0"/>
              <a:t> Jika Dosen D001 </a:t>
            </a:r>
            <a:r>
              <a:rPr lang="en-ID" dirty="0" err="1"/>
              <a:t>mulai</a:t>
            </a:r>
            <a:r>
              <a:rPr lang="en-ID" dirty="0"/>
              <a:t> </a:t>
            </a:r>
            <a:r>
              <a:rPr lang="en-ID" dirty="0" err="1"/>
              <a:t>mengajar</a:t>
            </a:r>
            <a:r>
              <a:rPr lang="en-ID" dirty="0"/>
              <a:t> </a:t>
            </a:r>
            <a:r>
              <a:rPr lang="en-ID" dirty="0" err="1"/>
              <a:t>mata</a:t>
            </a:r>
            <a:r>
              <a:rPr lang="en-ID" dirty="0"/>
              <a:t>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memasangkannya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hobi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.</a:t>
            </a:r>
          </a:p>
          <a:p>
            <a:r>
              <a:rPr lang="en-ID" b="1" dirty="0" err="1">
                <a:solidFill>
                  <a:srgbClr val="FFC000"/>
                </a:solidFill>
              </a:rPr>
              <a:t>Kondisi</a:t>
            </a:r>
            <a:r>
              <a:rPr lang="en-ID" b="1" dirty="0"/>
              <a:t>:</a:t>
            </a:r>
            <a:r>
              <a:rPr lang="en-ID" dirty="0"/>
              <a:t> Tabel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memenuhi</a:t>
            </a:r>
            <a:r>
              <a:rPr lang="en-ID" dirty="0"/>
              <a:t> BCNF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b="1" dirty="0" err="1">
                <a:solidFill>
                  <a:srgbClr val="FF0000"/>
                </a:solidFill>
              </a:rPr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b="1" i="1" dirty="0">
                <a:solidFill>
                  <a:srgbClr val="92D050"/>
                </a:solidFill>
              </a:rPr>
              <a:t>Functional Dependency</a:t>
            </a:r>
            <a:r>
              <a:rPr lang="en-ID" dirty="0"/>
              <a:t> (</a:t>
            </a:r>
            <a:r>
              <a:rPr lang="en-ID" dirty="0" err="1"/>
              <a:t>Mata_Kuliah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Hobi, dan </a:t>
            </a:r>
            <a:r>
              <a:rPr lang="en-ID" dirty="0" err="1"/>
              <a:t>sebaliknya</a:t>
            </a:r>
            <a:r>
              <a:rPr lang="en-ID" dirty="0"/>
              <a:t>).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b="1" dirty="0"/>
              <a:t>MVD</a:t>
            </a:r>
            <a:r>
              <a:rPr lang="en-ID" dirty="0"/>
              <a:t>:</a:t>
            </a:r>
          </a:p>
          <a:p>
            <a:pPr lvl="1"/>
            <a:r>
              <a:rPr lang="en-ID" i="1" dirty="0" err="1"/>
              <a:t>ID_Dosen</a:t>
            </a:r>
            <a:r>
              <a:rPr lang="en-ID" i="1" dirty="0"/>
              <a:t> </a:t>
            </a:r>
            <a:r>
              <a:rPr lang="en-US" b="1" i="1" dirty="0">
                <a:solidFill>
                  <a:srgbClr val="FFC000"/>
                </a:solidFill>
              </a:rPr>
              <a:t>⇒</a:t>
            </a:r>
            <a:r>
              <a:rPr lang="en-ID" i="1" dirty="0"/>
              <a:t> </a:t>
            </a:r>
            <a:r>
              <a:rPr lang="en-ID" i="1" dirty="0" err="1"/>
              <a:t>Mata_Kuliah</a:t>
            </a:r>
            <a:endParaRPr lang="en-ID" i="1" dirty="0"/>
          </a:p>
          <a:p>
            <a:pPr lvl="1"/>
            <a:r>
              <a:rPr lang="en-ID" i="1" dirty="0" err="1"/>
              <a:t>ID_Dosen</a:t>
            </a:r>
            <a:r>
              <a:rPr lang="en-ID" i="1" dirty="0"/>
              <a:t> </a:t>
            </a:r>
            <a:r>
              <a:rPr lang="en-US" b="1" i="1" dirty="0">
                <a:solidFill>
                  <a:srgbClr val="FFC000"/>
                </a:solidFill>
              </a:rPr>
              <a:t>⇒</a:t>
            </a:r>
            <a:r>
              <a:rPr lang="en-ID" i="1" dirty="0"/>
              <a:t> Hobi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53D48E-49CB-9884-1370-BF972103E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66243"/>
              </p:ext>
            </p:extLst>
          </p:nvPr>
        </p:nvGraphicFramePr>
        <p:xfrm>
          <a:off x="2716648" y="1643694"/>
          <a:ext cx="3710703" cy="1104900"/>
        </p:xfrm>
        <a:graphic>
          <a:graphicData uri="http://schemas.openxmlformats.org/drawingml/2006/table">
            <a:tbl>
              <a:tblPr/>
              <a:tblGrid>
                <a:gridCol w="1236901">
                  <a:extLst>
                    <a:ext uri="{9D8B030D-6E8A-4147-A177-3AD203B41FA5}">
                      <a16:colId xmlns:a16="http://schemas.microsoft.com/office/drawing/2014/main" val="3020993947"/>
                    </a:ext>
                  </a:extLst>
                </a:gridCol>
                <a:gridCol w="1236901">
                  <a:extLst>
                    <a:ext uri="{9D8B030D-6E8A-4147-A177-3AD203B41FA5}">
                      <a16:colId xmlns:a16="http://schemas.microsoft.com/office/drawing/2014/main" val="527539497"/>
                    </a:ext>
                  </a:extLst>
                </a:gridCol>
                <a:gridCol w="1236901">
                  <a:extLst>
                    <a:ext uri="{9D8B030D-6E8A-4147-A177-3AD203B41FA5}">
                      <a16:colId xmlns:a16="http://schemas.microsoft.com/office/drawing/2014/main" val="359641429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ID_Dosen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Mata_Kuliah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Hobi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7662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Basis 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Membaca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4982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Basis 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Berenang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922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Pemrograman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Membaca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6934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Pemrograman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 err="1">
                          <a:effectLst/>
                        </a:rPr>
                        <a:t>Berenang</a:t>
                      </a:r>
                      <a:endParaRPr lang="en-ID" sz="1200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96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594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B858EF-1877-8373-1C39-40DC67F7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D28701-B18F-9242-916C-DE67CBB6F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/>
              <a:t>Studi Kasus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750458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C9429-5993-130A-B72F-FD801F813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Bentuk</a:t>
            </a:r>
            <a:r>
              <a:rPr lang="en-ID" dirty="0"/>
              <a:t> Unnormalized (UNF)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D5056-3A9B-D04D-B8E8-EE9B912DD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000" dirty="0"/>
              <a:t>Tabel </a:t>
            </a:r>
            <a:r>
              <a:rPr lang="en-ID" sz="2000" dirty="0" err="1"/>
              <a:t>berikut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buruk</a:t>
            </a:r>
            <a:r>
              <a:rPr lang="en-ID" sz="2000" dirty="0"/>
              <a:t> </a:t>
            </a:r>
            <a:r>
              <a:rPr lang="en-ID" sz="2000" dirty="0" err="1"/>
              <a:t>karena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kolom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 (</a:t>
            </a:r>
            <a:r>
              <a:rPr lang="en-ID" sz="2000" b="1" dirty="0" err="1">
                <a:solidFill>
                  <a:srgbClr val="FFC000"/>
                </a:solidFill>
              </a:rPr>
              <a:t>Sertifikasi</a:t>
            </a:r>
            <a:r>
              <a:rPr lang="en-ID" sz="2000" dirty="0"/>
              <a:t> dan </a:t>
            </a:r>
            <a:r>
              <a:rPr lang="en-ID" sz="2000" b="1" dirty="0">
                <a:solidFill>
                  <a:srgbClr val="FFC000"/>
                </a:solidFill>
              </a:rPr>
              <a:t>Tools</a:t>
            </a:r>
            <a:r>
              <a:rPr lang="en-ID" sz="2000" dirty="0"/>
              <a:t>) </a:t>
            </a:r>
            <a:r>
              <a:rPr lang="en-ID" sz="2000" dirty="0" err="1"/>
              <a:t>berisi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(</a:t>
            </a:r>
            <a:r>
              <a:rPr lang="en-ID" sz="2000" b="1" dirty="0">
                <a:solidFill>
                  <a:srgbClr val="FFC000"/>
                </a:solidFill>
              </a:rPr>
              <a:t>multivalued</a:t>
            </a:r>
            <a:r>
              <a:rPr lang="en-ID" sz="2000" dirty="0"/>
              <a:t>).</a:t>
            </a:r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4FE23E-F144-3205-5E26-0E6CE0C80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098648"/>
              </p:ext>
            </p:extLst>
          </p:nvPr>
        </p:nvGraphicFramePr>
        <p:xfrm>
          <a:off x="339865" y="2079589"/>
          <a:ext cx="8464269" cy="1149952"/>
        </p:xfrm>
        <a:graphic>
          <a:graphicData uri="http://schemas.openxmlformats.org/drawingml/2006/table">
            <a:tbl>
              <a:tblPr/>
              <a:tblGrid>
                <a:gridCol w="846427">
                  <a:extLst>
                    <a:ext uri="{9D8B030D-6E8A-4147-A177-3AD203B41FA5}">
                      <a16:colId xmlns:a16="http://schemas.microsoft.com/office/drawing/2014/main" val="1821632961"/>
                    </a:ext>
                  </a:extLst>
                </a:gridCol>
                <a:gridCol w="1066093">
                  <a:extLst>
                    <a:ext uri="{9D8B030D-6E8A-4147-A177-3AD203B41FA5}">
                      <a16:colId xmlns:a16="http://schemas.microsoft.com/office/drawing/2014/main" val="3219751551"/>
                    </a:ext>
                  </a:extLst>
                </a:gridCol>
                <a:gridCol w="626761">
                  <a:extLst>
                    <a:ext uri="{9D8B030D-6E8A-4147-A177-3AD203B41FA5}">
                      <a16:colId xmlns:a16="http://schemas.microsoft.com/office/drawing/2014/main" val="321518291"/>
                    </a:ext>
                  </a:extLst>
                </a:gridCol>
                <a:gridCol w="846427">
                  <a:extLst>
                    <a:ext uri="{9D8B030D-6E8A-4147-A177-3AD203B41FA5}">
                      <a16:colId xmlns:a16="http://schemas.microsoft.com/office/drawing/2014/main" val="2582626812"/>
                    </a:ext>
                  </a:extLst>
                </a:gridCol>
                <a:gridCol w="963196">
                  <a:extLst>
                    <a:ext uri="{9D8B030D-6E8A-4147-A177-3AD203B41FA5}">
                      <a16:colId xmlns:a16="http://schemas.microsoft.com/office/drawing/2014/main" val="3968200342"/>
                    </a:ext>
                  </a:extLst>
                </a:gridCol>
                <a:gridCol w="729658">
                  <a:extLst>
                    <a:ext uri="{9D8B030D-6E8A-4147-A177-3AD203B41FA5}">
                      <a16:colId xmlns:a16="http://schemas.microsoft.com/office/drawing/2014/main" val="2770399390"/>
                    </a:ext>
                  </a:extLst>
                </a:gridCol>
                <a:gridCol w="933403">
                  <a:extLst>
                    <a:ext uri="{9D8B030D-6E8A-4147-A177-3AD203B41FA5}">
                      <a16:colId xmlns:a16="http://schemas.microsoft.com/office/drawing/2014/main" val="1144960372"/>
                    </a:ext>
                  </a:extLst>
                </a:gridCol>
                <a:gridCol w="873107">
                  <a:extLst>
                    <a:ext uri="{9D8B030D-6E8A-4147-A177-3AD203B41FA5}">
                      <a16:colId xmlns:a16="http://schemas.microsoft.com/office/drawing/2014/main" val="2389067505"/>
                    </a:ext>
                  </a:extLst>
                </a:gridCol>
                <a:gridCol w="640523">
                  <a:extLst>
                    <a:ext uri="{9D8B030D-6E8A-4147-A177-3AD203B41FA5}">
                      <a16:colId xmlns:a16="http://schemas.microsoft.com/office/drawing/2014/main" val="580526506"/>
                    </a:ext>
                  </a:extLst>
                </a:gridCol>
                <a:gridCol w="938674">
                  <a:extLst>
                    <a:ext uri="{9D8B030D-6E8A-4147-A177-3AD203B41FA5}">
                      <a16:colId xmlns:a16="http://schemas.microsoft.com/office/drawing/2014/main" val="369469420"/>
                    </a:ext>
                  </a:extLst>
                </a:gridCol>
              </a:tblGrid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ID_Karyawan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Nama_Karyawan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Dept_ID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Nama_Dept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Lokasi_Gedung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Proyek_ID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Nama_Proyek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Peran_Proyek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Sertifikasi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Tools_Keahlian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858737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Asta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D10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Riset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Gedung Alfa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P99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AI-Chatbot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Lead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AWS, GCP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Python, Java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631071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Budi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D20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Gedung Beta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P88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Big-Data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Analyst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SQL, R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941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27426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4684-7133-3F5E-520B-57254C5F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9FEE-DFE8-240E-30AC-484D7EF3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Tahap</a:t>
            </a:r>
            <a:r>
              <a:rPr lang="en-ID" dirty="0"/>
              <a:t> 1NF (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Grup</a:t>
            </a:r>
            <a:r>
              <a:rPr lang="en-ID" dirty="0"/>
              <a:t> </a:t>
            </a:r>
            <a:r>
              <a:rPr lang="en-ID" dirty="0" err="1"/>
              <a:t>Berulang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5CC43-5BC2-CFE6-5415-49CB60234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atomik</a:t>
            </a:r>
            <a:r>
              <a:rPr lang="en-ID" dirty="0"/>
              <a:t>. Kita </a:t>
            </a:r>
            <a:r>
              <a:rPr lang="en-ID" dirty="0" err="1"/>
              <a:t>memecah</a:t>
            </a:r>
            <a:r>
              <a:rPr lang="en-ID" dirty="0"/>
              <a:t> baris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sel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data.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r>
              <a:rPr lang="en-ID" b="1" dirty="0" err="1"/>
              <a:t>Masalah</a:t>
            </a:r>
            <a:r>
              <a:rPr lang="en-ID" b="1" dirty="0"/>
              <a:t> 1NF:</a:t>
            </a:r>
            <a:r>
              <a:rPr lang="en-ID" dirty="0"/>
              <a:t> Tabel </a:t>
            </a:r>
            <a:r>
              <a:rPr lang="en-ID" dirty="0" err="1"/>
              <a:t>menjadi</a:t>
            </a:r>
            <a:r>
              <a:rPr lang="en-ID" dirty="0"/>
              <a:t> sangat </a:t>
            </a:r>
            <a:r>
              <a:rPr lang="en-ID" dirty="0" err="1"/>
              <a:t>panjang</a:t>
            </a:r>
            <a:r>
              <a:rPr lang="en-ID" dirty="0"/>
              <a:t> dan </a:t>
            </a:r>
            <a:r>
              <a:rPr lang="en-ID" dirty="0" err="1"/>
              <a:t>redundan</a:t>
            </a:r>
            <a:r>
              <a:rPr lang="en-ID" dirty="0"/>
              <a:t>. </a:t>
            </a:r>
            <a:r>
              <a:rPr lang="en-ID" i="1" dirty="0"/>
              <a:t>Primary Key</a:t>
            </a:r>
            <a:r>
              <a:rPr lang="en-ID" dirty="0"/>
              <a:t> (PK) </a:t>
            </a:r>
            <a:r>
              <a:rPr lang="en-ID" dirty="0" err="1"/>
              <a:t>gabungan</a:t>
            </a:r>
            <a:r>
              <a:rPr lang="en-ID" dirty="0"/>
              <a:t> di </a:t>
            </a:r>
            <a:r>
              <a:rPr lang="en-ID" dirty="0" err="1"/>
              <a:t>sini</a:t>
            </a:r>
            <a:r>
              <a:rPr lang="en-ID" dirty="0"/>
              <a:t> sangat </a:t>
            </a:r>
            <a:r>
              <a:rPr lang="en-ID" dirty="0" err="1"/>
              <a:t>gemuk</a:t>
            </a:r>
            <a:r>
              <a:rPr lang="en-ID" dirty="0"/>
              <a:t>: </a:t>
            </a:r>
            <a:r>
              <a:rPr lang="en-ID" b="1" dirty="0">
                <a:solidFill>
                  <a:srgbClr val="FFC000"/>
                </a:solidFill>
              </a:rPr>
              <a:t>(</a:t>
            </a:r>
            <a:r>
              <a:rPr lang="en-ID" b="1" dirty="0" err="1">
                <a:solidFill>
                  <a:srgbClr val="FFC000"/>
                </a:solidFill>
              </a:rPr>
              <a:t>ID_Karyawan</a:t>
            </a:r>
            <a:r>
              <a:rPr lang="en-ID" b="1" dirty="0">
                <a:solidFill>
                  <a:srgbClr val="FFC000"/>
                </a:solidFill>
              </a:rPr>
              <a:t>, </a:t>
            </a:r>
            <a:r>
              <a:rPr lang="en-ID" b="1" dirty="0" err="1">
                <a:solidFill>
                  <a:srgbClr val="FFC000"/>
                </a:solidFill>
              </a:rPr>
              <a:t>Proyek_ID</a:t>
            </a:r>
            <a:r>
              <a:rPr lang="en-ID" b="1" dirty="0">
                <a:solidFill>
                  <a:srgbClr val="FFC000"/>
                </a:solidFill>
              </a:rPr>
              <a:t>, </a:t>
            </a:r>
            <a:r>
              <a:rPr lang="en-ID" b="1" dirty="0" err="1">
                <a:solidFill>
                  <a:srgbClr val="FFC000"/>
                </a:solidFill>
              </a:rPr>
              <a:t>Sertifikasi</a:t>
            </a:r>
            <a:r>
              <a:rPr lang="en-ID" b="1" dirty="0">
                <a:solidFill>
                  <a:srgbClr val="FFC000"/>
                </a:solidFill>
              </a:rPr>
              <a:t>, Tools).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7F4AD5-777C-78D0-3EFF-660CE370F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864194"/>
              </p:ext>
            </p:extLst>
          </p:nvPr>
        </p:nvGraphicFramePr>
        <p:xfrm>
          <a:off x="404602" y="1464028"/>
          <a:ext cx="8181050" cy="2636613"/>
        </p:xfrm>
        <a:graphic>
          <a:graphicData uri="http://schemas.openxmlformats.org/drawingml/2006/table">
            <a:tbl>
              <a:tblPr/>
              <a:tblGrid>
                <a:gridCol w="818105">
                  <a:extLst>
                    <a:ext uri="{9D8B030D-6E8A-4147-A177-3AD203B41FA5}">
                      <a16:colId xmlns:a16="http://schemas.microsoft.com/office/drawing/2014/main" val="596404037"/>
                    </a:ext>
                  </a:extLst>
                </a:gridCol>
                <a:gridCol w="1043063">
                  <a:extLst>
                    <a:ext uri="{9D8B030D-6E8A-4147-A177-3AD203B41FA5}">
                      <a16:colId xmlns:a16="http://schemas.microsoft.com/office/drawing/2014/main" val="275426337"/>
                    </a:ext>
                  </a:extLst>
                </a:gridCol>
                <a:gridCol w="593147">
                  <a:extLst>
                    <a:ext uri="{9D8B030D-6E8A-4147-A177-3AD203B41FA5}">
                      <a16:colId xmlns:a16="http://schemas.microsoft.com/office/drawing/2014/main" val="2213474249"/>
                    </a:ext>
                  </a:extLst>
                </a:gridCol>
                <a:gridCol w="818105">
                  <a:extLst>
                    <a:ext uri="{9D8B030D-6E8A-4147-A177-3AD203B41FA5}">
                      <a16:colId xmlns:a16="http://schemas.microsoft.com/office/drawing/2014/main" val="2637258079"/>
                    </a:ext>
                  </a:extLst>
                </a:gridCol>
                <a:gridCol w="943530">
                  <a:extLst>
                    <a:ext uri="{9D8B030D-6E8A-4147-A177-3AD203B41FA5}">
                      <a16:colId xmlns:a16="http://schemas.microsoft.com/office/drawing/2014/main" val="788215919"/>
                    </a:ext>
                  </a:extLst>
                </a:gridCol>
                <a:gridCol w="692680">
                  <a:extLst>
                    <a:ext uri="{9D8B030D-6E8A-4147-A177-3AD203B41FA5}">
                      <a16:colId xmlns:a16="http://schemas.microsoft.com/office/drawing/2014/main" val="2345905856"/>
                    </a:ext>
                  </a:extLst>
                </a:gridCol>
                <a:gridCol w="860991">
                  <a:extLst>
                    <a:ext uri="{9D8B030D-6E8A-4147-A177-3AD203B41FA5}">
                      <a16:colId xmlns:a16="http://schemas.microsoft.com/office/drawing/2014/main" val="3127462222"/>
                    </a:ext>
                  </a:extLst>
                </a:gridCol>
                <a:gridCol w="849664">
                  <a:extLst>
                    <a:ext uri="{9D8B030D-6E8A-4147-A177-3AD203B41FA5}">
                      <a16:colId xmlns:a16="http://schemas.microsoft.com/office/drawing/2014/main" val="1418547900"/>
                    </a:ext>
                  </a:extLst>
                </a:gridCol>
                <a:gridCol w="743660">
                  <a:extLst>
                    <a:ext uri="{9D8B030D-6E8A-4147-A177-3AD203B41FA5}">
                      <a16:colId xmlns:a16="http://schemas.microsoft.com/office/drawing/2014/main" val="3086962865"/>
                    </a:ext>
                  </a:extLst>
                </a:gridCol>
                <a:gridCol w="818105">
                  <a:extLst>
                    <a:ext uri="{9D8B030D-6E8A-4147-A177-3AD203B41FA5}">
                      <a16:colId xmlns:a16="http://schemas.microsoft.com/office/drawing/2014/main" val="716403088"/>
                    </a:ext>
                  </a:extLst>
                </a:gridCol>
              </a:tblGrid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ID_Karyawan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Nama_Karyawan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Dept_ID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Nama_Dept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Lokasi_Gedung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Proyek_ID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Nama_Proyek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Peran_Proyek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 err="1">
                          <a:effectLst/>
                        </a:rPr>
                        <a:t>Sertifikasi</a:t>
                      </a:r>
                      <a:endParaRPr lang="en-ID" sz="1000" dirty="0">
                        <a:effectLst/>
                      </a:endParaRP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Tools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986656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K01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Asta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D10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Riset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Alfa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P99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AI-Chatbot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Lead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AWS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Python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662903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K01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Asta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D10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Riset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Alfa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P99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AI-Chatbot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Lead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AWS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Java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334807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K01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Asta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D10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Riset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Alfa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P99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AI-Chatbot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Lead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GCP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Python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456789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K01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Asta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D10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Riset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Alfa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P99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AI-Chatbot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Lead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GCP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Java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094360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K02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Budi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D20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Beta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P88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Big-Data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Analyst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Azure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SQL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344741"/>
                  </a:ext>
                </a:extLst>
              </a:tr>
              <a:tr h="37665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K02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Budi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D20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Gedung Beta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P88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Big-Data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Analyst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>
                          <a:effectLst/>
                        </a:rPr>
                        <a:t>Azure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000" dirty="0">
                          <a:effectLst/>
                        </a:rPr>
                        <a:t>R</a:t>
                      </a:r>
                    </a:p>
                  </a:txBody>
                  <a:tcPr marL="23155" marR="23155" marT="15437" marB="15437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3192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883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25E65-7CA8-8AA3-7AA1-23167F8D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53CF-94F0-8ED9-0F2F-DB2EEA80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4633"/>
            <a:ext cx="7704000" cy="572700"/>
          </a:xfrm>
        </p:spPr>
        <p:txBody>
          <a:bodyPr/>
          <a:lstStyle/>
          <a:p>
            <a:r>
              <a:rPr lang="en-ID" dirty="0" err="1"/>
              <a:t>Tahap</a:t>
            </a:r>
            <a:r>
              <a:rPr lang="en-ID" dirty="0"/>
              <a:t> 2NF </a:t>
            </a:r>
            <a:br>
              <a:rPr lang="en-ID" dirty="0"/>
            </a:br>
            <a:r>
              <a:rPr lang="en-ID" dirty="0"/>
              <a:t>(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Parsial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B446E-5FEA-4E7F-5AF6-693BA11A6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75260"/>
            <a:ext cx="7704000" cy="3753940"/>
          </a:xfrm>
        </p:spPr>
        <p:txBody>
          <a:bodyPr/>
          <a:lstStyle/>
          <a:p>
            <a:pPr marL="152400" indent="0">
              <a:buNone/>
            </a:pPr>
            <a:r>
              <a:rPr lang="en-ID" sz="1800" b="1" dirty="0" err="1">
                <a:solidFill>
                  <a:srgbClr val="FFC000"/>
                </a:solidFill>
              </a:rPr>
              <a:t>Atribut</a:t>
            </a:r>
            <a:r>
              <a:rPr lang="en-ID" sz="1800" b="1" dirty="0">
                <a:solidFill>
                  <a:srgbClr val="FFC000"/>
                </a:solidFill>
              </a:rPr>
              <a:t> non-</a:t>
            </a:r>
            <a:r>
              <a:rPr lang="en-ID" sz="1800" b="1" dirty="0" err="1">
                <a:solidFill>
                  <a:srgbClr val="FFC000"/>
                </a:solidFill>
              </a:rPr>
              <a:t>kunci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bergantung</a:t>
            </a:r>
            <a:r>
              <a:rPr lang="en-ID" sz="1800" dirty="0"/>
              <a:t> pada </a:t>
            </a:r>
            <a:r>
              <a:rPr lang="en-ID" sz="1800" b="1" dirty="0" err="1">
                <a:solidFill>
                  <a:srgbClr val="FFC000"/>
                </a:solidFill>
              </a:rPr>
              <a:t>seluruh</a:t>
            </a:r>
            <a:r>
              <a:rPr lang="en-ID" sz="1800" dirty="0"/>
              <a:t> PK, </a:t>
            </a:r>
            <a:r>
              <a:rPr lang="en-ID" sz="1800" dirty="0" err="1"/>
              <a:t>bukan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Sebagian :</a:t>
            </a:r>
          </a:p>
          <a:p>
            <a:r>
              <a:rPr lang="en-ID" sz="1800" dirty="0" err="1">
                <a:solidFill>
                  <a:srgbClr val="92D050"/>
                </a:solidFill>
              </a:rPr>
              <a:t>Nama_Karyawan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Dept_ID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Nama_Dept</a:t>
            </a:r>
            <a:r>
              <a:rPr lang="en-ID" sz="1800" dirty="0">
                <a:solidFill>
                  <a:srgbClr val="92D050"/>
                </a:solidFill>
              </a:rPr>
              <a:t>, dan </a:t>
            </a:r>
            <a:r>
              <a:rPr lang="en-ID" sz="1800" dirty="0" err="1">
                <a:solidFill>
                  <a:srgbClr val="92D050"/>
                </a:solidFill>
              </a:rPr>
              <a:t>Lokasi_Gedung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hanya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butuh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ID_Karyawan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Parsial</a:t>
            </a:r>
            <a:r>
              <a:rPr lang="en-ID" sz="1800" dirty="0">
                <a:solidFill>
                  <a:srgbClr val="92D050"/>
                </a:solidFill>
              </a:rPr>
              <a:t>).</a:t>
            </a:r>
          </a:p>
          <a:p>
            <a:r>
              <a:rPr lang="en-ID" sz="1800" dirty="0" err="1">
                <a:solidFill>
                  <a:srgbClr val="92D050"/>
                </a:solidFill>
              </a:rPr>
              <a:t>Nama_Proyek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hanya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butuh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Proyek_ID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Parsial</a:t>
            </a:r>
            <a:r>
              <a:rPr lang="en-ID" sz="1800" dirty="0">
                <a:solidFill>
                  <a:srgbClr val="92D050"/>
                </a:solidFill>
              </a:rPr>
              <a:t>).</a:t>
            </a:r>
          </a:p>
          <a:p>
            <a:r>
              <a:rPr lang="en-ID" sz="1800" dirty="0" err="1">
                <a:solidFill>
                  <a:srgbClr val="92D050"/>
                </a:solidFill>
              </a:rPr>
              <a:t>Peran_Proyek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butuh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kombinasi</a:t>
            </a:r>
            <a:r>
              <a:rPr lang="en-ID" sz="1800" dirty="0">
                <a:solidFill>
                  <a:srgbClr val="92D050"/>
                </a:solidFill>
              </a:rPr>
              <a:t> </a:t>
            </a:r>
            <a:r>
              <a:rPr lang="en-ID" sz="1800" dirty="0" err="1">
                <a:solidFill>
                  <a:srgbClr val="92D050"/>
                </a:solidFill>
              </a:rPr>
              <a:t>ID_Karyawan</a:t>
            </a:r>
            <a:r>
              <a:rPr lang="en-ID" sz="1800" dirty="0">
                <a:solidFill>
                  <a:srgbClr val="92D050"/>
                </a:solidFill>
              </a:rPr>
              <a:t> dan </a:t>
            </a:r>
            <a:r>
              <a:rPr lang="en-ID" sz="1800" dirty="0" err="1">
                <a:solidFill>
                  <a:srgbClr val="92D050"/>
                </a:solidFill>
              </a:rPr>
              <a:t>Proyek_ID</a:t>
            </a:r>
            <a:r>
              <a:rPr lang="en-ID" sz="1800" dirty="0">
                <a:solidFill>
                  <a:srgbClr val="92D050"/>
                </a:solidFill>
              </a:rPr>
              <a:t>.</a:t>
            </a:r>
          </a:p>
          <a:p>
            <a:endParaRPr lang="en-ID" sz="1800" dirty="0"/>
          </a:p>
          <a:p>
            <a:pPr marL="152400" indent="0">
              <a:buNone/>
            </a:pPr>
            <a:r>
              <a:rPr lang="en-ID" sz="1800" b="1" dirty="0"/>
              <a:t>Hasil </a:t>
            </a:r>
            <a:r>
              <a:rPr lang="en-ID" sz="1800" b="1" dirty="0" err="1">
                <a:solidFill>
                  <a:srgbClr val="FFC000"/>
                </a:solidFill>
              </a:rPr>
              <a:t>Dekomposisi</a:t>
            </a:r>
            <a:r>
              <a:rPr lang="en-ID" sz="1800" b="1" dirty="0"/>
              <a:t> 2NF:</a:t>
            </a:r>
            <a:endParaRPr lang="en-ID" sz="1800" dirty="0"/>
          </a:p>
          <a:p>
            <a:r>
              <a:rPr lang="en-ID" sz="1800" b="1" dirty="0">
                <a:solidFill>
                  <a:srgbClr val="FFC000"/>
                </a:solidFill>
              </a:rPr>
              <a:t>Tabel </a:t>
            </a:r>
            <a:r>
              <a:rPr lang="en-ID" sz="1800" b="1" dirty="0" err="1">
                <a:solidFill>
                  <a:srgbClr val="FFC000"/>
                </a:solidFill>
              </a:rPr>
              <a:t>Karyawan_Dept</a:t>
            </a:r>
            <a:r>
              <a:rPr lang="en-ID" sz="1800" b="1" dirty="0">
                <a:solidFill>
                  <a:srgbClr val="FFC000"/>
                </a:solidFill>
              </a:rPr>
              <a:t>: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ID_Karyawan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Nama_Karyawan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Dept_ID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Nama_Dept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Lokasi_Gedung</a:t>
            </a:r>
            <a:r>
              <a:rPr lang="en-ID" sz="1800" dirty="0">
                <a:solidFill>
                  <a:srgbClr val="92D050"/>
                </a:solidFill>
              </a:rPr>
              <a:t>)</a:t>
            </a:r>
          </a:p>
          <a:p>
            <a:r>
              <a:rPr lang="en-ID" sz="1800" b="1" dirty="0">
                <a:solidFill>
                  <a:srgbClr val="FFC000"/>
                </a:solidFill>
              </a:rPr>
              <a:t>Tabel </a:t>
            </a:r>
            <a:r>
              <a:rPr lang="en-ID" sz="1800" b="1" dirty="0" err="1">
                <a:solidFill>
                  <a:srgbClr val="FFC000"/>
                </a:solidFill>
              </a:rPr>
              <a:t>Proyek</a:t>
            </a:r>
            <a:r>
              <a:rPr lang="en-ID" sz="1800" b="1" dirty="0">
                <a:solidFill>
                  <a:srgbClr val="FFC000"/>
                </a:solidFill>
              </a:rPr>
              <a:t>: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Proyek_ID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Nama_Proyek</a:t>
            </a:r>
            <a:r>
              <a:rPr lang="en-ID" sz="1800" dirty="0">
                <a:solidFill>
                  <a:srgbClr val="92D050"/>
                </a:solidFill>
              </a:rPr>
              <a:t>)</a:t>
            </a:r>
          </a:p>
          <a:p>
            <a:r>
              <a:rPr lang="en-ID" sz="1800" b="1" dirty="0">
                <a:solidFill>
                  <a:srgbClr val="FFC000"/>
                </a:solidFill>
              </a:rPr>
              <a:t>Tabel </a:t>
            </a:r>
            <a:r>
              <a:rPr lang="en-ID" sz="1800" b="1" dirty="0" err="1">
                <a:solidFill>
                  <a:srgbClr val="FFC000"/>
                </a:solidFill>
              </a:rPr>
              <a:t>Tugas_Proyek</a:t>
            </a:r>
            <a:r>
              <a:rPr lang="en-ID" sz="1800" b="1" dirty="0">
                <a:solidFill>
                  <a:srgbClr val="FFC000"/>
                </a:solidFill>
              </a:rPr>
              <a:t>: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ID_Karyawan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Proyek_ID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Peran_Proyek</a:t>
            </a:r>
            <a:r>
              <a:rPr lang="en-ID" sz="1800" dirty="0">
                <a:solidFill>
                  <a:srgbClr val="92D050"/>
                </a:solidFill>
              </a:rPr>
              <a:t>)</a:t>
            </a:r>
          </a:p>
          <a:p>
            <a:r>
              <a:rPr lang="en-ID" sz="1800" b="1" dirty="0">
                <a:solidFill>
                  <a:srgbClr val="FFC000"/>
                </a:solidFill>
              </a:rPr>
              <a:t>Tabel </a:t>
            </a:r>
            <a:r>
              <a:rPr lang="en-ID" sz="1800" b="1" dirty="0" err="1">
                <a:solidFill>
                  <a:srgbClr val="FFC000"/>
                </a:solidFill>
              </a:rPr>
              <a:t>Keahlian_Sertifikasi</a:t>
            </a:r>
            <a:r>
              <a:rPr lang="en-ID" sz="1800" b="1" dirty="0">
                <a:solidFill>
                  <a:srgbClr val="FFC000"/>
                </a:solidFill>
              </a:rPr>
              <a:t>:</a:t>
            </a:r>
            <a:r>
              <a:rPr lang="en-ID" sz="1800" dirty="0">
                <a:solidFill>
                  <a:srgbClr val="92D050"/>
                </a:solidFill>
              </a:rPr>
              <a:t> (</a:t>
            </a:r>
            <a:r>
              <a:rPr lang="en-ID" sz="1800" dirty="0" err="1">
                <a:solidFill>
                  <a:srgbClr val="92D050"/>
                </a:solidFill>
              </a:rPr>
              <a:t>ID_Karyawan</a:t>
            </a:r>
            <a:r>
              <a:rPr lang="en-ID" sz="1800" dirty="0">
                <a:solidFill>
                  <a:srgbClr val="92D050"/>
                </a:solidFill>
              </a:rPr>
              <a:t>, </a:t>
            </a:r>
            <a:r>
              <a:rPr lang="en-ID" sz="1800" dirty="0" err="1">
                <a:solidFill>
                  <a:srgbClr val="92D050"/>
                </a:solidFill>
              </a:rPr>
              <a:t>Sertifikasi</a:t>
            </a:r>
            <a:r>
              <a:rPr lang="en-ID" sz="1800" dirty="0">
                <a:solidFill>
                  <a:srgbClr val="92D050"/>
                </a:solidFill>
              </a:rPr>
              <a:t>, Tools)</a:t>
            </a:r>
          </a:p>
          <a:p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870112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727B-B8A5-43D9-C0D4-D917386A4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Hasil</a:t>
            </a:r>
            <a:r>
              <a:rPr lang="en-US" dirty="0"/>
              <a:t> 2NF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6DD38-7E9D-FCE0-7589-A3163A310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ID" b="1" dirty="0"/>
              <a:t>1. Tabel </a:t>
            </a:r>
            <a:r>
              <a:rPr lang="en-ID" b="1" dirty="0" err="1"/>
              <a:t>Karyawan_Dept</a:t>
            </a:r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pPr marL="152400" indent="0">
              <a:buNone/>
            </a:pPr>
            <a:r>
              <a:rPr lang="en-ID" b="1" dirty="0"/>
              <a:t>2. Tabel </a:t>
            </a:r>
            <a:r>
              <a:rPr lang="en-US" b="1" dirty="0" err="1"/>
              <a:t>Proyek</a:t>
            </a:r>
            <a:r>
              <a:rPr lang="en-US" b="1" dirty="0"/>
              <a:t> 			                 4. </a:t>
            </a:r>
            <a:r>
              <a:rPr lang="en-ID" b="1" dirty="0"/>
              <a:t>Tabel </a:t>
            </a:r>
            <a:r>
              <a:rPr lang="en-US" b="1" dirty="0" err="1"/>
              <a:t>Keahlian_Sertifikasi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152400" indent="0">
              <a:buNone/>
            </a:pPr>
            <a:r>
              <a:rPr lang="en-ID" b="1" dirty="0"/>
              <a:t>3. Tabel </a:t>
            </a:r>
            <a:r>
              <a:rPr lang="en-ID" b="1" dirty="0" err="1"/>
              <a:t>Tugas</a:t>
            </a:r>
            <a:r>
              <a:rPr lang="en-ID" b="1" dirty="0"/>
              <a:t>_</a:t>
            </a:r>
            <a:r>
              <a:rPr lang="en-US" b="1" dirty="0" err="1"/>
              <a:t>Proyek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8C9712-3181-9D51-62BE-8B5CCC0F0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964479"/>
              </p:ext>
            </p:extLst>
          </p:nvPr>
        </p:nvGraphicFramePr>
        <p:xfrm>
          <a:off x="1302818" y="1430024"/>
          <a:ext cx="6934875" cy="662940"/>
        </p:xfrm>
        <a:graphic>
          <a:graphicData uri="http://schemas.openxmlformats.org/drawingml/2006/table">
            <a:tbl>
              <a:tblPr/>
              <a:tblGrid>
                <a:gridCol w="1386975">
                  <a:extLst>
                    <a:ext uri="{9D8B030D-6E8A-4147-A177-3AD203B41FA5}">
                      <a16:colId xmlns:a16="http://schemas.microsoft.com/office/drawing/2014/main" val="2763206353"/>
                    </a:ext>
                  </a:extLst>
                </a:gridCol>
                <a:gridCol w="1591666">
                  <a:extLst>
                    <a:ext uri="{9D8B030D-6E8A-4147-A177-3AD203B41FA5}">
                      <a16:colId xmlns:a16="http://schemas.microsoft.com/office/drawing/2014/main" val="224282062"/>
                    </a:ext>
                  </a:extLst>
                </a:gridCol>
                <a:gridCol w="1182284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  <a:gridCol w="1386975">
                  <a:extLst>
                    <a:ext uri="{9D8B030D-6E8A-4147-A177-3AD203B41FA5}">
                      <a16:colId xmlns:a16="http://schemas.microsoft.com/office/drawing/2014/main" val="214477765"/>
                    </a:ext>
                  </a:extLst>
                </a:gridCol>
                <a:gridCol w="1386975">
                  <a:extLst>
                    <a:ext uri="{9D8B030D-6E8A-4147-A177-3AD203B41FA5}">
                      <a16:colId xmlns:a16="http://schemas.microsoft.com/office/drawing/2014/main" val="374046060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Nama_Dept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Lokasi_Gedung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Asta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Riset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Gedung Alfa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Budi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Gedung Beta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ECF451-C2E0-A75B-4001-69E4A8BBF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040103"/>
              </p:ext>
            </p:extLst>
          </p:nvPr>
        </p:nvGraphicFramePr>
        <p:xfrm>
          <a:off x="1302818" y="2523198"/>
          <a:ext cx="2433342" cy="662940"/>
        </p:xfrm>
        <a:graphic>
          <a:graphicData uri="http://schemas.openxmlformats.org/drawingml/2006/table">
            <a:tbl>
              <a:tblPr/>
              <a:tblGrid>
                <a:gridCol w="1011504">
                  <a:extLst>
                    <a:ext uri="{9D8B030D-6E8A-4147-A177-3AD203B41FA5}">
                      <a16:colId xmlns:a16="http://schemas.microsoft.com/office/drawing/2014/main" val="265067011"/>
                    </a:ext>
                  </a:extLst>
                </a:gridCol>
                <a:gridCol w="1421838">
                  <a:extLst>
                    <a:ext uri="{9D8B030D-6E8A-4147-A177-3AD203B41FA5}">
                      <a16:colId xmlns:a16="http://schemas.microsoft.com/office/drawing/2014/main" val="350973934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3763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AI-Chatbot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248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Big-Data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493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CD0B65-3F81-8FCA-3A9F-56CBC24A6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129452"/>
              </p:ext>
            </p:extLst>
          </p:nvPr>
        </p:nvGraphicFramePr>
        <p:xfrm>
          <a:off x="1302817" y="3633631"/>
          <a:ext cx="3536220" cy="662940"/>
        </p:xfrm>
        <a:graphic>
          <a:graphicData uri="http://schemas.openxmlformats.org/drawingml/2006/table">
            <a:tbl>
              <a:tblPr/>
              <a:tblGrid>
                <a:gridCol w="1178740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98776661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5502304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Lead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Analyst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CDDFDE-F0FE-CF70-910C-5DDDB1E1A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36768"/>
              </p:ext>
            </p:extLst>
          </p:nvPr>
        </p:nvGraphicFramePr>
        <p:xfrm>
          <a:off x="5166258" y="2523198"/>
          <a:ext cx="3621693" cy="1546860"/>
        </p:xfrm>
        <a:graphic>
          <a:graphicData uri="http://schemas.openxmlformats.org/drawingml/2006/table">
            <a:tbl>
              <a:tblPr/>
              <a:tblGrid>
                <a:gridCol w="1207231">
                  <a:extLst>
                    <a:ext uri="{9D8B030D-6E8A-4147-A177-3AD203B41FA5}">
                      <a16:colId xmlns:a16="http://schemas.microsoft.com/office/drawing/2014/main" val="3415344190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292715525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397636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>
                          <a:solidFill>
                            <a:sysClr val="windowText" lastClr="000000"/>
                          </a:solidFill>
                          <a:effectLst/>
                        </a:rPr>
                        <a:t>Sertifikasi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81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4228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784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919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SQL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3349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78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001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E5C3E-6A58-67EF-BF2F-63DE7E2E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F840-64EB-1D26-195A-CB3F3CE22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4633"/>
            <a:ext cx="7704000" cy="572700"/>
          </a:xfrm>
        </p:spPr>
        <p:txBody>
          <a:bodyPr/>
          <a:lstStyle/>
          <a:p>
            <a:r>
              <a:rPr lang="en-ID" dirty="0" err="1"/>
              <a:t>Tahap</a:t>
            </a:r>
            <a:r>
              <a:rPr lang="en-ID" dirty="0"/>
              <a:t> 3NF </a:t>
            </a:r>
            <a:br>
              <a:rPr lang="en-ID" dirty="0"/>
            </a:br>
            <a:r>
              <a:rPr lang="en-ID" dirty="0"/>
              <a:t>(</a:t>
            </a:r>
            <a:r>
              <a:rPr lang="en-ID" dirty="0" err="1"/>
              <a:t>Menghilangkan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Transitif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1DC65-1F7F-C765-CA93-3499F8EEB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75259"/>
            <a:ext cx="7704000" cy="3762407"/>
          </a:xfrm>
        </p:spPr>
        <p:txBody>
          <a:bodyPr/>
          <a:lstStyle/>
          <a:p>
            <a:r>
              <a:rPr lang="en-ID" sz="2400" dirty="0"/>
              <a:t>Pada </a:t>
            </a:r>
            <a:r>
              <a:rPr lang="en-ID" sz="2400" b="1" dirty="0" err="1">
                <a:solidFill>
                  <a:srgbClr val="FFC000"/>
                </a:solidFill>
              </a:rPr>
              <a:t>Tabel_Karyawan_Dept</a:t>
            </a:r>
            <a:r>
              <a:rPr lang="en-ID" sz="2400" dirty="0"/>
              <a:t>, </a:t>
            </a:r>
            <a:r>
              <a:rPr lang="en-ID" sz="2400" dirty="0" err="1">
                <a:solidFill>
                  <a:srgbClr val="92D050"/>
                </a:solidFill>
              </a:rPr>
              <a:t>Lokasi_Gedung</a:t>
            </a:r>
            <a:r>
              <a:rPr lang="en-ID" sz="2400" dirty="0"/>
              <a:t> </a:t>
            </a:r>
            <a:r>
              <a:rPr lang="en-ID" sz="2400" dirty="0" err="1"/>
              <a:t>sebenarnya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0000"/>
                </a:solidFill>
              </a:rPr>
              <a:t>bergantung</a:t>
            </a:r>
            <a:r>
              <a:rPr lang="en-ID" sz="2400" dirty="0"/>
              <a:t> pada </a:t>
            </a:r>
            <a:r>
              <a:rPr lang="en-ID" sz="2400" dirty="0" err="1">
                <a:solidFill>
                  <a:srgbClr val="92D050"/>
                </a:solidFill>
              </a:rPr>
              <a:t>Nama_Dept</a:t>
            </a:r>
            <a:r>
              <a:rPr lang="en-ID" sz="2400" dirty="0"/>
              <a:t>, dan </a:t>
            </a:r>
            <a:r>
              <a:rPr lang="en-ID" sz="2400" dirty="0" err="1">
                <a:solidFill>
                  <a:srgbClr val="92D050"/>
                </a:solidFill>
              </a:rPr>
              <a:t>Nama_Dept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0000"/>
                </a:solidFill>
              </a:rPr>
              <a:t>bergantung</a:t>
            </a:r>
            <a:r>
              <a:rPr lang="en-ID" sz="2400" dirty="0"/>
              <a:t> pada </a:t>
            </a:r>
            <a:r>
              <a:rPr lang="en-ID" sz="2400" dirty="0" err="1">
                <a:solidFill>
                  <a:srgbClr val="92D050"/>
                </a:solidFill>
              </a:rPr>
              <a:t>Dept_ID</a:t>
            </a:r>
            <a:r>
              <a:rPr lang="en-ID" sz="2400" dirty="0"/>
              <a:t>. Ini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transitif</a:t>
            </a:r>
            <a:r>
              <a:rPr lang="en-ID" sz="2400" dirty="0"/>
              <a:t>.</a:t>
            </a:r>
          </a:p>
          <a:p>
            <a:r>
              <a:rPr lang="en-ID" sz="2400" b="1" dirty="0">
                <a:solidFill>
                  <a:srgbClr val="FFC000"/>
                </a:solidFill>
              </a:rPr>
              <a:t>Hasil </a:t>
            </a:r>
            <a:r>
              <a:rPr lang="en-ID" sz="2400" b="1" dirty="0" err="1">
                <a:solidFill>
                  <a:srgbClr val="FFC000"/>
                </a:solidFill>
              </a:rPr>
              <a:t>Dekomposisi</a:t>
            </a:r>
            <a:r>
              <a:rPr lang="en-ID" sz="2400" b="1" dirty="0"/>
              <a:t> 3NF:</a:t>
            </a:r>
            <a:endParaRPr lang="en-ID" sz="2400" dirty="0"/>
          </a:p>
          <a:p>
            <a:pPr lvl="1"/>
            <a:r>
              <a:rPr lang="en-ID" sz="2400" b="1" dirty="0" err="1">
                <a:solidFill>
                  <a:schemeClr val="tx1"/>
                </a:solidFill>
              </a:rPr>
              <a:t>Tabel_Karyawan</a:t>
            </a:r>
            <a:r>
              <a:rPr lang="en-ID" sz="2400" b="1" dirty="0">
                <a:solidFill>
                  <a:schemeClr val="tx1"/>
                </a:solidFill>
              </a:rPr>
              <a:t>:</a:t>
            </a:r>
            <a:r>
              <a:rPr lang="en-ID" sz="2400" dirty="0">
                <a:solidFill>
                  <a:srgbClr val="92D050"/>
                </a:solidFill>
              </a:rPr>
              <a:t> (</a:t>
            </a:r>
            <a:r>
              <a:rPr lang="en-ID" sz="2400" dirty="0" err="1">
                <a:solidFill>
                  <a:srgbClr val="92D050"/>
                </a:solidFill>
              </a:rPr>
              <a:t>ID_Karyawan</a:t>
            </a:r>
            <a:r>
              <a:rPr lang="en-ID" sz="2400" dirty="0">
                <a:solidFill>
                  <a:srgbClr val="92D050"/>
                </a:solidFill>
              </a:rPr>
              <a:t>, </a:t>
            </a:r>
            <a:r>
              <a:rPr lang="en-ID" sz="2400" dirty="0" err="1">
                <a:solidFill>
                  <a:srgbClr val="92D050"/>
                </a:solidFill>
              </a:rPr>
              <a:t>Nama_Karyawan</a:t>
            </a:r>
            <a:r>
              <a:rPr lang="en-ID" sz="2400" dirty="0">
                <a:solidFill>
                  <a:srgbClr val="92D050"/>
                </a:solidFill>
              </a:rPr>
              <a:t>, </a:t>
            </a:r>
            <a:r>
              <a:rPr lang="en-ID" sz="2400" b="1" dirty="0" err="1">
                <a:solidFill>
                  <a:srgbClr val="92D050"/>
                </a:solidFill>
              </a:rPr>
              <a:t>Dept_ID</a:t>
            </a:r>
            <a:r>
              <a:rPr lang="en-ID" sz="2400" dirty="0">
                <a:solidFill>
                  <a:srgbClr val="92D050"/>
                </a:solidFill>
              </a:rPr>
              <a:t>)</a:t>
            </a:r>
          </a:p>
          <a:p>
            <a:pPr lvl="1"/>
            <a:r>
              <a:rPr lang="en-ID" sz="2400" b="1" dirty="0" err="1">
                <a:solidFill>
                  <a:schemeClr val="tx1"/>
                </a:solidFill>
              </a:rPr>
              <a:t>Tabel_Departemen</a:t>
            </a:r>
            <a:r>
              <a:rPr lang="en-ID" sz="2400" b="1" dirty="0">
                <a:solidFill>
                  <a:schemeClr val="tx1"/>
                </a:solidFill>
              </a:rPr>
              <a:t>:</a:t>
            </a:r>
            <a:r>
              <a:rPr lang="en-ID" sz="2400" dirty="0">
                <a:solidFill>
                  <a:srgbClr val="92D050"/>
                </a:solidFill>
              </a:rPr>
              <a:t> (</a:t>
            </a:r>
            <a:r>
              <a:rPr lang="en-ID" sz="2400" dirty="0" err="1">
                <a:solidFill>
                  <a:srgbClr val="92D050"/>
                </a:solidFill>
              </a:rPr>
              <a:t>Dept_ID</a:t>
            </a:r>
            <a:r>
              <a:rPr lang="en-ID" sz="2400" dirty="0">
                <a:solidFill>
                  <a:srgbClr val="92D050"/>
                </a:solidFill>
              </a:rPr>
              <a:t>, </a:t>
            </a:r>
            <a:r>
              <a:rPr lang="en-ID" sz="2400" dirty="0" err="1">
                <a:solidFill>
                  <a:srgbClr val="92D050"/>
                </a:solidFill>
              </a:rPr>
              <a:t>Nama_Dept</a:t>
            </a:r>
            <a:r>
              <a:rPr lang="en-ID" sz="2400" dirty="0">
                <a:solidFill>
                  <a:srgbClr val="92D050"/>
                </a:solidFill>
              </a:rPr>
              <a:t>, </a:t>
            </a:r>
            <a:r>
              <a:rPr lang="en-ID" sz="2400" dirty="0" err="1">
                <a:solidFill>
                  <a:srgbClr val="92D050"/>
                </a:solidFill>
              </a:rPr>
              <a:t>Lokasi_Gedung</a:t>
            </a:r>
            <a:r>
              <a:rPr lang="en-ID" sz="2400" dirty="0">
                <a:solidFill>
                  <a:srgbClr val="92D050"/>
                </a:solidFill>
              </a:rPr>
              <a:t>) </a:t>
            </a:r>
          </a:p>
          <a:p>
            <a:pPr lvl="1"/>
            <a:r>
              <a:rPr lang="en-ID" sz="2400" i="1" dirty="0">
                <a:solidFill>
                  <a:srgbClr val="92D050"/>
                </a:solidFill>
              </a:rPr>
              <a:t>(Tabel </a:t>
            </a:r>
            <a:r>
              <a:rPr lang="en-ID" sz="2400" i="1" dirty="0" err="1">
                <a:solidFill>
                  <a:srgbClr val="92D050"/>
                </a:solidFill>
              </a:rPr>
              <a:t>Proyek</a:t>
            </a:r>
            <a:r>
              <a:rPr lang="en-ID" sz="2400" i="1" dirty="0">
                <a:solidFill>
                  <a:srgbClr val="92D050"/>
                </a:solidFill>
              </a:rPr>
              <a:t> dan </a:t>
            </a:r>
            <a:r>
              <a:rPr lang="en-ID" sz="2400" i="1" dirty="0" err="1">
                <a:solidFill>
                  <a:srgbClr val="92D050"/>
                </a:solidFill>
              </a:rPr>
              <a:t>Tugas_Proyek</a:t>
            </a:r>
            <a:r>
              <a:rPr lang="en-ID" sz="2400" i="1" dirty="0">
                <a:solidFill>
                  <a:srgbClr val="92D050"/>
                </a:solidFill>
              </a:rPr>
              <a:t> </a:t>
            </a:r>
            <a:r>
              <a:rPr lang="en-ID" sz="2400" i="1" dirty="0" err="1">
                <a:solidFill>
                  <a:srgbClr val="92D050"/>
                </a:solidFill>
              </a:rPr>
              <a:t>tetap</a:t>
            </a:r>
            <a:r>
              <a:rPr lang="en-ID" sz="2400" i="1" dirty="0">
                <a:solidFill>
                  <a:srgbClr val="92D050"/>
                </a:solidFill>
              </a:rPr>
              <a:t> </a:t>
            </a:r>
            <a:r>
              <a:rPr lang="en-ID" sz="2400" i="1" dirty="0" err="1">
                <a:solidFill>
                  <a:srgbClr val="92D050"/>
                </a:solidFill>
              </a:rPr>
              <a:t>sama</a:t>
            </a:r>
            <a:r>
              <a:rPr lang="en-ID" sz="2400" i="1" dirty="0">
                <a:solidFill>
                  <a:srgbClr val="92D050"/>
                </a:solidFill>
              </a:rPr>
              <a:t>)</a:t>
            </a:r>
            <a:endParaRPr lang="en-ID" sz="2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741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CA855-5162-33F4-DF4D-6DFD021AA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CBAF-3E17-8958-21F6-400F19C6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Hasil</a:t>
            </a:r>
            <a:r>
              <a:rPr lang="en-US" dirty="0"/>
              <a:t> 3NF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6A6FF-5FAD-69C6-DD6E-318C0B2AC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ID" b="1" dirty="0"/>
              <a:t>1. Tabel </a:t>
            </a:r>
            <a:r>
              <a:rPr lang="en-ID" b="1" dirty="0" err="1"/>
              <a:t>Karyawan</a:t>
            </a:r>
            <a:r>
              <a:rPr lang="en-ID" b="1" dirty="0"/>
              <a:t> 			                2. Tabel Departemen</a:t>
            </a:r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pPr marL="152400" indent="0">
              <a:buNone/>
            </a:pPr>
            <a:r>
              <a:rPr lang="en-ID" b="1" dirty="0"/>
              <a:t>3. Tabel </a:t>
            </a:r>
            <a:r>
              <a:rPr lang="en-US" b="1" dirty="0" err="1"/>
              <a:t>Proyek</a:t>
            </a:r>
            <a:r>
              <a:rPr lang="en-US" b="1" dirty="0"/>
              <a:t> 			                 5. </a:t>
            </a:r>
            <a:r>
              <a:rPr lang="en-ID" b="1" dirty="0"/>
              <a:t>Tabel </a:t>
            </a:r>
            <a:r>
              <a:rPr lang="en-US" b="1" dirty="0" err="1"/>
              <a:t>Keahlian_Sertifikasi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152400" indent="0">
              <a:buNone/>
            </a:pPr>
            <a:r>
              <a:rPr lang="en-ID" b="1" dirty="0"/>
              <a:t>4. Tabel </a:t>
            </a:r>
            <a:r>
              <a:rPr lang="en-ID" b="1" dirty="0" err="1"/>
              <a:t>Tugas</a:t>
            </a:r>
            <a:r>
              <a:rPr lang="en-ID" b="1" dirty="0"/>
              <a:t>_</a:t>
            </a:r>
            <a:r>
              <a:rPr lang="en-US" b="1" dirty="0" err="1"/>
              <a:t>Proyek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12B72E-98A2-6D5D-EAB1-D9CDA297C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055883"/>
              </p:ext>
            </p:extLst>
          </p:nvPr>
        </p:nvGraphicFramePr>
        <p:xfrm>
          <a:off x="1276181" y="1442867"/>
          <a:ext cx="3269181" cy="662940"/>
        </p:xfrm>
        <a:graphic>
          <a:graphicData uri="http://schemas.openxmlformats.org/drawingml/2006/table">
            <a:tbl>
              <a:tblPr/>
              <a:tblGrid>
                <a:gridCol w="1089727">
                  <a:extLst>
                    <a:ext uri="{9D8B030D-6E8A-4147-A177-3AD203B41FA5}">
                      <a16:colId xmlns:a16="http://schemas.microsoft.com/office/drawing/2014/main" val="2763206353"/>
                    </a:ext>
                  </a:extLst>
                </a:gridCol>
                <a:gridCol w="1394527">
                  <a:extLst>
                    <a:ext uri="{9D8B030D-6E8A-4147-A177-3AD203B41FA5}">
                      <a16:colId xmlns:a16="http://schemas.microsoft.com/office/drawing/2014/main" val="224282062"/>
                    </a:ext>
                  </a:extLst>
                </a:gridCol>
                <a:gridCol w="784927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Asta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Budi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AD467B-74F4-E12C-36E2-60769B4B507B}"/>
              </a:ext>
            </a:extLst>
          </p:cNvPr>
          <p:cNvGraphicFramePr>
            <a:graphicFrameLocks noGrp="1"/>
          </p:cNvGraphicFramePr>
          <p:nvPr/>
        </p:nvGraphicFramePr>
        <p:xfrm>
          <a:off x="1302818" y="2523198"/>
          <a:ext cx="2433342" cy="662940"/>
        </p:xfrm>
        <a:graphic>
          <a:graphicData uri="http://schemas.openxmlformats.org/drawingml/2006/table">
            <a:tbl>
              <a:tblPr/>
              <a:tblGrid>
                <a:gridCol w="1011504">
                  <a:extLst>
                    <a:ext uri="{9D8B030D-6E8A-4147-A177-3AD203B41FA5}">
                      <a16:colId xmlns:a16="http://schemas.microsoft.com/office/drawing/2014/main" val="265067011"/>
                    </a:ext>
                  </a:extLst>
                </a:gridCol>
                <a:gridCol w="1421838">
                  <a:extLst>
                    <a:ext uri="{9D8B030D-6E8A-4147-A177-3AD203B41FA5}">
                      <a16:colId xmlns:a16="http://schemas.microsoft.com/office/drawing/2014/main" val="350973934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3763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AI-Chatbot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248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Big-Data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493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DBF19E-5005-BCC0-ABEC-1034A0363B2B}"/>
              </a:ext>
            </a:extLst>
          </p:cNvPr>
          <p:cNvGraphicFramePr>
            <a:graphicFrameLocks noGrp="1"/>
          </p:cNvGraphicFramePr>
          <p:nvPr/>
        </p:nvGraphicFramePr>
        <p:xfrm>
          <a:off x="1302817" y="3633631"/>
          <a:ext cx="3536220" cy="662940"/>
        </p:xfrm>
        <a:graphic>
          <a:graphicData uri="http://schemas.openxmlformats.org/drawingml/2006/table">
            <a:tbl>
              <a:tblPr/>
              <a:tblGrid>
                <a:gridCol w="1178740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98776661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5502304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Lead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Analyst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7B4460-DBAA-E997-80B8-4FEFA09C962D}"/>
              </a:ext>
            </a:extLst>
          </p:cNvPr>
          <p:cNvGraphicFramePr>
            <a:graphicFrameLocks noGrp="1"/>
          </p:cNvGraphicFramePr>
          <p:nvPr/>
        </p:nvGraphicFramePr>
        <p:xfrm>
          <a:off x="5166258" y="2523198"/>
          <a:ext cx="3621693" cy="1546860"/>
        </p:xfrm>
        <a:graphic>
          <a:graphicData uri="http://schemas.openxmlformats.org/drawingml/2006/table">
            <a:tbl>
              <a:tblPr/>
              <a:tblGrid>
                <a:gridCol w="1207231">
                  <a:extLst>
                    <a:ext uri="{9D8B030D-6E8A-4147-A177-3AD203B41FA5}">
                      <a16:colId xmlns:a16="http://schemas.microsoft.com/office/drawing/2014/main" val="3415344190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292715525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397636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>
                          <a:solidFill>
                            <a:sysClr val="windowText" lastClr="000000"/>
                          </a:solidFill>
                          <a:effectLst/>
                        </a:rPr>
                        <a:t>Sertifikasi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81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4228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784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919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SQL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3349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784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7CDB8B4-4931-34AE-5458-C08CF1C70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58975"/>
              </p:ext>
            </p:extLst>
          </p:nvPr>
        </p:nvGraphicFramePr>
        <p:xfrm>
          <a:off x="5166258" y="1442867"/>
          <a:ext cx="3269180" cy="662940"/>
        </p:xfrm>
        <a:graphic>
          <a:graphicData uri="http://schemas.openxmlformats.org/drawingml/2006/table">
            <a:tbl>
              <a:tblPr/>
              <a:tblGrid>
                <a:gridCol w="976964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  <a:gridCol w="1034413">
                  <a:extLst>
                    <a:ext uri="{9D8B030D-6E8A-4147-A177-3AD203B41FA5}">
                      <a16:colId xmlns:a16="http://schemas.microsoft.com/office/drawing/2014/main" val="214477765"/>
                    </a:ext>
                  </a:extLst>
                </a:gridCol>
                <a:gridCol w="1257803">
                  <a:extLst>
                    <a:ext uri="{9D8B030D-6E8A-4147-A177-3AD203B41FA5}">
                      <a16:colId xmlns:a16="http://schemas.microsoft.com/office/drawing/2014/main" val="374046060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Nama_Dept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Lokasi_Gedung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Riset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Gedung Alfa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Gedung Beta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9547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F33A-80A3-8989-D6A8-A1B28909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7527-5107-E59F-FCA8-0FECDCFB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12658"/>
            <a:ext cx="7704000" cy="572700"/>
          </a:xfrm>
        </p:spPr>
        <p:txBody>
          <a:bodyPr/>
          <a:lstStyle/>
          <a:p>
            <a:r>
              <a:rPr lang="en-ID" dirty="0" err="1"/>
              <a:t>Tahap</a:t>
            </a:r>
            <a:r>
              <a:rPr lang="en-ID" dirty="0"/>
              <a:t> BCNF  (</a:t>
            </a:r>
            <a:r>
              <a:rPr lang="en-ID" sz="2800" b="1" dirty="0"/>
              <a:t>Boyce-Codd Normal Form</a:t>
            </a:r>
            <a:r>
              <a:rPr lang="en-ID" dirty="0"/>
              <a:t>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EC06A-FA2F-0473-A957-A8A833E60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72959"/>
            <a:ext cx="7704000" cy="3566774"/>
          </a:xfrm>
        </p:spPr>
        <p:txBody>
          <a:bodyPr/>
          <a:lstStyle/>
          <a:p>
            <a:r>
              <a:rPr lang="en-ID" sz="2000" dirty="0" err="1"/>
              <a:t>Misalkan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Tabel_Tugas_Proyek</a:t>
            </a:r>
            <a:r>
              <a:rPr lang="en-ID" sz="2000" dirty="0"/>
              <a:t>, 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aturan</a:t>
            </a:r>
            <a:r>
              <a:rPr lang="en-ID" sz="2000" dirty="0"/>
              <a:t>: </a:t>
            </a:r>
          </a:p>
          <a:p>
            <a:pPr lvl="1"/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92D050"/>
                </a:solidFill>
              </a:rPr>
              <a:t>Peran_Proyek</a:t>
            </a:r>
            <a:r>
              <a:rPr lang="en-ID" sz="2000" dirty="0"/>
              <a:t> di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boleh</a:t>
            </a:r>
            <a:r>
              <a:rPr lang="en-ID" sz="2000" dirty="0"/>
              <a:t> </a:t>
            </a:r>
            <a:r>
              <a:rPr lang="en-ID" sz="2000" dirty="0" err="1"/>
              <a:t>dipegang</a:t>
            </a:r>
            <a:r>
              <a:rPr lang="en-ID" sz="2000" dirty="0"/>
              <a:t> oleh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92D050"/>
                </a:solidFill>
              </a:rPr>
              <a:t>ID_Karyawan</a:t>
            </a:r>
            <a:r>
              <a:rPr lang="en-ID" sz="2000" dirty="0">
                <a:solidFill>
                  <a:srgbClr val="92D050"/>
                </a:solidFill>
              </a:rPr>
              <a:t> </a:t>
            </a:r>
            <a:r>
              <a:rPr lang="en-ID" sz="2000" dirty="0" err="1">
                <a:solidFill>
                  <a:srgbClr val="92D050"/>
                </a:solidFill>
              </a:rPr>
              <a:t>unik</a:t>
            </a:r>
            <a:r>
              <a:rPr lang="en-ID" sz="2000" dirty="0"/>
              <a:t>, </a:t>
            </a:r>
          </a:p>
          <a:p>
            <a:pPr lvl="1"/>
            <a:r>
              <a:rPr lang="en-ID" sz="2000" dirty="0"/>
              <a:t>dan </a:t>
            </a:r>
            <a:r>
              <a:rPr lang="en-ID" sz="2000" dirty="0" err="1">
                <a:solidFill>
                  <a:srgbClr val="92D050"/>
                </a:solidFill>
              </a:rPr>
              <a:t>Peran_Proyek</a:t>
            </a:r>
            <a:r>
              <a:rPr lang="en-ID" sz="2000" dirty="0"/>
              <a:t>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92D050"/>
                </a:solidFill>
              </a:rPr>
              <a:t>Proyek_ID</a:t>
            </a:r>
            <a:r>
              <a:rPr lang="en-ID" sz="2000" dirty="0"/>
              <a:t>. </a:t>
            </a:r>
          </a:p>
          <a:p>
            <a:pPr lvl="1"/>
            <a:r>
              <a:rPr lang="en-ID" sz="2000" dirty="0"/>
              <a:t>Jika </a:t>
            </a:r>
            <a:r>
              <a:rPr lang="en-ID" sz="2000" dirty="0" err="1">
                <a:solidFill>
                  <a:srgbClr val="92D050"/>
                </a:solidFill>
              </a:rPr>
              <a:t>Peran_Proyek</a:t>
            </a:r>
            <a:r>
              <a:rPr lang="en-ID" sz="2000" dirty="0"/>
              <a:t> (</a:t>
            </a:r>
            <a:r>
              <a:rPr lang="en-ID" sz="2000" dirty="0" err="1">
                <a:solidFill>
                  <a:srgbClr val="FF0000"/>
                </a:solidFill>
              </a:rPr>
              <a:t>bukan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superkey</a:t>
            </a:r>
            <a:r>
              <a:rPr lang="en-ID" sz="2000" dirty="0"/>
              <a:t>)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92D050"/>
                </a:solidFill>
              </a:rPr>
              <a:t>Proyek_ID</a:t>
            </a:r>
            <a:r>
              <a:rPr lang="en-ID" sz="2000" dirty="0">
                <a:solidFill>
                  <a:srgbClr val="92D050"/>
                </a:solidFill>
              </a:rPr>
              <a:t>,</a:t>
            </a:r>
            <a:r>
              <a:rPr lang="en-ID" sz="2000" dirty="0"/>
              <a:t> </a:t>
            </a:r>
            <a:r>
              <a:rPr lang="en-ID" sz="2000" dirty="0" err="1"/>
              <a:t>maka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0000"/>
                </a:solidFill>
              </a:rPr>
              <a:t>langgar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dirty="0"/>
              <a:t>.</a:t>
            </a:r>
          </a:p>
          <a:p>
            <a:endParaRPr lang="en-ID" sz="2000" dirty="0"/>
          </a:p>
          <a:p>
            <a:r>
              <a:rPr lang="en-ID" sz="2000" b="1" dirty="0">
                <a:solidFill>
                  <a:srgbClr val="FFC000"/>
                </a:solidFill>
              </a:rPr>
              <a:t>Hasil</a:t>
            </a:r>
            <a:r>
              <a:rPr lang="en-ID" sz="2000" b="1" dirty="0"/>
              <a:t> </a:t>
            </a:r>
            <a:r>
              <a:rPr lang="en-ID" sz="2000" b="1" dirty="0" err="1"/>
              <a:t>Dekomposisi</a:t>
            </a:r>
            <a:r>
              <a:rPr lang="en-ID" sz="2000" b="1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b="1" dirty="0"/>
              <a:t>:</a:t>
            </a:r>
            <a:endParaRPr lang="en-ID" sz="2000" dirty="0"/>
          </a:p>
          <a:p>
            <a:pPr lvl="1"/>
            <a:r>
              <a:rPr lang="en-ID" sz="2000" dirty="0"/>
              <a:t>Kita </a:t>
            </a:r>
            <a:r>
              <a:rPr lang="en-ID" sz="2000" dirty="0" err="1"/>
              <a:t>pastikan</a:t>
            </a:r>
            <a:r>
              <a:rPr lang="en-ID" sz="2000" dirty="0"/>
              <a:t> </a:t>
            </a:r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penentu</a:t>
            </a:r>
            <a:r>
              <a:rPr lang="en-ID" sz="2000" dirty="0"/>
              <a:t> (</a:t>
            </a:r>
            <a:r>
              <a:rPr lang="en-ID" sz="2000" b="1" i="1" dirty="0">
                <a:solidFill>
                  <a:srgbClr val="FFC000"/>
                </a:solidFill>
              </a:rPr>
              <a:t>determinant</a:t>
            </a:r>
            <a:r>
              <a:rPr lang="en-ID" sz="2000" dirty="0"/>
              <a:t>)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kandidat</a:t>
            </a:r>
            <a:r>
              <a:rPr lang="en-ID" sz="2000" dirty="0"/>
              <a:t>. </a:t>
            </a:r>
            <a:r>
              <a:rPr lang="en-ID" sz="2000" dirty="0" err="1"/>
              <a:t>Biasanya</a:t>
            </a:r>
            <a:r>
              <a:rPr lang="en-ID" sz="2000" dirty="0"/>
              <a:t>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memisahkan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</a:t>
            </a:r>
            <a:r>
              <a:rPr lang="en-ID" sz="2000" dirty="0" err="1"/>
              <a:t>peran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tabel</a:t>
            </a:r>
            <a:r>
              <a:rPr lang="en-ID" sz="2000" dirty="0"/>
              <a:t> </a:t>
            </a:r>
            <a:r>
              <a:rPr lang="en-ID" sz="2000" dirty="0" err="1"/>
              <a:t>referensi</a:t>
            </a:r>
            <a:r>
              <a:rPr lang="en-ID" sz="2000" dirty="0"/>
              <a:t> </a:t>
            </a:r>
            <a:r>
              <a:rPr lang="en-ID" sz="2000" dirty="0" err="1"/>
              <a:t>tersendiri</a:t>
            </a:r>
            <a:r>
              <a:rPr lang="en-ID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912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58738-AD0F-544E-F4F3-5CECE42A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0D22-9C2D-A84E-8FF5-C992A1D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Hasil</a:t>
            </a:r>
            <a:r>
              <a:rPr lang="en-US" dirty="0"/>
              <a:t> BCNF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EBAD5-244C-6C12-D638-BBCA0B031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ID" b="1" dirty="0"/>
              <a:t>1. Tabel </a:t>
            </a:r>
            <a:r>
              <a:rPr lang="en-ID" b="1" dirty="0" err="1"/>
              <a:t>Karyawan</a:t>
            </a:r>
            <a:r>
              <a:rPr lang="en-ID" b="1" dirty="0"/>
              <a:t> 			                2. Tabel Departemen</a:t>
            </a:r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pPr marL="152400" indent="0">
              <a:buNone/>
            </a:pPr>
            <a:r>
              <a:rPr lang="en-ID" b="1" dirty="0"/>
              <a:t>3. Tabel </a:t>
            </a:r>
            <a:r>
              <a:rPr lang="en-US" b="1" dirty="0" err="1"/>
              <a:t>Proyek</a:t>
            </a:r>
            <a:r>
              <a:rPr lang="en-US" b="1" dirty="0"/>
              <a:t> 			                 5. </a:t>
            </a:r>
            <a:r>
              <a:rPr lang="en-ID" b="1" dirty="0"/>
              <a:t>Tabel </a:t>
            </a:r>
            <a:r>
              <a:rPr lang="en-US" b="1" dirty="0" err="1"/>
              <a:t>Keahlian_Sertifikasi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152400" indent="0">
              <a:buNone/>
            </a:pPr>
            <a:r>
              <a:rPr lang="en-ID" b="1" dirty="0"/>
              <a:t>4. Tabel </a:t>
            </a:r>
            <a:r>
              <a:rPr lang="en-ID" b="1" dirty="0" err="1"/>
              <a:t>Tugas</a:t>
            </a:r>
            <a:r>
              <a:rPr lang="en-ID" b="1" dirty="0"/>
              <a:t>_</a:t>
            </a:r>
            <a:r>
              <a:rPr lang="en-US" b="1" dirty="0" err="1"/>
              <a:t>Proyek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b="1" dirty="0"/>
          </a:p>
          <a:p>
            <a:pPr marL="152400" indent="0">
              <a:buNone/>
            </a:pPr>
            <a:r>
              <a:rPr lang="en-ID" b="1" dirty="0"/>
              <a:t>6. Tabel Peran_</a:t>
            </a:r>
            <a:r>
              <a:rPr lang="en-US" b="1" dirty="0" err="1"/>
              <a:t>Proyek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D46029-0114-3FBD-1400-EB72E924E0F9}"/>
              </a:ext>
            </a:extLst>
          </p:cNvPr>
          <p:cNvGraphicFramePr>
            <a:graphicFrameLocks noGrp="1"/>
          </p:cNvGraphicFramePr>
          <p:nvPr/>
        </p:nvGraphicFramePr>
        <p:xfrm>
          <a:off x="1276181" y="1442867"/>
          <a:ext cx="3269181" cy="662940"/>
        </p:xfrm>
        <a:graphic>
          <a:graphicData uri="http://schemas.openxmlformats.org/drawingml/2006/table">
            <a:tbl>
              <a:tblPr/>
              <a:tblGrid>
                <a:gridCol w="1089727">
                  <a:extLst>
                    <a:ext uri="{9D8B030D-6E8A-4147-A177-3AD203B41FA5}">
                      <a16:colId xmlns:a16="http://schemas.microsoft.com/office/drawing/2014/main" val="2763206353"/>
                    </a:ext>
                  </a:extLst>
                </a:gridCol>
                <a:gridCol w="1394527">
                  <a:extLst>
                    <a:ext uri="{9D8B030D-6E8A-4147-A177-3AD203B41FA5}">
                      <a16:colId xmlns:a16="http://schemas.microsoft.com/office/drawing/2014/main" val="224282062"/>
                    </a:ext>
                  </a:extLst>
                </a:gridCol>
                <a:gridCol w="784927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Asta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Budi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1075CD-6A93-D22A-9B8C-A4AA00714CFA}"/>
              </a:ext>
            </a:extLst>
          </p:cNvPr>
          <p:cNvGraphicFramePr>
            <a:graphicFrameLocks noGrp="1"/>
          </p:cNvGraphicFramePr>
          <p:nvPr/>
        </p:nvGraphicFramePr>
        <p:xfrm>
          <a:off x="1302818" y="2523198"/>
          <a:ext cx="2433342" cy="662940"/>
        </p:xfrm>
        <a:graphic>
          <a:graphicData uri="http://schemas.openxmlformats.org/drawingml/2006/table">
            <a:tbl>
              <a:tblPr/>
              <a:tblGrid>
                <a:gridCol w="1011504">
                  <a:extLst>
                    <a:ext uri="{9D8B030D-6E8A-4147-A177-3AD203B41FA5}">
                      <a16:colId xmlns:a16="http://schemas.microsoft.com/office/drawing/2014/main" val="265067011"/>
                    </a:ext>
                  </a:extLst>
                </a:gridCol>
                <a:gridCol w="1421838">
                  <a:extLst>
                    <a:ext uri="{9D8B030D-6E8A-4147-A177-3AD203B41FA5}">
                      <a16:colId xmlns:a16="http://schemas.microsoft.com/office/drawing/2014/main" val="350973934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3763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AI-Chatbot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248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Big-Data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493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BCE161-2857-7436-379D-908CF8B98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7203277"/>
              </p:ext>
            </p:extLst>
          </p:nvPr>
        </p:nvGraphicFramePr>
        <p:xfrm>
          <a:off x="1302817" y="3633631"/>
          <a:ext cx="2357480" cy="662940"/>
        </p:xfrm>
        <a:graphic>
          <a:graphicData uri="http://schemas.openxmlformats.org/drawingml/2006/table">
            <a:tbl>
              <a:tblPr/>
              <a:tblGrid>
                <a:gridCol w="1178740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9877666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60B5E6-3EFD-DDA1-5A1C-7ECE7909193B}"/>
              </a:ext>
            </a:extLst>
          </p:cNvPr>
          <p:cNvGraphicFramePr>
            <a:graphicFrameLocks noGrp="1"/>
          </p:cNvGraphicFramePr>
          <p:nvPr/>
        </p:nvGraphicFramePr>
        <p:xfrm>
          <a:off x="5166258" y="2523198"/>
          <a:ext cx="3621693" cy="1546860"/>
        </p:xfrm>
        <a:graphic>
          <a:graphicData uri="http://schemas.openxmlformats.org/drawingml/2006/table">
            <a:tbl>
              <a:tblPr/>
              <a:tblGrid>
                <a:gridCol w="1207231">
                  <a:extLst>
                    <a:ext uri="{9D8B030D-6E8A-4147-A177-3AD203B41FA5}">
                      <a16:colId xmlns:a16="http://schemas.microsoft.com/office/drawing/2014/main" val="3415344190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292715525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397636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>
                          <a:solidFill>
                            <a:sysClr val="windowText" lastClr="000000"/>
                          </a:solidFill>
                          <a:effectLst/>
                        </a:rPr>
                        <a:t>Sertifikasi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81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4228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784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919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071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SQL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3349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784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40E63F-FF19-AEED-CB32-09BBDACC7376}"/>
              </a:ext>
            </a:extLst>
          </p:cNvPr>
          <p:cNvGraphicFramePr>
            <a:graphicFrameLocks noGrp="1"/>
          </p:cNvGraphicFramePr>
          <p:nvPr/>
        </p:nvGraphicFramePr>
        <p:xfrm>
          <a:off x="5166258" y="1442867"/>
          <a:ext cx="3269180" cy="662940"/>
        </p:xfrm>
        <a:graphic>
          <a:graphicData uri="http://schemas.openxmlformats.org/drawingml/2006/table">
            <a:tbl>
              <a:tblPr/>
              <a:tblGrid>
                <a:gridCol w="976964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  <a:gridCol w="1034413">
                  <a:extLst>
                    <a:ext uri="{9D8B030D-6E8A-4147-A177-3AD203B41FA5}">
                      <a16:colId xmlns:a16="http://schemas.microsoft.com/office/drawing/2014/main" val="214477765"/>
                    </a:ext>
                  </a:extLst>
                </a:gridCol>
                <a:gridCol w="1257803">
                  <a:extLst>
                    <a:ext uri="{9D8B030D-6E8A-4147-A177-3AD203B41FA5}">
                      <a16:colId xmlns:a16="http://schemas.microsoft.com/office/drawing/2014/main" val="374046060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Nama_Dept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Lokasi_Gedung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Riset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Gedung Alfa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Gedung Beta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CAA6E3-3FD9-5142-62E0-7D9ECC7D1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437851"/>
              </p:ext>
            </p:extLst>
          </p:nvPr>
        </p:nvGraphicFramePr>
        <p:xfrm>
          <a:off x="2910771" y="4412594"/>
          <a:ext cx="2468579" cy="662940"/>
        </p:xfrm>
        <a:graphic>
          <a:graphicData uri="http://schemas.openxmlformats.org/drawingml/2006/table">
            <a:tbl>
              <a:tblPr/>
              <a:tblGrid>
                <a:gridCol w="1390167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078412">
                  <a:extLst>
                    <a:ext uri="{9D8B030D-6E8A-4147-A177-3AD203B41FA5}">
                      <a16:colId xmlns:a16="http://schemas.microsoft.com/office/drawing/2014/main" val="35502304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PR01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Lead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PR02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Analyst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998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E4F46-09A3-CD4B-AAF0-B4BCC862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4B70-B8FD-C617-ECF3-155B7BFD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12658"/>
            <a:ext cx="7704000" cy="572700"/>
          </a:xfrm>
        </p:spPr>
        <p:txBody>
          <a:bodyPr/>
          <a:lstStyle/>
          <a:p>
            <a:r>
              <a:rPr lang="en-ID" sz="2800" b="1" dirty="0" err="1"/>
              <a:t>Tahap</a:t>
            </a:r>
            <a:r>
              <a:rPr lang="en-ID" sz="2800" b="1" dirty="0"/>
              <a:t> 4NF (</a:t>
            </a:r>
            <a:r>
              <a:rPr lang="en-ID" sz="2800" b="1" dirty="0" err="1"/>
              <a:t>Menghilangkan</a:t>
            </a:r>
            <a:r>
              <a:rPr lang="en-ID" sz="2800" b="1" dirty="0"/>
              <a:t> Multi-valued Dependency)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F12B3-0145-2EEF-F95B-405385A7D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72959"/>
            <a:ext cx="7704000" cy="3837708"/>
          </a:xfrm>
        </p:spPr>
        <p:txBody>
          <a:bodyPr/>
          <a:lstStyle/>
          <a:p>
            <a:endParaRPr lang="en-ID" sz="2000" b="1" dirty="0"/>
          </a:p>
          <a:p>
            <a:r>
              <a:rPr lang="en-ID" sz="2000" dirty="0" err="1"/>
              <a:t>Perhatikan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Tabel_Keahlian_Sertifikasi</a:t>
            </a:r>
            <a:r>
              <a:rPr lang="en-ID" sz="2000" dirty="0"/>
              <a:t> (</a:t>
            </a:r>
            <a:r>
              <a:rPr lang="en-ID" dirty="0" err="1"/>
              <a:t>ID_Karyawan</a:t>
            </a:r>
            <a:r>
              <a:rPr lang="en-ID" sz="2000" dirty="0"/>
              <a:t>, </a:t>
            </a:r>
            <a:r>
              <a:rPr lang="en-ID" dirty="0" err="1"/>
              <a:t>Sertifikasi</a:t>
            </a:r>
            <a:r>
              <a:rPr lang="en-ID" sz="2000" dirty="0"/>
              <a:t>, </a:t>
            </a:r>
            <a:r>
              <a:rPr lang="en-ID" dirty="0"/>
              <a:t>Tools</a:t>
            </a:r>
            <a:r>
              <a:rPr lang="en-ID" sz="2000" dirty="0"/>
              <a:t>).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karyawan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sertifikasi</a:t>
            </a:r>
            <a:r>
              <a:rPr lang="en-ID" sz="2000" dirty="0"/>
              <a:t> dan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keahlian</a:t>
            </a:r>
            <a:r>
              <a:rPr lang="en-ID" sz="2000" dirty="0"/>
              <a:t> </a:t>
            </a:r>
            <a:r>
              <a:rPr lang="en-ID" sz="2000" dirty="0" err="1"/>
              <a:t>alat</a:t>
            </a:r>
            <a:r>
              <a:rPr lang="en-ID" sz="2000" dirty="0"/>
              <a:t>. </a:t>
            </a:r>
            <a:r>
              <a:rPr lang="en-ID" sz="2000" b="1" dirty="0" err="1">
                <a:solidFill>
                  <a:srgbClr val="92D050"/>
                </a:solidFill>
              </a:rPr>
              <a:t>Sertifikasi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tidak</a:t>
            </a:r>
            <a:r>
              <a:rPr lang="en-ID" sz="2000" b="1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ada</a:t>
            </a:r>
            <a:r>
              <a:rPr lang="en-ID" sz="2000" b="1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hubungannya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92D050"/>
                </a:solidFill>
              </a:rPr>
              <a:t>Tools</a:t>
            </a:r>
            <a:r>
              <a:rPr lang="en-ID" sz="2000" dirty="0"/>
              <a:t>, </a:t>
            </a:r>
            <a:r>
              <a:rPr lang="en-ID" sz="2000" dirty="0" err="1"/>
              <a:t>tapi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keduanya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bergantung</a:t>
            </a:r>
            <a:r>
              <a:rPr lang="en-ID" sz="2000" dirty="0"/>
              <a:t> pada </a:t>
            </a:r>
            <a:r>
              <a:rPr lang="en-ID" sz="2000" b="1" dirty="0" err="1">
                <a:solidFill>
                  <a:srgbClr val="92D050"/>
                </a:solidFill>
              </a:rPr>
              <a:t>Karyawan</a:t>
            </a:r>
            <a:r>
              <a:rPr lang="en-ID" sz="2000" dirty="0"/>
              <a:t>. Ini </a:t>
            </a:r>
            <a:r>
              <a:rPr lang="en-ID" sz="2000" dirty="0" err="1"/>
              <a:t>menyebabkan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kombinasi</a:t>
            </a:r>
            <a:r>
              <a:rPr lang="en-ID" sz="2000" dirty="0"/>
              <a:t> baris yang </a:t>
            </a:r>
            <a:r>
              <a:rPr lang="en-ID" sz="2000" b="1" dirty="0" err="1">
                <a:solidFill>
                  <a:srgbClr val="FF0000"/>
                </a:solidFill>
              </a:rPr>
              <a:t>tidak</a:t>
            </a:r>
            <a:r>
              <a:rPr lang="en-ID" sz="2000" b="1" dirty="0">
                <a:solidFill>
                  <a:srgbClr val="FF0000"/>
                </a:solidFill>
              </a:rPr>
              <a:t> </a:t>
            </a:r>
            <a:r>
              <a:rPr lang="en-ID" sz="2000" b="1" dirty="0" err="1">
                <a:solidFill>
                  <a:srgbClr val="FF0000"/>
                </a:solidFill>
              </a:rPr>
              <a:t>perlu</a:t>
            </a:r>
            <a:r>
              <a:rPr lang="en-ID" sz="2000" dirty="0"/>
              <a:t> (</a:t>
            </a:r>
            <a:r>
              <a:rPr lang="en-ID" sz="2000" dirty="0" err="1"/>
              <a:t>l</a:t>
            </a:r>
            <a:r>
              <a:rPr lang="en-ID" sz="2000" dirty="0" err="1">
                <a:solidFill>
                  <a:srgbClr val="92D050"/>
                </a:solidFill>
              </a:rPr>
              <a:t>ihat</a:t>
            </a:r>
            <a:r>
              <a:rPr lang="en-ID" sz="2000" dirty="0">
                <a:solidFill>
                  <a:srgbClr val="92D050"/>
                </a:solidFill>
              </a:rPr>
              <a:t> baris K01 di 1NF yang </a:t>
            </a:r>
            <a:r>
              <a:rPr lang="en-ID" sz="2000" dirty="0" err="1">
                <a:solidFill>
                  <a:srgbClr val="92D050"/>
                </a:solidFill>
              </a:rPr>
              <a:t>meledak</a:t>
            </a:r>
            <a:r>
              <a:rPr lang="en-ID" sz="2000" dirty="0">
                <a:solidFill>
                  <a:srgbClr val="92D050"/>
                </a:solidFill>
              </a:rPr>
              <a:t> </a:t>
            </a:r>
            <a:r>
              <a:rPr lang="en-ID" sz="2000" dirty="0" err="1">
                <a:solidFill>
                  <a:srgbClr val="92D050"/>
                </a:solidFill>
              </a:rPr>
              <a:t>jumlahnya</a:t>
            </a:r>
            <a:r>
              <a:rPr lang="en-ID" sz="2000" dirty="0"/>
              <a:t>).</a:t>
            </a:r>
          </a:p>
          <a:p>
            <a:r>
              <a:rPr lang="en-ID" sz="2000" b="1" dirty="0">
                <a:solidFill>
                  <a:srgbClr val="FFC000"/>
                </a:solidFill>
              </a:rPr>
              <a:t>Hasil</a:t>
            </a:r>
            <a:r>
              <a:rPr lang="en-ID" sz="2000" b="1" dirty="0"/>
              <a:t> Akhir (4NF):</a:t>
            </a:r>
            <a:endParaRPr lang="en-ID" sz="2000" dirty="0"/>
          </a:p>
          <a:p>
            <a:pPr lvl="1"/>
            <a:r>
              <a:rPr lang="en-ID" sz="2000" b="1" dirty="0"/>
              <a:t>Tabel </a:t>
            </a:r>
            <a:r>
              <a:rPr lang="en-ID" sz="2000" b="1" dirty="0" err="1">
                <a:solidFill>
                  <a:srgbClr val="FFC000"/>
                </a:solidFill>
              </a:rPr>
              <a:t>Sertifikasi_Karyawan</a:t>
            </a:r>
            <a:r>
              <a:rPr lang="en-ID" sz="2000" b="1" dirty="0"/>
              <a:t>:</a:t>
            </a:r>
            <a:r>
              <a:rPr lang="en-ID" sz="2000" dirty="0"/>
              <a:t> (</a:t>
            </a:r>
            <a:r>
              <a:rPr lang="en-ID" b="1" dirty="0" err="1">
                <a:solidFill>
                  <a:srgbClr val="92D050"/>
                </a:solidFill>
              </a:rPr>
              <a:t>ID_Karyawan</a:t>
            </a:r>
            <a:r>
              <a:rPr lang="en-ID" sz="2000" b="1" dirty="0">
                <a:solidFill>
                  <a:srgbClr val="92D050"/>
                </a:solidFill>
              </a:rPr>
              <a:t>, </a:t>
            </a:r>
            <a:r>
              <a:rPr lang="en-ID" b="1" dirty="0" err="1">
                <a:solidFill>
                  <a:srgbClr val="92D050"/>
                </a:solidFill>
              </a:rPr>
              <a:t>Sertifikasi</a:t>
            </a:r>
            <a:r>
              <a:rPr lang="en-ID" sz="2000" dirty="0"/>
              <a:t>)</a:t>
            </a:r>
          </a:p>
          <a:p>
            <a:pPr lvl="1"/>
            <a:r>
              <a:rPr lang="en-ID" sz="2000" b="1" dirty="0"/>
              <a:t>Tabel </a:t>
            </a:r>
            <a:r>
              <a:rPr lang="en-ID" sz="2000" b="1" dirty="0" err="1">
                <a:solidFill>
                  <a:srgbClr val="FFC000"/>
                </a:solidFill>
              </a:rPr>
              <a:t>Tools_Karyawan</a:t>
            </a:r>
            <a:r>
              <a:rPr lang="en-ID" sz="2000" b="1" dirty="0"/>
              <a:t>:</a:t>
            </a:r>
            <a:r>
              <a:rPr lang="en-ID" sz="2000" dirty="0"/>
              <a:t> (</a:t>
            </a:r>
            <a:r>
              <a:rPr lang="en-ID" b="1" dirty="0" err="1">
                <a:solidFill>
                  <a:srgbClr val="92D050"/>
                </a:solidFill>
              </a:rPr>
              <a:t>ID_Karyawan</a:t>
            </a:r>
            <a:r>
              <a:rPr lang="en-ID" sz="2000" b="1" dirty="0">
                <a:solidFill>
                  <a:srgbClr val="92D050"/>
                </a:solidFill>
              </a:rPr>
              <a:t>, </a:t>
            </a:r>
            <a:r>
              <a:rPr lang="en-ID" b="1" dirty="0">
                <a:solidFill>
                  <a:srgbClr val="92D050"/>
                </a:solidFill>
              </a:rPr>
              <a:t>Tools</a:t>
            </a:r>
            <a:r>
              <a:rPr lang="en-ID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45341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175-5F9F-9018-139F-5877B6E7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00D6-4438-C7B0-F77D-72E42382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Hasil</a:t>
            </a:r>
            <a:r>
              <a:rPr lang="en-US" dirty="0"/>
              <a:t> 4NF(1)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EF068-AC4C-1C26-FA9F-6801DF964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ID" b="1" dirty="0"/>
              <a:t>1. Tabel </a:t>
            </a:r>
            <a:r>
              <a:rPr lang="en-ID" b="1" dirty="0" err="1"/>
              <a:t>Karyawan</a:t>
            </a:r>
            <a:r>
              <a:rPr lang="en-ID" b="1" dirty="0"/>
              <a:t> 			                2. Tabel Departemen</a:t>
            </a:r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pPr marL="152400" indent="0">
              <a:buNone/>
            </a:pPr>
            <a:r>
              <a:rPr lang="en-ID" b="1" dirty="0"/>
              <a:t>3. Tabel </a:t>
            </a:r>
            <a:r>
              <a:rPr lang="en-US" b="1" dirty="0" err="1"/>
              <a:t>Proyek</a:t>
            </a:r>
            <a:r>
              <a:rPr lang="en-US" b="1" dirty="0"/>
              <a:t> 			                 5. </a:t>
            </a:r>
            <a:r>
              <a:rPr lang="en-ID" b="1" dirty="0"/>
              <a:t>Tabel </a:t>
            </a:r>
            <a:r>
              <a:rPr lang="en-US" b="1" dirty="0" err="1"/>
              <a:t>Peran_Proyek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152400" indent="0">
              <a:buNone/>
            </a:pPr>
            <a:r>
              <a:rPr lang="en-ID" b="1" dirty="0"/>
              <a:t>4. Tabel </a:t>
            </a:r>
            <a:r>
              <a:rPr lang="en-ID" b="1" dirty="0" err="1"/>
              <a:t>Tugas</a:t>
            </a:r>
            <a:r>
              <a:rPr lang="en-ID" b="1" dirty="0"/>
              <a:t>_</a:t>
            </a:r>
            <a:r>
              <a:rPr lang="en-US" b="1" dirty="0" err="1"/>
              <a:t>Proyek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D" b="1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4D3161-C520-EE55-3B7C-46D5F6D6CC5A}"/>
              </a:ext>
            </a:extLst>
          </p:cNvPr>
          <p:cNvGraphicFramePr>
            <a:graphicFrameLocks noGrp="1"/>
          </p:cNvGraphicFramePr>
          <p:nvPr/>
        </p:nvGraphicFramePr>
        <p:xfrm>
          <a:off x="1276181" y="1442867"/>
          <a:ext cx="3269181" cy="662940"/>
        </p:xfrm>
        <a:graphic>
          <a:graphicData uri="http://schemas.openxmlformats.org/drawingml/2006/table">
            <a:tbl>
              <a:tblPr/>
              <a:tblGrid>
                <a:gridCol w="1089727">
                  <a:extLst>
                    <a:ext uri="{9D8B030D-6E8A-4147-A177-3AD203B41FA5}">
                      <a16:colId xmlns:a16="http://schemas.microsoft.com/office/drawing/2014/main" val="2763206353"/>
                    </a:ext>
                  </a:extLst>
                </a:gridCol>
                <a:gridCol w="1394527">
                  <a:extLst>
                    <a:ext uri="{9D8B030D-6E8A-4147-A177-3AD203B41FA5}">
                      <a16:colId xmlns:a16="http://schemas.microsoft.com/office/drawing/2014/main" val="224282062"/>
                    </a:ext>
                  </a:extLst>
                </a:gridCol>
                <a:gridCol w="784927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Asta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Budi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942DF36-B096-C057-57DA-AB8ACB0CD3C0}"/>
              </a:ext>
            </a:extLst>
          </p:cNvPr>
          <p:cNvGraphicFramePr>
            <a:graphicFrameLocks noGrp="1"/>
          </p:cNvGraphicFramePr>
          <p:nvPr/>
        </p:nvGraphicFramePr>
        <p:xfrm>
          <a:off x="1302818" y="2523198"/>
          <a:ext cx="2433342" cy="662940"/>
        </p:xfrm>
        <a:graphic>
          <a:graphicData uri="http://schemas.openxmlformats.org/drawingml/2006/table">
            <a:tbl>
              <a:tblPr/>
              <a:tblGrid>
                <a:gridCol w="1011504">
                  <a:extLst>
                    <a:ext uri="{9D8B030D-6E8A-4147-A177-3AD203B41FA5}">
                      <a16:colId xmlns:a16="http://schemas.microsoft.com/office/drawing/2014/main" val="265067011"/>
                    </a:ext>
                  </a:extLst>
                </a:gridCol>
                <a:gridCol w="1421838">
                  <a:extLst>
                    <a:ext uri="{9D8B030D-6E8A-4147-A177-3AD203B41FA5}">
                      <a16:colId xmlns:a16="http://schemas.microsoft.com/office/drawing/2014/main" val="3509739349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3763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AI-Chatbot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8248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Big-Data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4931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88D159-E78F-E51F-1510-AB2BA21F112F}"/>
              </a:ext>
            </a:extLst>
          </p:cNvPr>
          <p:cNvGraphicFramePr>
            <a:graphicFrameLocks noGrp="1"/>
          </p:cNvGraphicFramePr>
          <p:nvPr/>
        </p:nvGraphicFramePr>
        <p:xfrm>
          <a:off x="1302817" y="3633631"/>
          <a:ext cx="2357480" cy="662940"/>
        </p:xfrm>
        <a:graphic>
          <a:graphicData uri="http://schemas.openxmlformats.org/drawingml/2006/table">
            <a:tbl>
              <a:tblPr/>
              <a:tblGrid>
                <a:gridCol w="1178740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178740">
                  <a:extLst>
                    <a:ext uri="{9D8B030D-6E8A-4147-A177-3AD203B41FA5}">
                      <a16:colId xmlns:a16="http://schemas.microsoft.com/office/drawing/2014/main" val="39877666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Proyek_ID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P99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P88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FF052E-1748-9784-CD72-B20F5AC0A50A}"/>
              </a:ext>
            </a:extLst>
          </p:cNvPr>
          <p:cNvGraphicFramePr>
            <a:graphicFrameLocks noGrp="1"/>
          </p:cNvGraphicFramePr>
          <p:nvPr/>
        </p:nvGraphicFramePr>
        <p:xfrm>
          <a:off x="5166258" y="1442867"/>
          <a:ext cx="3269180" cy="662940"/>
        </p:xfrm>
        <a:graphic>
          <a:graphicData uri="http://schemas.openxmlformats.org/drawingml/2006/table">
            <a:tbl>
              <a:tblPr/>
              <a:tblGrid>
                <a:gridCol w="976964">
                  <a:extLst>
                    <a:ext uri="{9D8B030D-6E8A-4147-A177-3AD203B41FA5}">
                      <a16:colId xmlns:a16="http://schemas.microsoft.com/office/drawing/2014/main" val="1754675884"/>
                    </a:ext>
                  </a:extLst>
                </a:gridCol>
                <a:gridCol w="1034413">
                  <a:extLst>
                    <a:ext uri="{9D8B030D-6E8A-4147-A177-3AD203B41FA5}">
                      <a16:colId xmlns:a16="http://schemas.microsoft.com/office/drawing/2014/main" val="214477765"/>
                    </a:ext>
                  </a:extLst>
                </a:gridCol>
                <a:gridCol w="1257803">
                  <a:extLst>
                    <a:ext uri="{9D8B030D-6E8A-4147-A177-3AD203B41FA5}">
                      <a16:colId xmlns:a16="http://schemas.microsoft.com/office/drawing/2014/main" val="374046060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Dept_ID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Nama_Dept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Lokasi_Gedung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248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D10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Riset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Gedung Alfa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8767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D20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Data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Gedung Beta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1733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BBED36-8CD8-D7AC-0E0D-E64BDC7F8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438624"/>
              </p:ext>
            </p:extLst>
          </p:nvPr>
        </p:nvGraphicFramePr>
        <p:xfrm>
          <a:off x="5152771" y="2571750"/>
          <a:ext cx="2468579" cy="662940"/>
        </p:xfrm>
        <a:graphic>
          <a:graphicData uri="http://schemas.openxmlformats.org/drawingml/2006/table">
            <a:tbl>
              <a:tblPr/>
              <a:tblGrid>
                <a:gridCol w="1390167">
                  <a:extLst>
                    <a:ext uri="{9D8B030D-6E8A-4147-A177-3AD203B41FA5}">
                      <a16:colId xmlns:a16="http://schemas.microsoft.com/office/drawing/2014/main" val="3493319234"/>
                    </a:ext>
                  </a:extLst>
                </a:gridCol>
                <a:gridCol w="1078412">
                  <a:extLst>
                    <a:ext uri="{9D8B030D-6E8A-4147-A177-3AD203B41FA5}">
                      <a16:colId xmlns:a16="http://schemas.microsoft.com/office/drawing/2014/main" val="35502304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Peran_Proyek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7831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PR01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Lead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5646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PR02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Analyst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6350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79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563D-F585-D744-EC89-6226FFD2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485F-CA80-F261-63B5-A706E271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Hasil</a:t>
            </a:r>
            <a:r>
              <a:rPr lang="en-US" dirty="0"/>
              <a:t> 4NF(2)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55366-BFD4-7694-7AC2-C8E5E9FCE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ID" b="1" dirty="0"/>
              <a:t>6. Tabel </a:t>
            </a:r>
            <a:r>
              <a:rPr lang="en-ID" b="1" dirty="0" err="1"/>
              <a:t>Sertifikasi_Karyawan</a:t>
            </a:r>
            <a:r>
              <a:rPr lang="en-ID" b="1" dirty="0"/>
              <a:t>		                7. Tabel </a:t>
            </a:r>
            <a:r>
              <a:rPr lang="en-ID" b="1" dirty="0" err="1"/>
              <a:t>Tools_Karyawan</a:t>
            </a:r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ID" b="1" dirty="0"/>
          </a:p>
          <a:p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4508BA-8B99-9D8E-3CAA-2F3CD255F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272618"/>
              </p:ext>
            </p:extLst>
          </p:nvPr>
        </p:nvGraphicFramePr>
        <p:xfrm>
          <a:off x="5109614" y="1478576"/>
          <a:ext cx="2414462" cy="1104900"/>
        </p:xfrm>
        <a:graphic>
          <a:graphicData uri="http://schemas.openxmlformats.org/drawingml/2006/table">
            <a:tbl>
              <a:tblPr/>
              <a:tblGrid>
                <a:gridCol w="1207231">
                  <a:extLst>
                    <a:ext uri="{9D8B030D-6E8A-4147-A177-3AD203B41FA5}">
                      <a16:colId xmlns:a16="http://schemas.microsoft.com/office/drawing/2014/main" val="3415344190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3976365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Tools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81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Python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4228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Java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2784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SQL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3349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67840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430D2FE-5DD5-4176-5CD0-85EB14F37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42594"/>
              </p:ext>
            </p:extLst>
          </p:nvPr>
        </p:nvGraphicFramePr>
        <p:xfrm>
          <a:off x="950307" y="1478576"/>
          <a:ext cx="2414462" cy="883920"/>
        </p:xfrm>
        <a:graphic>
          <a:graphicData uri="http://schemas.openxmlformats.org/drawingml/2006/table">
            <a:tbl>
              <a:tblPr/>
              <a:tblGrid>
                <a:gridCol w="1207231">
                  <a:extLst>
                    <a:ext uri="{9D8B030D-6E8A-4147-A177-3AD203B41FA5}">
                      <a16:colId xmlns:a16="http://schemas.microsoft.com/office/drawing/2014/main" val="3415344190"/>
                    </a:ext>
                  </a:extLst>
                </a:gridCol>
                <a:gridCol w="1207231">
                  <a:extLst>
                    <a:ext uri="{9D8B030D-6E8A-4147-A177-3AD203B41FA5}">
                      <a16:colId xmlns:a16="http://schemas.microsoft.com/office/drawing/2014/main" val="2292715525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ID_Karyawan</a:t>
                      </a:r>
                      <a:endParaRPr lang="en-ID" sz="12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b="1">
                          <a:solidFill>
                            <a:sysClr val="windowText" lastClr="000000"/>
                          </a:solidFill>
                          <a:effectLst/>
                        </a:rPr>
                        <a:t>Sertifikasi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8152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4228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91992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>
                          <a:effectLst/>
                        </a:rPr>
                        <a:t>K02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1200" dirty="0">
                          <a:effectLst/>
                        </a:rPr>
                        <a:t>Azure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334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8960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ECA4-05F7-5F05-5691-E09FCC0F2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</a:t>
            </a:r>
            <a:r>
              <a:rPr lang="en-US" dirty="0"/>
              <a:t> </a:t>
            </a:r>
            <a:r>
              <a:rPr lang="en-US" dirty="0" err="1"/>
              <a:t>Relasi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69D0A-3646-4748-D8FF-3DA8A7106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539500"/>
          </a:xfrm>
        </p:spPr>
        <p:txBody>
          <a:bodyPr/>
          <a:lstStyle/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Tabel </a:t>
            </a:r>
            <a:r>
              <a:rPr lang="en-ID" sz="1400" b="1" dirty="0">
                <a:solidFill>
                  <a:srgbClr val="FFC000"/>
                </a:solidFill>
              </a:rPr>
              <a:t>Departemen</a:t>
            </a:r>
            <a:r>
              <a:rPr lang="en-ID" sz="1400" b="1" dirty="0"/>
              <a:t> &amp; </a:t>
            </a:r>
            <a:r>
              <a:rPr lang="en-ID" sz="1400" b="1" dirty="0" err="1">
                <a:solidFill>
                  <a:srgbClr val="FFC000"/>
                </a:solidFill>
              </a:rPr>
              <a:t>Karyawan</a:t>
            </a:r>
            <a:r>
              <a:rPr lang="en-ID" sz="1400" b="1" dirty="0"/>
              <a:t> (</a:t>
            </a:r>
            <a:r>
              <a:rPr lang="en-ID" sz="1400" b="1" dirty="0" err="1">
                <a:solidFill>
                  <a:srgbClr val="92D050"/>
                </a:solidFill>
              </a:rPr>
              <a:t>Relasi</a:t>
            </a:r>
            <a:r>
              <a:rPr lang="en-ID" sz="1400" b="1" dirty="0">
                <a:solidFill>
                  <a:srgbClr val="92D050"/>
                </a:solidFill>
              </a:rPr>
              <a:t> 1:N</a:t>
            </a:r>
            <a:r>
              <a:rPr lang="en-ID" sz="1400" b="1" dirty="0"/>
              <a:t>):</a:t>
            </a:r>
            <a:endParaRPr lang="en-ID" sz="1400" dirty="0"/>
          </a:p>
          <a:p>
            <a:pPr lvl="1"/>
            <a:r>
              <a:rPr lang="en-ID" sz="1400" dirty="0"/>
              <a:t>Satu </a:t>
            </a:r>
            <a:r>
              <a:rPr lang="en-ID" sz="1400" b="1" dirty="0"/>
              <a:t>Departemen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b="1" dirty="0" err="1"/>
              <a:t>Karyawan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Dept_ID</a:t>
            </a:r>
            <a:r>
              <a:rPr lang="en-ID" sz="1400" dirty="0"/>
              <a:t> di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dirty="0" err="1"/>
              <a:t>Karyawan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i="1" dirty="0"/>
              <a:t>Foreign Key</a:t>
            </a:r>
            <a:r>
              <a:rPr lang="en-ID" sz="1400" dirty="0"/>
              <a:t> (FK) yang </a:t>
            </a:r>
            <a:r>
              <a:rPr lang="en-ID" sz="1400" dirty="0" err="1"/>
              <a:t>merujuk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tabel</a:t>
            </a:r>
            <a:r>
              <a:rPr lang="en-ID" sz="1400" dirty="0"/>
              <a:t> Departemen. Ini </a:t>
            </a:r>
            <a:r>
              <a:rPr lang="en-ID" sz="1400" dirty="0" err="1"/>
              <a:t>menghilangkan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transitif</a:t>
            </a:r>
            <a:r>
              <a:rPr lang="en-ID" sz="1400" dirty="0"/>
              <a:t> (3NF).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Tabel </a:t>
            </a:r>
            <a:r>
              <a:rPr lang="en-ID" sz="1400" b="1" dirty="0" err="1">
                <a:solidFill>
                  <a:srgbClr val="FFC000"/>
                </a:solidFill>
              </a:rPr>
              <a:t>Karyawan</a:t>
            </a:r>
            <a:r>
              <a:rPr lang="en-ID" sz="1400" b="1" dirty="0"/>
              <a:t> &amp; </a:t>
            </a:r>
            <a:r>
              <a:rPr lang="en-ID" sz="1400" b="1" dirty="0" err="1">
                <a:solidFill>
                  <a:srgbClr val="FFC000"/>
                </a:solidFill>
              </a:rPr>
              <a:t>Proyek</a:t>
            </a:r>
            <a:r>
              <a:rPr lang="en-ID" sz="1400" b="1" dirty="0"/>
              <a:t> (</a:t>
            </a:r>
            <a:r>
              <a:rPr lang="en-ID" sz="1400" b="1" dirty="0" err="1">
                <a:solidFill>
                  <a:srgbClr val="92D050"/>
                </a:solidFill>
              </a:rPr>
              <a:t>Relasi</a:t>
            </a:r>
            <a:r>
              <a:rPr lang="en-ID" sz="1400" b="1" dirty="0">
                <a:solidFill>
                  <a:srgbClr val="92D050"/>
                </a:solidFill>
              </a:rPr>
              <a:t> M:N</a:t>
            </a:r>
            <a:r>
              <a:rPr lang="en-ID" sz="1400" b="1" dirty="0"/>
              <a:t> </a:t>
            </a:r>
            <a:r>
              <a:rPr lang="en-ID" sz="1400" b="1" dirty="0" err="1"/>
              <a:t>melalui</a:t>
            </a:r>
            <a:r>
              <a:rPr lang="en-ID" sz="1400" b="1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Penugasan</a:t>
            </a:r>
            <a:r>
              <a:rPr lang="en-ID" sz="1400" b="1" dirty="0"/>
              <a:t>):</a:t>
            </a:r>
            <a:endParaRPr lang="en-ID" sz="1400" dirty="0"/>
          </a:p>
          <a:p>
            <a:pPr lvl="1"/>
            <a:r>
              <a:rPr lang="en-ID" sz="1400" dirty="0" err="1"/>
              <a:t>Seorang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Karyawan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mengerjakan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Proyek</a:t>
            </a:r>
            <a:r>
              <a:rPr lang="en-ID" sz="1400" dirty="0"/>
              <a:t>, dan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Proyek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dikerjakan</a:t>
            </a:r>
            <a:r>
              <a:rPr lang="en-ID" sz="1400" dirty="0"/>
              <a:t> </a:t>
            </a:r>
            <a:r>
              <a:rPr lang="en-ID" sz="1400" dirty="0" err="1"/>
              <a:t>banyak</a:t>
            </a:r>
            <a:r>
              <a:rPr lang="en-ID" sz="1400" dirty="0"/>
              <a:t> </a:t>
            </a:r>
            <a:r>
              <a:rPr lang="en-ID" sz="1400" dirty="0" err="1"/>
              <a:t>Karyawan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Hubungan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dijembatani</a:t>
            </a:r>
            <a:r>
              <a:rPr lang="en-ID" sz="1400" dirty="0"/>
              <a:t> oleh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Penugasan</a:t>
            </a:r>
            <a:r>
              <a:rPr lang="en-ID" sz="1400" dirty="0"/>
              <a:t> (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Tabel_Tugas_Proyek</a:t>
            </a:r>
            <a:r>
              <a:rPr lang="en-ID" sz="1400" dirty="0"/>
              <a:t>) yang </a:t>
            </a:r>
            <a:r>
              <a:rPr lang="en-ID" sz="1400" dirty="0" err="1"/>
              <a:t>menyimpan</a:t>
            </a:r>
            <a:r>
              <a:rPr lang="en-ID" sz="1400" dirty="0"/>
              <a:t> </a:t>
            </a:r>
            <a:r>
              <a:rPr lang="en-ID" sz="1400" dirty="0" err="1"/>
              <a:t>ID_Karyawan</a:t>
            </a:r>
            <a:r>
              <a:rPr lang="en-ID" sz="1400" dirty="0"/>
              <a:t>, </a:t>
            </a:r>
            <a:r>
              <a:rPr lang="en-ID" sz="1400" dirty="0" err="1"/>
              <a:t>Proyek_ID</a:t>
            </a:r>
            <a:r>
              <a:rPr lang="en-ID" sz="1400" dirty="0"/>
              <a:t>, dan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unik</a:t>
            </a:r>
            <a:r>
              <a:rPr lang="en-ID" sz="1400" dirty="0"/>
              <a:t> </a:t>
            </a:r>
            <a:r>
              <a:rPr lang="en-ID" sz="1400" dirty="0" err="1"/>
              <a:t>yaitu</a:t>
            </a:r>
            <a:r>
              <a:rPr lang="en-ID" sz="1400" dirty="0"/>
              <a:t> </a:t>
            </a:r>
            <a:r>
              <a:rPr lang="en-ID" sz="1400" dirty="0" err="1"/>
              <a:t>Peran_Proyek</a:t>
            </a:r>
            <a:r>
              <a:rPr lang="en-ID" sz="1400" dirty="0"/>
              <a:t>.</a:t>
            </a:r>
          </a:p>
          <a:p>
            <a:pPr marL="495300" indent="-342900">
              <a:buFont typeface="+mj-lt"/>
              <a:buAutoNum type="arabicPeriod"/>
            </a:pPr>
            <a:r>
              <a:rPr lang="en-ID" sz="1400" b="1" dirty="0"/>
              <a:t>Tabel </a:t>
            </a:r>
            <a:r>
              <a:rPr lang="en-ID" sz="1400" b="1" dirty="0" err="1">
                <a:solidFill>
                  <a:srgbClr val="FFC000"/>
                </a:solidFill>
              </a:rPr>
              <a:t>Sertifikasi</a:t>
            </a:r>
            <a:r>
              <a:rPr lang="en-ID" sz="1400" b="1" dirty="0"/>
              <a:t> &amp; </a:t>
            </a:r>
            <a:r>
              <a:rPr lang="en-ID" sz="1400" b="1" dirty="0">
                <a:solidFill>
                  <a:srgbClr val="FFC000"/>
                </a:solidFill>
              </a:rPr>
              <a:t>Tools</a:t>
            </a:r>
            <a:r>
              <a:rPr lang="en-ID" sz="1400" b="1" dirty="0"/>
              <a:t> (</a:t>
            </a:r>
            <a:r>
              <a:rPr lang="en-ID" sz="1400" b="1" dirty="0" err="1">
                <a:solidFill>
                  <a:srgbClr val="FFC000"/>
                </a:solidFill>
              </a:rPr>
              <a:t>Dekomposisi</a:t>
            </a:r>
            <a:r>
              <a:rPr lang="en-ID" sz="1400" b="1" dirty="0"/>
              <a:t> 4NF):</a:t>
            </a:r>
            <a:endParaRPr lang="en-ID" sz="1400" dirty="0"/>
          </a:p>
          <a:p>
            <a:pPr lvl="1"/>
            <a:r>
              <a:rPr lang="en-ID" sz="1400" b="1" dirty="0" err="1"/>
              <a:t>Tabel_</a:t>
            </a:r>
            <a:r>
              <a:rPr lang="en-ID" sz="1400" b="1" dirty="0" err="1">
                <a:solidFill>
                  <a:srgbClr val="FFC000"/>
                </a:solidFill>
              </a:rPr>
              <a:t>Sertifikasi</a:t>
            </a:r>
            <a:r>
              <a:rPr lang="en-ID" sz="1400" dirty="0"/>
              <a:t> dan </a:t>
            </a:r>
            <a:r>
              <a:rPr lang="en-ID" sz="1400" b="1" dirty="0" err="1"/>
              <a:t>Tabel_</a:t>
            </a:r>
            <a:r>
              <a:rPr lang="en-ID" sz="1400" b="1" dirty="0" err="1">
                <a:solidFill>
                  <a:srgbClr val="FFC000"/>
                </a:solidFill>
              </a:rPr>
              <a:t>Tools</a:t>
            </a:r>
            <a:r>
              <a:rPr lang="en-ID" sz="1400" dirty="0"/>
              <a:t> </a:t>
            </a:r>
            <a:r>
              <a:rPr lang="en-ID" sz="1400" dirty="0" err="1"/>
              <a:t>berdiri</a:t>
            </a:r>
            <a:r>
              <a:rPr lang="en-ID" sz="1400" dirty="0"/>
              <a:t> </a:t>
            </a:r>
            <a:r>
              <a:rPr lang="en-ID" sz="1400" dirty="0" err="1"/>
              <a:t>sendiri-sendiri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tabel</a:t>
            </a:r>
            <a:r>
              <a:rPr lang="en-ID" sz="1400" dirty="0"/>
              <a:t> yang </a:t>
            </a:r>
            <a:r>
              <a:rPr lang="en-ID" sz="1400" dirty="0" err="1"/>
              <a:t>merujuk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ID_Karyawan</a:t>
            </a:r>
            <a:r>
              <a:rPr lang="en-ID" sz="1400" dirty="0"/>
              <a:t>.</a:t>
            </a:r>
          </a:p>
          <a:p>
            <a:pPr lvl="1"/>
            <a:r>
              <a:rPr lang="en-ID" sz="1400" b="1" dirty="0" err="1"/>
              <a:t>Mengapa</a:t>
            </a:r>
            <a:r>
              <a:rPr lang="en-ID" sz="1400" b="1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dipisah</a:t>
            </a:r>
            <a:r>
              <a:rPr lang="en-ID" sz="1400" b="1" dirty="0"/>
              <a:t>?</a:t>
            </a:r>
            <a:r>
              <a:rPr lang="en-ID" sz="1400" dirty="0"/>
              <a:t> Karena </a:t>
            </a:r>
            <a:r>
              <a:rPr lang="en-ID" sz="1400" dirty="0" err="1"/>
              <a:t>Sertifikasi</a:t>
            </a:r>
            <a:r>
              <a:rPr lang="en-ID" sz="1400" dirty="0"/>
              <a:t> dan Tools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hubungan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sama</a:t>
            </a:r>
            <a:r>
              <a:rPr lang="en-ID" sz="1400" dirty="0"/>
              <a:t> lain.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memisahkan</a:t>
            </a:r>
            <a:r>
              <a:rPr lang="en-ID" sz="1400" dirty="0"/>
              <a:t> </a:t>
            </a:r>
            <a:r>
              <a:rPr lang="en-ID" sz="1400" dirty="0" err="1"/>
              <a:t>keduanya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92D050"/>
                </a:solidFill>
              </a:rPr>
              <a:t>menghindari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redundansi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eksponensial</a:t>
            </a:r>
            <a:r>
              <a:rPr lang="en-ID" sz="1400" dirty="0"/>
              <a:t> (</a:t>
            </a:r>
            <a:r>
              <a:rPr lang="en-ID" sz="1400" dirty="0" err="1"/>
              <a:t>misalnya</a:t>
            </a:r>
            <a:r>
              <a:rPr lang="en-ID" sz="1400" dirty="0"/>
              <a:t>: </a:t>
            </a:r>
            <a:r>
              <a:rPr lang="en-ID" sz="1400" dirty="0" err="1"/>
              <a:t>jika</a:t>
            </a:r>
            <a:r>
              <a:rPr lang="en-ID" sz="1400" dirty="0"/>
              <a:t> punya 5 </a:t>
            </a:r>
            <a:r>
              <a:rPr lang="en-ID" sz="1400" dirty="0" err="1"/>
              <a:t>sertifikasi</a:t>
            </a:r>
            <a:r>
              <a:rPr lang="en-ID" sz="1400" dirty="0"/>
              <a:t> dan 5 tools,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perlu</a:t>
            </a:r>
            <a:r>
              <a:rPr lang="en-ID" sz="1400" dirty="0"/>
              <a:t> </a:t>
            </a:r>
            <a:r>
              <a:rPr lang="en-ID" sz="1400" dirty="0" err="1"/>
              <a:t>menyimpan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25</a:t>
            </a:r>
            <a:r>
              <a:rPr lang="en-ID" sz="1400" dirty="0"/>
              <a:t> baris </a:t>
            </a:r>
            <a:r>
              <a:rPr lang="en-ID" sz="1400" dirty="0" err="1"/>
              <a:t>kombinasi</a:t>
            </a:r>
            <a:r>
              <a:rPr lang="en-ID" sz="1400" dirty="0"/>
              <a:t>, </a:t>
            </a:r>
            <a:r>
              <a:rPr lang="en-ID" sz="1400" dirty="0" err="1"/>
              <a:t>melainkan</a:t>
            </a:r>
            <a:r>
              <a:rPr lang="en-ID" sz="1400" dirty="0"/>
              <a:t> </a:t>
            </a:r>
            <a:r>
              <a:rPr lang="en-ID" sz="1400" dirty="0" err="1"/>
              <a:t>hanya</a:t>
            </a:r>
            <a:r>
              <a:rPr lang="en-ID" sz="1400" dirty="0"/>
              <a:t> 10 baris </a:t>
            </a:r>
            <a:r>
              <a:rPr lang="en-ID" sz="1400" dirty="0" err="1"/>
              <a:t>terpisah</a:t>
            </a:r>
            <a:r>
              <a:rPr lang="en-ID" sz="1400" dirty="0"/>
              <a:t>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863599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AE03A-0CF0-0C20-1ACE-FBC3A079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Manfaat Desain Ini: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D1B34-D8F7-BC5F-61B5-67C409F37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000" b="1" dirty="0">
                <a:solidFill>
                  <a:srgbClr val="FFC000"/>
                </a:solidFill>
              </a:rPr>
              <a:t>Update</a:t>
            </a:r>
            <a:r>
              <a:rPr lang="en-ID" sz="2000" b="1" dirty="0"/>
              <a:t>:</a:t>
            </a:r>
            <a:r>
              <a:rPr lang="en-ID" sz="2000" dirty="0"/>
              <a:t> Jika </a:t>
            </a:r>
            <a:r>
              <a:rPr lang="en-ID" sz="2000" dirty="0" err="1"/>
              <a:t>lokasi</a:t>
            </a:r>
            <a:r>
              <a:rPr lang="en-ID" sz="2000" dirty="0"/>
              <a:t> </a:t>
            </a:r>
            <a:r>
              <a:rPr lang="en-ID" sz="2000" dirty="0" err="1"/>
              <a:t>gedung</a:t>
            </a:r>
            <a:r>
              <a:rPr lang="en-ID" sz="2000" dirty="0"/>
              <a:t> </a:t>
            </a:r>
            <a:r>
              <a:rPr lang="en-ID" sz="2000" dirty="0" err="1"/>
              <a:t>departemen</a:t>
            </a:r>
            <a:r>
              <a:rPr lang="en-ID" sz="2000" dirty="0"/>
              <a:t> </a:t>
            </a:r>
            <a:r>
              <a:rPr lang="en-ID" sz="2000" dirty="0" err="1"/>
              <a:t>berubah</a:t>
            </a:r>
            <a:r>
              <a:rPr lang="en-ID" sz="2000" dirty="0"/>
              <a:t>, Anda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mengubah</a:t>
            </a:r>
            <a:r>
              <a:rPr lang="en-ID" sz="2000" dirty="0"/>
              <a:t> 1 baris di </a:t>
            </a:r>
            <a:r>
              <a:rPr lang="en-ID" sz="2000" dirty="0" err="1"/>
              <a:t>tabel</a:t>
            </a:r>
            <a:r>
              <a:rPr lang="en-ID" sz="2000" dirty="0"/>
              <a:t> Departemen.</a:t>
            </a:r>
          </a:p>
          <a:p>
            <a:r>
              <a:rPr lang="en-ID" sz="2000" b="1" dirty="0">
                <a:solidFill>
                  <a:srgbClr val="FFC000"/>
                </a:solidFill>
              </a:rPr>
              <a:t>Insert</a:t>
            </a:r>
            <a:r>
              <a:rPr lang="en-ID" sz="2000" b="1" dirty="0"/>
              <a:t>:</a:t>
            </a:r>
            <a:r>
              <a:rPr lang="en-ID" sz="2000" dirty="0"/>
              <a:t> Anda </a:t>
            </a:r>
            <a:r>
              <a:rPr lang="en-ID" sz="2000" dirty="0" err="1"/>
              <a:t>bisa</a:t>
            </a:r>
            <a:r>
              <a:rPr lang="en-ID" sz="2000" dirty="0"/>
              <a:t> </a:t>
            </a:r>
            <a:r>
              <a:rPr lang="en-ID" sz="2000" dirty="0" err="1"/>
              <a:t>menambahkan</a:t>
            </a:r>
            <a:r>
              <a:rPr lang="en-ID" sz="2000" dirty="0"/>
              <a:t> data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 </a:t>
            </a:r>
            <a:r>
              <a:rPr lang="en-ID" sz="2000" dirty="0" err="1"/>
              <a:t>meskipun</a:t>
            </a:r>
            <a:r>
              <a:rPr lang="en-ID" sz="2000" dirty="0"/>
              <a:t> </a:t>
            </a:r>
            <a:r>
              <a:rPr lang="en-ID" sz="2000" dirty="0" err="1"/>
              <a:t>belum</a:t>
            </a:r>
            <a:r>
              <a:rPr lang="en-ID" sz="2000" dirty="0"/>
              <a:t> 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karyawan</a:t>
            </a:r>
            <a:r>
              <a:rPr lang="en-ID" sz="2000" dirty="0"/>
              <a:t> yang </a:t>
            </a:r>
            <a:r>
              <a:rPr lang="en-ID" sz="2000" dirty="0" err="1"/>
              <a:t>ditugaskan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sana.</a:t>
            </a:r>
          </a:p>
          <a:p>
            <a:r>
              <a:rPr lang="en-ID" sz="2000" b="1" dirty="0">
                <a:solidFill>
                  <a:srgbClr val="FFC000"/>
                </a:solidFill>
              </a:rPr>
              <a:t>Delete</a:t>
            </a:r>
            <a:r>
              <a:rPr lang="en-ID" sz="2000" b="1" dirty="0"/>
              <a:t>:</a:t>
            </a:r>
            <a:r>
              <a:rPr lang="en-ID" sz="2000" dirty="0"/>
              <a:t> Jika </a:t>
            </a:r>
            <a:r>
              <a:rPr lang="en-ID" sz="2000" dirty="0" err="1"/>
              <a:t>seorang</a:t>
            </a:r>
            <a:r>
              <a:rPr lang="en-ID" sz="2000" dirty="0"/>
              <a:t> </a:t>
            </a:r>
            <a:r>
              <a:rPr lang="en-ID" sz="2000" dirty="0" err="1"/>
              <a:t>karyawan</a:t>
            </a:r>
            <a:r>
              <a:rPr lang="en-ID" sz="2000" dirty="0"/>
              <a:t> </a:t>
            </a:r>
            <a:r>
              <a:rPr lang="en-ID" sz="2000" dirty="0" err="1"/>
              <a:t>berhenti</a:t>
            </a:r>
            <a:r>
              <a:rPr lang="en-ID" sz="2000" dirty="0"/>
              <a:t>, Anda </a:t>
            </a:r>
            <a:r>
              <a:rPr lang="en-ID" sz="2000" dirty="0" err="1"/>
              <a:t>cukup</a:t>
            </a:r>
            <a:r>
              <a:rPr lang="en-ID" sz="2000" dirty="0"/>
              <a:t> </a:t>
            </a:r>
            <a:r>
              <a:rPr lang="en-ID" sz="2000" dirty="0" err="1"/>
              <a:t>menghapus</a:t>
            </a:r>
            <a:r>
              <a:rPr lang="en-ID" sz="2000" dirty="0"/>
              <a:t> </a:t>
            </a:r>
            <a:r>
              <a:rPr lang="en-ID" sz="2000" dirty="0" err="1"/>
              <a:t>datanya</a:t>
            </a:r>
            <a:r>
              <a:rPr lang="en-ID" sz="2000" dirty="0"/>
              <a:t> di </a:t>
            </a:r>
            <a:r>
              <a:rPr lang="en-ID" sz="2000" dirty="0" err="1"/>
              <a:t>tabel</a:t>
            </a:r>
            <a:r>
              <a:rPr lang="en-ID" sz="2000" dirty="0"/>
              <a:t> </a:t>
            </a:r>
            <a:r>
              <a:rPr lang="en-ID" sz="2000" dirty="0" err="1"/>
              <a:t>Karyawan</a:t>
            </a:r>
            <a:r>
              <a:rPr lang="en-ID" sz="2000" dirty="0"/>
              <a:t>, dan </a:t>
            </a:r>
            <a:r>
              <a:rPr lang="en-ID" sz="2000" i="1" dirty="0"/>
              <a:t>constraint</a:t>
            </a:r>
            <a:r>
              <a:rPr lang="en-ID" sz="2000" dirty="0"/>
              <a:t> (</a:t>
            </a:r>
            <a:r>
              <a:rPr lang="en-ID" sz="2000" dirty="0" err="1"/>
              <a:t>aturan</a:t>
            </a:r>
            <a:r>
              <a:rPr lang="en-ID" sz="2000" dirty="0"/>
              <a:t>) database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membersihkan</a:t>
            </a:r>
            <a:r>
              <a:rPr lang="en-ID" sz="2000" dirty="0"/>
              <a:t> </a:t>
            </a:r>
            <a:r>
              <a:rPr lang="en-ID" sz="2000" dirty="0" err="1"/>
              <a:t>penugasannya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merusak</a:t>
            </a:r>
            <a:r>
              <a:rPr lang="en-ID" sz="2000" dirty="0"/>
              <a:t> data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 </a:t>
            </a:r>
            <a:r>
              <a:rPr lang="en-ID" sz="2000" dirty="0" err="1"/>
              <a:t>sendiri</a:t>
            </a:r>
            <a:r>
              <a:rPr lang="en-ID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85438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029B-1F39-DC96-586B-37EDD5152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Latihan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CF41D-6D8B-A0B4-1CFA-128245D75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400" b="1" dirty="0">
                <a:solidFill>
                  <a:srgbClr val="FFC000"/>
                </a:solidFill>
              </a:rPr>
              <a:t>Studi Kasus</a:t>
            </a:r>
            <a:r>
              <a:rPr lang="en-ID" sz="1400" b="1" dirty="0"/>
              <a:t>: </a:t>
            </a:r>
            <a:r>
              <a:rPr lang="en-ID" sz="1400" b="1" dirty="0" err="1"/>
              <a:t>Sistem</a:t>
            </a:r>
            <a:r>
              <a:rPr lang="en-ID" sz="1400" b="1" dirty="0"/>
              <a:t> </a:t>
            </a:r>
            <a:r>
              <a:rPr lang="en-ID" sz="1400" b="1" dirty="0" err="1"/>
              <a:t>Manajemen</a:t>
            </a:r>
            <a:r>
              <a:rPr lang="en-ID" sz="1400" b="1" dirty="0"/>
              <a:t> Klinik Kesehatan (Klinik Sehat)</a:t>
            </a:r>
          </a:p>
          <a:p>
            <a:r>
              <a:rPr lang="en-ID" sz="1400" dirty="0" err="1"/>
              <a:t>Bayangkan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klinik</a:t>
            </a:r>
            <a:r>
              <a:rPr lang="en-ID" sz="1400" dirty="0"/>
              <a:t> yang </a:t>
            </a:r>
            <a:r>
              <a:rPr lang="en-ID" sz="1400" dirty="0" err="1"/>
              <a:t>mencatat</a:t>
            </a:r>
            <a:r>
              <a:rPr lang="en-ID" sz="1400" dirty="0"/>
              <a:t> </a:t>
            </a:r>
            <a:r>
              <a:rPr lang="en-ID" sz="1400" dirty="0" err="1"/>
              <a:t>seluruh</a:t>
            </a:r>
            <a:r>
              <a:rPr lang="en-ID" sz="1400" dirty="0"/>
              <a:t> </a:t>
            </a:r>
            <a:r>
              <a:rPr lang="en-ID" sz="1400" dirty="0" err="1"/>
              <a:t>aktivitas</a:t>
            </a:r>
            <a:r>
              <a:rPr lang="en-ID" sz="1400" dirty="0"/>
              <a:t> </a:t>
            </a:r>
            <a:r>
              <a:rPr lang="en-ID" sz="1400" dirty="0" err="1"/>
              <a:t>medis</a:t>
            </a:r>
            <a:r>
              <a:rPr lang="en-ID" sz="1400" dirty="0"/>
              <a:t>, data </a:t>
            </a:r>
            <a:r>
              <a:rPr lang="en-ID" sz="1400" dirty="0" err="1"/>
              <a:t>pasien</a:t>
            </a:r>
            <a:r>
              <a:rPr lang="en-ID" sz="1400" dirty="0"/>
              <a:t>, </a:t>
            </a:r>
            <a:r>
              <a:rPr lang="en-ID" sz="1400" dirty="0" err="1"/>
              <a:t>dokter</a:t>
            </a:r>
            <a:r>
              <a:rPr lang="en-ID" sz="1400" dirty="0"/>
              <a:t>, </a:t>
            </a:r>
            <a:r>
              <a:rPr lang="en-ID" sz="1400" dirty="0" err="1"/>
              <a:t>obat</a:t>
            </a:r>
            <a:r>
              <a:rPr lang="en-ID" sz="1400" dirty="0"/>
              <a:t> yang </a:t>
            </a:r>
            <a:r>
              <a:rPr lang="en-ID" sz="1400" dirty="0" err="1"/>
              <a:t>diresepkan</a:t>
            </a:r>
            <a:r>
              <a:rPr lang="en-ID" sz="1400" dirty="0"/>
              <a:t>, dan </a:t>
            </a:r>
            <a:r>
              <a:rPr lang="en-ID" sz="1400" dirty="0" err="1"/>
              <a:t>alergi</a:t>
            </a:r>
            <a:r>
              <a:rPr lang="en-ID" sz="1400" dirty="0"/>
              <a:t> </a:t>
            </a:r>
            <a:r>
              <a:rPr lang="en-ID" sz="1400" dirty="0" err="1"/>
              <a:t>pasien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b="1" dirty="0" err="1"/>
              <a:t>satu</a:t>
            </a:r>
            <a:r>
              <a:rPr lang="en-ID" sz="1400" b="1" dirty="0"/>
              <a:t> </a:t>
            </a:r>
            <a:r>
              <a:rPr lang="en-ID" sz="1400" b="1" dirty="0" err="1"/>
              <a:t>tabel</a:t>
            </a:r>
            <a:r>
              <a:rPr lang="en-ID" sz="1400" b="1" dirty="0"/>
              <a:t> </a:t>
            </a:r>
            <a:r>
              <a:rPr lang="en-ID" sz="1400" b="1" dirty="0" err="1"/>
              <a:t>besar</a:t>
            </a:r>
            <a:r>
              <a:rPr lang="en-ID" sz="1400" dirty="0"/>
              <a:t> yang sangat </a:t>
            </a:r>
            <a:r>
              <a:rPr lang="en-ID" sz="1400" dirty="0" err="1"/>
              <a:t>buruk</a:t>
            </a:r>
            <a:r>
              <a:rPr lang="en-ID" sz="1400" dirty="0"/>
              <a:t> </a:t>
            </a:r>
            <a:r>
              <a:rPr lang="en-ID" sz="1400" dirty="0" err="1"/>
              <a:t>desainnya</a:t>
            </a:r>
            <a:r>
              <a:rPr lang="en-ID" sz="1400" dirty="0"/>
              <a:t>.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pPr marL="152400" indent="0">
              <a:buNone/>
            </a:pPr>
            <a:endParaRPr lang="en-ID" dirty="0"/>
          </a:p>
          <a:p>
            <a:endParaRPr lang="en-ID" dirty="0"/>
          </a:p>
          <a:p>
            <a:r>
              <a:rPr lang="en-ID" dirty="0" err="1"/>
              <a:t>Lakukan</a:t>
            </a:r>
            <a:r>
              <a:rPr lang="en-ID" dirty="0"/>
              <a:t> </a:t>
            </a:r>
            <a:r>
              <a:rPr lang="en-ID" dirty="0" err="1"/>
              <a:t>normalisasi</a:t>
            </a:r>
            <a:r>
              <a:rPr lang="en-ID" dirty="0"/>
              <a:t> yang </a:t>
            </a:r>
            <a:r>
              <a:rPr lang="en-ID" dirty="0" err="1"/>
              <a:t>dibutuhkan</a:t>
            </a:r>
            <a:r>
              <a:rPr lang="en-ID" dirty="0"/>
              <a:t> (1NF, 2NF, BCNF, 3NF, 4NF)</a:t>
            </a:r>
          </a:p>
          <a:p>
            <a:r>
              <a:rPr lang="en-US" dirty="0" err="1"/>
              <a:t>Tuliskan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proses </a:t>
            </a:r>
            <a:r>
              <a:rPr lang="en-US" dirty="0" err="1"/>
              <a:t>nya</a:t>
            </a:r>
            <a:r>
              <a:rPr lang="en-US" dirty="0"/>
              <a:t>, (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di </a:t>
            </a:r>
            <a:r>
              <a:rPr lang="en-US" dirty="0" err="1"/>
              <a:t>setiap</a:t>
            </a:r>
            <a:r>
              <a:rPr lang="en-US" dirty="0"/>
              <a:t> step </a:t>
            </a:r>
            <a:r>
              <a:rPr lang="en-US" dirty="0" err="1"/>
              <a:t>normalisasi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)</a:t>
            </a:r>
          </a:p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? Jika Ya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mengapa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jelaskan</a:t>
            </a:r>
            <a:r>
              <a:rPr lang="en-US" dirty="0"/>
              <a:t> juga </a:t>
            </a:r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!</a:t>
            </a:r>
          </a:p>
          <a:p>
            <a:pPr lvl="1"/>
            <a:r>
              <a:rPr lang="en-ID" sz="1050" b="1" dirty="0" err="1"/>
              <a:t>Tabel_Pasien</a:t>
            </a:r>
            <a:r>
              <a:rPr lang="en-ID" sz="1050" dirty="0"/>
              <a:t> (Data </a:t>
            </a:r>
            <a:r>
              <a:rPr lang="en-ID" sz="1050" dirty="0" err="1"/>
              <a:t>Induk</a:t>
            </a:r>
            <a:r>
              <a:rPr lang="en-ID" sz="1050" dirty="0"/>
              <a:t> </a:t>
            </a:r>
            <a:r>
              <a:rPr lang="en-ID" sz="1050" dirty="0" err="1"/>
              <a:t>Pasien</a:t>
            </a:r>
            <a:r>
              <a:rPr lang="en-ID" sz="1050" dirty="0"/>
              <a:t>)</a:t>
            </a:r>
          </a:p>
          <a:p>
            <a:pPr lvl="1"/>
            <a:r>
              <a:rPr lang="en-ID" sz="1050" b="1" dirty="0" err="1"/>
              <a:t>Tabel_Dokter</a:t>
            </a:r>
            <a:r>
              <a:rPr lang="en-ID" sz="1050" dirty="0"/>
              <a:t> (Data </a:t>
            </a:r>
            <a:r>
              <a:rPr lang="en-ID" sz="1050" dirty="0" err="1"/>
              <a:t>Induk</a:t>
            </a:r>
            <a:r>
              <a:rPr lang="en-ID" sz="1050" dirty="0"/>
              <a:t> Dokter)</a:t>
            </a:r>
          </a:p>
          <a:p>
            <a:pPr lvl="1"/>
            <a:r>
              <a:rPr lang="en-ID" sz="1050" b="1" dirty="0" err="1"/>
              <a:t>Tabel_Spesialisasi</a:t>
            </a:r>
            <a:r>
              <a:rPr lang="en-ID" sz="1050" dirty="0"/>
              <a:t> (Mapping </a:t>
            </a:r>
            <a:r>
              <a:rPr lang="en-ID" sz="1050" dirty="0" err="1"/>
              <a:t>Spesialisasi</a:t>
            </a:r>
            <a:r>
              <a:rPr lang="en-ID" sz="1050" dirty="0"/>
              <a:t> </a:t>
            </a:r>
            <a:r>
              <a:rPr lang="en-ID" sz="1050" dirty="0" err="1"/>
              <a:t>ke</a:t>
            </a:r>
            <a:r>
              <a:rPr lang="en-ID" sz="1050" dirty="0"/>
              <a:t> </a:t>
            </a:r>
            <a:r>
              <a:rPr lang="en-ID" sz="1050" dirty="0" err="1"/>
              <a:t>Ruangan</a:t>
            </a:r>
            <a:r>
              <a:rPr lang="en-ID" sz="1050" dirty="0"/>
              <a:t>)</a:t>
            </a:r>
          </a:p>
          <a:p>
            <a:pPr lvl="1"/>
            <a:r>
              <a:rPr lang="en-ID" sz="1050" b="1" dirty="0" err="1"/>
              <a:t>Tabel_Kunjungan</a:t>
            </a:r>
            <a:r>
              <a:rPr lang="en-ID" sz="1050" dirty="0"/>
              <a:t> (</a:t>
            </a:r>
            <a:r>
              <a:rPr lang="en-ID" sz="1050" dirty="0" err="1"/>
              <a:t>Mencatat</a:t>
            </a:r>
            <a:r>
              <a:rPr lang="en-ID" sz="1050" dirty="0"/>
              <a:t> No </a:t>
            </a:r>
            <a:r>
              <a:rPr lang="en-ID" sz="1050" dirty="0" err="1"/>
              <a:t>Rekam</a:t>
            </a:r>
            <a:r>
              <a:rPr lang="en-ID" sz="1050" dirty="0"/>
              <a:t> </a:t>
            </a:r>
            <a:r>
              <a:rPr lang="en-ID" sz="1050" dirty="0" err="1"/>
              <a:t>Medis</a:t>
            </a:r>
            <a:r>
              <a:rPr lang="en-ID" sz="1050" dirty="0"/>
              <a:t> dan </a:t>
            </a:r>
            <a:r>
              <a:rPr lang="en-ID" sz="1050" dirty="0" err="1"/>
              <a:t>Tanggal</a:t>
            </a:r>
            <a:r>
              <a:rPr lang="en-ID" sz="1050" dirty="0"/>
              <a:t> </a:t>
            </a:r>
            <a:r>
              <a:rPr lang="en-ID" sz="1050" dirty="0" err="1"/>
              <a:t>Periksa</a:t>
            </a:r>
            <a:r>
              <a:rPr lang="en-ID" sz="1050" dirty="0"/>
              <a:t>)</a:t>
            </a:r>
          </a:p>
          <a:p>
            <a:pPr lvl="1"/>
            <a:r>
              <a:rPr lang="en-ID" sz="1050" b="1" dirty="0" err="1"/>
              <a:t>Tabel_Resep</a:t>
            </a:r>
            <a:r>
              <a:rPr lang="en-ID" sz="1050" dirty="0"/>
              <a:t> (Obat </a:t>
            </a:r>
            <a:r>
              <a:rPr lang="en-ID" sz="1050" dirty="0" err="1"/>
              <a:t>apa</a:t>
            </a:r>
            <a:r>
              <a:rPr lang="en-ID" sz="1050" dirty="0"/>
              <a:t> yang </a:t>
            </a:r>
            <a:r>
              <a:rPr lang="en-ID" sz="1050" dirty="0" err="1"/>
              <a:t>diminum</a:t>
            </a:r>
            <a:r>
              <a:rPr lang="en-ID" sz="1050" dirty="0"/>
              <a:t> </a:t>
            </a:r>
            <a:r>
              <a:rPr lang="en-ID" sz="1050" dirty="0" err="1"/>
              <a:t>pasien</a:t>
            </a:r>
            <a:r>
              <a:rPr lang="en-ID" sz="1050" dirty="0"/>
              <a:t>)</a:t>
            </a:r>
          </a:p>
          <a:p>
            <a:pPr lvl="1"/>
            <a:r>
              <a:rPr lang="en-ID" sz="1050" b="1" dirty="0" err="1"/>
              <a:t>Tabel_Alergi</a:t>
            </a:r>
            <a:r>
              <a:rPr lang="en-ID" sz="1050" dirty="0"/>
              <a:t> (Daftar </a:t>
            </a:r>
            <a:r>
              <a:rPr lang="en-ID" sz="1050" dirty="0" err="1"/>
              <a:t>alergi</a:t>
            </a:r>
            <a:r>
              <a:rPr lang="en-ID" sz="1050" dirty="0"/>
              <a:t> </a:t>
            </a:r>
            <a:r>
              <a:rPr lang="en-ID" sz="1050" dirty="0" err="1"/>
              <a:t>tiap</a:t>
            </a:r>
            <a:r>
              <a:rPr lang="en-ID" sz="1050" dirty="0"/>
              <a:t> </a:t>
            </a:r>
            <a:r>
              <a:rPr lang="en-ID" sz="1050" dirty="0" err="1"/>
              <a:t>pasien</a:t>
            </a:r>
            <a:r>
              <a:rPr lang="en-ID" sz="1050" dirty="0"/>
              <a:t> </a:t>
            </a:r>
            <a:r>
              <a:rPr lang="en-ID" sz="1050" dirty="0" err="1"/>
              <a:t>secara</a:t>
            </a:r>
            <a:r>
              <a:rPr lang="en-ID" sz="1050" dirty="0"/>
              <a:t> </a:t>
            </a:r>
            <a:r>
              <a:rPr lang="en-ID" sz="1050" dirty="0" err="1"/>
              <a:t>independen</a:t>
            </a:r>
            <a:r>
              <a:rPr lang="en-ID" sz="1050" dirty="0"/>
              <a:t>)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700DE6-57EB-F0DF-4A93-9AA990C8E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176235"/>
              </p:ext>
            </p:extLst>
          </p:nvPr>
        </p:nvGraphicFramePr>
        <p:xfrm>
          <a:off x="428504" y="2047268"/>
          <a:ext cx="8448088" cy="1184427"/>
        </p:xfrm>
        <a:graphic>
          <a:graphicData uri="http://schemas.openxmlformats.org/drawingml/2006/table">
            <a:tbl>
              <a:tblPr/>
              <a:tblGrid>
                <a:gridCol w="566442">
                  <a:extLst>
                    <a:ext uri="{9D8B030D-6E8A-4147-A177-3AD203B41FA5}">
                      <a16:colId xmlns:a16="http://schemas.microsoft.com/office/drawing/2014/main" val="823991143"/>
                    </a:ext>
                  </a:extLst>
                </a:gridCol>
                <a:gridCol w="728283">
                  <a:extLst>
                    <a:ext uri="{9D8B030D-6E8A-4147-A177-3AD203B41FA5}">
                      <a16:colId xmlns:a16="http://schemas.microsoft.com/office/drawing/2014/main" val="4111104461"/>
                    </a:ext>
                  </a:extLst>
                </a:gridCol>
                <a:gridCol w="663547">
                  <a:extLst>
                    <a:ext uri="{9D8B030D-6E8A-4147-A177-3AD203B41FA5}">
                      <a16:colId xmlns:a16="http://schemas.microsoft.com/office/drawing/2014/main" val="1856647309"/>
                    </a:ext>
                  </a:extLst>
                </a:gridCol>
                <a:gridCol w="525983">
                  <a:extLst>
                    <a:ext uri="{9D8B030D-6E8A-4147-A177-3AD203B41FA5}">
                      <a16:colId xmlns:a16="http://schemas.microsoft.com/office/drawing/2014/main" val="2379143705"/>
                    </a:ext>
                  </a:extLst>
                </a:gridCol>
                <a:gridCol w="704007">
                  <a:extLst>
                    <a:ext uri="{9D8B030D-6E8A-4147-A177-3AD203B41FA5}">
                      <a16:colId xmlns:a16="http://schemas.microsoft.com/office/drawing/2014/main" val="1005037365"/>
                    </a:ext>
                  </a:extLst>
                </a:gridCol>
                <a:gridCol w="687823">
                  <a:extLst>
                    <a:ext uri="{9D8B030D-6E8A-4147-A177-3AD203B41FA5}">
                      <a16:colId xmlns:a16="http://schemas.microsoft.com/office/drawing/2014/main" val="2028088295"/>
                    </a:ext>
                  </a:extLst>
                </a:gridCol>
                <a:gridCol w="542166">
                  <a:extLst>
                    <a:ext uri="{9D8B030D-6E8A-4147-A177-3AD203B41FA5}">
                      <a16:colId xmlns:a16="http://schemas.microsoft.com/office/drawing/2014/main" val="401166663"/>
                    </a:ext>
                  </a:extLst>
                </a:gridCol>
                <a:gridCol w="946768">
                  <a:extLst>
                    <a:ext uri="{9D8B030D-6E8A-4147-A177-3AD203B41FA5}">
                      <a16:colId xmlns:a16="http://schemas.microsoft.com/office/drawing/2014/main" val="2535068195"/>
                    </a:ext>
                  </a:extLst>
                </a:gridCol>
                <a:gridCol w="849664">
                  <a:extLst>
                    <a:ext uri="{9D8B030D-6E8A-4147-A177-3AD203B41FA5}">
                      <a16:colId xmlns:a16="http://schemas.microsoft.com/office/drawing/2014/main" val="717459684"/>
                    </a:ext>
                  </a:extLst>
                </a:gridCol>
                <a:gridCol w="1294726">
                  <a:extLst>
                    <a:ext uri="{9D8B030D-6E8A-4147-A177-3AD203B41FA5}">
                      <a16:colId xmlns:a16="http://schemas.microsoft.com/office/drawing/2014/main" val="4271717416"/>
                    </a:ext>
                  </a:extLst>
                </a:gridCol>
                <a:gridCol w="938679">
                  <a:extLst>
                    <a:ext uri="{9D8B030D-6E8A-4147-A177-3AD203B41FA5}">
                      <a16:colId xmlns:a16="http://schemas.microsoft.com/office/drawing/2014/main" val="1749112803"/>
                    </a:ext>
                  </a:extLst>
                </a:gridCol>
              </a:tblGrid>
              <a:tr h="3424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ID_Pasien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Nama_Pasien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Tgl_Lahir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ID_Dokter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Nama_Dokter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Spesialisasi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Ruangan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No_Rekam_Medis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Tgl_Periksa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Obat_Diberikan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Alergi_Pasien</a:t>
                      </a:r>
                      <a:endParaRPr lang="en-ID" sz="800" b="1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277845"/>
                  </a:ext>
                </a:extLst>
              </a:tr>
              <a:tr h="499593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P01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Andi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D" sz="800" dirty="0">
                          <a:effectLst/>
                        </a:rPr>
                        <a:t>1990-05-10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D77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dirty="0">
                          <a:effectLst/>
                        </a:rPr>
                        <a:t>Dr. Siti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dirty="0">
                          <a:effectLst/>
                        </a:rPr>
                        <a:t>Anak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Mawar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RM-101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D" sz="800" dirty="0">
                          <a:effectLst/>
                        </a:rPr>
                        <a:t>2026-01-20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Paracetamol, Amoxicillin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Debu, Udang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371906"/>
                  </a:ext>
                </a:extLst>
              </a:tr>
              <a:tr h="3424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P02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Budi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D" sz="800">
                          <a:effectLst/>
                        </a:rPr>
                        <a:t>1985-11-12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dirty="0">
                          <a:effectLst/>
                        </a:rPr>
                        <a:t>D88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Dr. Joko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Umum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Melati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RM-102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ID" sz="800">
                          <a:effectLst/>
                        </a:rPr>
                        <a:t>2026-01-21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>
                          <a:effectLst/>
                        </a:rPr>
                        <a:t>Antasida</a:t>
                      </a: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D" sz="800" dirty="0" err="1">
                          <a:effectLst/>
                        </a:rPr>
                        <a:t>Telur</a:t>
                      </a:r>
                      <a:endParaRPr lang="en-ID" sz="800" dirty="0">
                        <a:effectLst/>
                      </a:endParaRPr>
                    </a:p>
                  </a:txBody>
                  <a:tcPr marL="21050" marR="21050" marT="14033" marB="14033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095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67814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0FCAF90-0BA9-9CBA-3D6B-DF439DF7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79CDE40-89C3-BA68-7DEA-C6A988A87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Kuis</a:t>
            </a:r>
            <a:r>
              <a:rPr lang="en-US" sz="4700" dirty="0"/>
              <a:t> 1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887037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223AC57-DAF2-2B16-9137-710B2EE1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6328056-1AAE-B716-3203-1B5BD75CE1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Arigatou</a:t>
            </a:r>
            <a:r>
              <a:rPr lang="en-US" sz="4700" dirty="0"/>
              <a:t> </a:t>
            </a:r>
            <a:r>
              <a:rPr lang="en-US" sz="4700" dirty="0" err="1"/>
              <a:t>Gozaimasu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252217245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8390</TotalTime>
  <Words>6174</Words>
  <Application>Microsoft Macintosh PowerPoint</Application>
  <PresentationFormat>On-screen Show (16:9)</PresentationFormat>
  <Paragraphs>936</Paragraphs>
  <Slides>51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Calibri</vt:lpstr>
      <vt:lpstr>Wingdings</vt:lpstr>
      <vt:lpstr>Raleway Black</vt:lpstr>
      <vt:lpstr>Hanken Grotesk</vt:lpstr>
      <vt:lpstr>Courier New</vt:lpstr>
      <vt:lpstr>Technology Market Research Pitch Deck by Slidesgo</vt:lpstr>
      <vt:lpstr>Normalisasi Data  (BCNF, 3NF, 4NF)</vt:lpstr>
      <vt:lpstr>Capaian pembelajaran</vt:lpstr>
      <vt:lpstr>Boyce-Codd Normal Form (BCNF) </vt:lpstr>
      <vt:lpstr>Dekomposisi Skema ke dalam BCNF </vt:lpstr>
      <vt:lpstr>BCNF dan Pemeliharaan Ketergantungan (Dependency Preservation)</vt:lpstr>
      <vt:lpstr>Bentuk Normal Ketiga (Third Normal Form - 3NF) </vt:lpstr>
      <vt:lpstr>Pengujian untuk BCNF </vt:lpstr>
      <vt:lpstr>Menguji Dekomposisi untuk BCNF </vt:lpstr>
      <vt:lpstr>BCNF Decomposition Algorithm</vt:lpstr>
      <vt:lpstr>Contoh Dekomposisi BCNF </vt:lpstr>
      <vt:lpstr>Contoh Dekomposisi BCNF</vt:lpstr>
      <vt:lpstr>Dekomposisi BCNF (Lanjutan) </vt:lpstr>
      <vt:lpstr>BCNF dan Pemeliharaan Ketergantungan (Dependency Preservation)</vt:lpstr>
      <vt:lpstr>Bentuk Normal Ketiga: Motivasi </vt:lpstr>
      <vt:lpstr>Contoh Bentuk Normal Ketiga (3NF) </vt:lpstr>
      <vt:lpstr>Redundansi pada 3NF </vt:lpstr>
      <vt:lpstr>Pengujian untuk 3NF </vt:lpstr>
      <vt:lpstr>3NF Decomposition Algorithm</vt:lpstr>
      <vt:lpstr>Algoritma Dekomposisi 3NF (Lanjutan) </vt:lpstr>
      <vt:lpstr>Dekomposisi 3NF: Sebuah Contoh </vt:lpstr>
      <vt:lpstr>Contoh Dekomposisi 3NF (Lanjutan) </vt:lpstr>
      <vt:lpstr>Perbandingan BCNF dan 3NF </vt:lpstr>
      <vt:lpstr>Seberapa Baik BCNF? </vt:lpstr>
      <vt:lpstr>Seberapa Baik BCNF? (Lanjutan) </vt:lpstr>
      <vt:lpstr>Seberapa Baik BCNF? (Lanjutan) </vt:lpstr>
      <vt:lpstr>Tujuan Desain </vt:lpstr>
      <vt:lpstr>Pengujian FD Lintas Relasi </vt:lpstr>
      <vt:lpstr>Proses Desain Basis Data Secara Keseluruhan </vt:lpstr>
      <vt:lpstr>Model ER dan Normalisasi </vt:lpstr>
      <vt:lpstr>Denormalisasi untuk Performa </vt:lpstr>
      <vt:lpstr>Masalah Desain Lainnya </vt:lpstr>
      <vt:lpstr>Bentuk Normal Keempat (4NF) </vt:lpstr>
      <vt:lpstr>Bentuk Normal Keempat (4NF) </vt:lpstr>
      <vt:lpstr>Bentuk Normal Keempat (4NF) </vt:lpstr>
      <vt:lpstr>Studi Kasus</vt:lpstr>
      <vt:lpstr>Bentuk Unnormalized (UNF)</vt:lpstr>
      <vt:lpstr>Tahap 1NF (Menghilangkan Grup Berulang)</vt:lpstr>
      <vt:lpstr>Tahap 2NF  (Menghilangkan Ketergantungan Parsial)</vt:lpstr>
      <vt:lpstr>Hasil 2NF</vt:lpstr>
      <vt:lpstr>Tahap 3NF  (Menghilangkan Ketergantungan Transitif)</vt:lpstr>
      <vt:lpstr>Hasil 3NF</vt:lpstr>
      <vt:lpstr>Tahap BCNF  (Boyce-Codd Normal Form)</vt:lpstr>
      <vt:lpstr>Hasil BCNF</vt:lpstr>
      <vt:lpstr>Tahap 4NF (Menghilangkan Multi-valued Dependency)</vt:lpstr>
      <vt:lpstr>Hasil 4NF(1)</vt:lpstr>
      <vt:lpstr>Hasil 4NF(2)</vt:lpstr>
      <vt:lpstr>Struktur Relasi</vt:lpstr>
      <vt:lpstr>Manfaat Desain Ini: </vt:lpstr>
      <vt:lpstr>Tugas Latihan studi kasus</vt:lpstr>
      <vt:lpstr>Kuis 1</vt:lpstr>
      <vt:lpstr>Arigatou Gozaimasu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183</cp:revision>
  <dcterms:modified xsi:type="dcterms:W3CDTF">2026-03-27T06:49:58Z</dcterms:modified>
</cp:coreProperties>
</file>