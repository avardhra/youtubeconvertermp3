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4"/>
  </p:notesMasterIdLst>
  <p:sldIdLst>
    <p:sldId id="256" r:id="rId2"/>
    <p:sldId id="257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6" r:id="rId14"/>
    <p:sldId id="355" r:id="rId15"/>
    <p:sldId id="357" r:id="rId16"/>
    <p:sldId id="358" r:id="rId17"/>
    <p:sldId id="360" r:id="rId18"/>
    <p:sldId id="361" r:id="rId19"/>
    <p:sldId id="359" r:id="rId20"/>
    <p:sldId id="362" r:id="rId21"/>
    <p:sldId id="363" r:id="rId22"/>
    <p:sldId id="364" r:id="rId23"/>
    <p:sldId id="365" r:id="rId24"/>
    <p:sldId id="366" r:id="rId25"/>
    <p:sldId id="367" r:id="rId26"/>
    <p:sldId id="369" r:id="rId27"/>
    <p:sldId id="368" r:id="rId28"/>
    <p:sldId id="370" r:id="rId29"/>
    <p:sldId id="371" r:id="rId30"/>
    <p:sldId id="372" r:id="rId31"/>
    <p:sldId id="374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44" r:id="rId43"/>
  </p:sldIdLst>
  <p:sldSz cx="9144000" cy="5143500" type="screen16x9"/>
  <p:notesSz cx="6858000" cy="9144000"/>
  <p:embeddedFontLst>
    <p:embeddedFont>
      <p:font typeface="Hanken Grotesk" pitchFamily="2" charset="77"/>
      <p:regular r:id="rId45"/>
      <p:bold r:id="rId46"/>
      <p:italic r:id="rId47"/>
      <p:boldItalic r:id="rId48"/>
    </p:embeddedFont>
    <p:embeddedFont>
      <p:font typeface="Noto Sans Symbols" panose="020F0502020204030204" pitchFamily="34" charset="0"/>
      <p:regular r:id="rId49"/>
      <p:bold r:id="rId50"/>
      <p:italic r:id="rId51"/>
      <p:boldItalic r:id="rId52"/>
    </p:embeddedFont>
    <p:embeddedFont>
      <p:font typeface="Raleway Black" pitchFamily="2" charset="77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CC3F9-152E-F446-95A1-B15C0C618B06}" v="384" dt="2026-03-11T05:19:55.552"/>
  </p1510:revLst>
</p1510:revInfo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22"/>
    <p:restoredTop sz="79818" autoAdjust="0"/>
  </p:normalViewPr>
  <p:slideViewPr>
    <p:cSldViewPr snapToGrid="0">
      <p:cViewPr varScale="1">
        <p:scale>
          <a:sx n="157" d="100"/>
          <a:sy n="157" d="100"/>
        </p:scale>
        <p:origin x="1176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anto Tantriawan" userId="82e33306d5002250" providerId="LiveId" clId="{5753A697-1038-5003-83F6-CC341650460F}"/>
    <pc:docChg chg="undo redo custSel addSld delSld modSld sldOrd">
      <pc:chgData name="Hartanto Tantriawan" userId="82e33306d5002250" providerId="LiveId" clId="{5753A697-1038-5003-83F6-CC341650460F}" dt="2026-03-11T06:04:27.406" v="15190" actId="20577"/>
      <pc:docMkLst>
        <pc:docMk/>
      </pc:docMkLst>
      <pc:sldChg chg="modSp mod">
        <pc:chgData name="Hartanto Tantriawan" userId="82e33306d5002250" providerId="LiveId" clId="{5753A697-1038-5003-83F6-CC341650460F}" dt="2026-03-11T05:33:48.359" v="15188" actId="20577"/>
        <pc:sldMkLst>
          <pc:docMk/>
          <pc:sldMk cId="0" sldId="256"/>
        </pc:sldMkLst>
        <pc:spChg chg="mod">
          <ac:chgData name="Hartanto Tantriawan" userId="82e33306d5002250" providerId="LiveId" clId="{5753A697-1038-5003-83F6-CC341650460F}" dt="2026-03-11T05:33:48.359" v="15188" actId="20577"/>
          <ac:spMkLst>
            <pc:docMk/>
            <pc:sldMk cId="0" sldId="256"/>
            <ac:spMk id="662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3-11T05:34:41.549" v="15189" actId="207"/>
        <pc:sldMkLst>
          <pc:docMk/>
          <pc:sldMk cId="0" sldId="257"/>
        </pc:sldMkLst>
        <pc:spChg chg="mod">
          <ac:chgData name="Hartanto Tantriawan" userId="82e33306d5002250" providerId="LiveId" clId="{5753A697-1038-5003-83F6-CC341650460F}" dt="2026-03-09T12:37:37.685" v="11383" actId="1076"/>
          <ac:spMkLst>
            <pc:docMk/>
            <pc:sldMk cId="0" sldId="257"/>
            <ac:spMk id="699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3-11T05:34:41.549" v="15189" actId="207"/>
          <ac:spMkLst>
            <pc:docMk/>
            <pc:sldMk cId="0" sldId="257"/>
            <ac:spMk id="700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3-10T12:49:47.833" v="13945"/>
        <pc:sldMkLst>
          <pc:docMk/>
          <pc:sldMk cId="0" sldId="280"/>
        </pc:sldMkLst>
        <pc:spChg chg="mod">
          <ac:chgData name="Hartanto Tantriawan" userId="82e33306d5002250" providerId="LiveId" clId="{5753A697-1038-5003-83F6-CC341650460F}" dt="2026-03-10T12:49:47.833" v="13945"/>
          <ac:spMkLst>
            <pc:docMk/>
            <pc:sldMk cId="0" sldId="280"/>
            <ac:spMk id="355" creationId="{00000000-0000-0000-0000-000000000000}"/>
          </ac:spMkLst>
        </pc:spChg>
      </pc:sldChg>
      <pc:sldChg chg="modSp add del mod modShow">
        <pc:chgData name="Hartanto Tantriawan" userId="82e33306d5002250" providerId="LiveId" clId="{5753A697-1038-5003-83F6-CC341650460F}" dt="2026-03-11T03:54:20.128" v="14344" actId="2696"/>
        <pc:sldMkLst>
          <pc:docMk/>
          <pc:sldMk cId="0" sldId="283"/>
        </pc:sldMkLst>
        <pc:spChg chg="mod">
          <ac:chgData name="Hartanto Tantriawan" userId="82e33306d5002250" providerId="LiveId" clId="{5753A697-1038-5003-83F6-CC341650460F}" dt="2026-03-11T00:37:55.103" v="14045" actId="27636"/>
          <ac:spMkLst>
            <pc:docMk/>
            <pc:sldMk cId="0" sldId="283"/>
            <ac:spMk id="385" creationId="{00000000-0000-0000-0000-000000000000}"/>
          </ac:spMkLst>
        </pc:spChg>
      </pc:sldChg>
      <pc:sldChg chg="modSp add del mod modShow">
        <pc:chgData name="Hartanto Tantriawan" userId="82e33306d5002250" providerId="LiveId" clId="{5753A697-1038-5003-83F6-CC341650460F}" dt="2026-03-11T04:04:33.040" v="14421" actId="2696"/>
        <pc:sldMkLst>
          <pc:docMk/>
          <pc:sldMk cId="0" sldId="284"/>
        </pc:sldMkLst>
        <pc:spChg chg="mod">
          <ac:chgData name="Hartanto Tantriawan" userId="82e33306d5002250" providerId="LiveId" clId="{5753A697-1038-5003-83F6-CC341650460F}" dt="2026-03-11T03:58:08.579" v="14362"/>
          <ac:spMkLst>
            <pc:docMk/>
            <pc:sldMk cId="0" sldId="284"/>
            <ac:spMk id="395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3-11T04:21:34.530" v="14525" actId="2696"/>
        <pc:sldMkLst>
          <pc:docMk/>
          <pc:sldMk cId="0" sldId="285"/>
        </pc:sldMkLst>
        <pc:spChg chg="mod">
          <ac:chgData name="Hartanto Tantriawan" userId="82e33306d5002250" providerId="LiveId" clId="{5753A697-1038-5003-83F6-CC341650460F}" dt="2026-03-11T00:50:58.990" v="14052" actId="27636"/>
          <ac:spMkLst>
            <pc:docMk/>
            <pc:sldMk cId="0" sldId="285"/>
            <ac:spMk id="405" creationId="{00000000-0000-0000-0000-000000000000}"/>
          </ac:spMkLst>
        </pc:spChg>
      </pc:sldChg>
      <pc:sldChg chg="add del">
        <pc:chgData name="Hartanto Tantriawan" userId="82e33306d5002250" providerId="LiveId" clId="{5753A697-1038-5003-83F6-CC341650460F}" dt="2026-03-11T04:35:58.176" v="14699" actId="2696"/>
        <pc:sldMkLst>
          <pc:docMk/>
          <pc:sldMk cId="0" sldId="286"/>
        </pc:sldMkLst>
      </pc:sldChg>
      <pc:sldChg chg="add del">
        <pc:chgData name="Hartanto Tantriawan" userId="82e33306d5002250" providerId="LiveId" clId="{5753A697-1038-5003-83F6-CC341650460F}" dt="2026-03-11T04:40:27.315" v="14721" actId="2696"/>
        <pc:sldMkLst>
          <pc:docMk/>
          <pc:sldMk cId="0" sldId="291"/>
        </pc:sldMkLst>
      </pc:sldChg>
      <pc:sldChg chg="modSp add del mod">
        <pc:chgData name="Hartanto Tantriawan" userId="82e33306d5002250" providerId="LiveId" clId="{5753A697-1038-5003-83F6-CC341650460F}" dt="2026-03-11T04:43:58.724" v="14767" actId="2696"/>
        <pc:sldMkLst>
          <pc:docMk/>
          <pc:sldMk cId="0" sldId="292"/>
        </pc:sldMkLst>
        <pc:spChg chg="mod">
          <ac:chgData name="Hartanto Tantriawan" userId="82e33306d5002250" providerId="LiveId" clId="{5753A697-1038-5003-83F6-CC341650460F}" dt="2026-03-11T00:51:28.986" v="14056" actId="27636"/>
          <ac:spMkLst>
            <pc:docMk/>
            <pc:sldMk cId="0" sldId="292"/>
            <ac:spMk id="477" creationId="{00000000-0000-0000-0000-000000000000}"/>
          </ac:spMkLst>
        </pc:spChg>
      </pc:sldChg>
      <pc:sldChg chg="add del">
        <pc:chgData name="Hartanto Tantriawan" userId="82e33306d5002250" providerId="LiveId" clId="{5753A697-1038-5003-83F6-CC341650460F}" dt="2026-03-11T04:54:02.057" v="14861" actId="2696"/>
        <pc:sldMkLst>
          <pc:docMk/>
          <pc:sldMk cId="0" sldId="293"/>
        </pc:sldMkLst>
      </pc:sldChg>
      <pc:sldChg chg="modSp add del mod">
        <pc:chgData name="Hartanto Tantriawan" userId="82e33306d5002250" providerId="LiveId" clId="{5753A697-1038-5003-83F6-CC341650460F}" dt="2026-03-11T05:03:43.251" v="14953" actId="2696"/>
        <pc:sldMkLst>
          <pc:docMk/>
          <pc:sldMk cId="0" sldId="294"/>
        </pc:sldMkLst>
        <pc:spChg chg="mod">
          <ac:chgData name="Hartanto Tantriawan" userId="82e33306d5002250" providerId="LiveId" clId="{5753A697-1038-5003-83F6-CC341650460F}" dt="2026-03-11T00:51:51.584" v="14058" actId="27636"/>
          <ac:spMkLst>
            <pc:docMk/>
            <pc:sldMk cId="0" sldId="294"/>
            <ac:spMk id="498" creationId="{00000000-0000-0000-0000-000000000000}"/>
          </ac:spMkLst>
        </pc:spChg>
      </pc:sldChg>
      <pc:sldChg chg="add del">
        <pc:chgData name="Hartanto Tantriawan" userId="82e33306d5002250" providerId="LiveId" clId="{5753A697-1038-5003-83F6-CC341650460F}" dt="2026-03-11T05:06:38.191" v="14982" actId="2696"/>
        <pc:sldMkLst>
          <pc:docMk/>
          <pc:sldMk cId="0" sldId="295"/>
        </pc:sldMkLst>
      </pc:sldChg>
      <pc:sldChg chg="modSp add del mod">
        <pc:chgData name="Hartanto Tantriawan" userId="82e33306d5002250" providerId="LiveId" clId="{5753A697-1038-5003-83F6-CC341650460F}" dt="2026-03-11T05:13:18.562" v="15036" actId="2696"/>
        <pc:sldMkLst>
          <pc:docMk/>
          <pc:sldMk cId="0" sldId="296"/>
        </pc:sldMkLst>
        <pc:spChg chg="mod">
          <ac:chgData name="Hartanto Tantriawan" userId="82e33306d5002250" providerId="LiveId" clId="{5753A697-1038-5003-83F6-CC341650460F}" dt="2026-03-11T00:51:51.624" v="14059" actId="27636"/>
          <ac:spMkLst>
            <pc:docMk/>
            <pc:sldMk cId="0" sldId="296"/>
            <ac:spMk id="519" creationId="{00000000-0000-0000-0000-000000000000}"/>
          </ac:spMkLst>
        </pc:spChg>
      </pc:sldChg>
      <pc:sldChg chg="add del">
        <pc:chgData name="Hartanto Tantriawan" userId="82e33306d5002250" providerId="LiveId" clId="{5753A697-1038-5003-83F6-CC341650460F}" dt="2026-03-11T05:20:37.606" v="15184" actId="2696"/>
        <pc:sldMkLst>
          <pc:docMk/>
          <pc:sldMk cId="0" sldId="297"/>
        </pc:sldMkLst>
      </pc:sldChg>
      <pc:sldChg chg="modSp add mod">
        <pc:chgData name="Hartanto Tantriawan" userId="82e33306d5002250" providerId="LiveId" clId="{5753A697-1038-5003-83F6-CC341650460F}" dt="2026-02-10T16:26:40.993" v="3360" actId="20577"/>
        <pc:sldMkLst>
          <pc:docMk/>
          <pc:sldMk cId="4075045857" sldId="344"/>
        </pc:sldMkLst>
        <pc:spChg chg="mod">
          <ac:chgData name="Hartanto Tantriawan" userId="82e33306d5002250" providerId="LiveId" clId="{5753A697-1038-5003-83F6-CC341650460F}" dt="2026-02-10T16:26:40.993" v="3360" actId="20577"/>
          <ac:spMkLst>
            <pc:docMk/>
            <pc:sldMk cId="4075045857" sldId="344"/>
            <ac:spMk id="761" creationId="{8DD28701-B18F-9242-916C-DE67CBB6F88E}"/>
          </ac:spMkLst>
        </pc:spChg>
      </pc:sldChg>
      <pc:sldChg chg="addSp modSp new mod modAnim">
        <pc:chgData name="Hartanto Tantriawan" userId="82e33306d5002250" providerId="LiveId" clId="{5753A697-1038-5003-83F6-CC341650460F}" dt="2026-03-09T13:04:07.078" v="11489" actId="1076"/>
        <pc:sldMkLst>
          <pc:docMk/>
          <pc:sldMk cId="3523412339" sldId="345"/>
        </pc:sldMkLst>
        <pc:spChg chg="mod">
          <ac:chgData name="Hartanto Tantriawan" userId="82e33306d5002250" providerId="LiveId" clId="{5753A697-1038-5003-83F6-CC341650460F}" dt="2026-03-09T12:43:19.690" v="11469" actId="20577"/>
          <ac:spMkLst>
            <pc:docMk/>
            <pc:sldMk cId="3523412339" sldId="345"/>
            <ac:spMk id="2" creationId="{3DEAD7D1-0C72-E40A-CFA4-1F643D5383DA}"/>
          </ac:spMkLst>
        </pc:spChg>
        <pc:spChg chg="mod">
          <ac:chgData name="Hartanto Tantriawan" userId="82e33306d5002250" providerId="LiveId" clId="{5753A697-1038-5003-83F6-CC341650460F}" dt="2026-03-09T13:04:00.748" v="11487" actId="207"/>
          <ac:spMkLst>
            <pc:docMk/>
            <pc:sldMk cId="3523412339" sldId="345"/>
            <ac:spMk id="3" creationId="{A41F55F7-EE89-8CAF-D7BF-D3CF8906C4B1}"/>
          </ac:spMkLst>
        </pc:spChg>
        <pc:picChg chg="add mod">
          <ac:chgData name="Hartanto Tantriawan" userId="82e33306d5002250" providerId="LiveId" clId="{5753A697-1038-5003-83F6-CC341650460F}" dt="2026-03-09T13:04:07.078" v="11489" actId="1076"/>
          <ac:picMkLst>
            <pc:docMk/>
            <pc:sldMk cId="3523412339" sldId="345"/>
            <ac:picMk id="4" creationId="{5A1A8534-6ECB-BFAF-639F-91514B6D27F3}"/>
          </ac:picMkLst>
        </pc:picChg>
      </pc:sldChg>
      <pc:sldChg chg="modSp new mod">
        <pc:chgData name="Hartanto Tantriawan" userId="82e33306d5002250" providerId="LiveId" clId="{5753A697-1038-5003-83F6-CC341650460F}" dt="2026-03-09T13:19:51.784" v="11564" actId="207"/>
        <pc:sldMkLst>
          <pc:docMk/>
          <pc:sldMk cId="2127444901" sldId="346"/>
        </pc:sldMkLst>
        <pc:spChg chg="mod">
          <ac:chgData name="Hartanto Tantriawan" userId="82e33306d5002250" providerId="LiveId" clId="{5753A697-1038-5003-83F6-CC341650460F}" dt="2026-03-09T13:12:41.386" v="11528" actId="207"/>
          <ac:spMkLst>
            <pc:docMk/>
            <pc:sldMk cId="2127444901" sldId="346"/>
            <ac:spMk id="2" creationId="{05D9F5DE-A36D-5FA1-BA4E-F4250DD9FA68}"/>
          </ac:spMkLst>
        </pc:spChg>
        <pc:spChg chg="mod">
          <ac:chgData name="Hartanto Tantriawan" userId="82e33306d5002250" providerId="LiveId" clId="{5753A697-1038-5003-83F6-CC341650460F}" dt="2026-03-09T13:19:51.784" v="11564" actId="207"/>
          <ac:spMkLst>
            <pc:docMk/>
            <pc:sldMk cId="2127444901" sldId="346"/>
            <ac:spMk id="3" creationId="{E15D77AB-8CEA-533C-8DD2-3A1825FB1E9F}"/>
          </ac:spMkLst>
        </pc:spChg>
      </pc:sldChg>
      <pc:sldChg chg="addSp modSp new mod modAnim modNotesTx">
        <pc:chgData name="Hartanto Tantriawan" userId="82e33306d5002250" providerId="LiveId" clId="{5753A697-1038-5003-83F6-CC341650460F}" dt="2026-03-09T13:30:23.052" v="11643" actId="12"/>
        <pc:sldMkLst>
          <pc:docMk/>
          <pc:sldMk cId="2474074104" sldId="347"/>
        </pc:sldMkLst>
        <pc:spChg chg="mod">
          <ac:chgData name="Hartanto Tantriawan" userId="82e33306d5002250" providerId="LiveId" clId="{5753A697-1038-5003-83F6-CC341650460F}" dt="2026-03-09T13:22:41.116" v="11619" actId="404"/>
          <ac:spMkLst>
            <pc:docMk/>
            <pc:sldMk cId="2474074104" sldId="347"/>
            <ac:spMk id="2" creationId="{01646CD4-2CE7-FB66-0B41-C5F2FDE8A217}"/>
          </ac:spMkLst>
        </pc:spChg>
        <pc:spChg chg="mod">
          <ac:chgData name="Hartanto Tantriawan" userId="82e33306d5002250" providerId="LiveId" clId="{5753A697-1038-5003-83F6-CC341650460F}" dt="2026-03-09T13:24:27.974" v="11638" actId="20577"/>
          <ac:spMkLst>
            <pc:docMk/>
            <pc:sldMk cId="2474074104" sldId="347"/>
            <ac:spMk id="3" creationId="{CF3A4A2A-B570-2DA9-BC0A-299692CEA0B3}"/>
          </ac:spMkLst>
        </pc:spChg>
        <pc:picChg chg="add mod">
          <ac:chgData name="Hartanto Tantriawan" userId="82e33306d5002250" providerId="LiveId" clId="{5753A697-1038-5003-83F6-CC341650460F}" dt="2026-03-09T13:24:37.731" v="11642" actId="1076"/>
          <ac:picMkLst>
            <pc:docMk/>
            <pc:sldMk cId="2474074104" sldId="347"/>
            <ac:picMk id="5" creationId="{115A7D4B-0D68-AD98-44CA-BE68DF00CA19}"/>
          </ac:picMkLst>
        </pc:picChg>
      </pc:sldChg>
      <pc:sldChg chg="modSp new mod">
        <pc:chgData name="Hartanto Tantriawan" userId="82e33306d5002250" providerId="LiveId" clId="{5753A697-1038-5003-83F6-CC341650460F}" dt="2026-03-09T13:41:18.956" v="11687" actId="207"/>
        <pc:sldMkLst>
          <pc:docMk/>
          <pc:sldMk cId="1950534393" sldId="348"/>
        </pc:sldMkLst>
        <pc:spChg chg="mod">
          <ac:chgData name="Hartanto Tantriawan" userId="82e33306d5002250" providerId="LiveId" clId="{5753A697-1038-5003-83F6-CC341650460F}" dt="2026-03-09T13:33:18.439" v="11647"/>
          <ac:spMkLst>
            <pc:docMk/>
            <pc:sldMk cId="1950534393" sldId="348"/>
            <ac:spMk id="2" creationId="{C7841A9A-7BD5-C7A7-6F50-A3DD82BCC909}"/>
          </ac:spMkLst>
        </pc:spChg>
        <pc:spChg chg="mod">
          <ac:chgData name="Hartanto Tantriawan" userId="82e33306d5002250" providerId="LiveId" clId="{5753A697-1038-5003-83F6-CC341650460F}" dt="2026-03-09T13:41:18.956" v="11687" actId="207"/>
          <ac:spMkLst>
            <pc:docMk/>
            <pc:sldMk cId="1950534393" sldId="348"/>
            <ac:spMk id="3" creationId="{D587382B-7B52-8D55-EF25-91827856A2CD}"/>
          </ac:spMkLst>
        </pc:spChg>
      </pc:sldChg>
      <pc:sldChg chg="addSp delSp modSp new mod">
        <pc:chgData name="Hartanto Tantriawan" userId="82e33306d5002250" providerId="LiveId" clId="{5753A697-1038-5003-83F6-CC341650460F}" dt="2026-03-09T13:42:27.161" v="11715" actId="478"/>
        <pc:sldMkLst>
          <pc:docMk/>
          <pc:sldMk cId="100380138" sldId="349"/>
        </pc:sldMkLst>
        <pc:spChg chg="mod">
          <ac:chgData name="Hartanto Tantriawan" userId="82e33306d5002250" providerId="LiveId" clId="{5753A697-1038-5003-83F6-CC341650460F}" dt="2026-03-09T13:42:01.635" v="11709" actId="20577"/>
          <ac:spMkLst>
            <pc:docMk/>
            <pc:sldMk cId="100380138" sldId="349"/>
            <ac:spMk id="2" creationId="{254B8A35-0C16-9EFA-F8F4-EDFC9F868A13}"/>
          </ac:spMkLst>
        </pc:spChg>
        <pc:picChg chg="add mod">
          <ac:chgData name="Hartanto Tantriawan" userId="82e33306d5002250" providerId="LiveId" clId="{5753A697-1038-5003-83F6-CC341650460F}" dt="2026-03-09T13:42:23.149" v="11714" actId="1076"/>
          <ac:picMkLst>
            <pc:docMk/>
            <pc:sldMk cId="100380138" sldId="349"/>
            <ac:picMk id="4" creationId="{F8FAD88A-4B22-CCFF-EE83-C5675413CFBE}"/>
          </ac:picMkLst>
        </pc:picChg>
      </pc:sldChg>
      <pc:sldChg chg="addSp modSp new mod modNotes">
        <pc:chgData name="Hartanto Tantriawan" userId="82e33306d5002250" providerId="LiveId" clId="{5753A697-1038-5003-83F6-CC341650460F}" dt="2026-03-11T05:13:18.565" v="15037"/>
        <pc:sldMkLst>
          <pc:docMk/>
          <pc:sldMk cId="3053283862" sldId="350"/>
        </pc:sldMkLst>
        <pc:spChg chg="mod">
          <ac:chgData name="Hartanto Tantriawan" userId="82e33306d5002250" providerId="LiveId" clId="{5753A697-1038-5003-83F6-CC341650460F}" dt="2026-03-09T13:44:17.407" v="11733" actId="207"/>
          <ac:spMkLst>
            <pc:docMk/>
            <pc:sldMk cId="3053283862" sldId="350"/>
            <ac:spMk id="2" creationId="{D0D82798-9531-78B6-8C04-09A11FDE36C8}"/>
          </ac:spMkLst>
        </pc:spChg>
        <pc:spChg chg="mod">
          <ac:chgData name="Hartanto Tantriawan" userId="82e33306d5002250" providerId="LiveId" clId="{5753A697-1038-5003-83F6-CC341650460F}" dt="2026-03-09T13:51:46.789" v="11764" actId="403"/>
          <ac:spMkLst>
            <pc:docMk/>
            <pc:sldMk cId="3053283862" sldId="350"/>
            <ac:spMk id="3" creationId="{49AA6AD3-D996-700A-5342-DC1BB7793491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5" creationId="{49FCD4F3-FE62-4EC6-C422-4DC2B7BCBBF1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6" creationId="{B793A28B-0E5C-CC66-57C2-6D205AF4F168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8" creationId="{34E4D1AD-501A-C3BE-DA1A-5829E4EB7A1B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12" creationId="{C818F917-7233-D8ED-B0B6-52CD500FB946}"/>
          </ac:spMkLst>
        </pc:spChg>
        <pc:spChg chg="add mod">
          <ac:chgData name="Hartanto Tantriawan" userId="82e33306d5002250" providerId="LiveId" clId="{5753A697-1038-5003-83F6-CC341650460F}" dt="2026-03-09T13:48:22.652" v="11752" actId="207"/>
          <ac:spMkLst>
            <pc:docMk/>
            <pc:sldMk cId="3053283862" sldId="350"/>
            <ac:spMk id="14" creationId="{FCC06A8D-3276-9466-6E27-01B27EB1D5E0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16" creationId="{C7B9DD91-8DAA-DCAC-D52D-CC2D824EF90C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17" creationId="{C936BF4F-4283-19FC-F065-B3E81986F08C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18" creationId="{3FD03DBA-91F3-AE5C-EA9E-5245ADF442F6}"/>
          </ac:spMkLst>
        </pc:spChg>
        <pc:spChg chg="mod">
          <ac:chgData name="Hartanto Tantriawan" userId="82e33306d5002250" providerId="LiveId" clId="{5753A697-1038-5003-83F6-CC341650460F}" dt="2026-03-09T13:49:22.584" v="11762" actId="14100"/>
          <ac:spMkLst>
            <pc:docMk/>
            <pc:sldMk cId="3053283862" sldId="350"/>
            <ac:spMk id="19" creationId="{33FF5BC2-2963-2376-205D-1F1E7474EBDF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24" creationId="{073695CA-D026-B5E2-C9F4-47084D287D84}"/>
          </ac:spMkLst>
        </pc:spChg>
        <pc:spChg chg="add mod">
          <ac:chgData name="Hartanto Tantriawan" userId="82e33306d5002250" providerId="LiveId" clId="{5753A697-1038-5003-83F6-CC341650460F}" dt="2026-03-09T13:47:39.419" v="11748" actId="1076"/>
          <ac:spMkLst>
            <pc:docMk/>
            <pc:sldMk cId="3053283862" sldId="350"/>
            <ac:spMk id="26" creationId="{A8A90EDA-4EB9-5E63-1DD4-29F6890F4AC3}"/>
          </ac:spMkLst>
        </pc:spChg>
        <pc:grpChg chg="add mod">
          <ac:chgData name="Hartanto Tantriawan" userId="82e33306d5002250" providerId="LiveId" clId="{5753A697-1038-5003-83F6-CC341650460F}" dt="2026-03-09T13:47:55.416" v="11751" actId="1076"/>
          <ac:grpSpMkLst>
            <pc:docMk/>
            <pc:sldMk cId="3053283862" sldId="350"/>
            <ac:grpSpMk id="29" creationId="{7F588947-E0C8-3145-9F9C-0A8CDBCD6F58}"/>
          </ac:grpSpMkLst>
        </pc:grpChg>
      </pc:sldChg>
      <pc:sldChg chg="modSp new mod">
        <pc:chgData name="Hartanto Tantriawan" userId="82e33306d5002250" providerId="LiveId" clId="{5753A697-1038-5003-83F6-CC341650460F}" dt="2026-03-09T14:05:04.749" v="11815" actId="113"/>
        <pc:sldMkLst>
          <pc:docMk/>
          <pc:sldMk cId="3735631120" sldId="351"/>
        </pc:sldMkLst>
        <pc:spChg chg="mod">
          <ac:chgData name="Hartanto Tantriawan" userId="82e33306d5002250" providerId="LiveId" clId="{5753A697-1038-5003-83F6-CC341650460F}" dt="2026-03-09T13:56:34.710" v="11796" actId="20577"/>
          <ac:spMkLst>
            <pc:docMk/>
            <pc:sldMk cId="3735631120" sldId="351"/>
            <ac:spMk id="2" creationId="{068C1465-FCA2-CA31-5904-296D8ED8E526}"/>
          </ac:spMkLst>
        </pc:spChg>
        <pc:spChg chg="mod">
          <ac:chgData name="Hartanto Tantriawan" userId="82e33306d5002250" providerId="LiveId" clId="{5753A697-1038-5003-83F6-CC341650460F}" dt="2026-03-09T14:05:04.749" v="11815" actId="113"/>
          <ac:spMkLst>
            <pc:docMk/>
            <pc:sldMk cId="3735631120" sldId="351"/>
            <ac:spMk id="3" creationId="{BC7328E1-73BC-A863-11E7-F2264730F80D}"/>
          </ac:spMkLst>
        </pc:spChg>
      </pc:sldChg>
      <pc:sldChg chg="modSp new mod">
        <pc:chgData name="Hartanto Tantriawan" userId="82e33306d5002250" providerId="LiveId" clId="{5753A697-1038-5003-83F6-CC341650460F}" dt="2026-03-09T14:09:32.197" v="11850" actId="207"/>
        <pc:sldMkLst>
          <pc:docMk/>
          <pc:sldMk cId="2361661850" sldId="352"/>
        </pc:sldMkLst>
        <pc:spChg chg="mod">
          <ac:chgData name="Hartanto Tantriawan" userId="82e33306d5002250" providerId="LiveId" clId="{5753A697-1038-5003-83F6-CC341650460F}" dt="2026-03-09T14:06:54.612" v="11833" actId="20577"/>
          <ac:spMkLst>
            <pc:docMk/>
            <pc:sldMk cId="2361661850" sldId="352"/>
            <ac:spMk id="2" creationId="{3353806D-FCD6-9E6A-4949-1C1117E39797}"/>
          </ac:spMkLst>
        </pc:spChg>
        <pc:spChg chg="mod">
          <ac:chgData name="Hartanto Tantriawan" userId="82e33306d5002250" providerId="LiveId" clId="{5753A697-1038-5003-83F6-CC341650460F}" dt="2026-03-09T14:09:32.197" v="11850" actId="207"/>
          <ac:spMkLst>
            <pc:docMk/>
            <pc:sldMk cId="2361661850" sldId="352"/>
            <ac:spMk id="3" creationId="{8BBB5A4F-1818-5606-5B40-D076B3A43A29}"/>
          </ac:spMkLst>
        </pc:spChg>
      </pc:sldChg>
      <pc:sldChg chg="modSp new mod">
        <pc:chgData name="Hartanto Tantriawan" userId="82e33306d5002250" providerId="LiveId" clId="{5753A697-1038-5003-83F6-CC341650460F}" dt="2026-03-09T14:20:25.915" v="11930" actId="207"/>
        <pc:sldMkLst>
          <pc:docMk/>
          <pc:sldMk cId="3597419490" sldId="353"/>
        </pc:sldMkLst>
        <pc:spChg chg="mod">
          <ac:chgData name="Hartanto Tantriawan" userId="82e33306d5002250" providerId="LiveId" clId="{5753A697-1038-5003-83F6-CC341650460F}" dt="2026-03-09T14:19:08.293" v="11918" actId="404"/>
          <ac:spMkLst>
            <pc:docMk/>
            <pc:sldMk cId="3597419490" sldId="353"/>
            <ac:spMk id="2" creationId="{9BBBEE71-EBB8-37FE-0BD2-A77B830EED84}"/>
          </ac:spMkLst>
        </pc:spChg>
        <pc:spChg chg="mod">
          <ac:chgData name="Hartanto Tantriawan" userId="82e33306d5002250" providerId="LiveId" clId="{5753A697-1038-5003-83F6-CC341650460F}" dt="2026-03-09T14:20:25.915" v="11930" actId="207"/>
          <ac:spMkLst>
            <pc:docMk/>
            <pc:sldMk cId="3597419490" sldId="353"/>
            <ac:spMk id="3" creationId="{3B1C2F83-F85D-2B25-156E-3F4281A08FAE}"/>
          </ac:spMkLst>
        </pc:spChg>
      </pc:sldChg>
      <pc:sldChg chg="modSp new mod">
        <pc:chgData name="Hartanto Tantriawan" userId="82e33306d5002250" providerId="LiveId" clId="{5753A697-1038-5003-83F6-CC341650460F}" dt="2026-03-09T14:23:24.449" v="11970" actId="207"/>
        <pc:sldMkLst>
          <pc:docMk/>
          <pc:sldMk cId="3206725583" sldId="354"/>
        </pc:sldMkLst>
        <pc:spChg chg="mod">
          <ac:chgData name="Hartanto Tantriawan" userId="82e33306d5002250" providerId="LiveId" clId="{5753A697-1038-5003-83F6-CC341650460F}" dt="2026-03-09T14:21:47.183" v="11959" actId="20577"/>
          <ac:spMkLst>
            <pc:docMk/>
            <pc:sldMk cId="3206725583" sldId="354"/>
            <ac:spMk id="2" creationId="{4079C197-A50A-FA6A-1A86-6EA9DCF0BA4B}"/>
          </ac:spMkLst>
        </pc:spChg>
        <pc:spChg chg="mod">
          <ac:chgData name="Hartanto Tantriawan" userId="82e33306d5002250" providerId="LiveId" clId="{5753A697-1038-5003-83F6-CC341650460F}" dt="2026-03-09T14:23:24.449" v="11970" actId="207"/>
          <ac:spMkLst>
            <pc:docMk/>
            <pc:sldMk cId="3206725583" sldId="354"/>
            <ac:spMk id="3" creationId="{DAEEA652-9FB8-4CAE-A450-0C7AB99324F3}"/>
          </ac:spMkLst>
        </pc:spChg>
      </pc:sldChg>
      <pc:sldChg chg="addSp delSp modSp new mod modNotes">
        <pc:chgData name="Hartanto Tantriawan" userId="82e33306d5002250" providerId="LiveId" clId="{5753A697-1038-5003-83F6-CC341650460F}" dt="2026-03-11T05:13:18.565" v="15037"/>
        <pc:sldMkLst>
          <pc:docMk/>
          <pc:sldMk cId="3864301753" sldId="355"/>
        </pc:sldMkLst>
        <pc:spChg chg="mod">
          <ac:chgData name="Hartanto Tantriawan" userId="82e33306d5002250" providerId="LiveId" clId="{5753A697-1038-5003-83F6-CC341650460F}" dt="2026-03-10T03:38:29.996" v="12156"/>
          <ac:spMkLst>
            <pc:docMk/>
            <pc:sldMk cId="3864301753" sldId="355"/>
            <ac:spMk id="2" creationId="{4F08E127-5C31-896C-977D-9EF333E2B1FF}"/>
          </ac:spMkLst>
        </pc:spChg>
        <pc:spChg chg="add del mod">
          <ac:chgData name="Hartanto Tantriawan" userId="82e33306d5002250" providerId="LiveId" clId="{5753A697-1038-5003-83F6-CC341650460F}" dt="2026-03-10T03:51:11.150" v="12214" actId="113"/>
          <ac:spMkLst>
            <pc:docMk/>
            <pc:sldMk cId="3864301753" sldId="355"/>
            <ac:spMk id="3" creationId="{FB1637D9-220C-A9CA-43F2-537F1718F772}"/>
          </ac:spMkLst>
        </pc:spChg>
        <pc:spChg chg="add mod">
          <ac:chgData name="Hartanto Tantriawan" userId="82e33306d5002250" providerId="LiveId" clId="{5753A697-1038-5003-83F6-CC341650460F}" dt="2026-03-10T03:38:47.373" v="12158"/>
          <ac:spMkLst>
            <pc:docMk/>
            <pc:sldMk cId="3864301753" sldId="355"/>
            <ac:spMk id="4" creationId="{7B7AB645-9CE8-325A-D1ED-A77B09B94F56}"/>
          </ac:spMkLst>
        </pc:spChg>
      </pc:sldChg>
      <pc:sldChg chg="addSp modSp add mod">
        <pc:chgData name="Hartanto Tantriawan" userId="82e33306d5002250" providerId="LiveId" clId="{5753A697-1038-5003-83F6-CC341650460F}" dt="2026-03-09T14:41:04.055" v="12155" actId="1076"/>
        <pc:sldMkLst>
          <pc:docMk/>
          <pc:sldMk cId="1499146865" sldId="356"/>
        </pc:sldMkLst>
        <pc:spChg chg="mod">
          <ac:chgData name="Hartanto Tantriawan" userId="82e33306d5002250" providerId="LiveId" clId="{5753A697-1038-5003-83F6-CC341650460F}" dt="2026-03-09T14:24:15.174" v="11985" actId="20577"/>
          <ac:spMkLst>
            <pc:docMk/>
            <pc:sldMk cId="1499146865" sldId="356"/>
            <ac:spMk id="2" creationId="{B7BB4C1A-ACE6-CD93-3290-DBE2451CD52E}"/>
          </ac:spMkLst>
        </pc:spChg>
        <pc:spChg chg="mod">
          <ac:chgData name="Hartanto Tantriawan" userId="82e33306d5002250" providerId="LiveId" clId="{5753A697-1038-5003-83F6-CC341650460F}" dt="2026-03-09T14:40:58.847" v="12154" actId="14100"/>
          <ac:spMkLst>
            <pc:docMk/>
            <pc:sldMk cId="1499146865" sldId="356"/>
            <ac:spMk id="3" creationId="{08880D8E-7727-B351-97CA-4EB7E6DC4252}"/>
          </ac:spMkLst>
        </pc:spChg>
        <pc:spChg chg="add mod">
          <ac:chgData name="Hartanto Tantriawan" userId="82e33306d5002250" providerId="LiveId" clId="{5753A697-1038-5003-83F6-CC341650460F}" dt="2026-03-09T14:41:04.055" v="12155" actId="1076"/>
          <ac:spMkLst>
            <pc:docMk/>
            <pc:sldMk cId="1499146865" sldId="356"/>
            <ac:spMk id="4" creationId="{D0BA1B8B-D45F-9DA3-1008-5A102FCAB543}"/>
          </ac:spMkLst>
        </pc:spChg>
      </pc:sldChg>
      <pc:sldChg chg="modSp new mod modNotes">
        <pc:chgData name="Hartanto Tantriawan" userId="82e33306d5002250" providerId="LiveId" clId="{5753A697-1038-5003-83F6-CC341650460F}" dt="2026-03-11T05:13:18.565" v="15037"/>
        <pc:sldMkLst>
          <pc:docMk/>
          <pc:sldMk cId="3144548376" sldId="357"/>
        </pc:sldMkLst>
        <pc:spChg chg="mod">
          <ac:chgData name="Hartanto Tantriawan" userId="82e33306d5002250" providerId="LiveId" clId="{5753A697-1038-5003-83F6-CC341650460F}" dt="2026-03-10T03:57:53.822" v="12241" actId="20577"/>
          <ac:spMkLst>
            <pc:docMk/>
            <pc:sldMk cId="3144548376" sldId="357"/>
            <ac:spMk id="2" creationId="{16394E2C-DB12-D782-4C05-9C4A1A2B1EDC}"/>
          </ac:spMkLst>
        </pc:spChg>
        <pc:spChg chg="mod">
          <ac:chgData name="Hartanto Tantriawan" userId="82e33306d5002250" providerId="LiveId" clId="{5753A697-1038-5003-83F6-CC341650460F}" dt="2026-03-10T04:02:16.267" v="12297" actId="12"/>
          <ac:spMkLst>
            <pc:docMk/>
            <pc:sldMk cId="3144548376" sldId="357"/>
            <ac:spMk id="3" creationId="{944DC30E-50FF-4784-E075-56BE7A656C45}"/>
          </ac:spMkLst>
        </pc:spChg>
      </pc:sldChg>
      <pc:sldChg chg="addSp modSp new mod modNotesTx">
        <pc:chgData name="Hartanto Tantriawan" userId="82e33306d5002250" providerId="LiveId" clId="{5753A697-1038-5003-83F6-CC341650460F}" dt="2026-03-11T06:04:27.406" v="15190" actId="20577"/>
        <pc:sldMkLst>
          <pc:docMk/>
          <pc:sldMk cId="2368729865" sldId="358"/>
        </pc:sldMkLst>
        <pc:spChg chg="mod">
          <ac:chgData name="Hartanto Tantriawan" userId="82e33306d5002250" providerId="LiveId" clId="{5753A697-1038-5003-83F6-CC341650460F}" dt="2026-03-10T04:14:43.181" v="12305" actId="20577"/>
          <ac:spMkLst>
            <pc:docMk/>
            <pc:sldMk cId="2368729865" sldId="358"/>
            <ac:spMk id="2" creationId="{8D1B7CF6-78B7-3421-5889-D8347CA44960}"/>
          </ac:spMkLst>
        </pc:spChg>
        <pc:spChg chg="mod">
          <ac:chgData name="Hartanto Tantriawan" userId="82e33306d5002250" providerId="LiveId" clId="{5753A697-1038-5003-83F6-CC341650460F}" dt="2026-03-11T06:04:27.406" v="15190" actId="20577"/>
          <ac:spMkLst>
            <pc:docMk/>
            <pc:sldMk cId="2368729865" sldId="358"/>
            <ac:spMk id="3" creationId="{8765586B-EF1B-6ED0-C4E5-AF9DC9FA6145}"/>
          </ac:spMkLst>
        </pc:spChg>
        <pc:graphicFrameChg chg="add mod modGraphic">
          <ac:chgData name="Hartanto Tantriawan" userId="82e33306d5002250" providerId="LiveId" clId="{5753A697-1038-5003-83F6-CC341650460F}" dt="2026-03-10T04:18:45.325" v="12398" actId="113"/>
          <ac:graphicFrameMkLst>
            <pc:docMk/>
            <pc:sldMk cId="2368729865" sldId="358"/>
            <ac:graphicFrameMk id="4" creationId="{7575CC3C-42CA-CBA8-7AA1-50AC4BA126D7}"/>
          </ac:graphicFrameMkLst>
        </pc:graphicFrameChg>
      </pc:sldChg>
      <pc:sldChg chg="modSp new mod">
        <pc:chgData name="Hartanto Tantriawan" userId="82e33306d5002250" providerId="LiveId" clId="{5753A697-1038-5003-83F6-CC341650460F}" dt="2026-03-10T08:59:15.123" v="13115" actId="20577"/>
        <pc:sldMkLst>
          <pc:docMk/>
          <pc:sldMk cId="181198416" sldId="359"/>
        </pc:sldMkLst>
        <pc:spChg chg="mod">
          <ac:chgData name="Hartanto Tantriawan" userId="82e33306d5002250" providerId="LiveId" clId="{5753A697-1038-5003-83F6-CC341650460F}" dt="2026-03-10T08:56:03.147" v="13059"/>
          <ac:spMkLst>
            <pc:docMk/>
            <pc:sldMk cId="181198416" sldId="359"/>
            <ac:spMk id="2" creationId="{4D72C464-90B8-423A-E42E-87DBFE925A30}"/>
          </ac:spMkLst>
        </pc:spChg>
        <pc:spChg chg="mod">
          <ac:chgData name="Hartanto Tantriawan" userId="82e33306d5002250" providerId="LiveId" clId="{5753A697-1038-5003-83F6-CC341650460F}" dt="2026-03-10T08:59:15.123" v="13115" actId="20577"/>
          <ac:spMkLst>
            <pc:docMk/>
            <pc:sldMk cId="181198416" sldId="359"/>
            <ac:spMk id="3" creationId="{726A933C-BA31-656A-4A61-15C8D6E41CE5}"/>
          </ac:spMkLst>
        </pc:spChg>
      </pc:sldChg>
      <pc:sldChg chg="modSp add mod ord modNotesTx">
        <pc:chgData name="Hartanto Tantriawan" userId="82e33306d5002250" providerId="LiveId" clId="{5753A697-1038-5003-83F6-CC341650460F}" dt="2026-03-10T04:57:29.371" v="13057" actId="20577"/>
        <pc:sldMkLst>
          <pc:docMk/>
          <pc:sldMk cId="4216135085" sldId="360"/>
        </pc:sldMkLst>
        <pc:spChg chg="mod">
          <ac:chgData name="Hartanto Tantriawan" userId="82e33306d5002250" providerId="LiveId" clId="{5753A697-1038-5003-83F6-CC341650460F}" dt="2026-03-10T04:57:29.371" v="13057" actId="20577"/>
          <ac:spMkLst>
            <pc:docMk/>
            <pc:sldMk cId="4216135085" sldId="360"/>
            <ac:spMk id="3" creationId="{2780F939-49CD-0C4B-7327-948EC24E715F}"/>
          </ac:spMkLst>
        </pc:spChg>
      </pc:sldChg>
      <pc:sldChg chg="modSp new mod ord">
        <pc:chgData name="Hartanto Tantriawan" userId="82e33306d5002250" providerId="LiveId" clId="{5753A697-1038-5003-83F6-CC341650460F}" dt="2026-03-10T09:10:03.647" v="13134" actId="20578"/>
        <pc:sldMkLst>
          <pc:docMk/>
          <pc:sldMk cId="1512852944" sldId="361"/>
        </pc:sldMkLst>
        <pc:spChg chg="mod">
          <ac:chgData name="Hartanto Tantriawan" userId="82e33306d5002250" providerId="LiveId" clId="{5753A697-1038-5003-83F6-CC341650460F}" dt="2026-03-10T09:01:10.589" v="13120" actId="20577"/>
          <ac:spMkLst>
            <pc:docMk/>
            <pc:sldMk cId="1512852944" sldId="361"/>
            <ac:spMk id="2" creationId="{F0737CEC-6B7D-C1B5-F0C6-12E1ABB0BF31}"/>
          </ac:spMkLst>
        </pc:spChg>
        <pc:spChg chg="mod">
          <ac:chgData name="Hartanto Tantriawan" userId="82e33306d5002250" providerId="LiveId" clId="{5753A697-1038-5003-83F6-CC341650460F}" dt="2026-03-10T09:02:27.133" v="13133" actId="207"/>
          <ac:spMkLst>
            <pc:docMk/>
            <pc:sldMk cId="1512852944" sldId="361"/>
            <ac:spMk id="3" creationId="{FB79385F-5CDD-6206-87BA-25EC687B3E44}"/>
          </ac:spMkLst>
        </pc:spChg>
      </pc:sldChg>
      <pc:sldChg chg="modSp new mod modNotesTx">
        <pc:chgData name="Hartanto Tantriawan" userId="82e33306d5002250" providerId="LiveId" clId="{5753A697-1038-5003-83F6-CC341650460F}" dt="2026-03-10T09:23:51.730" v="13215" actId="20577"/>
        <pc:sldMkLst>
          <pc:docMk/>
          <pc:sldMk cId="1209321581" sldId="362"/>
        </pc:sldMkLst>
        <pc:spChg chg="mod">
          <ac:chgData name="Hartanto Tantriawan" userId="82e33306d5002250" providerId="LiveId" clId="{5753A697-1038-5003-83F6-CC341650460F}" dt="2026-03-10T09:18:16.439" v="13138"/>
          <ac:spMkLst>
            <pc:docMk/>
            <pc:sldMk cId="1209321581" sldId="362"/>
            <ac:spMk id="2" creationId="{4350D839-CB98-1467-F658-B8F97A95F3F0}"/>
          </ac:spMkLst>
        </pc:spChg>
        <pc:spChg chg="mod">
          <ac:chgData name="Hartanto Tantriawan" userId="82e33306d5002250" providerId="LiveId" clId="{5753A697-1038-5003-83F6-CC341650460F}" dt="2026-03-10T09:22:03.847" v="13206" actId="207"/>
          <ac:spMkLst>
            <pc:docMk/>
            <pc:sldMk cId="1209321581" sldId="362"/>
            <ac:spMk id="3" creationId="{687AEE7F-FFE2-3A2B-CA5D-E80BDC38927E}"/>
          </ac:spMkLst>
        </pc:spChg>
      </pc:sldChg>
      <pc:sldChg chg="modSp new mod">
        <pc:chgData name="Hartanto Tantriawan" userId="82e33306d5002250" providerId="LiveId" clId="{5753A697-1038-5003-83F6-CC341650460F}" dt="2026-03-10T09:37:22.050" v="13355" actId="1035"/>
        <pc:sldMkLst>
          <pc:docMk/>
          <pc:sldMk cId="243020039" sldId="363"/>
        </pc:sldMkLst>
        <pc:spChg chg="mod">
          <ac:chgData name="Hartanto Tantriawan" userId="82e33306d5002250" providerId="LiveId" clId="{5753A697-1038-5003-83F6-CC341650460F}" dt="2026-03-10T09:25:38.582" v="13230" actId="20577"/>
          <ac:spMkLst>
            <pc:docMk/>
            <pc:sldMk cId="243020039" sldId="363"/>
            <ac:spMk id="2" creationId="{5220FCEE-4684-319C-8E58-9017044CC866}"/>
          </ac:spMkLst>
        </pc:spChg>
        <pc:spChg chg="mod">
          <ac:chgData name="Hartanto Tantriawan" userId="82e33306d5002250" providerId="LiveId" clId="{5753A697-1038-5003-83F6-CC341650460F}" dt="2026-03-10T09:37:22.050" v="13355" actId="1035"/>
          <ac:spMkLst>
            <pc:docMk/>
            <pc:sldMk cId="243020039" sldId="363"/>
            <ac:spMk id="3" creationId="{05ED27AA-D383-D451-EE87-2C5F1ECD3EE0}"/>
          </ac:spMkLst>
        </pc:spChg>
      </pc:sldChg>
      <pc:sldChg chg="modSp new mod">
        <pc:chgData name="Hartanto Tantriawan" userId="82e33306d5002250" providerId="LiveId" clId="{5753A697-1038-5003-83F6-CC341650460F}" dt="2026-03-10T10:27:24.723" v="13415" actId="207"/>
        <pc:sldMkLst>
          <pc:docMk/>
          <pc:sldMk cId="417157286" sldId="364"/>
        </pc:sldMkLst>
        <pc:spChg chg="mod">
          <ac:chgData name="Hartanto Tantriawan" userId="82e33306d5002250" providerId="LiveId" clId="{5753A697-1038-5003-83F6-CC341650460F}" dt="2026-03-10T09:32:53.814" v="13294" actId="20577"/>
          <ac:spMkLst>
            <pc:docMk/>
            <pc:sldMk cId="417157286" sldId="364"/>
            <ac:spMk id="2" creationId="{BC3C123F-836F-00E3-66A0-A221E3168A84}"/>
          </ac:spMkLst>
        </pc:spChg>
        <pc:spChg chg="mod">
          <ac:chgData name="Hartanto Tantriawan" userId="82e33306d5002250" providerId="LiveId" clId="{5753A697-1038-5003-83F6-CC341650460F}" dt="2026-03-10T10:27:24.723" v="13415" actId="207"/>
          <ac:spMkLst>
            <pc:docMk/>
            <pc:sldMk cId="417157286" sldId="364"/>
            <ac:spMk id="3" creationId="{A4B25B95-4665-4A10-6561-A682254C87C8}"/>
          </ac:spMkLst>
        </pc:spChg>
      </pc:sldChg>
      <pc:sldChg chg="modSp new mod modNotesTx">
        <pc:chgData name="Hartanto Tantriawan" userId="82e33306d5002250" providerId="LiveId" clId="{5753A697-1038-5003-83F6-CC341650460F}" dt="2026-03-10T10:50:38.045" v="13691" actId="20577"/>
        <pc:sldMkLst>
          <pc:docMk/>
          <pc:sldMk cId="3348590647" sldId="365"/>
        </pc:sldMkLst>
        <pc:spChg chg="mod">
          <ac:chgData name="Hartanto Tantriawan" userId="82e33306d5002250" providerId="LiveId" clId="{5753A697-1038-5003-83F6-CC341650460F}" dt="2026-03-10T10:28:20.651" v="13433" actId="20577"/>
          <ac:spMkLst>
            <pc:docMk/>
            <pc:sldMk cId="3348590647" sldId="365"/>
            <ac:spMk id="2" creationId="{79A8BF53-4606-76B7-3211-64308C255489}"/>
          </ac:spMkLst>
        </pc:spChg>
        <pc:spChg chg="mod">
          <ac:chgData name="Hartanto Tantriawan" userId="82e33306d5002250" providerId="LiveId" clId="{5753A697-1038-5003-83F6-CC341650460F}" dt="2026-03-10T10:47:52.171" v="13633" actId="207"/>
          <ac:spMkLst>
            <pc:docMk/>
            <pc:sldMk cId="3348590647" sldId="365"/>
            <ac:spMk id="3" creationId="{03871C0E-CDC1-0F55-7D3D-9C11E2E8199C}"/>
          </ac:spMkLst>
        </pc:spChg>
      </pc:sldChg>
      <pc:sldChg chg="addSp new mod modShow">
        <pc:chgData name="Hartanto Tantriawan" userId="82e33306d5002250" providerId="LiveId" clId="{5753A697-1038-5003-83F6-CC341650460F}" dt="2026-03-10T10:51:44.703" v="13694"/>
        <pc:sldMkLst>
          <pc:docMk/>
          <pc:sldMk cId="4187736510" sldId="366"/>
        </pc:sldMkLst>
        <pc:picChg chg="add">
          <ac:chgData name="Hartanto Tantriawan" userId="82e33306d5002250" providerId="LiveId" clId="{5753A697-1038-5003-83F6-CC341650460F}" dt="2026-03-10T10:51:44.703" v="13694"/>
          <ac:picMkLst>
            <pc:docMk/>
            <pc:sldMk cId="4187736510" sldId="366"/>
            <ac:picMk id="4" creationId="{16DF0F1D-2C5B-881E-811B-C9EFD88F351C}"/>
          </ac:picMkLst>
        </pc:picChg>
      </pc:sldChg>
      <pc:sldChg chg="modSp new mod">
        <pc:chgData name="Hartanto Tantriawan" userId="82e33306d5002250" providerId="LiveId" clId="{5753A697-1038-5003-83F6-CC341650460F}" dt="2026-03-10T11:08:56.056" v="13856" actId="20577"/>
        <pc:sldMkLst>
          <pc:docMk/>
          <pc:sldMk cId="3135013162" sldId="367"/>
        </pc:sldMkLst>
        <pc:spChg chg="mod">
          <ac:chgData name="Hartanto Tantriawan" userId="82e33306d5002250" providerId="LiveId" clId="{5753A697-1038-5003-83F6-CC341650460F}" dt="2026-03-10T10:58:10.906" v="13706" actId="57"/>
          <ac:spMkLst>
            <pc:docMk/>
            <pc:sldMk cId="3135013162" sldId="367"/>
            <ac:spMk id="2" creationId="{7C59B673-705C-4DCF-AE37-CDA3E3929ACA}"/>
          </ac:spMkLst>
        </pc:spChg>
        <pc:spChg chg="mod">
          <ac:chgData name="Hartanto Tantriawan" userId="82e33306d5002250" providerId="LiveId" clId="{5753A697-1038-5003-83F6-CC341650460F}" dt="2026-03-10T11:08:56.056" v="13856" actId="20577"/>
          <ac:spMkLst>
            <pc:docMk/>
            <pc:sldMk cId="3135013162" sldId="367"/>
            <ac:spMk id="3" creationId="{B7ECC5D9-ECF9-15D5-F549-8AD47D5003EE}"/>
          </ac:spMkLst>
        </pc:spChg>
      </pc:sldChg>
      <pc:sldChg chg="modSp new mod">
        <pc:chgData name="Hartanto Tantriawan" userId="82e33306d5002250" providerId="LiveId" clId="{5753A697-1038-5003-83F6-CC341650460F}" dt="2026-03-10T12:44:39.205" v="13940"/>
        <pc:sldMkLst>
          <pc:docMk/>
          <pc:sldMk cId="3301262059" sldId="368"/>
        </pc:sldMkLst>
        <pc:spChg chg="mod">
          <ac:chgData name="Hartanto Tantriawan" userId="82e33306d5002250" providerId="LiveId" clId="{5753A697-1038-5003-83F6-CC341650460F}" dt="2026-03-10T12:18:03.100" v="13890"/>
          <ac:spMkLst>
            <pc:docMk/>
            <pc:sldMk cId="3301262059" sldId="368"/>
            <ac:spMk id="2" creationId="{BED53824-7C07-4383-6BF0-DBC49C7B88D8}"/>
          </ac:spMkLst>
        </pc:spChg>
        <pc:spChg chg="mod">
          <ac:chgData name="Hartanto Tantriawan" userId="82e33306d5002250" providerId="LiveId" clId="{5753A697-1038-5003-83F6-CC341650460F}" dt="2026-03-10T12:44:39.205" v="13940"/>
          <ac:spMkLst>
            <pc:docMk/>
            <pc:sldMk cId="3301262059" sldId="368"/>
            <ac:spMk id="3" creationId="{90F650E8-B6A5-5228-4752-513E59E5B0C8}"/>
          </ac:spMkLst>
        </pc:spChg>
      </pc:sldChg>
      <pc:sldChg chg="modSp add mod modNotesTx">
        <pc:chgData name="Hartanto Tantriawan" userId="82e33306d5002250" providerId="LiveId" clId="{5753A697-1038-5003-83F6-CC341650460F}" dt="2026-03-10T12:15:47.834" v="13888" actId="12"/>
        <pc:sldMkLst>
          <pc:docMk/>
          <pc:sldMk cId="1683055428" sldId="369"/>
        </pc:sldMkLst>
        <pc:spChg chg="mod">
          <ac:chgData name="Hartanto Tantriawan" userId="82e33306d5002250" providerId="LiveId" clId="{5753A697-1038-5003-83F6-CC341650460F}" dt="2026-03-10T12:15:06.683" v="13887" actId="207"/>
          <ac:spMkLst>
            <pc:docMk/>
            <pc:sldMk cId="1683055428" sldId="369"/>
            <ac:spMk id="3" creationId="{74F13B7C-1CAB-4577-06B7-17968C2C7FCD}"/>
          </ac:spMkLst>
        </pc:spChg>
      </pc:sldChg>
      <pc:sldChg chg="modSp new">
        <pc:chgData name="Hartanto Tantriawan" userId="82e33306d5002250" providerId="LiveId" clId="{5753A697-1038-5003-83F6-CC341650460F}" dt="2026-03-10T12:50:06.203" v="13947"/>
        <pc:sldMkLst>
          <pc:docMk/>
          <pc:sldMk cId="1250265443" sldId="370"/>
        </pc:sldMkLst>
        <pc:spChg chg="mod">
          <ac:chgData name="Hartanto Tantriawan" userId="82e33306d5002250" providerId="LiveId" clId="{5753A697-1038-5003-83F6-CC341650460F}" dt="2026-03-10T12:49:57.908" v="13946"/>
          <ac:spMkLst>
            <pc:docMk/>
            <pc:sldMk cId="1250265443" sldId="370"/>
            <ac:spMk id="2" creationId="{C783AF3D-2F4C-3B49-D7E5-5B70322BB056}"/>
          </ac:spMkLst>
        </pc:spChg>
        <pc:spChg chg="mod">
          <ac:chgData name="Hartanto Tantriawan" userId="82e33306d5002250" providerId="LiveId" clId="{5753A697-1038-5003-83F6-CC341650460F}" dt="2026-03-10T12:50:06.203" v="13947"/>
          <ac:spMkLst>
            <pc:docMk/>
            <pc:sldMk cId="1250265443" sldId="370"/>
            <ac:spMk id="3" creationId="{9FFD1869-B59F-F3CD-6E56-5CFDE050CEF3}"/>
          </ac:spMkLst>
        </pc:spChg>
      </pc:sldChg>
      <pc:sldChg chg="modSp new mod">
        <pc:chgData name="Hartanto Tantriawan" userId="82e33306d5002250" providerId="LiveId" clId="{5753A697-1038-5003-83F6-CC341650460F}" dt="2026-03-10T13:12:35.920" v="14033"/>
        <pc:sldMkLst>
          <pc:docMk/>
          <pc:sldMk cId="3978124940" sldId="371"/>
        </pc:sldMkLst>
        <pc:spChg chg="mod">
          <ac:chgData name="Hartanto Tantriawan" userId="82e33306d5002250" providerId="LiveId" clId="{5753A697-1038-5003-83F6-CC341650460F}" dt="2026-03-10T12:57:39.030" v="13974" actId="20577"/>
          <ac:spMkLst>
            <pc:docMk/>
            <pc:sldMk cId="3978124940" sldId="371"/>
            <ac:spMk id="2" creationId="{35AF0745-8997-C23D-EF3C-2FD16C5DDCBA}"/>
          </ac:spMkLst>
        </pc:spChg>
        <pc:spChg chg="mod">
          <ac:chgData name="Hartanto Tantriawan" userId="82e33306d5002250" providerId="LiveId" clId="{5753A697-1038-5003-83F6-CC341650460F}" dt="2026-03-10T13:12:35.920" v="14033"/>
          <ac:spMkLst>
            <pc:docMk/>
            <pc:sldMk cId="3978124940" sldId="371"/>
            <ac:spMk id="3" creationId="{7B2FD962-4451-0D79-BECD-F42F9DE5887C}"/>
          </ac:spMkLst>
        </pc:spChg>
      </pc:sldChg>
      <pc:sldChg chg="modSp new mod modShow modNotesTx">
        <pc:chgData name="Hartanto Tantriawan" userId="82e33306d5002250" providerId="LiveId" clId="{5753A697-1038-5003-83F6-CC341650460F}" dt="2026-03-11T03:53:32.643" v="14340" actId="12"/>
        <pc:sldMkLst>
          <pc:docMk/>
          <pc:sldMk cId="1675703828" sldId="372"/>
        </pc:sldMkLst>
        <pc:spChg chg="mod">
          <ac:chgData name="Hartanto Tantriawan" userId="82e33306d5002250" providerId="LiveId" clId="{5753A697-1038-5003-83F6-CC341650460F}" dt="2026-03-10T13:36:26.552" v="14037"/>
          <ac:spMkLst>
            <pc:docMk/>
            <pc:sldMk cId="1675703828" sldId="372"/>
            <ac:spMk id="2" creationId="{8DFDC389-0FEE-A027-53A4-128B9ADAD167}"/>
          </ac:spMkLst>
        </pc:spChg>
        <pc:spChg chg="mod">
          <ac:chgData name="Hartanto Tantriawan" userId="82e33306d5002250" providerId="LiveId" clId="{5753A697-1038-5003-83F6-CC341650460F}" dt="2026-03-11T03:50:44.169" v="14333" actId="403"/>
          <ac:spMkLst>
            <pc:docMk/>
            <pc:sldMk cId="1675703828" sldId="372"/>
            <ac:spMk id="3" creationId="{3E80F26E-2394-9029-5E15-980C1A5D251F}"/>
          </ac:spMkLst>
        </pc:spChg>
      </pc:sldChg>
      <pc:sldChg chg="modSp add del mod modShow">
        <pc:chgData name="Hartanto Tantriawan" userId="82e33306d5002250" providerId="LiveId" clId="{5753A697-1038-5003-83F6-CC341650460F}" dt="2026-03-11T03:54:17.612" v="14343" actId="2696"/>
        <pc:sldMkLst>
          <pc:docMk/>
          <pc:sldMk cId="3958839088" sldId="373"/>
        </pc:sldMkLst>
        <pc:spChg chg="mod">
          <ac:chgData name="Hartanto Tantriawan" userId="82e33306d5002250" providerId="LiveId" clId="{5753A697-1038-5003-83F6-CC341650460F}" dt="2026-03-11T00:37:40.087" v="14042"/>
          <ac:spMkLst>
            <pc:docMk/>
            <pc:sldMk cId="3958839088" sldId="373"/>
            <ac:spMk id="3" creationId="{48507CA0-9459-DB58-1ADC-1F3A0BCA1F63}"/>
          </ac:spMkLst>
        </pc:spChg>
      </pc:sldChg>
      <pc:sldChg chg="modSp new mod modNotesTx">
        <pc:chgData name="Hartanto Tantriawan" userId="82e33306d5002250" providerId="LiveId" clId="{5753A697-1038-5003-83F6-CC341650460F}" dt="2026-03-11T03:53:43.463" v="14341" actId="403"/>
        <pc:sldMkLst>
          <pc:docMk/>
          <pc:sldMk cId="297575696" sldId="374"/>
        </pc:sldMkLst>
        <pc:spChg chg="mod">
          <ac:chgData name="Hartanto Tantriawan" userId="82e33306d5002250" providerId="LiveId" clId="{5753A697-1038-5003-83F6-CC341650460F}" dt="2026-03-11T03:26:44.640" v="14061"/>
          <ac:spMkLst>
            <pc:docMk/>
            <pc:sldMk cId="297575696" sldId="374"/>
            <ac:spMk id="2" creationId="{00A49429-2AA4-46C9-BB68-0F108E2D27BF}"/>
          </ac:spMkLst>
        </pc:spChg>
        <pc:spChg chg="mod">
          <ac:chgData name="Hartanto Tantriawan" userId="82e33306d5002250" providerId="LiveId" clId="{5753A697-1038-5003-83F6-CC341650460F}" dt="2026-03-11T03:53:43.463" v="14341" actId="403"/>
          <ac:spMkLst>
            <pc:docMk/>
            <pc:sldMk cId="297575696" sldId="374"/>
            <ac:spMk id="3" creationId="{2B84A5D9-2A58-2D9B-D1D1-9F4E3CB1965D}"/>
          </ac:spMkLst>
        </pc:spChg>
      </pc:sldChg>
      <pc:sldChg chg="new del">
        <pc:chgData name="Hartanto Tantriawan" userId="82e33306d5002250" providerId="LiveId" clId="{5753A697-1038-5003-83F6-CC341650460F}" dt="2026-03-11T00:50:44.824" v="14050" actId="2696"/>
        <pc:sldMkLst>
          <pc:docMk/>
          <pc:sldMk cId="2724810065" sldId="374"/>
        </pc:sldMkLst>
      </pc:sldChg>
      <pc:sldChg chg="new del">
        <pc:chgData name="Hartanto Tantriawan" userId="82e33306d5002250" providerId="LiveId" clId="{5753A697-1038-5003-83F6-CC341650460F}" dt="2026-03-11T00:50:43.097" v="14049" actId="2696"/>
        <pc:sldMkLst>
          <pc:docMk/>
          <pc:sldMk cId="182232545" sldId="375"/>
        </pc:sldMkLst>
      </pc:sldChg>
      <pc:sldChg chg="new del">
        <pc:chgData name="Hartanto Tantriawan" userId="82e33306d5002250" providerId="LiveId" clId="{5753A697-1038-5003-83F6-CC341650460F}" dt="2026-03-11T03:54:26.691" v="14346" actId="2696"/>
        <pc:sldMkLst>
          <pc:docMk/>
          <pc:sldMk cId="2043028695" sldId="375"/>
        </pc:sldMkLst>
      </pc:sldChg>
      <pc:sldChg chg="modSp new mod">
        <pc:chgData name="Hartanto Tantriawan" userId="82e33306d5002250" providerId="LiveId" clId="{5753A697-1038-5003-83F6-CC341650460F}" dt="2026-03-11T04:04:24.412" v="14420" actId="207"/>
        <pc:sldMkLst>
          <pc:docMk/>
          <pc:sldMk cId="2458088490" sldId="376"/>
        </pc:sldMkLst>
        <pc:spChg chg="mod">
          <ac:chgData name="Hartanto Tantriawan" userId="82e33306d5002250" providerId="LiveId" clId="{5753A697-1038-5003-83F6-CC341650460F}" dt="2026-03-11T03:54:45.043" v="14361" actId="20577"/>
          <ac:spMkLst>
            <pc:docMk/>
            <pc:sldMk cId="2458088490" sldId="376"/>
            <ac:spMk id="2" creationId="{F7A711AC-82D6-B406-D171-2050EB99283E}"/>
          </ac:spMkLst>
        </pc:spChg>
        <pc:spChg chg="mod">
          <ac:chgData name="Hartanto Tantriawan" userId="82e33306d5002250" providerId="LiveId" clId="{5753A697-1038-5003-83F6-CC341650460F}" dt="2026-03-11T04:04:24.412" v="14420" actId="207"/>
          <ac:spMkLst>
            <pc:docMk/>
            <pc:sldMk cId="2458088490" sldId="376"/>
            <ac:spMk id="3" creationId="{97A5F869-8D99-8C41-F89C-5ADDC3D125BB}"/>
          </ac:spMkLst>
        </pc:spChg>
      </pc:sldChg>
      <pc:sldChg chg="modSp new mod modNotesTx">
        <pc:chgData name="Hartanto Tantriawan" userId="82e33306d5002250" providerId="LiveId" clId="{5753A697-1038-5003-83F6-CC341650460F}" dt="2026-03-11T04:18:09.623" v="14524" actId="20577"/>
        <pc:sldMkLst>
          <pc:docMk/>
          <pc:sldMk cId="3933100858" sldId="377"/>
        </pc:sldMkLst>
        <pc:spChg chg="mod">
          <ac:chgData name="Hartanto Tantriawan" userId="82e33306d5002250" providerId="LiveId" clId="{5753A697-1038-5003-83F6-CC341650460F}" dt="2026-03-11T04:04:42.955" v="14437" actId="20577"/>
          <ac:spMkLst>
            <pc:docMk/>
            <pc:sldMk cId="3933100858" sldId="377"/>
            <ac:spMk id="2" creationId="{8CE03884-A4AD-69E7-B0E2-66CD2CA92572}"/>
          </ac:spMkLst>
        </pc:spChg>
        <pc:spChg chg="mod">
          <ac:chgData name="Hartanto Tantriawan" userId="82e33306d5002250" providerId="LiveId" clId="{5753A697-1038-5003-83F6-CC341650460F}" dt="2026-03-11T04:18:09.623" v="14524" actId="20577"/>
          <ac:spMkLst>
            <pc:docMk/>
            <pc:sldMk cId="3933100858" sldId="377"/>
            <ac:spMk id="3" creationId="{6CC8300A-36A7-977E-92F9-939F9E888CC4}"/>
          </ac:spMkLst>
        </pc:spChg>
      </pc:sldChg>
      <pc:sldChg chg="modSp new mod modNotesTx">
        <pc:chgData name="Hartanto Tantriawan" userId="82e33306d5002250" providerId="LiveId" clId="{5753A697-1038-5003-83F6-CC341650460F}" dt="2026-03-11T04:33:48.116" v="14698" actId="403"/>
        <pc:sldMkLst>
          <pc:docMk/>
          <pc:sldMk cId="1383866195" sldId="378"/>
        </pc:sldMkLst>
        <pc:spChg chg="mod">
          <ac:chgData name="Hartanto Tantriawan" userId="82e33306d5002250" providerId="LiveId" clId="{5753A697-1038-5003-83F6-CC341650460F}" dt="2026-03-11T04:24:12.031" v="14547" actId="20577"/>
          <ac:spMkLst>
            <pc:docMk/>
            <pc:sldMk cId="1383866195" sldId="378"/>
            <ac:spMk id="2" creationId="{333AEAB4-7980-083C-7793-86F646312FF9}"/>
          </ac:spMkLst>
        </pc:spChg>
        <pc:spChg chg="mod">
          <ac:chgData name="Hartanto Tantriawan" userId="82e33306d5002250" providerId="LiveId" clId="{5753A697-1038-5003-83F6-CC341650460F}" dt="2026-03-11T04:33:48.116" v="14698" actId="403"/>
          <ac:spMkLst>
            <pc:docMk/>
            <pc:sldMk cId="1383866195" sldId="378"/>
            <ac:spMk id="3" creationId="{0F9902EF-240F-D9AE-6970-FADA1669019B}"/>
          </ac:spMkLst>
        </pc:spChg>
      </pc:sldChg>
      <pc:sldChg chg="modSp new mod modNotesTx">
        <pc:chgData name="Hartanto Tantriawan" userId="82e33306d5002250" providerId="LiveId" clId="{5753A697-1038-5003-83F6-CC341650460F}" dt="2026-03-11T04:40:12.255" v="14720" actId="12"/>
        <pc:sldMkLst>
          <pc:docMk/>
          <pc:sldMk cId="2027242701" sldId="379"/>
        </pc:sldMkLst>
        <pc:spChg chg="mod">
          <ac:chgData name="Hartanto Tantriawan" userId="82e33306d5002250" providerId="LiveId" clId="{5753A697-1038-5003-83F6-CC341650460F}" dt="2026-03-11T04:38:20.132" v="14703"/>
          <ac:spMkLst>
            <pc:docMk/>
            <pc:sldMk cId="2027242701" sldId="379"/>
            <ac:spMk id="2" creationId="{CAAAF176-268B-9B56-1DAA-9A24F42A881D}"/>
          </ac:spMkLst>
        </pc:spChg>
        <pc:spChg chg="mod">
          <ac:chgData name="Hartanto Tantriawan" userId="82e33306d5002250" providerId="LiveId" clId="{5753A697-1038-5003-83F6-CC341650460F}" dt="2026-03-11T04:39:24.289" v="14719" actId="207"/>
          <ac:spMkLst>
            <pc:docMk/>
            <pc:sldMk cId="2027242701" sldId="379"/>
            <ac:spMk id="3" creationId="{A47CA00E-C36E-2D05-7323-EA72FF50D9FE}"/>
          </ac:spMkLst>
        </pc:spChg>
      </pc:sldChg>
      <pc:sldChg chg="modSp new mod modNotesTx">
        <pc:chgData name="Hartanto Tantriawan" userId="82e33306d5002250" providerId="LiveId" clId="{5753A697-1038-5003-83F6-CC341650460F}" dt="2026-03-11T04:43:38.907" v="14766" actId="12"/>
        <pc:sldMkLst>
          <pc:docMk/>
          <pc:sldMk cId="3563220168" sldId="380"/>
        </pc:sldMkLst>
        <pc:spChg chg="mod">
          <ac:chgData name="Hartanto Tantriawan" userId="82e33306d5002250" providerId="LiveId" clId="{5753A697-1038-5003-83F6-CC341650460F}" dt="2026-03-11T04:41:14.980" v="14740" actId="20577"/>
          <ac:spMkLst>
            <pc:docMk/>
            <pc:sldMk cId="3563220168" sldId="380"/>
            <ac:spMk id="2" creationId="{E779293E-86D2-E573-B182-7D1B0591A7EC}"/>
          </ac:spMkLst>
        </pc:spChg>
        <pc:spChg chg="mod">
          <ac:chgData name="Hartanto Tantriawan" userId="82e33306d5002250" providerId="LiveId" clId="{5753A697-1038-5003-83F6-CC341650460F}" dt="2026-03-11T04:42:54.024" v="14765" actId="207"/>
          <ac:spMkLst>
            <pc:docMk/>
            <pc:sldMk cId="3563220168" sldId="380"/>
            <ac:spMk id="3" creationId="{01FC7710-50BA-8D8C-5BCB-00A54B9D335F}"/>
          </ac:spMkLst>
        </pc:spChg>
      </pc:sldChg>
      <pc:sldChg chg="addSp delSp modSp new mod modNotesTx">
        <pc:chgData name="Hartanto Tantriawan" userId="82e33306d5002250" providerId="LiveId" clId="{5753A697-1038-5003-83F6-CC341650460F}" dt="2026-03-11T04:53:45.966" v="14860" actId="20577"/>
        <pc:sldMkLst>
          <pc:docMk/>
          <pc:sldMk cId="1172677702" sldId="381"/>
        </pc:sldMkLst>
        <pc:spChg chg="mod">
          <ac:chgData name="Hartanto Tantriawan" userId="82e33306d5002250" providerId="LiveId" clId="{5753A697-1038-5003-83F6-CC341650460F}" dt="2026-03-11T04:47:46.851" v="14771"/>
          <ac:spMkLst>
            <pc:docMk/>
            <pc:sldMk cId="1172677702" sldId="381"/>
            <ac:spMk id="2" creationId="{C5A4FB8C-B614-6494-7FD7-826172397BD4}"/>
          </ac:spMkLst>
        </pc:spChg>
        <pc:spChg chg="mod">
          <ac:chgData name="Hartanto Tantriawan" userId="82e33306d5002250" providerId="LiveId" clId="{5753A697-1038-5003-83F6-CC341650460F}" dt="2026-03-11T04:50:50.115" v="14833" actId="20577"/>
          <ac:spMkLst>
            <pc:docMk/>
            <pc:sldMk cId="1172677702" sldId="381"/>
            <ac:spMk id="3" creationId="{A434152E-0C3A-0C98-CCF4-F1EC760438EB}"/>
          </ac:spMkLst>
        </pc:spChg>
        <pc:spChg chg="add mod">
          <ac:chgData name="Hartanto Tantriawan" userId="82e33306d5002250" providerId="LiveId" clId="{5753A697-1038-5003-83F6-CC341650460F}" dt="2026-03-11T04:49:45.093" v="14818" actId="1038"/>
          <ac:spMkLst>
            <pc:docMk/>
            <pc:sldMk cId="1172677702" sldId="381"/>
            <ac:spMk id="4" creationId="{232E1532-9C0F-F70D-FCF2-AC0BF7365280}"/>
          </ac:spMkLst>
        </pc:spChg>
        <pc:spChg chg="add del mod">
          <ac:chgData name="Hartanto Tantriawan" userId="82e33306d5002250" providerId="LiveId" clId="{5753A697-1038-5003-83F6-CC341650460F}" dt="2026-03-11T04:53:15.924" v="14858" actId="478"/>
          <ac:spMkLst>
            <pc:docMk/>
            <pc:sldMk cId="1172677702" sldId="381"/>
            <ac:spMk id="5" creationId="{39CEB23C-FA2E-9399-E913-26DBCCF04BC4}"/>
          </ac:spMkLst>
        </pc:spChg>
      </pc:sldChg>
      <pc:sldChg chg="modSp new mod modNotesTx">
        <pc:chgData name="Hartanto Tantriawan" userId="82e33306d5002250" providerId="LiveId" clId="{5753A697-1038-5003-83F6-CC341650460F}" dt="2026-03-11T05:03:16.567" v="14952" actId="20577"/>
        <pc:sldMkLst>
          <pc:docMk/>
          <pc:sldMk cId="196881912" sldId="382"/>
        </pc:sldMkLst>
        <pc:spChg chg="mod">
          <ac:chgData name="Hartanto Tantriawan" userId="82e33306d5002250" providerId="LiveId" clId="{5753A697-1038-5003-83F6-CC341650460F}" dt="2026-03-11T04:54:23.956" v="14868" actId="20577"/>
          <ac:spMkLst>
            <pc:docMk/>
            <pc:sldMk cId="196881912" sldId="382"/>
            <ac:spMk id="2" creationId="{E18453DD-6A9E-FA40-73AC-CF421729AAD4}"/>
          </ac:spMkLst>
        </pc:spChg>
        <pc:spChg chg="mod">
          <ac:chgData name="Hartanto Tantriawan" userId="82e33306d5002250" providerId="LiveId" clId="{5753A697-1038-5003-83F6-CC341650460F}" dt="2026-03-11T05:03:16.567" v="14952" actId="20577"/>
          <ac:spMkLst>
            <pc:docMk/>
            <pc:sldMk cId="196881912" sldId="382"/>
            <ac:spMk id="3" creationId="{50E5D9D3-2E07-60E9-DD48-5D30F7C3A739}"/>
          </ac:spMkLst>
        </pc:spChg>
      </pc:sldChg>
      <pc:sldChg chg="modSp new mod">
        <pc:chgData name="Hartanto Tantriawan" userId="82e33306d5002250" providerId="LiveId" clId="{5753A697-1038-5003-83F6-CC341650460F}" dt="2026-03-11T05:06:19.615" v="14981" actId="207"/>
        <pc:sldMkLst>
          <pc:docMk/>
          <pc:sldMk cId="3937245158" sldId="383"/>
        </pc:sldMkLst>
        <pc:spChg chg="mod">
          <ac:chgData name="Hartanto Tantriawan" userId="82e33306d5002250" providerId="LiveId" clId="{5753A697-1038-5003-83F6-CC341650460F}" dt="2026-03-11T05:04:25.938" v="14957"/>
          <ac:spMkLst>
            <pc:docMk/>
            <pc:sldMk cId="3937245158" sldId="383"/>
            <ac:spMk id="2" creationId="{FBEFFBF2-DDF1-0F28-51E6-40AF0BB091AA}"/>
          </ac:spMkLst>
        </pc:spChg>
        <pc:spChg chg="mod">
          <ac:chgData name="Hartanto Tantriawan" userId="82e33306d5002250" providerId="LiveId" clId="{5753A697-1038-5003-83F6-CC341650460F}" dt="2026-03-11T05:06:19.615" v="14981" actId="207"/>
          <ac:spMkLst>
            <pc:docMk/>
            <pc:sldMk cId="3937245158" sldId="383"/>
            <ac:spMk id="3" creationId="{A9E3AA4E-EA46-400B-2D22-32D77F7EB9F9}"/>
          </ac:spMkLst>
        </pc:spChg>
      </pc:sldChg>
      <pc:sldChg chg="modSp new mod modNotesTx">
        <pc:chgData name="Hartanto Tantriawan" userId="82e33306d5002250" providerId="LiveId" clId="{5753A697-1038-5003-83F6-CC341650460F}" dt="2026-03-11T05:12:37.798" v="15035" actId="12"/>
        <pc:sldMkLst>
          <pc:docMk/>
          <pc:sldMk cId="2471348863" sldId="384"/>
        </pc:sldMkLst>
        <pc:spChg chg="mod">
          <ac:chgData name="Hartanto Tantriawan" userId="82e33306d5002250" providerId="LiveId" clId="{5753A697-1038-5003-83F6-CC341650460F}" dt="2026-03-11T05:07:25.470" v="14986"/>
          <ac:spMkLst>
            <pc:docMk/>
            <pc:sldMk cId="2471348863" sldId="384"/>
            <ac:spMk id="2" creationId="{8874C2A3-20E9-1E3F-8E21-C5CEE37C8299}"/>
          </ac:spMkLst>
        </pc:spChg>
        <pc:spChg chg="mod">
          <ac:chgData name="Hartanto Tantriawan" userId="82e33306d5002250" providerId="LiveId" clId="{5753A697-1038-5003-83F6-CC341650460F}" dt="2026-03-11T05:12:07.615" v="15031" actId="207"/>
          <ac:spMkLst>
            <pc:docMk/>
            <pc:sldMk cId="2471348863" sldId="384"/>
            <ac:spMk id="3" creationId="{671A7E62-9E30-DD7E-5C67-9EA119AB9941}"/>
          </ac:spMkLst>
        </pc:spChg>
      </pc:sldChg>
      <pc:sldChg chg="modSp new mod">
        <pc:chgData name="Hartanto Tantriawan" userId="82e33306d5002250" providerId="LiveId" clId="{5753A697-1038-5003-83F6-CC341650460F}" dt="2026-03-11T05:20:12.768" v="15183" actId="403"/>
        <pc:sldMkLst>
          <pc:docMk/>
          <pc:sldMk cId="3350907276" sldId="385"/>
        </pc:sldMkLst>
        <pc:spChg chg="mod">
          <ac:chgData name="Hartanto Tantriawan" userId="82e33306d5002250" providerId="LiveId" clId="{5753A697-1038-5003-83F6-CC341650460F}" dt="2026-03-11T05:13:28.774" v="15044" actId="20577"/>
          <ac:spMkLst>
            <pc:docMk/>
            <pc:sldMk cId="3350907276" sldId="385"/>
            <ac:spMk id="2" creationId="{CBE2DC61-53A7-CA72-4D9B-59ECD6643A07}"/>
          </ac:spMkLst>
        </pc:spChg>
        <pc:spChg chg="mod">
          <ac:chgData name="Hartanto Tantriawan" userId="82e33306d5002250" providerId="LiveId" clId="{5753A697-1038-5003-83F6-CC341650460F}" dt="2026-03-11T05:20:12.768" v="15183" actId="403"/>
          <ac:spMkLst>
            <pc:docMk/>
            <pc:sldMk cId="3350907276" sldId="385"/>
            <ac:spMk id="3" creationId="{123C8A89-E619-6A7B-1DD7-473F945473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b="1" dirty="0" err="1"/>
              <a:t>Analisis</a:t>
            </a:r>
            <a:r>
              <a:rPr lang="en-ID" b="1" dirty="0"/>
              <a:t> Skema </a:t>
            </a:r>
            <a:r>
              <a:rPr lang="en-ID" b="1" dirty="0" err="1"/>
              <a:t>Pinjaman</a:t>
            </a:r>
            <a:r>
              <a:rPr lang="en-ID" b="1" dirty="0"/>
              <a:t> (</a:t>
            </a:r>
            <a:r>
              <a:rPr lang="en-ID" b="1" i="1" dirty="0"/>
              <a:t>Lending-schema</a:t>
            </a:r>
            <a:r>
              <a:rPr lang="en-ID" b="1" dirty="0"/>
              <a:t>)</a:t>
            </a:r>
          </a:p>
          <a:p>
            <a:pPr marL="158750" indent="0">
              <a:buNone/>
            </a:pP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: </a:t>
            </a:r>
            <a:r>
              <a:rPr lang="en-ID" b="1" i="1" dirty="0"/>
              <a:t>Lending-schema</a:t>
            </a:r>
            <a:r>
              <a:rPr lang="en-ID" dirty="0"/>
              <a:t> = (</a:t>
            </a:r>
            <a:r>
              <a:rPr lang="en-ID" i="1" dirty="0"/>
              <a:t>branch-name, branch-city, assets, customer-name, loan-number, amount</a:t>
            </a:r>
            <a:r>
              <a:rPr lang="en-ID" dirty="0"/>
              <a:t>)</a:t>
            </a:r>
          </a:p>
          <a:p>
            <a:pPr marL="158750" indent="0">
              <a:buNone/>
            </a:pPr>
            <a:r>
              <a:rPr lang="en-ID" b="1" dirty="0"/>
              <a:t>Alasan </a:t>
            </a:r>
            <a:r>
              <a:rPr lang="en-ID" b="1" dirty="0" err="1"/>
              <a:t>Terjadinya</a:t>
            </a:r>
            <a:r>
              <a:rPr lang="en-ID" b="1" dirty="0"/>
              <a:t> </a:t>
            </a:r>
            <a:r>
              <a:rPr lang="en-ID" b="1" dirty="0" err="1"/>
              <a:t>Repetisi</a:t>
            </a:r>
            <a:r>
              <a:rPr lang="en-ID" b="1" dirty="0"/>
              <a:t> </a:t>
            </a:r>
            <a:r>
              <a:rPr lang="en-ID" b="1" dirty="0" err="1"/>
              <a:t>Informasi</a:t>
            </a:r>
            <a:endParaRPr lang="en-ID" b="1" dirty="0"/>
          </a:p>
          <a:p>
            <a:pPr marL="158750" indent="0">
              <a:buNone/>
            </a:pPr>
            <a:r>
              <a:rPr lang="en-ID" dirty="0" err="1"/>
              <a:t>Repetisi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/>
              <a:t>Cabang (</a:t>
            </a:r>
            <a:r>
              <a:rPr lang="en-ID" b="1" i="1" dirty="0"/>
              <a:t>Branch</a:t>
            </a:r>
            <a:r>
              <a:rPr lang="en-ID" b="1" dirty="0"/>
              <a:t>)</a:t>
            </a:r>
            <a:r>
              <a:rPr lang="en-ID" dirty="0"/>
              <a:t> dan </a:t>
            </a:r>
            <a:r>
              <a:rPr lang="en-ID" dirty="0" err="1"/>
              <a:t>atribut</a:t>
            </a:r>
            <a:r>
              <a:rPr lang="en-ID" dirty="0"/>
              <a:t> yang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b="1" dirty="0" err="1"/>
              <a:t>Pinjaman</a:t>
            </a:r>
            <a:r>
              <a:rPr lang="en-ID" b="1" dirty="0"/>
              <a:t> (</a:t>
            </a:r>
            <a:r>
              <a:rPr lang="en-ID" b="1" i="1" dirty="0"/>
              <a:t>Loan</a:t>
            </a:r>
            <a:r>
              <a:rPr lang="en-ID" b="1" dirty="0"/>
              <a:t>)</a:t>
            </a:r>
            <a:r>
              <a:rPr lang="en-ID" dirty="0"/>
              <a:t> </a:t>
            </a:r>
            <a:r>
              <a:rPr lang="en-ID" dirty="0" err="1"/>
              <a:t>digabungkan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sama</a:t>
            </a:r>
            <a:r>
              <a:rPr lang="en-ID" dirty="0"/>
              <a:t>:</a:t>
            </a:r>
          </a:p>
          <a:p>
            <a:pPr marL="158750" indent="0">
              <a:buNone/>
            </a:pPr>
            <a:r>
              <a:rPr lang="en-ID" b="1" dirty="0"/>
              <a:t>Data Cabang yang </a:t>
            </a:r>
            <a:r>
              <a:rPr lang="en-ID" b="1" dirty="0" err="1"/>
              <a:t>Berulang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branch-city</a:t>
            </a:r>
            <a:r>
              <a:rPr lang="en-ID" dirty="0"/>
              <a:t> (</a:t>
            </a:r>
            <a:r>
              <a:rPr lang="en-ID" dirty="0" err="1"/>
              <a:t>kota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) dan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assets</a:t>
            </a:r>
            <a:r>
              <a:rPr lang="en-ID" dirty="0"/>
              <a:t> (</a:t>
            </a:r>
            <a:r>
              <a:rPr lang="en-ID" dirty="0" err="1"/>
              <a:t>aset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) </a:t>
            </a:r>
            <a:r>
              <a:rPr lang="en-ID" dirty="0" err="1"/>
              <a:t>bergantung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pada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branch-name</a:t>
            </a:r>
            <a:r>
              <a:rPr lang="en-ID" dirty="0"/>
              <a:t>. Jika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1.000 </a:t>
            </a:r>
            <a:r>
              <a:rPr lang="en-ID" dirty="0" err="1"/>
              <a:t>nasabah</a:t>
            </a:r>
            <a:r>
              <a:rPr lang="en-ID" dirty="0"/>
              <a:t> yang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nama </a:t>
            </a:r>
            <a:r>
              <a:rPr lang="en-ID" dirty="0" err="1"/>
              <a:t>kota</a:t>
            </a:r>
            <a:r>
              <a:rPr lang="en-ID" dirty="0"/>
              <a:t> dan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aset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berulang-ulang</a:t>
            </a:r>
            <a:r>
              <a:rPr lang="en-ID" dirty="0"/>
              <a:t> </a:t>
            </a:r>
            <a:r>
              <a:rPr lang="en-ID" dirty="0" err="1"/>
              <a:t>sebanyak</a:t>
            </a:r>
            <a:r>
              <a:rPr lang="en-ID" dirty="0"/>
              <a:t> 1.000 kali di </a:t>
            </a:r>
            <a:r>
              <a:rPr lang="en-ID" dirty="0" err="1"/>
              <a:t>setiap</a:t>
            </a:r>
            <a:r>
              <a:rPr lang="en-ID" dirty="0"/>
              <a:t> baris data </a:t>
            </a:r>
            <a:r>
              <a:rPr lang="en-ID" dirty="0" err="1"/>
              <a:t>nasabah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/>
              <a:t>Data </a:t>
            </a:r>
            <a:r>
              <a:rPr lang="en-ID" b="1" dirty="0" err="1"/>
              <a:t>Pinjaman</a:t>
            </a:r>
            <a:r>
              <a:rPr lang="en-ID" b="1" dirty="0"/>
              <a:t> yang </a:t>
            </a:r>
            <a:r>
              <a:rPr lang="en-ID" b="1" dirty="0" err="1"/>
              <a:t>Berulang</a:t>
            </a:r>
            <a:r>
              <a:rPr lang="en-ID" b="1" dirty="0"/>
              <a:t>:</a:t>
            </a:r>
            <a:r>
              <a:rPr lang="en-ID" dirty="0"/>
              <a:t> Jika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loan-number</a:t>
            </a:r>
            <a:r>
              <a:rPr lang="en-ID" dirty="0"/>
              <a:t>) </a:t>
            </a:r>
            <a:r>
              <a:rPr lang="en-ID" dirty="0" err="1"/>
              <a:t>dimiliki</a:t>
            </a:r>
            <a:r>
              <a:rPr lang="en-ID" dirty="0"/>
              <a:t> oleh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(</a:t>
            </a:r>
            <a:r>
              <a:rPr lang="en-ID" dirty="0" err="1"/>
              <a:t>pinjaman</a:t>
            </a:r>
            <a:r>
              <a:rPr lang="en-ID" dirty="0"/>
              <a:t> </a:t>
            </a:r>
            <a:r>
              <a:rPr lang="en-ID" dirty="0" err="1"/>
              <a:t>bersama</a:t>
            </a:r>
            <a:r>
              <a:rPr lang="en-ID" dirty="0"/>
              <a:t>), </a:t>
            </a:r>
            <a:r>
              <a:rPr lang="en-ID" dirty="0" err="1"/>
              <a:t>maka</a:t>
            </a:r>
            <a:r>
              <a:rPr lang="en-ID" dirty="0"/>
              <a:t> data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amount</a:t>
            </a:r>
            <a:r>
              <a:rPr lang="en-ID" dirty="0"/>
              <a:t> (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pinjaman</a:t>
            </a:r>
            <a:r>
              <a:rPr lang="en-ID" dirty="0"/>
              <a:t>) dan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diulang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nasabah</a:t>
            </a:r>
            <a:r>
              <a:rPr lang="en-ID" dirty="0"/>
              <a:t> yang </a:t>
            </a:r>
            <a:r>
              <a:rPr lang="en-ID" dirty="0" err="1"/>
              <a:t>terlibat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Dampak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Desain yang Buruk Ini:</a:t>
            </a:r>
          </a:p>
          <a:p>
            <a:pPr marL="158750" indent="0">
              <a:buNone/>
            </a:pPr>
            <a:r>
              <a:rPr lang="en-ID" b="1" dirty="0" err="1"/>
              <a:t>Pemborosan</a:t>
            </a:r>
            <a:r>
              <a:rPr lang="en-ID" b="1" dirty="0"/>
              <a:t> Ruang </a:t>
            </a:r>
            <a:r>
              <a:rPr lang="en-ID" b="1" dirty="0" err="1"/>
              <a:t>Penyimpanan</a:t>
            </a:r>
            <a:r>
              <a:rPr lang="en-ID" b="1" dirty="0"/>
              <a:t>:</a:t>
            </a:r>
            <a:r>
              <a:rPr lang="en-ID" dirty="0"/>
              <a:t> Data yang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</a:t>
            </a:r>
            <a:r>
              <a:rPr lang="en-ID" dirty="0" err="1"/>
              <a:t>berkali</a:t>
            </a:r>
            <a:r>
              <a:rPr lang="en-ID" dirty="0"/>
              <a:t>-kali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Anomali</a:t>
            </a:r>
            <a:r>
              <a:rPr lang="en-ID" b="1" dirty="0"/>
              <a:t> </a:t>
            </a:r>
            <a:r>
              <a:rPr lang="en-ID" b="1" dirty="0" err="1"/>
              <a:t>Pembaruan</a:t>
            </a:r>
            <a:r>
              <a:rPr lang="en-ID" b="1" dirty="0"/>
              <a:t> (</a:t>
            </a:r>
            <a:r>
              <a:rPr lang="en-ID" b="1" i="1" dirty="0"/>
              <a:t>Update Anomaly</a:t>
            </a:r>
            <a:r>
              <a:rPr lang="en-ID" b="1" dirty="0"/>
              <a:t>):</a:t>
            </a:r>
            <a:r>
              <a:rPr lang="en-ID" dirty="0"/>
              <a:t> Jika </a:t>
            </a:r>
            <a:r>
              <a:rPr lang="en-ID" dirty="0" err="1"/>
              <a:t>aset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, Anda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mengubahnya</a:t>
            </a:r>
            <a:r>
              <a:rPr lang="en-ID" dirty="0"/>
              <a:t> di </a:t>
            </a:r>
            <a:r>
              <a:rPr lang="en-ID" dirty="0" err="1"/>
              <a:t>banyak</a:t>
            </a:r>
            <a:r>
              <a:rPr lang="en-ID" dirty="0"/>
              <a:t> baris. Jika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baris yang </a:t>
            </a:r>
            <a:r>
              <a:rPr lang="en-ID" dirty="0" err="1"/>
              <a:t>terlewat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data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konsisten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Anomali</a:t>
            </a:r>
            <a:r>
              <a:rPr lang="en-ID" b="1" dirty="0"/>
              <a:t> </a:t>
            </a:r>
            <a:r>
              <a:rPr lang="en-ID" b="1" dirty="0" err="1"/>
              <a:t>Penghapusan</a:t>
            </a:r>
            <a:r>
              <a:rPr lang="en-ID" b="1" dirty="0"/>
              <a:t> (</a:t>
            </a:r>
            <a:r>
              <a:rPr lang="en-ID" b="1" i="1" dirty="0"/>
              <a:t>Deletion Anomaly</a:t>
            </a:r>
            <a:r>
              <a:rPr lang="en-ID" b="1" dirty="0"/>
              <a:t>):</a:t>
            </a:r>
            <a:r>
              <a:rPr lang="en-ID" dirty="0"/>
              <a:t> Jika Anda </a:t>
            </a:r>
            <a:r>
              <a:rPr lang="en-ID" dirty="0" err="1"/>
              <a:t>menghapus</a:t>
            </a:r>
            <a:r>
              <a:rPr lang="en-ID" dirty="0"/>
              <a:t> </a:t>
            </a:r>
            <a:r>
              <a:rPr lang="en-ID" dirty="0" err="1"/>
              <a:t>satu-satunya</a:t>
            </a:r>
            <a:r>
              <a:rPr lang="en-ID" dirty="0"/>
              <a:t> data </a:t>
            </a:r>
            <a:r>
              <a:rPr lang="en-ID" dirty="0" err="1"/>
              <a:t>pinjaman</a:t>
            </a:r>
            <a:r>
              <a:rPr lang="en-ID" dirty="0"/>
              <a:t> di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, Anda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sengaja</a:t>
            </a:r>
            <a:r>
              <a:rPr lang="en-ID" dirty="0"/>
              <a:t> </a:t>
            </a:r>
            <a:r>
              <a:rPr lang="en-ID" dirty="0" err="1"/>
              <a:t>kehilangan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cabang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kota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aset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Kesimpulannya</a:t>
            </a:r>
            <a:r>
              <a:rPr lang="en-ID" dirty="0"/>
              <a:t>, </a:t>
            </a:r>
            <a:r>
              <a:rPr lang="en-ID" dirty="0" err="1"/>
              <a:t>perancangan</a:t>
            </a:r>
            <a:r>
              <a:rPr lang="en-ID" dirty="0"/>
              <a:t> yang "</a:t>
            </a:r>
            <a:r>
              <a:rPr lang="en-ID" dirty="0" err="1"/>
              <a:t>baik</a:t>
            </a:r>
            <a:r>
              <a:rPr lang="en-ID" dirty="0"/>
              <a:t>"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memisahkan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(</a:t>
            </a:r>
            <a:r>
              <a:rPr lang="en-ID" dirty="0" err="1"/>
              <a:t>normalisasi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integritas</a:t>
            </a:r>
            <a:r>
              <a:rPr lang="en-ID" dirty="0"/>
              <a:t> data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terjaga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437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mengilustrasikan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proses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melalui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representasi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berikut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Relasi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$r$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Tabel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awal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memuat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$A, B,$ dan $C$.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Proyeksi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$\Pi_{A,B}(r)$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Hasil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pemisahan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dan $B$.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Proyeksi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$\Pi_{B,C}(r)$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Hasil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pemisahan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$B$ dan $C$.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Operasi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($\Pi_{A,B}(r) \bowtie \Pi_{B,C}(r)$)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Hasil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penggabungan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proyeksi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menunjukkan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dihasilkan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identik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relasi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($r$),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membuktikan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bersifat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134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Simbol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membedakan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antara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Candidate 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($K$):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Gabungan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($K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R$).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Boleh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kepanjangan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berlebihan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Candidate Key ($K$):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paling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ringkas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sebabnya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syarat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$\alpha \subset K, \alpha \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R$."</a:t>
            </a:r>
            <a:endParaRPr lang="en-ID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lvl="1"/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Maksudnya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Jika Anda punya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(K)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terdiri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 + Alamat,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ternyata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 + Alamat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candidate 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cukup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Gampang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endParaRPr lang="en-ID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Misalkan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sebuah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kelas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No_Absen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Warna_Baju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No_Absen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cukup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No_Absen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Candidate Key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nomor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absen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288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Maksud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terakhir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lihat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instans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tertentu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orang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kebetulan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punya nama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berbeda-beda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seolah-olah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$name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Namun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teori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dunia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nyata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menetapkan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$name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masa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orang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berbeda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memiliki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tetapi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ID-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berbeda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Jadi,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ketergantungan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fungsional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didasarkan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pada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bisnis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logika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sekadar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melihat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508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dirty="0"/>
              <a:t>Jadi, </a:t>
            </a:r>
            <a:r>
              <a:rPr lang="en-ID" dirty="0" err="1"/>
              <a:t>kesimpulan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slide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:</a:t>
            </a:r>
          </a:p>
          <a:p>
            <a:r>
              <a:rPr lang="en-ID" b="1" dirty="0"/>
              <a:t>Satisfies (</a:t>
            </a:r>
            <a:r>
              <a:rPr lang="en-ID" b="1" dirty="0" err="1"/>
              <a:t>Memenuhi</a:t>
            </a:r>
            <a:r>
              <a:rPr lang="en-ID" b="1" dirty="0"/>
              <a:t>):</a:t>
            </a:r>
            <a:r>
              <a:rPr lang="en-ID" dirty="0"/>
              <a:t> Hanya </a:t>
            </a:r>
            <a:r>
              <a:rPr lang="en-ID" dirty="0" err="1"/>
              <a:t>kebetulan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data yang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.</a:t>
            </a:r>
          </a:p>
          <a:p>
            <a:r>
              <a:rPr lang="en-ID" b="1" dirty="0"/>
              <a:t>Holds (</a:t>
            </a:r>
            <a:r>
              <a:rPr lang="en-ID" b="1" dirty="0" err="1"/>
              <a:t>Berlaku</a:t>
            </a:r>
            <a:r>
              <a:rPr lang="en-ID" b="1" dirty="0"/>
              <a:t>):</a:t>
            </a:r>
            <a:r>
              <a:rPr lang="en-ID" dirty="0"/>
              <a:t> Harus </a:t>
            </a:r>
            <a:r>
              <a:rPr lang="en-ID" dirty="0" err="1"/>
              <a:t>benar</a:t>
            </a:r>
            <a:r>
              <a:rPr lang="en-ID" dirty="0"/>
              <a:t> </a:t>
            </a:r>
            <a:r>
              <a:rPr lang="en-ID" dirty="0" err="1"/>
              <a:t>selamanya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data </a:t>
            </a:r>
            <a:r>
              <a:rPr lang="en-ID" dirty="0" err="1"/>
              <a:t>apa</a:t>
            </a:r>
            <a:r>
              <a:rPr lang="en-ID" dirty="0"/>
              <a:t> pun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di masa </a:t>
            </a:r>
            <a:r>
              <a:rPr lang="en-ID" dirty="0" err="1"/>
              <a:t>depan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bisnis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3164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9722-6768-2373-3B1B-1616E6782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43CBE-14CF-39F1-2C57-4CA864F18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C14E5-C70D-8E05-DACD-AA785D29E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"Trivial"?</a:t>
            </a: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bahasa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sederhana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trivial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berarti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sesuatu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sangat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jelas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".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i="1" dirty="0"/>
              <a:t>ID, name </a:t>
            </a:r>
            <a:r>
              <a:rPr lang="en-US" sz="1100" dirty="0"/>
              <a:t>→ </a:t>
            </a:r>
            <a:r>
              <a:rPr lang="en-US" sz="1100" i="1" dirty="0"/>
              <a:t>ID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Jika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 dan name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seseorang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ID-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Ini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inputnya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sendiri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Simbol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l-GR" sz="1100" i="1" dirty="0"/>
              <a:t>β</a:t>
            </a:r>
            <a:r>
              <a:rPr lang="el-GR" sz="1100" dirty="0"/>
              <a:t> ⊆ α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himpunan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menegaskan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panah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l-GR" sz="1100" i="1" dirty="0"/>
              <a:t>β</a:t>
            </a:r>
            <a:r>
              <a:rPr lang="el-GR" sz="1100" dirty="0"/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kumpulan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kiri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panah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l-GR" sz="1100" dirty="0"/>
              <a:t> α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ketergantungan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trivial.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5649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Penjelasan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Sederhana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Refleksivitas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Jika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(Nama, Alamat),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(Nama). (Bagian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dirinya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sendiri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Augmentasi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Jika ID </a:t>
            </a:r>
            <a:r>
              <a:rPr lang="el-GR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(ID, Semester) </a:t>
            </a:r>
            <a:r>
              <a:rPr lang="el-GR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(Nama, Semester).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menambahkan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informasi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Transitivitas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Jika ID </a:t>
            </a:r>
            <a:r>
              <a:rPr lang="el-GR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Kode_Jurusan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Kode_Jurusan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l-GR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Nama_Jurusan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ID </a:t>
            </a:r>
            <a:r>
              <a:rPr lang="el-GR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Nama_Jurusan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083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Penjelasan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Logika Langkah-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langkahnya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i="1" dirty="0"/>
              <a:t>A </a:t>
            </a:r>
            <a:r>
              <a:rPr lang="en-US" sz="1100" dirty="0"/>
              <a:t>→ </a:t>
            </a:r>
            <a:r>
              <a:rPr lang="en-US" sz="1100" i="1" dirty="0"/>
              <a:t>H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Karena 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B, dan B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H.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Ibaratnya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Jika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NIM,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Nama. Jika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Nama, Anda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Alamat. Maka NIM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dipakai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Alamat).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AG </a:t>
            </a:r>
            <a:r>
              <a:rPr lang="en-US" sz="1100" dirty="0"/>
              <a:t>→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punya A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C. Kalau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ditambah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G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Augmentasi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AG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CG.</a:t>
            </a:r>
          </a:p>
          <a:p>
            <a:pPr lvl="1"/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Nah,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soal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CG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lewat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jalur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AG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CG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dapatkan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AG </a:t>
            </a:r>
            <a:r>
              <a:rPr lang="en-US" sz="1100" dirty="0"/>
              <a:t>→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Transitivitas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CG </a:t>
            </a:r>
            <a:r>
              <a:rPr lang="en-US" sz="1100" dirty="0"/>
              <a:t>→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HI: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Ini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menggabungkan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Jika CG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 dan CG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sekaligus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(HI).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378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b="1" dirty="0" err="1"/>
              <a:t>Penjelasan</a:t>
            </a:r>
            <a:r>
              <a:rPr lang="en-ID" b="1" dirty="0"/>
              <a:t> </a:t>
            </a:r>
            <a:r>
              <a:rPr lang="en-ID" b="1" dirty="0" err="1"/>
              <a:t>Singkat</a:t>
            </a:r>
            <a:r>
              <a:rPr lang="en-ID" b="1" dirty="0"/>
              <a:t>:</a:t>
            </a:r>
          </a:p>
          <a:p>
            <a:r>
              <a:rPr lang="en-ID" dirty="0" err="1"/>
              <a:t>Aturan-aturan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"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pintas</a:t>
            </a:r>
            <a:r>
              <a:rPr lang="en-ID" dirty="0"/>
              <a:t>" agar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selalu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aksioma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Armstrong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</a:t>
            </a:r>
            <a:r>
              <a:rPr lang="en-ID" dirty="0" err="1"/>
              <a:t>prosesnya</a:t>
            </a:r>
            <a:r>
              <a:rPr lang="en-ID" dirty="0"/>
              <a:t>.</a:t>
            </a:r>
          </a:p>
          <a:p>
            <a:r>
              <a:rPr lang="en-ID" b="1" dirty="0"/>
              <a:t>Union:</a:t>
            </a:r>
            <a:r>
              <a:rPr lang="en-ID" dirty="0"/>
              <a:t> Jika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dua </a:t>
            </a:r>
            <a:r>
              <a:rPr lang="en-ID" dirty="0" err="1"/>
              <a:t>hal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terpisah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keduanya</a:t>
            </a:r>
            <a:r>
              <a:rPr lang="en-ID" dirty="0"/>
              <a:t> </a:t>
            </a:r>
            <a:r>
              <a:rPr lang="en-ID" dirty="0" err="1"/>
              <a:t>sekaligus</a:t>
            </a:r>
            <a:r>
              <a:rPr lang="en-ID" dirty="0"/>
              <a:t>.</a:t>
            </a:r>
          </a:p>
          <a:p>
            <a:r>
              <a:rPr lang="en-ID" b="1" dirty="0"/>
              <a:t>Decomposition:</a:t>
            </a:r>
            <a:r>
              <a:rPr lang="en-ID" dirty="0"/>
              <a:t> </a:t>
            </a:r>
            <a:r>
              <a:rPr lang="en-ID" dirty="0" err="1"/>
              <a:t>Kebalikan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Union. Jika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sekelompok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juga </a:t>
            </a:r>
            <a:r>
              <a:rPr lang="en-ID" dirty="0" err="1"/>
              <a:t>menentukan</a:t>
            </a:r>
            <a:r>
              <a:rPr lang="en-ID" dirty="0"/>
              <a:t> </a:t>
            </a:r>
            <a:r>
              <a:rPr lang="en-ID" dirty="0" err="1"/>
              <a:t>tiap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di </a:t>
            </a:r>
            <a:r>
              <a:rPr lang="en-ID" dirty="0" err="1"/>
              <a:t>dalamnya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.</a:t>
            </a:r>
          </a:p>
          <a:p>
            <a:r>
              <a:rPr lang="en-ID" b="1" dirty="0" err="1"/>
              <a:t>Pseudotransitivity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,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augmentasi</a:t>
            </a:r>
            <a:r>
              <a:rPr lang="en-ID" dirty="0"/>
              <a:t> dan </a:t>
            </a:r>
            <a:r>
              <a:rPr lang="en-ID" dirty="0" err="1"/>
              <a:t>transitivitas</a:t>
            </a:r>
            <a:r>
              <a:rPr lang="en-ID" dirty="0"/>
              <a:t>.</a:t>
            </a:r>
          </a:p>
          <a:p>
            <a:r>
              <a:rPr lang="en-ID" dirty="0"/>
              <a:t>Apakah Anda </a:t>
            </a:r>
            <a:r>
              <a:rPr lang="en-ID" dirty="0" err="1"/>
              <a:t>ingin</a:t>
            </a:r>
            <a:r>
              <a:rPr lang="en-ID" dirty="0"/>
              <a:t> </a:t>
            </a:r>
            <a:r>
              <a:rPr lang="en-ID" dirty="0" err="1"/>
              <a:t>saya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b="1" dirty="0" err="1"/>
              <a:t>Pseudotransitivity</a:t>
            </a:r>
            <a:r>
              <a:rPr lang="en-ID" dirty="0"/>
              <a:t> agar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terbayang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kerjanya</a:t>
            </a:r>
            <a:r>
              <a:rPr lang="en-ID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00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dirty="0" err="1"/>
              <a:t>Bayangkan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daftar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instruksi</a:t>
            </a:r>
            <a:r>
              <a:rPr lang="en-ID" dirty="0"/>
              <a:t>. </a:t>
            </a:r>
            <a:r>
              <a:rPr lang="en-ID" dirty="0" err="1"/>
              <a:t>Kadang-kadang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yang </a:t>
            </a:r>
            <a:r>
              <a:rPr lang="en-ID" dirty="0" err="1"/>
              <a:t>sebenarnya</a:t>
            </a:r>
            <a:r>
              <a:rPr lang="en-ID" dirty="0"/>
              <a:t> "double"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bertele</a:t>
            </a:r>
            <a:r>
              <a:rPr lang="en-ID" dirty="0"/>
              <a:t>-tele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sadar</a:t>
            </a:r>
            <a:r>
              <a:rPr lang="en-ID" dirty="0"/>
              <a:t>. </a:t>
            </a:r>
            <a:r>
              <a:rPr lang="en-ID" i="1" dirty="0"/>
              <a:t>Canonical Cover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versi</a:t>
            </a:r>
            <a:r>
              <a:rPr lang="en-ID" dirty="0"/>
              <a:t> </a:t>
            </a:r>
            <a:r>
              <a:rPr lang="en-ID" b="1" dirty="0"/>
              <a:t>paling </a:t>
            </a:r>
            <a:r>
              <a:rPr lang="en-ID" b="1" dirty="0" err="1"/>
              <a:t>ringkas</a:t>
            </a:r>
            <a:r>
              <a:rPr lang="en-ID" b="1" dirty="0"/>
              <a:t>, paling </a:t>
            </a:r>
            <a:r>
              <a:rPr lang="en-ID" b="1" dirty="0" err="1"/>
              <a:t>padat</a:t>
            </a:r>
            <a:r>
              <a:rPr lang="en-ID" b="1" dirty="0"/>
              <a:t>, dan paling </a:t>
            </a:r>
            <a:r>
              <a:rPr lang="en-ID" b="1" dirty="0" err="1"/>
              <a:t>bersih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daftar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,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fungsinya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Berikut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158750" indent="0">
              <a:buNone/>
            </a:pPr>
            <a:br>
              <a:rPr lang="en-ID" dirty="0"/>
            </a:br>
            <a:endParaRPr lang="en-ID" dirty="0"/>
          </a:p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Membuang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Duplikat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(Redundant FD)</a:t>
            </a: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sebenarnya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ditebak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lain,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dibuang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Kamu punya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615950" lvl="1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punya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pintu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615950" lvl="1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pintu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615950" lvl="1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punya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nomor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redundan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ditulis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pun,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 dan 2. Jadi,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3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dihapus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Membuang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"Kata-kata Bonus" (Extraneous Attributes)</a:t>
            </a: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bahas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Menghapus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berguna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kiri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syarat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maupun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Payung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Kehujanan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."</a:t>
            </a: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Kalau "Bawa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Payung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cukup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"Tidak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Kehujanan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kata "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Topi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dibuang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bikin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ribet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3.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Menggabungkan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Mirip</a:t>
            </a:r>
            <a:endParaRPr lang="en-ID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beberapa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syarat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kiri)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mereka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agar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Contoh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Daripada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menulis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 dan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terpisah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BC$.</a:t>
            </a:r>
          </a:p>
          <a:p>
            <a:pPr marL="158750" indent="0">
              <a:buNone/>
            </a:pPr>
            <a:br>
              <a:rPr lang="en-ID" dirty="0"/>
            </a:br>
            <a:endParaRPr lang="en-ID" dirty="0"/>
          </a:p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Kesimpulan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Sederhana</a:t>
            </a:r>
            <a:endParaRPr lang="en-ID" sz="1100" b="1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Tujuan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akhirnya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mendapatkan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Himpunan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Minimal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Prinsipnya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tulis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pun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disimpulkan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lain,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pakai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tambahan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memberi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efek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apa-apa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."</a:t>
            </a:r>
          </a:p>
          <a:p>
            <a:pPr marL="158750" indent="0">
              <a:buNone/>
            </a:pP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database,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penting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capek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mengecek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sebenarnya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sehingga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performa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database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cepat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7780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b="1" dirty="0"/>
              <a:t>1. </a:t>
            </a:r>
            <a:r>
              <a:rPr lang="en-ID" b="1" dirty="0" err="1"/>
              <a:t>Ekstranus</a:t>
            </a:r>
            <a:r>
              <a:rPr lang="en-ID" b="1" dirty="0"/>
              <a:t> di Kiri (</a:t>
            </a:r>
            <a:r>
              <a:rPr lang="en-ID" b="1" dirty="0" err="1"/>
              <a:t>Penyebab</a:t>
            </a:r>
            <a:r>
              <a:rPr lang="en-ID" b="1" dirty="0"/>
              <a:t>/Input)</a:t>
            </a:r>
          </a:p>
          <a:p>
            <a:pPr marL="158750" indent="0">
              <a:buNone/>
            </a:pPr>
            <a:r>
              <a:rPr lang="en-ID" dirty="0"/>
              <a:t>Ini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memasukkan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 di </a:t>
            </a:r>
            <a:r>
              <a:rPr lang="en-ID" dirty="0" err="1"/>
              <a:t>sebelah</a:t>
            </a:r>
            <a:r>
              <a:rPr lang="en-ID" dirty="0"/>
              <a:t> kiri,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sedikit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Ada </a:t>
            </a:r>
            <a:r>
              <a:rPr lang="en-ID" dirty="0" err="1"/>
              <a:t>aturan</a:t>
            </a:r>
            <a:r>
              <a:rPr lang="en-ID" dirty="0"/>
              <a:t>: "Jika </a:t>
            </a:r>
            <a:r>
              <a:rPr lang="en-ID" dirty="0" err="1"/>
              <a:t>kamu</a:t>
            </a:r>
            <a:r>
              <a:rPr lang="en-ID" dirty="0"/>
              <a:t> punya </a:t>
            </a:r>
            <a:r>
              <a:rPr lang="en-ID" b="1" dirty="0"/>
              <a:t>KTP</a:t>
            </a:r>
            <a:r>
              <a:rPr lang="en-ID" dirty="0"/>
              <a:t> dan </a:t>
            </a:r>
            <a:r>
              <a:rPr lang="en-ID" b="1" dirty="0"/>
              <a:t>SIM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kamu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b="1" dirty="0" err="1"/>
              <a:t>Menyetir</a:t>
            </a:r>
            <a:r>
              <a:rPr lang="en-ID" dirty="0"/>
              <a:t>."</a:t>
            </a:r>
          </a:p>
          <a:p>
            <a:pPr marL="158750" indent="0">
              <a:buNone/>
            </a:pPr>
            <a:r>
              <a:rPr lang="en-ID" dirty="0"/>
              <a:t>Tapi,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tahu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lain: "Jika punya </a:t>
            </a:r>
            <a:r>
              <a:rPr lang="en-ID" b="1" dirty="0"/>
              <a:t>SIM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b="1" dirty="0" err="1"/>
              <a:t>Menyetir</a:t>
            </a:r>
            <a:r>
              <a:rPr lang="en-ID" dirty="0"/>
              <a:t>."</a:t>
            </a:r>
          </a:p>
          <a:p>
            <a:pPr marL="158750" indent="0">
              <a:buNone/>
            </a:pPr>
            <a:r>
              <a:rPr lang="en-ID" dirty="0"/>
              <a:t>Di </a:t>
            </a:r>
            <a:r>
              <a:rPr lang="en-ID" dirty="0" err="1"/>
              <a:t>sini</a:t>
            </a:r>
            <a:r>
              <a:rPr lang="en-ID" dirty="0"/>
              <a:t>, </a:t>
            </a:r>
            <a:r>
              <a:rPr lang="en-ID" b="1" dirty="0"/>
              <a:t>KTP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 err="1"/>
              <a:t>ekstranus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).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menyebut</a:t>
            </a:r>
            <a:r>
              <a:rPr lang="en-ID" dirty="0"/>
              <a:t> KTP pun,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menyetir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jalan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SIM.</a:t>
            </a:r>
          </a:p>
          <a:p>
            <a:pPr marL="158750" indent="0">
              <a:buNone/>
            </a:pPr>
            <a:endParaRPr lang="en-ID" dirty="0"/>
          </a:p>
          <a:p>
            <a:pPr marL="158750" indent="0">
              <a:buNone/>
            </a:pPr>
            <a:r>
              <a:rPr lang="en-ID" b="1" dirty="0"/>
              <a:t>2. </a:t>
            </a:r>
            <a:r>
              <a:rPr lang="en-ID" b="1" dirty="0" err="1"/>
              <a:t>Ekstranus</a:t>
            </a:r>
            <a:r>
              <a:rPr lang="en-ID" b="1" dirty="0"/>
              <a:t> di Kanan (Hasil/Output)</a:t>
            </a:r>
          </a:p>
          <a:p>
            <a:pPr marL="158750" indent="0">
              <a:buNone/>
            </a:pPr>
            <a:r>
              <a:rPr lang="en-ID" dirty="0"/>
              <a:t>Ini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di </a:t>
            </a:r>
            <a:r>
              <a:rPr lang="en-ID" dirty="0" err="1"/>
              <a:t>sebelah</a:t>
            </a:r>
            <a:r>
              <a:rPr lang="en-ID" dirty="0"/>
              <a:t> </a:t>
            </a:r>
            <a:r>
              <a:rPr lang="en-ID" dirty="0" err="1"/>
              <a:t>kanan</a:t>
            </a:r>
            <a:r>
              <a:rPr lang="en-ID" dirty="0"/>
              <a:t>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diketahui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lain,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ditulis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.</a:t>
            </a:r>
          </a:p>
          <a:p>
            <a:pPr marL="158750" indent="0">
              <a:buNone/>
            </a:pPr>
            <a:r>
              <a:rPr lang="en-ID" b="1" dirty="0" err="1"/>
              <a:t>Contoh</a:t>
            </a:r>
            <a:r>
              <a:rPr lang="en-ID" b="1" dirty="0"/>
              <a:t>:</a:t>
            </a:r>
            <a:r>
              <a:rPr lang="en-ID" dirty="0"/>
              <a:t> Ada </a:t>
            </a:r>
            <a:r>
              <a:rPr lang="en-ID" dirty="0" err="1"/>
              <a:t>aturan</a:t>
            </a:r>
            <a:r>
              <a:rPr lang="en-ID" dirty="0"/>
              <a:t>: "Jika </a:t>
            </a:r>
            <a:r>
              <a:rPr lang="en-ID" b="1" dirty="0" err="1"/>
              <a:t>Hujan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b="1" dirty="0"/>
              <a:t>Jalan </a:t>
            </a:r>
            <a:r>
              <a:rPr lang="en-ID" b="1" dirty="0" err="1"/>
              <a:t>Basah</a:t>
            </a:r>
            <a:r>
              <a:rPr lang="en-ID" dirty="0"/>
              <a:t> dan </a:t>
            </a:r>
            <a:r>
              <a:rPr lang="en-ID" b="1" dirty="0"/>
              <a:t>Langit </a:t>
            </a:r>
            <a:r>
              <a:rPr lang="en-ID" b="1" dirty="0" err="1"/>
              <a:t>Mendung</a:t>
            </a:r>
            <a:r>
              <a:rPr lang="en-ID" dirty="0"/>
              <a:t>."</a:t>
            </a:r>
          </a:p>
          <a:p>
            <a:pPr marL="158750" indent="0">
              <a:buNone/>
            </a:pPr>
            <a:r>
              <a:rPr lang="en-ID" dirty="0"/>
              <a:t>Tapi,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punya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: "Jika </a:t>
            </a:r>
            <a:r>
              <a:rPr lang="en-ID" b="1" dirty="0" err="1"/>
              <a:t>Hujan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b="1" dirty="0"/>
              <a:t>Langit </a:t>
            </a:r>
            <a:r>
              <a:rPr lang="en-ID" b="1" dirty="0" err="1"/>
              <a:t>Mendung</a:t>
            </a:r>
            <a:r>
              <a:rPr lang="en-ID" dirty="0"/>
              <a:t>."</a:t>
            </a:r>
          </a:p>
          <a:p>
            <a:pPr marL="158750" indent="0">
              <a:buNone/>
            </a:pPr>
            <a:r>
              <a:rPr lang="en-ID" dirty="0"/>
              <a:t>Di </a:t>
            </a:r>
            <a:r>
              <a:rPr lang="en-ID" dirty="0" err="1"/>
              <a:t>sini</a:t>
            </a:r>
            <a:r>
              <a:rPr lang="en-ID" dirty="0"/>
              <a:t>, </a:t>
            </a:r>
            <a:r>
              <a:rPr lang="en-ID" b="1" dirty="0"/>
              <a:t>Langit </a:t>
            </a:r>
            <a:r>
              <a:rPr lang="en-ID" b="1" dirty="0" err="1"/>
              <a:t>Mendung</a:t>
            </a:r>
            <a:r>
              <a:rPr lang="en-ID" dirty="0"/>
              <a:t> di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pertama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 err="1"/>
              <a:t>ekstranus</a:t>
            </a:r>
            <a:r>
              <a:rPr lang="en-ID" dirty="0"/>
              <a:t>. Kita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</a:t>
            </a:r>
            <a:r>
              <a:rPr lang="en-ID" dirty="0" err="1"/>
              <a:t>menulisnya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di situ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, </a:t>
            </a:r>
            <a:r>
              <a:rPr lang="en-ID" dirty="0" err="1"/>
              <a:t>kalau</a:t>
            </a:r>
            <a:r>
              <a:rPr lang="en-ID" dirty="0"/>
              <a:t> </a:t>
            </a:r>
            <a:r>
              <a:rPr lang="en-ID" dirty="0" err="1"/>
              <a:t>hujan</a:t>
            </a:r>
            <a:r>
              <a:rPr lang="en-ID" dirty="0"/>
              <a:t> </a:t>
            </a:r>
            <a:r>
              <a:rPr lang="en-ID" dirty="0" err="1"/>
              <a:t>ya</a:t>
            </a:r>
            <a:r>
              <a:rPr lang="en-ID" dirty="0"/>
              <a:t> </a:t>
            </a:r>
            <a:r>
              <a:rPr lang="en-ID" dirty="0" err="1"/>
              <a:t>pasti</a:t>
            </a:r>
            <a:r>
              <a:rPr lang="en-ID" dirty="0"/>
              <a:t> </a:t>
            </a:r>
            <a:r>
              <a:rPr lang="en-ID" dirty="0" err="1"/>
              <a:t>mendung</a:t>
            </a:r>
            <a:r>
              <a:rPr lang="en-ID" dirty="0"/>
              <a:t>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266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Inti Langkah-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langkahnya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Gabungkan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kirinya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misal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 dan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BC$).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Cek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Cari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berguna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ekstranus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seperti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pelajari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sebelumnya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Ulangi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Lakukan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daftar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benar-benar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dikecilkan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6648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Penjelasan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Alur :</a:t>
            </a:r>
          </a:p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Mari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logikanya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lebih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menempel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Gabung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Karena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dimulai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($A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 dan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BC$.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 Buang Kiri: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nggak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buat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nyari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$C$?".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Ternyata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daftar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Berarti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cuma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numpang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doang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situ.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$A$-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Karena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sekarang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hapus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duplikatnya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387350" indent="-228600">
              <a:buFont typeface="+mj-lt"/>
              <a:buAutoNum type="arabicPeriod"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Langkah Buang Kanan: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nggak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nulis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$C$ di situ?". Karena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 dan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otomatis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ketemu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$C$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lewat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jalur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$B$). Jadi, $C$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BC$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ekstranus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Hapus $C$,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sisakan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B$.</a:t>
            </a:r>
          </a:p>
          <a:p>
            <a:pPr marL="158750" indent="0">
              <a:buNone/>
            </a:pP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 Akhir: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Hanya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sederhana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($A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B$ dan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mencakup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logika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awalnya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4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ribet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894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dirty="0"/>
              <a:t>Agar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dipahami</a:t>
            </a:r>
            <a:r>
              <a:rPr lang="en-ID" dirty="0"/>
              <a:t>, 2NF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intinya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"Anti Cicil-</a:t>
            </a:r>
            <a:r>
              <a:rPr lang="en-ID" b="1" dirty="0" err="1"/>
              <a:t>cicil</a:t>
            </a:r>
            <a:r>
              <a:rPr lang="en-ID" b="1" dirty="0"/>
              <a:t>"</a:t>
            </a:r>
            <a:r>
              <a:rPr lang="en-ID" dirty="0"/>
              <a:t>.</a:t>
            </a:r>
          </a:p>
          <a:p>
            <a:r>
              <a:rPr lang="en-ID" b="1" dirty="0" err="1"/>
              <a:t>Syarat</a:t>
            </a:r>
            <a:r>
              <a:rPr lang="en-ID" b="1" dirty="0"/>
              <a:t> Utama:</a:t>
            </a:r>
            <a:r>
              <a:rPr lang="en-ID" dirty="0"/>
              <a:t> Kamu </a:t>
            </a:r>
            <a:r>
              <a:rPr lang="en-ID" dirty="0" err="1"/>
              <a:t>harus</a:t>
            </a:r>
            <a:r>
              <a:rPr lang="en-ID" dirty="0"/>
              <a:t> lulus 1NF </a:t>
            </a:r>
            <a:r>
              <a:rPr lang="en-ID" dirty="0" err="1"/>
              <a:t>dulu</a:t>
            </a:r>
            <a:r>
              <a:rPr lang="en-ID" dirty="0"/>
              <a:t> (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rapi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data double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sel</a:t>
            </a:r>
            <a:r>
              <a:rPr lang="en-ID" dirty="0"/>
              <a:t>).</a:t>
            </a:r>
          </a:p>
          <a:p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Penuh</a:t>
            </a:r>
            <a:r>
              <a:rPr lang="en-ID" b="1" dirty="0"/>
              <a:t>:</a:t>
            </a:r>
            <a:r>
              <a:rPr lang="en-ID" dirty="0"/>
              <a:t> Jika </a:t>
            </a:r>
            <a:r>
              <a:rPr lang="en-ID" dirty="0" err="1"/>
              <a:t>kunci</a:t>
            </a:r>
            <a:r>
              <a:rPr lang="en-ID" dirty="0"/>
              <a:t> </a:t>
            </a:r>
            <a:r>
              <a:rPr lang="en-ID" dirty="0" err="1"/>
              <a:t>primermu</a:t>
            </a:r>
            <a:r>
              <a:rPr lang="en-ID" dirty="0"/>
              <a:t>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dua </a:t>
            </a:r>
            <a:r>
              <a:rPr lang="en-ID" dirty="0" err="1"/>
              <a:t>kolom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b="1" dirty="0"/>
              <a:t>ID </a:t>
            </a:r>
            <a:r>
              <a:rPr lang="en-ID" b="1" dirty="0" err="1"/>
              <a:t>Mahasiswa</a:t>
            </a:r>
            <a:r>
              <a:rPr lang="en-ID" dirty="0"/>
              <a:t> + </a:t>
            </a:r>
            <a:r>
              <a:rPr lang="en-ID" b="1" dirty="0"/>
              <a:t>Kode Mata Kuliah</a:t>
            </a:r>
            <a:r>
              <a:rPr lang="en-ID" dirty="0"/>
              <a:t>),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lain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b="1" dirty="0"/>
              <a:t>Nilai</a:t>
            </a:r>
            <a:r>
              <a:rPr lang="en-ID" dirty="0"/>
              <a:t>)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 pada </a:t>
            </a:r>
            <a:r>
              <a:rPr lang="en-ID" b="1" dirty="0" err="1"/>
              <a:t>keduanya</a:t>
            </a:r>
            <a:r>
              <a:rPr lang="en-ID" dirty="0"/>
              <a:t>.</a:t>
            </a:r>
          </a:p>
          <a:p>
            <a:pPr lvl="1"/>
            <a:r>
              <a:rPr lang="en-ID" dirty="0"/>
              <a:t>Kalau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 yang </a:t>
            </a:r>
            <a:r>
              <a:rPr lang="en-ID" dirty="0" err="1"/>
              <a:t>cuma</a:t>
            </a:r>
            <a:r>
              <a:rPr lang="en-ID" dirty="0"/>
              <a:t> </a:t>
            </a:r>
            <a:r>
              <a:rPr lang="en-ID" dirty="0" err="1"/>
              <a:t>bergantung</a:t>
            </a:r>
            <a:r>
              <a:rPr lang="en-ID" dirty="0"/>
              <a:t> pada </a:t>
            </a:r>
            <a:r>
              <a:rPr lang="en-ID" b="1" dirty="0"/>
              <a:t>ID </a:t>
            </a:r>
            <a:r>
              <a:rPr lang="en-ID" b="1" dirty="0" err="1"/>
              <a:t>Mahasiswa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(</a:t>
            </a:r>
            <a:r>
              <a:rPr lang="en-ID" dirty="0" err="1"/>
              <a:t>misal</a:t>
            </a:r>
            <a:r>
              <a:rPr lang="en-ID" dirty="0"/>
              <a:t>: </a:t>
            </a:r>
            <a:r>
              <a:rPr lang="en-ID" b="1" dirty="0"/>
              <a:t>Nama </a:t>
            </a:r>
            <a:r>
              <a:rPr lang="en-ID" b="1" dirty="0" err="1"/>
              <a:t>Mahasiswa</a:t>
            </a:r>
            <a:r>
              <a:rPr lang="en-ID" dirty="0"/>
              <a:t>), </a:t>
            </a:r>
            <a:r>
              <a:rPr lang="en-ID" dirty="0" err="1"/>
              <a:t>maka</a:t>
            </a:r>
            <a:r>
              <a:rPr lang="en-ID" dirty="0"/>
              <a:t> </a:t>
            </a:r>
            <a:r>
              <a:rPr lang="en-ID" dirty="0" err="1"/>
              <a:t>itu</a:t>
            </a:r>
            <a:r>
              <a:rPr lang="en-ID" dirty="0"/>
              <a:t> </a:t>
            </a:r>
            <a:r>
              <a:rPr lang="en-ID" dirty="0" err="1"/>
              <a:t>melanggar</a:t>
            </a:r>
            <a:r>
              <a:rPr lang="en-ID" dirty="0"/>
              <a:t> 2NF. Nama </a:t>
            </a:r>
            <a:r>
              <a:rPr lang="en-ID" dirty="0" err="1"/>
              <a:t>Mahasiswa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dipindah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tabel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dia</a:t>
            </a:r>
            <a:r>
              <a:rPr lang="en-ID" dirty="0"/>
              <a:t> "</a:t>
            </a:r>
            <a:r>
              <a:rPr lang="en-ID" dirty="0" err="1"/>
              <a:t>mencicil</a:t>
            </a:r>
            <a:r>
              <a:rPr lang="en-ID" dirty="0"/>
              <a:t>" </a:t>
            </a:r>
            <a:r>
              <a:rPr lang="en-ID" dirty="0" err="1"/>
              <a:t>ketergantungannya</a:t>
            </a:r>
            <a:r>
              <a:rPr lang="en-ID" dirty="0"/>
              <a:t>.</a:t>
            </a:r>
          </a:p>
          <a:p>
            <a:r>
              <a:rPr lang="en-ID" b="1" dirty="0" err="1"/>
              <a:t>Masalah</a:t>
            </a:r>
            <a:r>
              <a:rPr lang="en-ID" b="1" dirty="0"/>
              <a:t> yang </a:t>
            </a:r>
            <a:r>
              <a:rPr lang="en-ID" b="1" dirty="0" err="1"/>
              <a:t>Tersisa</a:t>
            </a:r>
            <a:r>
              <a:rPr lang="en-ID" b="1" dirty="0"/>
              <a:t>:</a:t>
            </a:r>
            <a:r>
              <a:rPr lang="en-ID" dirty="0"/>
              <a:t> Di 2NF,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membereskan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"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sebagian</a:t>
            </a:r>
            <a:r>
              <a:rPr lang="en-ID" dirty="0"/>
              <a:t>", </a:t>
            </a:r>
            <a:r>
              <a:rPr lang="en-ID" dirty="0" err="1"/>
              <a:t>tapi</a:t>
            </a:r>
            <a:r>
              <a:rPr lang="en-ID" dirty="0"/>
              <a:t> </a:t>
            </a:r>
            <a:r>
              <a:rPr lang="en-ID" dirty="0" err="1"/>
              <a:t>masih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b="1" dirty="0"/>
              <a:t>"</a:t>
            </a: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Transitif</a:t>
            </a:r>
            <a:r>
              <a:rPr lang="en-ID" b="1" dirty="0"/>
              <a:t>"</a:t>
            </a:r>
            <a:r>
              <a:rPr lang="en-ID" dirty="0"/>
              <a:t> (A </a:t>
            </a:r>
            <a:r>
              <a:rPr lang="en-ID" dirty="0" err="1"/>
              <a:t>menentukan</a:t>
            </a:r>
            <a:r>
              <a:rPr lang="en-ID" dirty="0"/>
              <a:t> B, B </a:t>
            </a:r>
            <a:r>
              <a:rPr lang="en-ID" dirty="0" err="1"/>
              <a:t>menentukan</a:t>
            </a:r>
            <a:r>
              <a:rPr lang="en-ID" dirty="0"/>
              <a:t> C).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nanti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dibereskan</a:t>
            </a:r>
            <a:r>
              <a:rPr lang="en-ID" dirty="0"/>
              <a:t> di level </a:t>
            </a:r>
            <a:r>
              <a:rPr lang="en-ID" dirty="0" err="1"/>
              <a:t>selanjutnya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b="1" dirty="0"/>
              <a:t>3NF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502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Bayangkan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kamu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punya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$R$)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campur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(baju,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dapur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Normalisasi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proses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menata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Bentuk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"Baik":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apakah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 Kalau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berantakan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redundansi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berarti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bentuknya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buruk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Pemecahan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lemari-lemari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spesifik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dirty="0">
                <a:solidFill>
                  <a:srgbClr val="FFC000"/>
                </a:solidFill>
              </a:rPr>
              <a:t>{</a:t>
            </a:r>
            <a:r>
              <a:rPr lang="en-US" sz="1100" b="1" i="1" dirty="0">
                <a:solidFill>
                  <a:srgbClr val="FFC000"/>
                </a:solidFill>
              </a:rPr>
              <a:t>R</a:t>
            </a:r>
            <a:r>
              <a:rPr lang="en-US" sz="1100" b="1" baseline="-25000" dirty="0">
                <a:solidFill>
                  <a:srgbClr val="FFC000"/>
                </a:solidFill>
              </a:rPr>
              <a:t>1</a:t>
            </a:r>
            <a:r>
              <a:rPr lang="en-US" sz="1100" b="1" i="1" dirty="0">
                <a:solidFill>
                  <a:srgbClr val="FFC000"/>
                </a:solidFill>
              </a:rPr>
              <a:t>, R</a:t>
            </a:r>
            <a:r>
              <a:rPr lang="en-US" sz="1100" b="1" baseline="-25000" dirty="0">
                <a:solidFill>
                  <a:srgbClr val="FFC000"/>
                </a:solidFill>
              </a:rPr>
              <a:t>2</a:t>
            </a:r>
            <a:r>
              <a:rPr lang="en-US" sz="1100" b="1" i="1" dirty="0">
                <a:solidFill>
                  <a:srgbClr val="FFC000"/>
                </a:solidFill>
              </a:rPr>
              <a:t>, ..., R</a:t>
            </a:r>
            <a:r>
              <a:rPr lang="en-US" sz="1100" b="1" i="1" baseline="-25000" dirty="0">
                <a:solidFill>
                  <a:srgbClr val="FFC000"/>
                </a:solidFill>
              </a:rPr>
              <a:t>n</a:t>
            </a:r>
            <a:r>
              <a:rPr lang="en-US" sz="1100" b="1" dirty="0">
                <a:solidFill>
                  <a:srgbClr val="FFC000"/>
                </a:solidFill>
              </a:rPr>
              <a:t>}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misalnya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baju,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Lossless-join: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Syaratnya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pas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butuh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lengkap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lemari-lemari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kecil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kalau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persis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besar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lama.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baju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hilang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tengah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proses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pemindahan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Dependency Preserving: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Aturan-aturan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misalnya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"ID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Mahasiswa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Nama")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boleh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hilang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pecah-pecah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150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Inti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menjawab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pertanyaan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"Kalau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pecah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dua, pas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digabungin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nanti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datanya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persis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malah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berantakan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?"</a:t>
            </a:r>
            <a:endParaRPr lang="en-ID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+mj-lt"/>
              <a:buAutoNum type="arabicPeriod"/>
              <a:tabLst/>
              <a:defRPr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Rumus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1" i="1" dirty="0">
                <a:solidFill>
                  <a:srgbClr val="FFC000"/>
                </a:solidFill>
              </a:rPr>
              <a:t>r = </a:t>
            </a:r>
            <a:r>
              <a:rPr lang="en-US" sz="1100" b="1" dirty="0">
                <a:solidFill>
                  <a:srgbClr val="FFC000"/>
                </a:solidFill>
              </a:rPr>
              <a:t>∏</a:t>
            </a:r>
            <a:r>
              <a:rPr lang="en-US" sz="1100" b="1" i="1" baseline="-25000" dirty="0">
                <a:solidFill>
                  <a:srgbClr val="FFC000"/>
                </a:solidFill>
              </a:rPr>
              <a:t>R1</a:t>
            </a:r>
            <a:r>
              <a:rPr lang="en-US" sz="1100" b="1" baseline="-25000" dirty="0">
                <a:solidFill>
                  <a:srgbClr val="FFC000"/>
                </a:solidFill>
              </a:rPr>
              <a:t> </a:t>
            </a:r>
            <a:r>
              <a:rPr lang="en-US" sz="1100" b="1" dirty="0">
                <a:solidFill>
                  <a:srgbClr val="FFC000"/>
                </a:solidFill>
              </a:rPr>
              <a:t>(</a:t>
            </a:r>
            <a:r>
              <a:rPr lang="en-US" sz="1100" b="1" i="1" dirty="0">
                <a:solidFill>
                  <a:srgbClr val="FFC000"/>
                </a:solidFill>
              </a:rPr>
              <a:t>r </a:t>
            </a:r>
            <a:r>
              <a:rPr lang="en-US" sz="1100" b="1" dirty="0">
                <a:solidFill>
                  <a:srgbClr val="FFC000"/>
                </a:solidFill>
              </a:rPr>
              <a:t>)     natural join  ∏</a:t>
            </a:r>
            <a:r>
              <a:rPr lang="en-US" sz="1100" b="1" i="1" baseline="-25000" dirty="0">
                <a:solidFill>
                  <a:srgbClr val="FFC000"/>
                </a:solidFill>
              </a:rPr>
              <a:t>R2</a:t>
            </a:r>
            <a:r>
              <a:rPr lang="en-US" sz="1100" b="1" baseline="-25000" dirty="0">
                <a:solidFill>
                  <a:srgbClr val="FFC000"/>
                </a:solidFill>
              </a:rPr>
              <a:t> </a:t>
            </a:r>
            <a:r>
              <a:rPr lang="en-US" sz="1100" b="1" dirty="0">
                <a:solidFill>
                  <a:srgbClr val="FFC000"/>
                </a:solidFill>
              </a:rPr>
              <a:t>(</a:t>
            </a:r>
            <a:r>
              <a:rPr lang="en-US" sz="1100" b="1" i="1" dirty="0">
                <a:solidFill>
                  <a:srgbClr val="FFC000"/>
                </a:solidFill>
              </a:rPr>
              <a:t>r </a:t>
            </a:r>
            <a:r>
              <a:rPr lang="en-US" sz="1100" b="1" dirty="0">
                <a:solidFill>
                  <a:srgbClr val="FFC000"/>
                </a:solidFill>
              </a:rPr>
              <a:t>) 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definisi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matematisnya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Artinya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kalau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kamu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memproyeksikan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memecah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lalu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menggabungkannya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operasi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Natural Join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($\bowtie$),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kembali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asli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baris 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tambahan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salah (data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pPr>
              <a:buFont typeface="+mj-lt"/>
              <a:buAutoNum type="arabicPeriod"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Syarat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Utama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Irisan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):</a:t>
            </a:r>
            <a:endParaRPr lang="en-ID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Agar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bagian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beririsan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i="1" dirty="0"/>
              <a:t>R</a:t>
            </a:r>
            <a:r>
              <a:rPr lang="en-US" sz="1100" baseline="-25000" dirty="0"/>
              <a:t>1</a:t>
            </a:r>
            <a:r>
              <a:rPr lang="en-US" sz="1100" dirty="0"/>
              <a:t> ∩ </a:t>
            </a:r>
            <a:r>
              <a:rPr lang="en-US" sz="1100" i="1" dirty="0"/>
              <a:t>R</a:t>
            </a:r>
            <a:r>
              <a:rPr lang="en-US" sz="1100" baseline="-25000" dirty="0"/>
              <a:t>2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menjadi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Utama (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salah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tersebut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tabLst/>
              <a:defRPr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pertama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1100" i="1" dirty="0"/>
              <a:t>R</a:t>
            </a:r>
            <a:r>
              <a:rPr lang="en-US" sz="1100" baseline="-25000" dirty="0"/>
              <a:t>1</a:t>
            </a:r>
            <a:r>
              <a:rPr lang="en-US" sz="1100" dirty="0"/>
              <a:t> ∩ </a:t>
            </a:r>
            <a:r>
              <a:rPr lang="en-US" sz="1100" i="1" dirty="0"/>
              <a:t>R</a:t>
            </a:r>
            <a:r>
              <a:rPr lang="en-US" sz="1100" baseline="-25000" dirty="0"/>
              <a:t>2</a:t>
            </a:r>
            <a:r>
              <a:rPr lang="en-US" sz="1100" dirty="0"/>
              <a:t> → </a:t>
            </a:r>
            <a:r>
              <a:rPr lang="en-US" sz="1100" i="1" dirty="0"/>
              <a:t>R</a:t>
            </a:r>
            <a:r>
              <a:rPr lang="en-US" sz="1100" baseline="-25000" dirty="0"/>
              <a:t>1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914400" marR="0" lvl="1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tabLst/>
              <a:defRPr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Atau,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jika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menentukan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seluruh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i="1" dirty="0"/>
              <a:t>R</a:t>
            </a:r>
            <a:r>
              <a:rPr lang="en-US" sz="1100" baseline="-25000" dirty="0"/>
              <a:t>1</a:t>
            </a:r>
            <a:r>
              <a:rPr lang="en-US" sz="1100" dirty="0"/>
              <a:t> ∩ </a:t>
            </a:r>
            <a:r>
              <a:rPr lang="en-US" sz="1100" i="1" dirty="0"/>
              <a:t>R</a:t>
            </a:r>
            <a:r>
              <a:rPr lang="en-US" sz="1100" baseline="-25000" dirty="0"/>
              <a:t>2</a:t>
            </a:r>
            <a:r>
              <a:rPr lang="en-US" sz="1100" dirty="0"/>
              <a:t> → </a:t>
            </a:r>
            <a:r>
              <a:rPr lang="en-US" sz="1100" i="1" dirty="0"/>
              <a:t>R</a:t>
            </a:r>
            <a:r>
              <a:rPr lang="en-US" sz="1100" baseline="-25000" dirty="0"/>
              <a:t>2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juga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6132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Slide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membandingkan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mana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memotong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dan mana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kurang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bagus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Cara 1 (BAGUS):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Kamu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memecah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sebagai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lem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penyambungnya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Karena $B$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C$),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pasti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pas (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 Selain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aslimu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tersimpan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rapi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masing-masing (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Dependency Preserving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Cara 2 (KURANG BAGUS):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teknis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digabung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tanpa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kehilangan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karena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kolom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$A$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kuncinya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TAPI,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masalahnya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terpisah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rumah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".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1,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sedangkan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$C$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2. Database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jadi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kerja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ekstra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keras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melakukan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join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memastikan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$B \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rightarrow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C$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berlaku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Kesimpulan: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desain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database yang ideal,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mencari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dekomposisi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keduanya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menghilangkan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data (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Lossless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menghilangkan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Dependency Preserving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21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Penjelasan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Logika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Algoritma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:</a:t>
            </a:r>
          </a:p>
          <a:p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Bayangkan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kamu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ingin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apakah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"Jika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maka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tahu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B"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masih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berlaku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setelah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dipecah-pecah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Mulai </a:t>
            </a:r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dari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A: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masukkan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$\alpha$ (input)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bernama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result.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Keliling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Tabel: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datangi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pecahan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($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R_i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$).</a:t>
            </a:r>
          </a:p>
          <a:p>
            <a:pPr lvl="1"/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lihat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"Dari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mana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 ($result \cap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R_i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$)"</a:t>
            </a:r>
          </a:p>
          <a:p>
            <a:pPr lvl="1"/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Lalu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"Di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atribut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bisa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menghasilkan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apa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 ($...^+ \cap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R_i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$)"</a:t>
            </a:r>
          </a:p>
          <a:p>
            <a:pPr lvl="1"/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Hasil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temuan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baru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itu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masukkan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result.</a:t>
            </a:r>
          </a:p>
          <a:p>
            <a:r>
              <a:rPr lang="en-ID" sz="1100" b="1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Ulangi</a:t>
            </a:r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Kita muter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terus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ke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semua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tabel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sampai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tidak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bertambah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lagi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r>
              <a:rPr lang="en-ID" sz="1100" b="1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Cek Akhir: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Kalau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akhir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perjalanan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ternyata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$\beta$ (output yang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kita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cari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sudah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ada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di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dalam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kantong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berarti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aturannya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aman</a:t>
            </a:r>
            <a:r>
              <a:rPr lang="en-ID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496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F7E5D3-9B58-1C6A-D121-577385B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2A34DA-9CF1-4A05-66C2-12AC8C6A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8D52336-3E6B-9510-D5E3-50254A58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03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1431" y="1580601"/>
            <a:ext cx="7124472" cy="738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Normalisasi</a:t>
            </a:r>
            <a:r>
              <a:rPr lang="en" dirty="0"/>
              <a:t> Data (1NF 2NF)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31965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Capaian</a:t>
            </a:r>
            <a:r>
              <a:rPr lang="en-US" dirty="0"/>
              <a:t> </a:t>
            </a:r>
            <a:r>
              <a:rPr lang="en-US" dirty="0" err="1"/>
              <a:t>pembelajaran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functional dependency</a:t>
            </a:r>
            <a:r>
              <a:rPr lang="en-ID" sz="1400" dirty="0"/>
              <a:t>) </a:t>
            </a:r>
            <a:r>
              <a:rPr lang="en-ID" sz="1400" dirty="0" err="1"/>
              <a:t>antara</a:t>
            </a:r>
            <a:r>
              <a:rPr lang="en-ID" sz="1400" dirty="0"/>
              <a:t> dua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yang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dirty="0" err="1"/>
              <a:t>bagian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Menghubungkan</a:t>
            </a:r>
            <a:r>
              <a:rPr lang="en-ID" sz="1400" dirty="0"/>
              <a:t> </a:t>
            </a:r>
            <a:r>
              <a:rPr lang="en-ID" sz="1400" dirty="0" err="1"/>
              <a:t>konstrain</a:t>
            </a:r>
            <a:r>
              <a:rPr lang="en-ID" sz="1400" dirty="0"/>
              <a:t> yang </a:t>
            </a:r>
            <a:r>
              <a:rPr lang="en-ID" sz="1400" dirty="0" err="1"/>
              <a:t>dinyatakan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primary key</a:t>
            </a:r>
            <a:r>
              <a:rPr lang="en-ID" sz="1400" dirty="0"/>
              <a:t> dan </a:t>
            </a:r>
            <a:r>
              <a:rPr lang="en-ID" sz="1400" b="1" i="1" dirty="0">
                <a:solidFill>
                  <a:srgbClr val="FFC000"/>
                </a:solidFill>
              </a:rPr>
              <a:t>foreign key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Menghitung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closure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sekumpulan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berdasarkan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yang </a:t>
            </a:r>
            <a:r>
              <a:rPr lang="en-ID" sz="1400" dirty="0" err="1"/>
              <a:t>diberikan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ID" sz="1400" dirty="0" err="1"/>
              <a:t>sekumpulan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membentuk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superkey</a:t>
            </a:r>
            <a:r>
              <a:rPr lang="en-ID" sz="1400" dirty="0"/>
              <a:t> dan/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candidate key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yang </a:t>
            </a:r>
            <a:r>
              <a:rPr lang="en-ID" sz="1400" dirty="0" err="1"/>
              <a:t>diberikan</a:t>
            </a:r>
            <a:r>
              <a:rPr lang="en-ID" sz="1400" dirty="0"/>
              <a:t>.</a:t>
            </a:r>
          </a:p>
          <a:p>
            <a:r>
              <a:rPr lang="en-ID" sz="1400" dirty="0" err="1"/>
              <a:t>Mengevaluasi</a:t>
            </a:r>
            <a:r>
              <a:rPr lang="en-ID" sz="1400" dirty="0"/>
              <a:t> </a:t>
            </a:r>
            <a:r>
              <a:rPr lang="en-ID" sz="1400" dirty="0" err="1"/>
              <a:t>usulan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menentukan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lossless-join</a:t>
            </a:r>
            <a:r>
              <a:rPr lang="en-ID" sz="1400" dirty="0"/>
              <a:t> (</a:t>
            </a:r>
            <a:r>
              <a:rPr lang="en-ID" sz="1400" dirty="0" err="1"/>
              <a:t>penggabungan</a:t>
            </a:r>
            <a:r>
              <a:rPr lang="en-ID" sz="1400" dirty="0"/>
              <a:t> </a:t>
            </a:r>
            <a:r>
              <a:rPr lang="en-ID" sz="1400" dirty="0" err="1"/>
              <a:t>tanpa</a:t>
            </a:r>
            <a:r>
              <a:rPr lang="en-ID" sz="1400" dirty="0"/>
              <a:t> </a:t>
            </a:r>
            <a:r>
              <a:rPr lang="en-ID" sz="1400" dirty="0" err="1"/>
              <a:t>kehilangan</a:t>
            </a:r>
            <a:r>
              <a:rPr lang="en-ID" sz="1400" dirty="0"/>
              <a:t> data) dan </a:t>
            </a:r>
            <a:r>
              <a:rPr lang="en-ID" sz="1400" b="1" i="1" dirty="0">
                <a:solidFill>
                  <a:srgbClr val="FFC000"/>
                </a:solidFill>
              </a:rPr>
              <a:t>dependency-preservation</a:t>
            </a:r>
            <a:r>
              <a:rPr lang="en-ID" sz="1400" dirty="0"/>
              <a:t> (</a:t>
            </a:r>
            <a:r>
              <a:rPr lang="en-ID" sz="1400" dirty="0" err="1"/>
              <a:t>pemeliharaan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).</a:t>
            </a:r>
          </a:p>
          <a:p>
            <a:r>
              <a:rPr lang="en-ID" sz="1400" dirty="0" err="1"/>
              <a:t>Mendeskripsikan</a:t>
            </a:r>
            <a:r>
              <a:rPr lang="en-ID" sz="1400" dirty="0"/>
              <a:t> </a:t>
            </a:r>
            <a:r>
              <a:rPr lang="en-ID" sz="1400" dirty="0" err="1"/>
              <a:t>definisi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1NF, 2NF, </a:t>
            </a:r>
            <a:r>
              <a:rPr lang="en-ID" sz="1400" b="1" dirty="0">
                <a:solidFill>
                  <a:srgbClr val="FF0000"/>
                </a:solidFill>
              </a:rPr>
              <a:t>3NF, dan BCNF.</a:t>
            </a:r>
          </a:p>
          <a:p>
            <a:r>
              <a:rPr lang="en-ID" sz="1400" dirty="0" err="1">
                <a:solidFill>
                  <a:srgbClr val="FF0000"/>
                </a:solidFill>
              </a:rPr>
              <a:t>Mengidentifikasi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apakah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suatu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relasi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memenuhi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kriteria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b="1" dirty="0">
                <a:solidFill>
                  <a:srgbClr val="FF0000"/>
                </a:solidFill>
              </a:rPr>
              <a:t>1NF, 2NF, 3NF, </a:t>
            </a:r>
            <a:r>
              <a:rPr lang="en-ID" sz="1400" b="1" dirty="0" err="1">
                <a:solidFill>
                  <a:srgbClr val="FF0000"/>
                </a:solidFill>
              </a:rPr>
              <a:t>atau</a:t>
            </a:r>
            <a:r>
              <a:rPr lang="en-ID" sz="1400" b="1" dirty="0">
                <a:solidFill>
                  <a:srgbClr val="FF0000"/>
                </a:solidFill>
              </a:rPr>
              <a:t> BCNF.</a:t>
            </a:r>
          </a:p>
          <a:p>
            <a:r>
              <a:rPr lang="en-ID" sz="1400" dirty="0" err="1">
                <a:solidFill>
                  <a:srgbClr val="FF0000"/>
                </a:solidFill>
              </a:rPr>
              <a:t>Melakukan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normalisasi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relasi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b="1" dirty="0">
                <a:solidFill>
                  <a:srgbClr val="FF0000"/>
                </a:solidFill>
              </a:rPr>
              <a:t>1NF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menjadi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sekumpulan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relasi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b="1" dirty="0">
                <a:solidFill>
                  <a:srgbClr val="FF0000"/>
                </a:solidFill>
              </a:rPr>
              <a:t>3NF</a:t>
            </a:r>
            <a:r>
              <a:rPr lang="en-ID" sz="1400" dirty="0">
                <a:solidFill>
                  <a:srgbClr val="FF0000"/>
                </a:solidFill>
              </a:rPr>
              <a:t> (</a:t>
            </a:r>
            <a:r>
              <a:rPr lang="en-ID" sz="1400" dirty="0" err="1">
                <a:solidFill>
                  <a:srgbClr val="FF0000"/>
                </a:solidFill>
              </a:rPr>
              <a:t>atau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b="1" dirty="0">
                <a:solidFill>
                  <a:srgbClr val="FF0000"/>
                </a:solidFill>
              </a:rPr>
              <a:t>BCNF</a:t>
            </a:r>
            <a:r>
              <a:rPr lang="en-ID" sz="1400" dirty="0">
                <a:solidFill>
                  <a:srgbClr val="FF0000"/>
                </a:solidFill>
              </a:rPr>
              <a:t>) dan </a:t>
            </a:r>
            <a:r>
              <a:rPr lang="en-ID" sz="1400" dirty="0" err="1">
                <a:solidFill>
                  <a:srgbClr val="FF0000"/>
                </a:solidFill>
              </a:rPr>
              <a:t>melakukan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denormalisasi</a:t>
            </a:r>
            <a:r>
              <a:rPr lang="en-ID" sz="1400" dirty="0">
                <a:solidFill>
                  <a:srgbClr val="FF0000"/>
                </a:solidFill>
              </a:rPr>
              <a:t> pada </a:t>
            </a:r>
            <a:r>
              <a:rPr lang="en-ID" sz="1400" dirty="0" err="1">
                <a:solidFill>
                  <a:srgbClr val="FF0000"/>
                </a:solidFill>
              </a:rPr>
              <a:t>skema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relasional</a:t>
            </a:r>
            <a:r>
              <a:rPr lang="en-ID" sz="1400" dirty="0">
                <a:solidFill>
                  <a:srgbClr val="FF0000"/>
                </a:solidFill>
              </a:rPr>
              <a:t>.</a:t>
            </a:r>
          </a:p>
          <a:p>
            <a:r>
              <a:rPr lang="en-ID" sz="1400" dirty="0" err="1">
                <a:solidFill>
                  <a:srgbClr val="FF0000"/>
                </a:solidFill>
              </a:rPr>
              <a:t>Menjelaskan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dampak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normalisasi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terhadap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efisiensi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operasi</a:t>
            </a:r>
            <a:r>
              <a:rPr lang="en-ID" sz="1400" dirty="0">
                <a:solidFill>
                  <a:srgbClr val="FF0000"/>
                </a:solidFill>
              </a:rPr>
              <a:t> basis data, </a:t>
            </a:r>
            <a:r>
              <a:rPr lang="en-ID" sz="1400" dirty="0" err="1">
                <a:solidFill>
                  <a:srgbClr val="FF0000"/>
                </a:solidFill>
              </a:rPr>
              <a:t>khususnya</a:t>
            </a:r>
            <a:r>
              <a:rPr lang="en-ID" sz="1400" dirty="0">
                <a:solidFill>
                  <a:srgbClr val="FF0000"/>
                </a:solidFill>
              </a:rPr>
              <a:t> pada </a:t>
            </a:r>
            <a:r>
              <a:rPr lang="en-ID" sz="1400" dirty="0" err="1">
                <a:solidFill>
                  <a:srgbClr val="FF0000"/>
                </a:solidFill>
              </a:rPr>
              <a:t>optimasi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kueri</a:t>
            </a:r>
            <a:r>
              <a:rPr lang="en-ID" sz="1400" dirty="0">
                <a:solidFill>
                  <a:srgbClr val="FF0000"/>
                </a:solidFill>
              </a:rPr>
              <a:t> (</a:t>
            </a:r>
            <a:r>
              <a:rPr lang="en-ID" sz="1400" b="1" i="1" dirty="0">
                <a:solidFill>
                  <a:srgbClr val="FF0000"/>
                </a:solidFill>
              </a:rPr>
              <a:t>query optimization</a:t>
            </a:r>
            <a:r>
              <a:rPr lang="en-ID" sz="1400" dirty="0">
                <a:solidFill>
                  <a:srgbClr val="FF0000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D7D1-0C72-E40A-CFA4-1F643D53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Kombinasi</a:t>
            </a:r>
            <a:r>
              <a:rPr lang="en-US" dirty="0"/>
              <a:t> Skema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F55F7-EE89-8CAF-D7BF-D3CF8906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2437791"/>
          </a:xfrm>
        </p:spPr>
        <p:txBody>
          <a:bodyPr/>
          <a:lstStyle/>
          <a:p>
            <a:r>
              <a:rPr lang="en-ID" dirty="0" err="1"/>
              <a:t>Asumsikan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b="1" dirty="0"/>
              <a:t> </a:t>
            </a:r>
            <a:r>
              <a:rPr lang="en-ID" b="1" i="1" dirty="0">
                <a:solidFill>
                  <a:srgbClr val="FFC000"/>
                </a:solidFill>
              </a:rPr>
              <a:t>instructor</a:t>
            </a:r>
            <a:r>
              <a:rPr lang="en-ID" b="1" dirty="0"/>
              <a:t> </a:t>
            </a:r>
            <a:r>
              <a:rPr lang="en-ID" b="1" dirty="0">
                <a:solidFill>
                  <a:srgbClr val="FFC000"/>
                </a:solidFill>
              </a:rPr>
              <a:t>(</a:t>
            </a:r>
            <a:r>
              <a:rPr lang="en-ID" b="1" dirty="0" err="1">
                <a:solidFill>
                  <a:srgbClr val="FFC000"/>
                </a:solidFill>
              </a:rPr>
              <a:t>instruktur</a:t>
            </a:r>
            <a:r>
              <a:rPr lang="en-ID" b="1" dirty="0">
                <a:solidFill>
                  <a:srgbClr val="FFC000"/>
                </a:solidFill>
              </a:rPr>
              <a:t>)</a:t>
            </a:r>
            <a:r>
              <a:rPr lang="en-ID" b="1" dirty="0"/>
              <a:t> </a:t>
            </a:r>
            <a:r>
              <a:rPr lang="en-ID" dirty="0"/>
              <a:t>dan</a:t>
            </a:r>
            <a:r>
              <a:rPr lang="en-ID" b="1" dirty="0"/>
              <a:t> </a:t>
            </a:r>
            <a:r>
              <a:rPr lang="en-ID" b="1" i="1" dirty="0">
                <a:solidFill>
                  <a:srgbClr val="FFC000"/>
                </a:solidFill>
              </a:rPr>
              <a:t>department</a:t>
            </a:r>
            <a:r>
              <a:rPr lang="en-ID" b="1" dirty="0">
                <a:solidFill>
                  <a:srgbClr val="FFC000"/>
                </a:solidFill>
              </a:rPr>
              <a:t> (</a:t>
            </a:r>
            <a:r>
              <a:rPr lang="en-ID" b="1" dirty="0" err="1">
                <a:solidFill>
                  <a:srgbClr val="FFC000"/>
                </a:solidFill>
              </a:rPr>
              <a:t>departemen</a:t>
            </a:r>
            <a:r>
              <a:rPr lang="en-ID" b="1" dirty="0">
                <a:solidFill>
                  <a:srgbClr val="FFC000"/>
                </a:solidFill>
              </a:rPr>
              <a:t>)</a:t>
            </a:r>
            <a:r>
              <a:rPr lang="en-ID" b="1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i="1" dirty="0" err="1">
                <a:solidFill>
                  <a:srgbClr val="FFC000"/>
                </a:solidFill>
              </a:rPr>
              <a:t>inst_dept</a:t>
            </a:r>
            <a:r>
              <a:rPr lang="en-ID" b="1" dirty="0">
                <a:solidFill>
                  <a:srgbClr val="FFC000"/>
                </a:solidFill>
              </a:rPr>
              <a:t>.</a:t>
            </a:r>
            <a:endParaRPr lang="en-ID" dirty="0">
              <a:solidFill>
                <a:srgbClr val="FFC000"/>
              </a:solidFill>
            </a:endParaRPr>
          </a:p>
          <a:p>
            <a:r>
              <a:rPr lang="en-ID" dirty="0" err="1"/>
              <a:t>Hasilnya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kemungkinan</a:t>
            </a:r>
            <a:r>
              <a:rPr lang="en-ID" dirty="0"/>
              <a:t> </a:t>
            </a:r>
            <a:r>
              <a:rPr lang="en-ID" dirty="0" err="1"/>
              <a:t>terjadinya</a:t>
            </a:r>
            <a:r>
              <a:rPr lang="en-ID" dirty="0"/>
              <a:t> </a:t>
            </a:r>
            <a:r>
              <a:rPr lang="en-ID" b="1" dirty="0" err="1">
                <a:solidFill>
                  <a:srgbClr val="FFC000"/>
                </a:solidFill>
              </a:rPr>
              <a:t>repetisi</a:t>
            </a:r>
            <a:r>
              <a:rPr lang="en-ID" dirty="0"/>
              <a:t> (</a:t>
            </a:r>
            <a:r>
              <a:rPr lang="en-ID" dirty="0" err="1"/>
              <a:t>pengulangan</a:t>
            </a:r>
            <a:r>
              <a:rPr lang="en-ID" dirty="0"/>
              <a:t>) </a:t>
            </a:r>
            <a:r>
              <a:rPr lang="en-ID" dirty="0" err="1"/>
              <a:t>informasi</a:t>
            </a:r>
            <a:r>
              <a:rPr lang="en-ID" dirty="0"/>
              <a:t>.</a:t>
            </a:r>
          </a:p>
        </p:txBody>
      </p:sp>
      <p:pic>
        <p:nvPicPr>
          <p:cNvPr id="4" name="Google Shape;111;p3" descr="8">
            <a:extLst>
              <a:ext uri="{FF2B5EF4-FFF2-40B4-BE49-F238E27FC236}">
                <a16:creationId xmlns:a16="http://schemas.microsoft.com/office/drawing/2014/main" id="{5A1A8534-6ECB-BFAF-639F-91514B6D27F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64808" y="1835888"/>
            <a:ext cx="5214384" cy="30240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341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F5DE-A36D-5FA1-BA4E-F4250DD9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Skema </a:t>
            </a:r>
            <a:r>
              <a:rPr lang="en-US" dirty="0" err="1"/>
              <a:t>Gabungan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Tanpa</a:t>
            </a:r>
            <a:r>
              <a:rPr lang="en-US" dirty="0"/>
              <a:t> </a:t>
            </a:r>
            <a:r>
              <a:rPr lang="en-US" dirty="0" err="1">
                <a:solidFill>
                  <a:srgbClr val="FFC000"/>
                </a:solidFill>
              </a:rPr>
              <a:t>Redudansi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D77AB-8CEA-533C-8DD2-3A1825FB1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111187"/>
          </a:xfrm>
        </p:spPr>
        <p:txBody>
          <a:bodyPr/>
          <a:lstStyle/>
          <a:p>
            <a:pPr marL="152400" indent="0">
              <a:buNone/>
            </a:pPr>
            <a:endParaRPr lang="en-ID" sz="2000" dirty="0"/>
          </a:p>
          <a:p>
            <a:r>
              <a:rPr lang="en-ID" sz="2000" dirty="0" err="1"/>
              <a:t>Pertimbangkan</a:t>
            </a:r>
            <a:r>
              <a:rPr lang="en-ID" sz="2000" dirty="0"/>
              <a:t> </a:t>
            </a:r>
            <a:r>
              <a:rPr lang="en-ID" sz="2000" dirty="0" err="1"/>
              <a:t>penggabungan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dua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:</a:t>
            </a:r>
          </a:p>
          <a:p>
            <a:pPr lvl="1"/>
            <a:r>
              <a:rPr lang="en-ID" sz="2000" b="1" dirty="0" err="1">
                <a:solidFill>
                  <a:srgbClr val="FFC000"/>
                </a:solidFill>
              </a:rPr>
              <a:t>sec_class</a:t>
            </a:r>
            <a:r>
              <a:rPr lang="en-ID" sz="2000" dirty="0"/>
              <a:t> (</a:t>
            </a:r>
            <a:r>
              <a:rPr lang="en-ID" sz="2000" i="1" dirty="0" err="1">
                <a:solidFill>
                  <a:srgbClr val="FFC000"/>
                </a:solidFill>
              </a:rPr>
              <a:t>sec_id</a:t>
            </a:r>
            <a:r>
              <a:rPr lang="en-ID" sz="2000" i="1" dirty="0">
                <a:solidFill>
                  <a:srgbClr val="FFC000"/>
                </a:solidFill>
              </a:rPr>
              <a:t>, building, </a:t>
            </a:r>
            <a:r>
              <a:rPr lang="en-ID" sz="2000" i="1" dirty="0" err="1">
                <a:solidFill>
                  <a:srgbClr val="FFC000"/>
                </a:solidFill>
              </a:rPr>
              <a:t>room_number</a:t>
            </a:r>
            <a:r>
              <a:rPr lang="en-ID" sz="2000" dirty="0"/>
              <a:t>) dan</a:t>
            </a:r>
          </a:p>
          <a:p>
            <a:pPr lvl="1"/>
            <a:r>
              <a:rPr lang="en-ID" sz="2000" b="1" dirty="0">
                <a:solidFill>
                  <a:srgbClr val="92D050"/>
                </a:solidFill>
              </a:rPr>
              <a:t>section</a:t>
            </a:r>
            <a:r>
              <a:rPr lang="en-ID" sz="2000" dirty="0"/>
              <a:t> (</a:t>
            </a:r>
            <a:r>
              <a:rPr lang="en-ID" sz="2000" i="1" dirty="0" err="1">
                <a:solidFill>
                  <a:srgbClr val="92D050"/>
                </a:solidFill>
              </a:rPr>
              <a:t>course_id</a:t>
            </a:r>
            <a:r>
              <a:rPr lang="en-ID" sz="2000" i="1" dirty="0">
                <a:solidFill>
                  <a:srgbClr val="92D050"/>
                </a:solidFill>
              </a:rPr>
              <a:t>, </a:t>
            </a:r>
            <a:r>
              <a:rPr lang="en-ID" sz="2000" i="1" dirty="0" err="1">
                <a:solidFill>
                  <a:srgbClr val="92D050"/>
                </a:solidFill>
              </a:rPr>
              <a:t>sec_id</a:t>
            </a:r>
            <a:r>
              <a:rPr lang="en-ID" sz="2000" i="1" dirty="0">
                <a:solidFill>
                  <a:srgbClr val="92D050"/>
                </a:solidFill>
              </a:rPr>
              <a:t>, semester, year</a:t>
            </a:r>
            <a:r>
              <a:rPr lang="en-ID" sz="2000" dirty="0"/>
              <a:t>)</a:t>
            </a:r>
          </a:p>
          <a:p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satu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relasi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tunggal</a:t>
            </a:r>
            <a:r>
              <a:rPr lang="en-ID" sz="2000" dirty="0"/>
              <a:t>:</a:t>
            </a:r>
          </a:p>
          <a:p>
            <a:pPr lvl="1"/>
            <a:r>
              <a:rPr lang="en-ID" sz="2000" b="1" dirty="0">
                <a:solidFill>
                  <a:srgbClr val="92D050"/>
                </a:solidFill>
              </a:rPr>
              <a:t>section</a:t>
            </a:r>
            <a:r>
              <a:rPr lang="en-ID" sz="2000" dirty="0"/>
              <a:t> (</a:t>
            </a:r>
            <a:r>
              <a:rPr lang="en-ID" sz="2000" i="1" dirty="0" err="1">
                <a:solidFill>
                  <a:srgbClr val="92D050"/>
                </a:solidFill>
              </a:rPr>
              <a:t>course_id</a:t>
            </a:r>
            <a:r>
              <a:rPr lang="en-ID" sz="2000" i="1" dirty="0">
                <a:solidFill>
                  <a:srgbClr val="92D050"/>
                </a:solidFill>
              </a:rPr>
              <a:t>, </a:t>
            </a:r>
            <a:r>
              <a:rPr lang="en-ID" sz="2000" i="1" dirty="0" err="1">
                <a:solidFill>
                  <a:srgbClr val="92D050"/>
                </a:solidFill>
              </a:rPr>
              <a:t>sec_id</a:t>
            </a:r>
            <a:r>
              <a:rPr lang="en-ID" sz="2000" i="1" dirty="0">
                <a:solidFill>
                  <a:srgbClr val="92D050"/>
                </a:solidFill>
              </a:rPr>
              <a:t>, semester, year</a:t>
            </a:r>
            <a:r>
              <a:rPr lang="en-ID" sz="2000" i="1" dirty="0"/>
              <a:t>, </a:t>
            </a:r>
            <a:r>
              <a:rPr lang="en-ID" sz="2000" i="1" dirty="0">
                <a:solidFill>
                  <a:srgbClr val="FFC000"/>
                </a:solidFill>
              </a:rPr>
              <a:t>building, </a:t>
            </a:r>
            <a:r>
              <a:rPr lang="en-ID" sz="2000" i="1" dirty="0" err="1">
                <a:solidFill>
                  <a:srgbClr val="FFC000"/>
                </a:solidFill>
              </a:rPr>
              <a:t>room_number</a:t>
            </a:r>
            <a:r>
              <a:rPr lang="en-ID" sz="2000" dirty="0"/>
              <a:t>)</a:t>
            </a:r>
          </a:p>
          <a:p>
            <a:r>
              <a:rPr lang="en-ID" sz="2000" dirty="0"/>
              <a:t>Dalam </a:t>
            </a:r>
            <a:r>
              <a:rPr lang="en-ID" sz="2000" dirty="0" err="1"/>
              <a:t>kasus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,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terjadi</a:t>
            </a:r>
            <a:r>
              <a:rPr lang="en-ID" sz="2000" dirty="0"/>
              <a:t> </a:t>
            </a:r>
            <a:r>
              <a:rPr lang="en-ID" sz="2000" dirty="0" err="1"/>
              <a:t>redundansi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2744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46CD4-2CE7-FB66-0B41-C5F2FDE8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err="1"/>
              <a:t>Kelemahan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Perancangan</a:t>
            </a:r>
            <a:r>
              <a:rPr lang="en-US" sz="2000" dirty="0"/>
              <a:t> Basis Data </a:t>
            </a:r>
            <a:r>
              <a:rPr lang="en-US" sz="2000" dirty="0" err="1"/>
              <a:t>Relasional</a:t>
            </a: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4A2A-B570-2DA9-BC0A-299692CE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33438"/>
          </a:xfrm>
        </p:spPr>
        <p:txBody>
          <a:bodyPr/>
          <a:lstStyle/>
          <a:p>
            <a:r>
              <a:rPr lang="en-ID" b="1" dirty="0" err="1"/>
              <a:t>Perancangan</a:t>
            </a:r>
            <a:r>
              <a:rPr lang="en-ID" b="1" dirty="0"/>
              <a:t> basis data </a:t>
            </a:r>
            <a:r>
              <a:rPr lang="en-ID" b="1" dirty="0" err="1"/>
              <a:t>relasional</a:t>
            </a:r>
            <a:r>
              <a:rPr lang="en-ID" b="1" dirty="0"/>
              <a:t> </a:t>
            </a:r>
            <a:r>
              <a:rPr lang="en-ID" b="1" dirty="0" err="1"/>
              <a:t>mengharuskan</a:t>
            </a:r>
            <a:r>
              <a:rPr lang="en-ID" b="1" dirty="0"/>
              <a:t> </a:t>
            </a:r>
            <a:r>
              <a:rPr lang="en-ID" b="1" dirty="0" err="1"/>
              <a:t>kita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menemukan</a:t>
            </a:r>
            <a:r>
              <a:rPr lang="en-ID" b="1" dirty="0"/>
              <a:t> </a:t>
            </a:r>
            <a:r>
              <a:rPr lang="en-ID" b="1" dirty="0" err="1"/>
              <a:t>kumpulan</a:t>
            </a:r>
            <a:r>
              <a:rPr lang="en-ID" b="1" dirty="0"/>
              <a:t> </a:t>
            </a:r>
            <a:r>
              <a:rPr lang="en-ID" b="1" dirty="0" err="1"/>
              <a:t>skema</a:t>
            </a:r>
            <a:r>
              <a:rPr lang="en-ID" b="1" dirty="0"/>
              <a:t> </a:t>
            </a:r>
            <a:r>
              <a:rPr lang="en-ID" b="1" dirty="0" err="1"/>
              <a:t>relasi</a:t>
            </a:r>
            <a:r>
              <a:rPr lang="en-ID" b="1" dirty="0"/>
              <a:t> yang "</a:t>
            </a:r>
            <a:r>
              <a:rPr lang="en-ID" b="1" dirty="0" err="1"/>
              <a:t>baik</a:t>
            </a:r>
            <a:r>
              <a:rPr lang="en-ID" b="1" dirty="0"/>
              <a:t>". </a:t>
            </a:r>
            <a:r>
              <a:rPr lang="en-ID" b="1" dirty="0" err="1"/>
              <a:t>Perancangan</a:t>
            </a:r>
            <a:r>
              <a:rPr lang="en-ID" b="1" dirty="0"/>
              <a:t> yang </a:t>
            </a:r>
            <a:r>
              <a:rPr lang="en-ID" b="1" dirty="0" err="1"/>
              <a:t>buruk</a:t>
            </a:r>
            <a:r>
              <a:rPr lang="en-ID" b="1" dirty="0"/>
              <a:t> </a:t>
            </a:r>
            <a:r>
              <a:rPr lang="en-ID" b="1" dirty="0" err="1"/>
              <a:t>dapat</a:t>
            </a:r>
            <a:r>
              <a:rPr lang="en-ID" b="1" dirty="0"/>
              <a:t> </a:t>
            </a:r>
            <a:r>
              <a:rPr lang="en-ID" b="1" dirty="0" err="1"/>
              <a:t>menyebabkan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dirty="0" err="1"/>
              <a:t>Repetisi</a:t>
            </a:r>
            <a:r>
              <a:rPr lang="en-ID" dirty="0"/>
              <a:t> (</a:t>
            </a:r>
            <a:r>
              <a:rPr lang="en-ID" dirty="0" err="1"/>
              <a:t>pengulangan</a:t>
            </a:r>
            <a:r>
              <a:rPr lang="en-ID" dirty="0"/>
              <a:t>) </a:t>
            </a:r>
            <a:r>
              <a:rPr lang="en-ID" dirty="0" err="1"/>
              <a:t>informasi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Ketidakmampuan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merepresentasikan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tertentu</a:t>
            </a:r>
            <a:r>
              <a:rPr lang="en-ID" dirty="0"/>
              <a:t>.</a:t>
            </a:r>
          </a:p>
          <a:p>
            <a:r>
              <a:rPr lang="en-ID" b="1" dirty="0" err="1"/>
              <a:t>Contoh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b="1" i="1" dirty="0"/>
              <a:t>Lending-schema</a:t>
            </a:r>
            <a:r>
              <a:rPr lang="en-ID" dirty="0"/>
              <a:t> = (</a:t>
            </a:r>
            <a:r>
              <a:rPr lang="en-ID" i="1" dirty="0"/>
              <a:t>branch-name, branch-city, assets, customer-name, loan-number, amount</a:t>
            </a:r>
            <a:r>
              <a:rPr lang="en-ID" dirty="0"/>
              <a:t>).</a:t>
            </a:r>
          </a:p>
          <a:p>
            <a:pPr lvl="1"/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pPr marL="609600" lvl="1" indent="0">
              <a:buNone/>
            </a:pPr>
            <a:endParaRPr lang="en-ID" dirty="0"/>
          </a:p>
          <a:p>
            <a:r>
              <a:rPr lang="en-ID" b="1" dirty="0"/>
              <a:t>Tujuan </a:t>
            </a:r>
            <a:r>
              <a:rPr lang="en-ID" b="1" dirty="0" err="1"/>
              <a:t>Perancangan</a:t>
            </a:r>
            <a:r>
              <a:rPr lang="en-ID" b="1" dirty="0"/>
              <a:t>:</a:t>
            </a:r>
            <a:endParaRPr lang="en-ID" dirty="0"/>
          </a:p>
          <a:p>
            <a:pPr lvl="1"/>
            <a:r>
              <a:rPr lang="en-ID" dirty="0" err="1"/>
              <a:t>Menghindari</a:t>
            </a:r>
            <a:r>
              <a:rPr lang="en-ID" dirty="0"/>
              <a:t> </a:t>
            </a:r>
            <a:r>
              <a:rPr lang="en-ID" dirty="0" err="1"/>
              <a:t>redundansi</a:t>
            </a:r>
            <a:r>
              <a:rPr lang="en-ID" dirty="0"/>
              <a:t> data.</a:t>
            </a:r>
          </a:p>
          <a:p>
            <a:pPr lvl="1"/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terepresentasi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Memfasilitasi</a:t>
            </a:r>
            <a:r>
              <a:rPr lang="en-ID" dirty="0"/>
              <a:t> </a:t>
            </a:r>
            <a:r>
              <a:rPr lang="en-ID" dirty="0" err="1"/>
              <a:t>pemeriksaan</a:t>
            </a:r>
            <a:r>
              <a:rPr lang="en-ID" dirty="0"/>
              <a:t> </a:t>
            </a:r>
            <a:r>
              <a:rPr lang="en-ID" dirty="0" err="1"/>
              <a:t>pembaruan</a:t>
            </a:r>
            <a:r>
              <a:rPr lang="en-ID" dirty="0"/>
              <a:t> (</a:t>
            </a:r>
            <a:r>
              <a:rPr lang="en-ID" i="1" dirty="0"/>
              <a:t>updates</a:t>
            </a:r>
            <a:r>
              <a:rPr lang="en-ID" dirty="0"/>
              <a:t>)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pelanggaran</a:t>
            </a:r>
            <a:r>
              <a:rPr lang="en-ID" dirty="0"/>
              <a:t> </a:t>
            </a:r>
            <a:r>
              <a:rPr lang="en-ID" dirty="0" err="1"/>
              <a:t>konstrain</a:t>
            </a:r>
            <a:r>
              <a:rPr lang="en-ID" dirty="0"/>
              <a:t> </a:t>
            </a:r>
            <a:r>
              <a:rPr lang="en-ID" dirty="0" err="1"/>
              <a:t>integritas</a:t>
            </a:r>
            <a:r>
              <a:rPr lang="en-ID" dirty="0"/>
              <a:t> basis data.</a:t>
            </a:r>
          </a:p>
          <a:p>
            <a:endParaRPr lang="en-US" dirty="0"/>
          </a:p>
        </p:txBody>
      </p:sp>
      <p:pic>
        <p:nvPicPr>
          <p:cNvPr id="5" name="Google Shape;132;p5">
            <a:extLst>
              <a:ext uri="{FF2B5EF4-FFF2-40B4-BE49-F238E27FC236}">
                <a16:creationId xmlns:a16="http://schemas.microsoft.com/office/drawing/2014/main" id="{115A7D4B-0D68-AD98-44CA-BE68DF00CA1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>
            <a:alphaModFix/>
          </a:blip>
          <a:srcRect l="1162" t="18605" r="1163" b="52428"/>
          <a:stretch/>
        </p:blipFill>
        <p:spPr>
          <a:xfrm>
            <a:off x="1726609" y="2392826"/>
            <a:ext cx="5690781" cy="1434896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47407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41A9A-7BD5-C7A7-6F50-A3DD82BC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Bagaimana</a:t>
            </a:r>
            <a:r>
              <a:rPr lang="en-ID" b="1" dirty="0"/>
              <a:t> </a:t>
            </a:r>
            <a:r>
              <a:rPr lang="en-ID" b="1" dirty="0" err="1"/>
              <a:t>dengan</a:t>
            </a:r>
            <a:r>
              <a:rPr lang="en-ID" b="1" dirty="0"/>
              <a:t> Skema yang </a:t>
            </a:r>
            <a:r>
              <a:rPr lang="en-ID" b="1" dirty="0" err="1"/>
              <a:t>Lebih</a:t>
            </a:r>
            <a:r>
              <a:rPr lang="en-ID" b="1" dirty="0"/>
              <a:t> Kecil?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7382B-7B52-8D55-EF25-91827856A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983057"/>
          </a:xfrm>
        </p:spPr>
        <p:txBody>
          <a:bodyPr/>
          <a:lstStyle/>
          <a:p>
            <a:r>
              <a:rPr lang="en-ID" sz="1400" dirty="0" err="1"/>
              <a:t>Andaikata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memulai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inst_dept</a:t>
            </a:r>
            <a:r>
              <a:rPr lang="en-ID" sz="1400" dirty="0"/>
              <a:t>.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mengetahui</a:t>
            </a:r>
            <a:r>
              <a:rPr lang="en-ID" sz="1400" dirty="0"/>
              <a:t> </a:t>
            </a:r>
            <a:r>
              <a:rPr lang="en-ID" sz="1400" dirty="0" err="1"/>
              <a:t>cara</a:t>
            </a:r>
            <a:r>
              <a:rPr lang="en-ID" sz="1400" dirty="0"/>
              <a:t> </a:t>
            </a:r>
            <a:r>
              <a:rPr lang="en-ID" sz="1400" dirty="0" err="1"/>
              <a:t>memecah</a:t>
            </a:r>
            <a:r>
              <a:rPr lang="en-ID" sz="1400" dirty="0"/>
              <a:t> (</a:t>
            </a:r>
            <a:r>
              <a:rPr lang="en-ID" sz="1400" dirty="0" err="1"/>
              <a:t>mendekomposisi</a:t>
            </a:r>
            <a:r>
              <a:rPr lang="en-ID" sz="1400" dirty="0"/>
              <a:t>)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instructor</a:t>
            </a:r>
            <a:r>
              <a:rPr lang="en-ID" sz="1400" dirty="0"/>
              <a:t> dan </a:t>
            </a:r>
            <a:r>
              <a:rPr lang="en-ID" sz="1400" b="1" i="1" dirty="0">
                <a:solidFill>
                  <a:srgbClr val="FFC000"/>
                </a:solidFill>
              </a:rPr>
              <a:t>department</a:t>
            </a:r>
            <a:r>
              <a:rPr lang="en-ID" sz="1400" dirty="0"/>
              <a:t>?</a:t>
            </a:r>
          </a:p>
          <a:p>
            <a:r>
              <a:rPr lang="en-ID" sz="1400" dirty="0" err="1"/>
              <a:t>Buatlah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: "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(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b="1" i="1" dirty="0">
                <a:solidFill>
                  <a:srgbClr val="FFC000"/>
                </a:solidFill>
              </a:rPr>
              <a:t>, building, budget</a:t>
            </a:r>
            <a:r>
              <a:rPr lang="en-ID" sz="1400" dirty="0"/>
              <a:t>), </a:t>
            </a:r>
            <a:r>
              <a:rPr lang="en-ID" sz="1400" dirty="0" err="1"/>
              <a:t>maka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candidate key</a:t>
            </a:r>
            <a:r>
              <a:rPr lang="en-ID" sz="1400" dirty="0"/>
              <a:t> (</a:t>
            </a:r>
            <a:r>
              <a:rPr lang="en-ID" sz="1400" dirty="0" err="1"/>
              <a:t>kunci</a:t>
            </a:r>
            <a:r>
              <a:rPr lang="en-ID" sz="1400" dirty="0"/>
              <a:t> </a:t>
            </a:r>
            <a:r>
              <a:rPr lang="en-ID" sz="1400" dirty="0" err="1"/>
              <a:t>kandidat</a:t>
            </a:r>
            <a:r>
              <a:rPr lang="en-ID" sz="1400" dirty="0"/>
              <a:t>)."</a:t>
            </a:r>
          </a:p>
          <a:p>
            <a:r>
              <a:rPr lang="en-ID" sz="1400" dirty="0" err="1"/>
              <a:t>Dinotasikan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functional dependency</a:t>
            </a:r>
            <a:r>
              <a:rPr lang="en-ID" sz="1400" dirty="0"/>
              <a:t>):</a:t>
            </a:r>
          </a:p>
          <a:p>
            <a:pPr lvl="1"/>
            <a:r>
              <a:rPr lang="en-US" sz="1400" b="1" i="1" dirty="0" err="1">
                <a:solidFill>
                  <a:srgbClr val="FFC000"/>
                </a:solidFill>
              </a:rPr>
              <a:t>dept_name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building, budget</a:t>
            </a:r>
            <a:endParaRPr lang="en-ID" sz="1400" b="1" dirty="0">
              <a:solidFill>
                <a:srgbClr val="FFC000"/>
              </a:solidFill>
            </a:endParaRPr>
          </a:p>
          <a:p>
            <a:r>
              <a:rPr lang="en-ID" sz="1400" dirty="0"/>
              <a:t>Dalam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inst_dept</a:t>
            </a:r>
            <a:r>
              <a:rPr lang="en-ID" sz="1400" dirty="0"/>
              <a:t>,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b="1" i="1" dirty="0" err="1">
                <a:solidFill>
                  <a:srgbClr val="FFC000"/>
                </a:solidFill>
              </a:rPr>
              <a:t>dept_name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0000"/>
                </a:solidFill>
              </a:rPr>
              <a:t>bukan</a:t>
            </a:r>
            <a:r>
              <a:rPr lang="en-ID" sz="1400" dirty="0"/>
              <a:t> </a:t>
            </a:r>
            <a:r>
              <a:rPr lang="en-ID" sz="1400" dirty="0" err="1"/>
              <a:t>merupakan</a:t>
            </a:r>
            <a:r>
              <a:rPr lang="en-ID" sz="1400" dirty="0"/>
              <a:t> </a:t>
            </a:r>
            <a:r>
              <a:rPr lang="en-ID" sz="1400" b="1" i="1" dirty="0">
                <a:solidFill>
                  <a:srgbClr val="FFC000"/>
                </a:solidFill>
              </a:rPr>
              <a:t>candidate key</a:t>
            </a:r>
            <a:r>
              <a:rPr lang="en-ID" sz="1400" dirty="0"/>
              <a:t>, </a:t>
            </a:r>
            <a:r>
              <a:rPr lang="en-ID" sz="1400" dirty="0" err="1"/>
              <a:t>maka</a:t>
            </a:r>
            <a:r>
              <a:rPr lang="en-ID" sz="1400" dirty="0"/>
              <a:t> data </a:t>
            </a:r>
            <a:r>
              <a:rPr lang="en-ID" sz="1400" dirty="0" err="1"/>
              <a:t>gedung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building</a:t>
            </a:r>
            <a:r>
              <a:rPr lang="en-ID" sz="1400" dirty="0"/>
              <a:t>) dan </a:t>
            </a:r>
            <a:r>
              <a:rPr lang="en-ID" sz="1400" dirty="0" err="1"/>
              <a:t>anggaran</a:t>
            </a:r>
            <a:r>
              <a:rPr lang="en-ID" sz="1400" dirty="0"/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budget</a:t>
            </a:r>
            <a:r>
              <a:rPr lang="en-ID" sz="1400" dirty="0"/>
              <a:t>) </a:t>
            </a:r>
            <a:r>
              <a:rPr lang="en-ID" sz="1400" dirty="0" err="1"/>
              <a:t>suatu</a:t>
            </a:r>
            <a:r>
              <a:rPr lang="en-ID" sz="1400" dirty="0"/>
              <a:t> </a:t>
            </a:r>
            <a:r>
              <a:rPr lang="en-ID" sz="1400" dirty="0" err="1"/>
              <a:t>departemen</a:t>
            </a:r>
            <a:r>
              <a:rPr lang="en-ID" sz="1400" dirty="0"/>
              <a:t> </a:t>
            </a:r>
            <a:r>
              <a:rPr lang="en-ID" sz="1400" dirty="0" err="1"/>
              <a:t>mungkin</a:t>
            </a:r>
            <a:r>
              <a:rPr lang="en-ID" sz="1400" dirty="0"/>
              <a:t> </a:t>
            </a:r>
            <a:r>
              <a:rPr lang="en-ID" sz="1400" dirty="0" err="1"/>
              <a:t>harus</a:t>
            </a:r>
            <a:r>
              <a:rPr lang="en-ID" sz="1400" dirty="0"/>
              <a:t> </a:t>
            </a:r>
            <a:r>
              <a:rPr lang="en-ID" sz="1400" dirty="0" err="1"/>
              <a:t>dituliskan</a:t>
            </a:r>
            <a:r>
              <a:rPr lang="en-ID" sz="1400" dirty="0"/>
              <a:t> </a:t>
            </a:r>
            <a:r>
              <a:rPr lang="en-ID" sz="1400" dirty="0" err="1"/>
              <a:t>berulang</a:t>
            </a:r>
            <a:r>
              <a:rPr lang="en-ID" sz="1400" dirty="0"/>
              <a:t> kali.</a:t>
            </a:r>
          </a:p>
          <a:p>
            <a:pPr lvl="1"/>
            <a:r>
              <a:rPr lang="en-ID" sz="1400" dirty="0"/>
              <a:t>Hal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mengindikasikan</a:t>
            </a:r>
            <a:r>
              <a:rPr lang="en-ID" sz="1400" dirty="0"/>
              <a:t> </a:t>
            </a:r>
            <a:r>
              <a:rPr lang="en-ID" sz="1400" dirty="0" err="1"/>
              <a:t>perlunya</a:t>
            </a:r>
            <a:r>
              <a:rPr lang="en-ID" sz="1400" dirty="0"/>
              <a:t> </a:t>
            </a:r>
            <a:r>
              <a:rPr lang="en-ID" sz="1400" dirty="0" err="1"/>
              <a:t>dilakukan</a:t>
            </a:r>
            <a:r>
              <a:rPr lang="en-ID" sz="1400" dirty="0"/>
              <a:t> </a:t>
            </a:r>
            <a:r>
              <a:rPr lang="en-ID" sz="1400" dirty="0" err="1">
                <a:solidFill>
                  <a:srgbClr val="FFC000"/>
                </a:solidFill>
              </a:rPr>
              <a:t>dekomposisi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</a:t>
            </a:r>
            <a:r>
              <a:rPr lang="en-ID" sz="1400" dirty="0" err="1"/>
              <a:t>skema</a:t>
            </a:r>
            <a:r>
              <a:rPr lang="en-ID" sz="1400" dirty="0"/>
              <a:t> </a:t>
            </a:r>
            <a:r>
              <a:rPr lang="en-ID" sz="1400" i="1" dirty="0" err="1">
                <a:solidFill>
                  <a:srgbClr val="FFC000"/>
                </a:solidFill>
              </a:rPr>
              <a:t>inst_dept</a:t>
            </a:r>
            <a:r>
              <a:rPr lang="en-ID" sz="1400" dirty="0"/>
              <a:t>.</a:t>
            </a:r>
          </a:p>
          <a:p>
            <a:r>
              <a:rPr lang="en-ID" sz="1400" b="1" dirty="0">
                <a:solidFill>
                  <a:srgbClr val="FF0000"/>
                </a:solidFill>
              </a:rPr>
              <a:t>Tidak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dirty="0" err="1"/>
              <a:t>baik</a:t>
            </a:r>
            <a:r>
              <a:rPr lang="en-ID" sz="1400" dirty="0"/>
              <a:t>. </a:t>
            </a:r>
            <a:r>
              <a:rPr lang="en-ID" sz="1400" dirty="0" err="1"/>
              <a:t>Andaikan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mendekomposisi</a:t>
            </a:r>
            <a:r>
              <a:rPr lang="en-ID" sz="1400" dirty="0"/>
              <a:t> </a:t>
            </a:r>
            <a:r>
              <a:rPr lang="en-ID" sz="1400" i="1" dirty="0"/>
              <a:t>employee(ID, name, street, city, salary)</a:t>
            </a:r>
            <a:r>
              <a:rPr lang="en-ID" sz="1400" dirty="0"/>
              <a:t> </a:t>
            </a:r>
            <a:r>
              <a:rPr lang="en-ID" sz="1400" dirty="0" err="1"/>
              <a:t>menjadi</a:t>
            </a:r>
            <a:r>
              <a:rPr lang="en-ID" sz="1400" dirty="0"/>
              <a:t>:</a:t>
            </a:r>
          </a:p>
          <a:p>
            <a:pPr lvl="1"/>
            <a:r>
              <a:rPr lang="en-ID" sz="1400" i="1" dirty="0"/>
              <a:t>employee1 (ID, name)</a:t>
            </a:r>
            <a:endParaRPr lang="en-ID" sz="1400" dirty="0"/>
          </a:p>
          <a:p>
            <a:pPr lvl="1"/>
            <a:r>
              <a:rPr lang="en-ID" sz="1400" i="1" dirty="0"/>
              <a:t>employee2 (name, street, city, salary)</a:t>
            </a:r>
            <a:endParaRPr lang="en-ID" sz="1400" dirty="0"/>
          </a:p>
          <a:p>
            <a:r>
              <a:rPr lang="en-ID" sz="1400" dirty="0"/>
              <a:t>Slide </a:t>
            </a:r>
            <a:r>
              <a:rPr lang="en-ID" sz="1400" dirty="0" err="1"/>
              <a:t>berikutnya</a:t>
            </a:r>
            <a:r>
              <a:rPr lang="en-ID" sz="1400" dirty="0"/>
              <a:t>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menunjukkan</a:t>
            </a:r>
            <a:r>
              <a:rPr lang="en-ID" sz="1400" dirty="0"/>
              <a:t> </a:t>
            </a:r>
            <a:r>
              <a:rPr lang="en-ID" sz="1400" dirty="0" err="1"/>
              <a:t>bagaimana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kehilangan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 —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tidak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merekonstruksi</a:t>
            </a:r>
            <a:r>
              <a:rPr lang="en-ID" sz="1400" dirty="0"/>
              <a:t> </a:t>
            </a:r>
            <a:r>
              <a:rPr lang="en-ID" sz="1400" dirty="0" err="1"/>
              <a:t>relasi</a:t>
            </a:r>
            <a:r>
              <a:rPr lang="en-ID" sz="1400" dirty="0"/>
              <a:t> </a:t>
            </a:r>
            <a:r>
              <a:rPr lang="en-ID" sz="1400" i="1" dirty="0"/>
              <a:t>employee</a:t>
            </a:r>
            <a:r>
              <a:rPr lang="en-ID" sz="1400" dirty="0"/>
              <a:t> yang </a:t>
            </a:r>
            <a:r>
              <a:rPr lang="en-ID" sz="1400" dirty="0" err="1"/>
              <a:t>asli</a:t>
            </a:r>
            <a:r>
              <a:rPr lang="en-ID" sz="1400" dirty="0"/>
              <a:t> — </a:t>
            </a:r>
            <a:r>
              <a:rPr lang="en-ID" sz="1400" dirty="0" err="1"/>
              <a:t>sehingga</a:t>
            </a:r>
            <a:r>
              <a:rPr lang="en-ID" sz="1400" dirty="0"/>
              <a:t> </a:t>
            </a:r>
            <a:r>
              <a:rPr lang="en-ID" sz="1400" dirty="0" err="1"/>
              <a:t>dekomposisi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 </a:t>
            </a:r>
            <a:r>
              <a:rPr lang="en-ID" sz="1400" dirty="0" err="1"/>
              <a:t>disebut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i="1" dirty="0"/>
              <a:t>lossy decomposition</a:t>
            </a:r>
            <a:r>
              <a:rPr lang="en-ID" sz="1400" dirty="0"/>
              <a:t> (</a:t>
            </a:r>
            <a:r>
              <a:rPr lang="en-ID" sz="1400" dirty="0" err="1"/>
              <a:t>dekomposisi</a:t>
            </a:r>
            <a:r>
              <a:rPr lang="en-ID" sz="1400" dirty="0"/>
              <a:t> yang </a:t>
            </a:r>
            <a:r>
              <a:rPr lang="en-ID" sz="1400" dirty="0" err="1"/>
              <a:t>menyebabkan</a:t>
            </a:r>
            <a:r>
              <a:rPr lang="en-ID" sz="1400" dirty="0"/>
              <a:t> </a:t>
            </a:r>
            <a:r>
              <a:rPr lang="en-ID" sz="1400" dirty="0" err="1"/>
              <a:t>kehilangan</a:t>
            </a:r>
            <a:r>
              <a:rPr lang="en-ID" sz="1400" dirty="0"/>
              <a:t> </a:t>
            </a:r>
            <a:r>
              <a:rPr lang="en-ID" sz="1400" dirty="0" err="1"/>
              <a:t>informasi</a:t>
            </a:r>
            <a:r>
              <a:rPr lang="en-ID" sz="1400" dirty="0"/>
              <a:t>).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0534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B8A35-0C16-9EFA-F8F4-EDFC9F86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Lossy Decomposition</a:t>
            </a:r>
          </a:p>
        </p:txBody>
      </p:sp>
      <p:pic>
        <p:nvPicPr>
          <p:cNvPr id="4" name="Google Shape;149;p7" descr="8">
            <a:extLst>
              <a:ext uri="{FF2B5EF4-FFF2-40B4-BE49-F238E27FC236}">
                <a16:creationId xmlns:a16="http://schemas.microsoft.com/office/drawing/2014/main" id="{F8FAD88A-4B22-CCFF-EE83-C5675413CFB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55361" y="1017725"/>
            <a:ext cx="3833277" cy="3993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38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2798-9531-78B6-8C04-09A11FDE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>
                <a:solidFill>
                  <a:srgbClr val="FFC000"/>
                </a:solidFill>
              </a:rPr>
              <a:t>Lossless-Join Decomposition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AA6AD3-D996-700A-5342-DC1BB7793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83819"/>
          </a:xfrm>
        </p:spPr>
        <p:txBody>
          <a:bodyPr/>
          <a:lstStyle/>
          <a:p>
            <a:r>
              <a:rPr lang="en-ID" sz="1600" b="1" dirty="0" err="1"/>
              <a:t>Dekomposisi</a:t>
            </a:r>
            <a:r>
              <a:rPr lang="en-ID" sz="1600" b="1" dirty="0"/>
              <a:t> </a:t>
            </a:r>
            <a:r>
              <a:rPr lang="en-ID" sz="1600" b="1" i="1" dirty="0"/>
              <a:t>lossless join</a:t>
            </a:r>
            <a:r>
              <a:rPr lang="en-ID" sz="1600" b="1" dirty="0"/>
              <a:t> (</a:t>
            </a:r>
            <a:r>
              <a:rPr lang="en-ID" sz="1600" b="1" dirty="0" err="1"/>
              <a:t>penggabungan</a:t>
            </a:r>
            <a:r>
              <a:rPr lang="en-ID" sz="1600" b="1" dirty="0"/>
              <a:t> </a:t>
            </a:r>
            <a:r>
              <a:rPr lang="en-ID" sz="1600" b="1" dirty="0" err="1"/>
              <a:t>tanpa</a:t>
            </a:r>
            <a:r>
              <a:rPr lang="en-ID" sz="1600" b="1" dirty="0"/>
              <a:t> </a:t>
            </a:r>
            <a:r>
              <a:rPr lang="en-ID" sz="1600" b="1" dirty="0" err="1"/>
              <a:t>kehilangan</a:t>
            </a:r>
            <a:r>
              <a:rPr lang="en-ID" sz="1600" b="1" dirty="0"/>
              <a:t> data)</a:t>
            </a:r>
            <a:endParaRPr lang="en-ID" sz="1600" dirty="0"/>
          </a:p>
          <a:p>
            <a:r>
              <a:rPr lang="en-ID" sz="1600" b="1" dirty="0" err="1"/>
              <a:t>Dekomposisi</a:t>
            </a:r>
            <a:r>
              <a:rPr lang="en-ID" sz="1600" b="1" dirty="0"/>
              <a:t> </a:t>
            </a:r>
            <a:r>
              <a:rPr lang="en-ID" sz="1600" b="1" dirty="0" err="1"/>
              <a:t>dari</a:t>
            </a:r>
            <a:r>
              <a:rPr lang="en-ID" sz="1600" b="1" dirty="0"/>
              <a:t>  </a:t>
            </a:r>
            <a:r>
              <a:rPr lang="en-US" sz="1600" i="1" dirty="0"/>
              <a:t>R = (A, B, C)</a:t>
            </a:r>
            <a:br>
              <a:rPr lang="en-US" sz="1600" i="1" dirty="0"/>
            </a:br>
            <a:r>
              <a:rPr lang="en-US" sz="1600" i="1" dirty="0"/>
              <a:t>	R</a:t>
            </a:r>
            <a:r>
              <a:rPr lang="en-US" sz="1600" i="1" baseline="-25000" dirty="0"/>
              <a:t>1</a:t>
            </a:r>
            <a:r>
              <a:rPr lang="en-US" sz="1600" i="1" dirty="0"/>
              <a:t> = (A, B)	R</a:t>
            </a:r>
            <a:r>
              <a:rPr lang="en-US" sz="1600" baseline="-25000" dirty="0"/>
              <a:t>2</a:t>
            </a:r>
            <a:r>
              <a:rPr lang="en-US" sz="1600" i="1" dirty="0"/>
              <a:t> = (B, C)</a:t>
            </a:r>
            <a:endParaRPr lang="en-US" sz="1600" dirty="0"/>
          </a:p>
          <a:p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588947-E0C8-3145-9F9C-0A8CDBCD6F58}"/>
              </a:ext>
            </a:extLst>
          </p:cNvPr>
          <p:cNvGrpSpPr/>
          <p:nvPr/>
        </p:nvGrpSpPr>
        <p:grpSpPr>
          <a:xfrm>
            <a:off x="1967835" y="1973239"/>
            <a:ext cx="5208329" cy="2492435"/>
            <a:chOff x="914400" y="1980328"/>
            <a:chExt cx="5988050" cy="2833688"/>
          </a:xfrm>
        </p:grpSpPr>
        <p:sp>
          <p:nvSpPr>
            <p:cNvPr id="4" name="Google Shape;160;p8">
              <a:extLst>
                <a:ext uri="{FF2B5EF4-FFF2-40B4-BE49-F238E27FC236}">
                  <a16:creationId xmlns:a16="http://schemas.microsoft.com/office/drawing/2014/main" id="{0ED25141-F4D7-D4C0-A6B7-E588A5289F27}"/>
                </a:ext>
              </a:extLst>
            </p:cNvPr>
            <p:cNvSpPr/>
            <p:nvPr/>
          </p:nvSpPr>
          <p:spPr>
            <a:xfrm>
              <a:off x="2057400" y="19803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dirty="0"/>
            </a:p>
          </p:txBody>
        </p:sp>
        <p:sp>
          <p:nvSpPr>
            <p:cNvPr id="5" name="Google Shape;161;p8">
              <a:extLst>
                <a:ext uri="{FF2B5EF4-FFF2-40B4-BE49-F238E27FC236}">
                  <a16:creationId xmlns:a16="http://schemas.microsoft.com/office/drawing/2014/main" id="{49FCD4F3-FE62-4EC6-C422-4DC2B7BCBBF1}"/>
                </a:ext>
              </a:extLst>
            </p:cNvPr>
            <p:cNvSpPr/>
            <p:nvPr/>
          </p:nvSpPr>
          <p:spPr>
            <a:xfrm>
              <a:off x="2438400" y="19803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6" name="Google Shape;162;p8">
              <a:extLst>
                <a:ext uri="{FF2B5EF4-FFF2-40B4-BE49-F238E27FC236}">
                  <a16:creationId xmlns:a16="http://schemas.microsoft.com/office/drawing/2014/main" id="{B793A28B-0E5C-CC66-57C2-6D205AF4F168}"/>
                </a:ext>
              </a:extLst>
            </p:cNvPr>
            <p:cNvSpPr/>
            <p:nvPr/>
          </p:nvSpPr>
          <p:spPr>
            <a:xfrm>
              <a:off x="2057400" y="2437528"/>
              <a:ext cx="381000" cy="61753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163;p8">
              <a:extLst>
                <a:ext uri="{FF2B5EF4-FFF2-40B4-BE49-F238E27FC236}">
                  <a16:creationId xmlns:a16="http://schemas.microsoft.com/office/drawing/2014/main" id="{E0541EB5-2352-B8C4-5A84-F62107066F66}"/>
                </a:ext>
              </a:extLst>
            </p:cNvPr>
            <p:cNvSpPr/>
            <p:nvPr/>
          </p:nvSpPr>
          <p:spPr>
            <a:xfrm>
              <a:off x="2438400" y="2437528"/>
              <a:ext cx="381000" cy="61753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164;p8">
              <a:extLst>
                <a:ext uri="{FF2B5EF4-FFF2-40B4-BE49-F238E27FC236}">
                  <a16:creationId xmlns:a16="http://schemas.microsoft.com/office/drawing/2014/main" id="{34E4D1AD-501A-C3BE-DA1A-5829E4EB7A1B}"/>
                </a:ext>
              </a:extLst>
            </p:cNvPr>
            <p:cNvSpPr/>
            <p:nvPr/>
          </p:nvSpPr>
          <p:spPr>
            <a:xfrm>
              <a:off x="3810000" y="19803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9" name="Google Shape;165;p8">
              <a:extLst>
                <a:ext uri="{FF2B5EF4-FFF2-40B4-BE49-F238E27FC236}">
                  <a16:creationId xmlns:a16="http://schemas.microsoft.com/office/drawing/2014/main" id="{0C13F764-2DEA-04B0-304E-5A5E913130BB}"/>
                </a:ext>
              </a:extLst>
            </p:cNvPr>
            <p:cNvSpPr/>
            <p:nvPr/>
          </p:nvSpPr>
          <p:spPr>
            <a:xfrm>
              <a:off x="3810000" y="2437528"/>
              <a:ext cx="381000" cy="685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/>
            </a:p>
          </p:txBody>
        </p:sp>
        <p:sp>
          <p:nvSpPr>
            <p:cNvPr id="10" name="Google Shape;166;p8">
              <a:extLst>
                <a:ext uri="{FF2B5EF4-FFF2-40B4-BE49-F238E27FC236}">
                  <a16:creationId xmlns:a16="http://schemas.microsoft.com/office/drawing/2014/main" id="{91A04A50-2B10-44CA-0BA8-5BB8AEB1D639}"/>
                </a:ext>
              </a:extLst>
            </p:cNvPr>
            <p:cNvSpPr/>
            <p:nvPr/>
          </p:nvSpPr>
          <p:spPr>
            <a:xfrm>
              <a:off x="5638800" y="1980328"/>
              <a:ext cx="6096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1" name="Google Shape;167;p8">
              <a:extLst>
                <a:ext uri="{FF2B5EF4-FFF2-40B4-BE49-F238E27FC236}">
                  <a16:creationId xmlns:a16="http://schemas.microsoft.com/office/drawing/2014/main" id="{02576A37-B897-4FC3-0774-31C7EEE3C7AD}"/>
                </a:ext>
              </a:extLst>
            </p:cNvPr>
            <p:cNvSpPr/>
            <p:nvPr/>
          </p:nvSpPr>
          <p:spPr>
            <a:xfrm>
              <a:off x="5638800" y="2437528"/>
              <a:ext cx="609600" cy="685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" name="Google Shape;168;p8">
              <a:extLst>
                <a:ext uri="{FF2B5EF4-FFF2-40B4-BE49-F238E27FC236}">
                  <a16:creationId xmlns:a16="http://schemas.microsoft.com/office/drawing/2014/main" id="{C818F917-7233-D8ED-B0B6-52CD500FB946}"/>
                </a:ext>
              </a:extLst>
            </p:cNvPr>
            <p:cNvSpPr txBox="1"/>
            <p:nvPr/>
          </p:nvSpPr>
          <p:spPr>
            <a:xfrm>
              <a:off x="2505075" y="3113803"/>
              <a:ext cx="2603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  <p:sp>
          <p:nvSpPr>
            <p:cNvPr id="13" name="Google Shape;169;p8">
              <a:extLst>
                <a:ext uri="{FF2B5EF4-FFF2-40B4-BE49-F238E27FC236}">
                  <a16:creationId xmlns:a16="http://schemas.microsoft.com/office/drawing/2014/main" id="{5D7064CD-FFEB-C55D-FB28-F13E13A901FF}"/>
                </a:ext>
              </a:extLst>
            </p:cNvPr>
            <p:cNvSpPr txBox="1"/>
            <p:nvPr/>
          </p:nvSpPr>
          <p:spPr>
            <a:xfrm>
              <a:off x="5861050" y="3123328"/>
              <a:ext cx="10414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∏</a:t>
              </a:r>
              <a:r>
                <a:rPr lang="en-US" sz="1800" b="0" i="1" u="none" strike="noStrike" cap="none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B,C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14" name="Google Shape;170;p8">
              <a:extLst>
                <a:ext uri="{FF2B5EF4-FFF2-40B4-BE49-F238E27FC236}">
                  <a16:creationId xmlns:a16="http://schemas.microsoft.com/office/drawing/2014/main" id="{FCC06A8D-3276-9466-6E27-01B27EB1D5E0}"/>
                </a:ext>
              </a:extLst>
            </p:cNvPr>
            <p:cNvSpPr/>
            <p:nvPr/>
          </p:nvSpPr>
          <p:spPr>
            <a:xfrm>
              <a:off x="914400" y="3856753"/>
              <a:ext cx="2514600" cy="866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342900" marR="0" lvl="0" indent="-342900" algn="l" rtl="0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∏</a:t>
              </a:r>
              <a:r>
                <a:rPr lang="en-US" sz="2000" b="0" i="0" u="none" strike="noStrike" cap="none" baseline="-250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(r</a:t>
              </a:r>
              <a:r>
                <a:rPr lang="en-US" sz="2000" b="0" i="0" u="none" strike="noStrike" cap="none" dirty="0">
                  <a:solidFill>
                    <a:schemeClr val="tx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  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∏</a:t>
              </a:r>
              <a:r>
                <a:rPr lang="en-US" sz="2000" b="0" i="0" u="none" strike="noStrike" cap="none" baseline="-25000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r>
                <a:rPr lang="en-US" sz="20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(r)</a:t>
              </a:r>
              <a:endParaRPr dirty="0"/>
            </a:p>
          </p:txBody>
        </p:sp>
        <p:sp>
          <p:nvSpPr>
            <p:cNvPr id="15" name="Google Shape;171;p8">
              <a:extLst>
                <a:ext uri="{FF2B5EF4-FFF2-40B4-BE49-F238E27FC236}">
                  <a16:creationId xmlns:a16="http://schemas.microsoft.com/office/drawing/2014/main" id="{2857EA76-DB59-8404-53A9-4675F44BEF3F}"/>
                </a:ext>
              </a:extLst>
            </p:cNvPr>
            <p:cNvSpPr/>
            <p:nvPr/>
          </p:nvSpPr>
          <p:spPr>
            <a:xfrm>
              <a:off x="3581400" y="3732928"/>
              <a:ext cx="4572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6" name="Google Shape;172;p8">
              <a:extLst>
                <a:ext uri="{FF2B5EF4-FFF2-40B4-BE49-F238E27FC236}">
                  <a16:creationId xmlns:a16="http://schemas.microsoft.com/office/drawing/2014/main" id="{C7B9DD91-8DAA-DCAC-D52D-CC2D824EF90C}"/>
                </a:ext>
              </a:extLst>
            </p:cNvPr>
            <p:cNvSpPr/>
            <p:nvPr/>
          </p:nvSpPr>
          <p:spPr>
            <a:xfrm>
              <a:off x="4038600" y="37329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7" name="Google Shape;173;p8">
              <a:extLst>
                <a:ext uri="{FF2B5EF4-FFF2-40B4-BE49-F238E27FC236}">
                  <a16:creationId xmlns:a16="http://schemas.microsoft.com/office/drawing/2014/main" id="{C936BF4F-4283-19FC-F065-B3E81986F08C}"/>
                </a:ext>
              </a:extLst>
            </p:cNvPr>
            <p:cNvSpPr/>
            <p:nvPr/>
          </p:nvSpPr>
          <p:spPr>
            <a:xfrm>
              <a:off x="3581400" y="4190128"/>
              <a:ext cx="457200" cy="62388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α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1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β</a:t>
              </a:r>
              <a:endParaRPr/>
            </a:p>
          </p:txBody>
        </p:sp>
        <p:sp>
          <p:nvSpPr>
            <p:cNvPr id="18" name="Google Shape;174;p8">
              <a:extLst>
                <a:ext uri="{FF2B5EF4-FFF2-40B4-BE49-F238E27FC236}">
                  <a16:creationId xmlns:a16="http://schemas.microsoft.com/office/drawing/2014/main" id="{3FD03DBA-91F3-AE5C-EA9E-5245ADF442F6}"/>
                </a:ext>
              </a:extLst>
            </p:cNvPr>
            <p:cNvSpPr/>
            <p:nvPr/>
          </p:nvSpPr>
          <p:spPr>
            <a:xfrm>
              <a:off x="4038600" y="4190128"/>
              <a:ext cx="381000" cy="62388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75;p8">
              <a:extLst>
                <a:ext uri="{FF2B5EF4-FFF2-40B4-BE49-F238E27FC236}">
                  <a16:creationId xmlns:a16="http://schemas.microsoft.com/office/drawing/2014/main" id="{33FF5BC2-2963-2376-205D-1F1E7474EBDF}"/>
                </a:ext>
              </a:extLst>
            </p:cNvPr>
            <p:cNvSpPr/>
            <p:nvPr/>
          </p:nvSpPr>
          <p:spPr>
            <a:xfrm>
              <a:off x="1836320" y="4004321"/>
              <a:ext cx="221081" cy="253633"/>
            </a:xfrm>
            <a:custGeom>
              <a:avLst/>
              <a:gdLst/>
              <a:ahLst/>
              <a:cxnLst/>
              <a:rect l="l" t="t" r="r" b="b"/>
              <a:pathLst>
                <a:path w="182" h="182" extrusionOk="0">
                  <a:moveTo>
                    <a:pt x="0" y="0"/>
                  </a:moveTo>
                  <a:lnTo>
                    <a:pt x="0" y="182"/>
                  </a:lnTo>
                  <a:lnTo>
                    <a:pt x="182" y="0"/>
                  </a:lnTo>
                  <a:lnTo>
                    <a:pt x="182" y="18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76;p8">
              <a:extLst>
                <a:ext uri="{FF2B5EF4-FFF2-40B4-BE49-F238E27FC236}">
                  <a16:creationId xmlns:a16="http://schemas.microsoft.com/office/drawing/2014/main" id="{1E0FA48C-954C-0854-600B-4539ED969A08}"/>
                </a:ext>
              </a:extLst>
            </p:cNvPr>
            <p:cNvSpPr/>
            <p:nvPr/>
          </p:nvSpPr>
          <p:spPr>
            <a:xfrm>
              <a:off x="6229350" y="1980328"/>
              <a:ext cx="6096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1" name="Google Shape;177;p8">
              <a:extLst>
                <a:ext uri="{FF2B5EF4-FFF2-40B4-BE49-F238E27FC236}">
                  <a16:creationId xmlns:a16="http://schemas.microsoft.com/office/drawing/2014/main" id="{E7648F29-BC65-61BB-D14D-FCBFB70ADAE8}"/>
                </a:ext>
              </a:extLst>
            </p:cNvPr>
            <p:cNvSpPr/>
            <p:nvPr/>
          </p:nvSpPr>
          <p:spPr>
            <a:xfrm>
              <a:off x="6229350" y="2437528"/>
              <a:ext cx="609600" cy="685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2" name="Google Shape;178;p8">
              <a:extLst>
                <a:ext uri="{FF2B5EF4-FFF2-40B4-BE49-F238E27FC236}">
                  <a16:creationId xmlns:a16="http://schemas.microsoft.com/office/drawing/2014/main" id="{4F4B822A-D7AA-A19A-3F93-F809E22748D1}"/>
                </a:ext>
              </a:extLst>
            </p:cNvPr>
            <p:cNvSpPr/>
            <p:nvPr/>
          </p:nvSpPr>
          <p:spPr>
            <a:xfrm>
              <a:off x="4191000" y="19803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23" name="Google Shape;179;p8">
              <a:extLst>
                <a:ext uri="{FF2B5EF4-FFF2-40B4-BE49-F238E27FC236}">
                  <a16:creationId xmlns:a16="http://schemas.microsoft.com/office/drawing/2014/main" id="{132B6A0A-7B6E-54E0-7BCC-17D68615AC6E}"/>
                </a:ext>
              </a:extLst>
            </p:cNvPr>
            <p:cNvSpPr/>
            <p:nvPr/>
          </p:nvSpPr>
          <p:spPr>
            <a:xfrm>
              <a:off x="4191000" y="2437528"/>
              <a:ext cx="381000" cy="6858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4" name="Google Shape;180;p8">
              <a:extLst>
                <a:ext uri="{FF2B5EF4-FFF2-40B4-BE49-F238E27FC236}">
                  <a16:creationId xmlns:a16="http://schemas.microsoft.com/office/drawing/2014/main" id="{073695CA-D026-B5E2-C9F4-47084D287D84}"/>
                </a:ext>
              </a:extLst>
            </p:cNvPr>
            <p:cNvSpPr/>
            <p:nvPr/>
          </p:nvSpPr>
          <p:spPr>
            <a:xfrm>
              <a:off x="4419600" y="37329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5" name="Google Shape;181;p8">
              <a:extLst>
                <a:ext uri="{FF2B5EF4-FFF2-40B4-BE49-F238E27FC236}">
                  <a16:creationId xmlns:a16="http://schemas.microsoft.com/office/drawing/2014/main" id="{41C4750C-85BF-7E76-C74E-0B3ECB1F872D}"/>
                </a:ext>
              </a:extLst>
            </p:cNvPr>
            <p:cNvSpPr/>
            <p:nvPr/>
          </p:nvSpPr>
          <p:spPr>
            <a:xfrm>
              <a:off x="4419600" y="4190128"/>
              <a:ext cx="381000" cy="62388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182;p8">
              <a:extLst>
                <a:ext uri="{FF2B5EF4-FFF2-40B4-BE49-F238E27FC236}">
                  <a16:creationId xmlns:a16="http://schemas.microsoft.com/office/drawing/2014/main" id="{A8A90EDA-4EB9-5E63-1DD4-29F6890F4AC3}"/>
                </a:ext>
              </a:extLst>
            </p:cNvPr>
            <p:cNvSpPr/>
            <p:nvPr/>
          </p:nvSpPr>
          <p:spPr>
            <a:xfrm>
              <a:off x="2819400" y="1980328"/>
              <a:ext cx="381000" cy="3810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27" name="Google Shape;183;p8">
              <a:extLst>
                <a:ext uri="{FF2B5EF4-FFF2-40B4-BE49-F238E27FC236}">
                  <a16:creationId xmlns:a16="http://schemas.microsoft.com/office/drawing/2014/main" id="{3B286155-C1E0-ED96-9D16-88CD6A0D28CE}"/>
                </a:ext>
              </a:extLst>
            </p:cNvPr>
            <p:cNvSpPr/>
            <p:nvPr/>
          </p:nvSpPr>
          <p:spPr>
            <a:xfrm>
              <a:off x="2819400" y="2437528"/>
              <a:ext cx="381000" cy="617538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184;p8">
              <a:extLst>
                <a:ext uri="{FF2B5EF4-FFF2-40B4-BE49-F238E27FC236}">
                  <a16:creationId xmlns:a16="http://schemas.microsoft.com/office/drawing/2014/main" id="{CCD555ED-70C4-F13E-D880-FC0C1696F6B9}"/>
                </a:ext>
              </a:extLst>
            </p:cNvPr>
            <p:cNvSpPr txBox="1"/>
            <p:nvPr/>
          </p:nvSpPr>
          <p:spPr>
            <a:xfrm>
              <a:off x="3578225" y="3132853"/>
              <a:ext cx="1296988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∏</a:t>
              </a:r>
              <a:r>
                <a:rPr lang="en-US" sz="1800" i="1" baseline="-25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A,B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800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28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C1465-FCA2-CA31-5904-296D8ED8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 </a:t>
            </a:r>
            <a:r>
              <a:rPr lang="en-US" dirty="0"/>
              <a:t>normal form</a:t>
            </a:r>
            <a:endParaRPr lang="en-US" baseline="30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328E1-73BC-A863-11E7-F2264730F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05922"/>
          </a:xfrm>
        </p:spPr>
        <p:txBody>
          <a:bodyPr/>
          <a:lstStyle/>
          <a:p>
            <a:r>
              <a:rPr lang="en-ID" sz="1800" dirty="0"/>
              <a:t>Domain </a:t>
            </a: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dirty="0" err="1"/>
              <a:t>atomik</a:t>
            </a:r>
            <a:r>
              <a:rPr lang="en-ID" sz="1800" dirty="0"/>
              <a:t> </a:t>
            </a:r>
            <a:r>
              <a:rPr lang="en-ID" sz="1800" dirty="0" err="1"/>
              <a:t>jika</a:t>
            </a:r>
            <a:r>
              <a:rPr lang="en-ID" sz="1800" dirty="0"/>
              <a:t> </a:t>
            </a:r>
            <a:r>
              <a:rPr lang="en-ID" sz="1800" dirty="0" err="1"/>
              <a:t>elemen-elemen</a:t>
            </a:r>
            <a:r>
              <a:rPr lang="en-ID" sz="1800" dirty="0"/>
              <a:t> di </a:t>
            </a:r>
            <a:r>
              <a:rPr lang="en-ID" sz="1800" dirty="0" err="1"/>
              <a:t>dalamnya</a:t>
            </a:r>
            <a:r>
              <a:rPr lang="en-ID" sz="1800" dirty="0"/>
              <a:t> </a:t>
            </a:r>
            <a:r>
              <a:rPr lang="en-ID" sz="1800" dirty="0" err="1"/>
              <a:t>dianggap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unit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dibagi</a:t>
            </a:r>
            <a:r>
              <a:rPr lang="en-ID" sz="1800" dirty="0"/>
              <a:t> </a:t>
            </a:r>
            <a:r>
              <a:rPr lang="en-ID" sz="1800" dirty="0" err="1"/>
              <a:t>lagi</a:t>
            </a:r>
            <a:r>
              <a:rPr lang="en-ID" sz="1800" dirty="0"/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indivisible units</a:t>
            </a:r>
            <a:r>
              <a:rPr lang="en-ID" sz="1800" dirty="0"/>
              <a:t>).</a:t>
            </a:r>
          </a:p>
          <a:p>
            <a:pPr lvl="1"/>
            <a:r>
              <a:rPr lang="en-ID" sz="1600" dirty="0" err="1"/>
              <a:t>Contoh</a:t>
            </a:r>
            <a:r>
              <a:rPr lang="en-ID" sz="1600" dirty="0"/>
              <a:t> domain non-</a:t>
            </a:r>
            <a:r>
              <a:rPr lang="en-ID" sz="1600" dirty="0" err="1"/>
              <a:t>atomik</a:t>
            </a:r>
            <a:r>
              <a:rPr lang="en-ID" sz="1600" dirty="0"/>
              <a:t>:</a:t>
            </a:r>
          </a:p>
          <a:p>
            <a:pPr lvl="2"/>
            <a:r>
              <a:rPr lang="en-ID" sz="1600" dirty="0"/>
              <a:t>Kumpulan nama,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komposit</a:t>
            </a:r>
            <a:r>
              <a:rPr lang="en-ID" sz="1600" dirty="0"/>
              <a:t>.</a:t>
            </a:r>
          </a:p>
          <a:p>
            <a:pPr lvl="2"/>
            <a:r>
              <a:rPr lang="en-ID" sz="1600" dirty="0" err="1"/>
              <a:t>Nomor</a:t>
            </a:r>
            <a:r>
              <a:rPr lang="en-ID" sz="1600" dirty="0"/>
              <a:t> </a:t>
            </a:r>
            <a:r>
              <a:rPr lang="en-ID" sz="1600" dirty="0" err="1"/>
              <a:t>identifikasi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CS101</a:t>
            </a:r>
            <a:r>
              <a:rPr lang="en-ID" sz="1600" dirty="0"/>
              <a:t>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dipecah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bagian</a:t>
            </a:r>
            <a:r>
              <a:rPr lang="en-ID" sz="1600" dirty="0"/>
              <a:t>.</a:t>
            </a:r>
            <a:endParaRPr lang="en-ID" sz="1800" dirty="0"/>
          </a:p>
          <a:p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relasional</a:t>
            </a:r>
            <a:r>
              <a:rPr lang="en-ID" sz="1800" dirty="0"/>
              <a:t> R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normal </a:t>
            </a:r>
            <a:r>
              <a:rPr lang="en-ID" sz="1800" dirty="0" err="1"/>
              <a:t>pertama</a:t>
            </a:r>
            <a:r>
              <a:rPr lang="en-ID" sz="1800" dirty="0"/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first normal form</a:t>
            </a:r>
            <a:r>
              <a:rPr lang="en-ID" sz="1800" dirty="0"/>
              <a:t>) </a:t>
            </a:r>
            <a:r>
              <a:rPr lang="en-ID" sz="1800" dirty="0" err="1"/>
              <a:t>jika</a:t>
            </a:r>
            <a:r>
              <a:rPr lang="en-ID" sz="1800" dirty="0"/>
              <a:t> domain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semua</a:t>
            </a:r>
            <a:r>
              <a:rPr lang="en-ID" sz="1800" dirty="0"/>
              <a:t> </a:t>
            </a:r>
            <a:r>
              <a:rPr lang="en-ID" sz="1800" dirty="0" err="1"/>
              <a:t>atribut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R </a:t>
            </a:r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dirty="0" err="1"/>
              <a:t>atomik</a:t>
            </a:r>
            <a:r>
              <a:rPr lang="en-ID" sz="1800" dirty="0"/>
              <a:t>.</a:t>
            </a:r>
          </a:p>
          <a:p>
            <a:r>
              <a:rPr lang="en-ID" sz="1800" dirty="0"/>
              <a:t>Nilai-</a:t>
            </a:r>
            <a:r>
              <a:rPr lang="en-ID" sz="1800" dirty="0" err="1"/>
              <a:t>nilai</a:t>
            </a:r>
            <a:r>
              <a:rPr lang="en-ID" sz="1800" dirty="0"/>
              <a:t> non-</a:t>
            </a:r>
            <a:r>
              <a:rPr lang="en-ID" sz="1800" dirty="0" err="1"/>
              <a:t>atomik</a:t>
            </a:r>
            <a:r>
              <a:rPr lang="en-ID" sz="1800" dirty="0"/>
              <a:t> </a:t>
            </a:r>
            <a:r>
              <a:rPr lang="en-ID" sz="1800" dirty="0" err="1"/>
              <a:t>mempersulit</a:t>
            </a:r>
            <a:r>
              <a:rPr lang="en-ID" sz="1800" dirty="0"/>
              <a:t> </a:t>
            </a:r>
            <a:r>
              <a:rPr lang="en-ID" sz="1800" dirty="0" err="1"/>
              <a:t>penyimpanan</a:t>
            </a:r>
            <a:r>
              <a:rPr lang="en-ID" sz="1800" dirty="0"/>
              <a:t> dan </a:t>
            </a:r>
            <a:r>
              <a:rPr lang="en-ID" sz="1800" dirty="0" err="1"/>
              <a:t>memicu</a:t>
            </a:r>
            <a:r>
              <a:rPr lang="en-ID" sz="1800" dirty="0"/>
              <a:t> </a:t>
            </a:r>
            <a:r>
              <a:rPr lang="en-ID" sz="1800" dirty="0" err="1"/>
              <a:t>redundansi</a:t>
            </a:r>
            <a:r>
              <a:rPr lang="en-ID" sz="1800" dirty="0"/>
              <a:t> (</a:t>
            </a:r>
            <a:r>
              <a:rPr lang="en-ID" sz="1800" dirty="0" err="1"/>
              <a:t>pengulangan</a:t>
            </a:r>
            <a:r>
              <a:rPr lang="en-ID" sz="1800" dirty="0"/>
              <a:t>) </a:t>
            </a:r>
            <a:r>
              <a:rPr lang="en-ID" sz="1800" dirty="0" err="1"/>
              <a:t>penyimpanan</a:t>
            </a:r>
            <a:r>
              <a:rPr lang="en-ID" sz="1800" dirty="0"/>
              <a:t> data.</a:t>
            </a:r>
          </a:p>
          <a:p>
            <a:pPr lvl="1"/>
            <a:r>
              <a:rPr lang="en-ID" sz="1600" dirty="0" err="1"/>
              <a:t>Contoh</a:t>
            </a:r>
            <a:r>
              <a:rPr lang="en-ID" sz="1600" dirty="0"/>
              <a:t>: Kumpulan </a:t>
            </a:r>
            <a:r>
              <a:rPr lang="en-ID" sz="1600" dirty="0" err="1"/>
              <a:t>akun</a:t>
            </a:r>
            <a:r>
              <a:rPr lang="en-ID" sz="1600" dirty="0"/>
              <a:t> yang </a:t>
            </a:r>
            <a:r>
              <a:rPr lang="en-ID" sz="1600" dirty="0" err="1"/>
              <a:t>disimpan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pelanggan</a:t>
            </a:r>
            <a:r>
              <a:rPr lang="en-ID" sz="1600" dirty="0"/>
              <a:t>, dan </a:t>
            </a:r>
            <a:r>
              <a:rPr lang="en-ID" sz="1600" dirty="0" err="1"/>
              <a:t>kumpulan</a:t>
            </a:r>
            <a:r>
              <a:rPr lang="en-ID" sz="1600" dirty="0"/>
              <a:t> </a:t>
            </a:r>
            <a:r>
              <a:rPr lang="en-ID" sz="1600" dirty="0" err="1"/>
              <a:t>pemilik</a:t>
            </a:r>
            <a:r>
              <a:rPr lang="en-ID" sz="1600" dirty="0"/>
              <a:t> yang </a:t>
            </a:r>
            <a:r>
              <a:rPr lang="en-ID" sz="1600" dirty="0" err="1"/>
              <a:t>disimpan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akun</a:t>
            </a:r>
            <a:r>
              <a:rPr lang="en-ID" sz="1600" dirty="0"/>
              <a:t>.</a:t>
            </a:r>
          </a:p>
          <a:p>
            <a:pPr lvl="1"/>
            <a:r>
              <a:rPr lang="en-ID" sz="1600" dirty="0"/>
              <a:t>Kita </a:t>
            </a:r>
            <a:r>
              <a:rPr lang="en-ID" sz="1600" dirty="0" err="1"/>
              <a:t>berasumsi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dirty="0" err="1"/>
              <a:t>berada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bentuk</a:t>
            </a:r>
            <a:r>
              <a:rPr lang="en-ID" sz="1600" dirty="0"/>
              <a:t> normal </a:t>
            </a:r>
            <a:r>
              <a:rPr lang="en-ID" sz="1600" dirty="0" err="1"/>
              <a:t>pertama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563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3806D-FCD6-9E6A-4949-1C1117E3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 </a:t>
            </a:r>
            <a:r>
              <a:rPr lang="en-US" dirty="0"/>
              <a:t>normal form (Continue)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B5A4F-1818-5606-5B40-D076B3A43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80984"/>
          </a:xfrm>
        </p:spPr>
        <p:txBody>
          <a:bodyPr/>
          <a:lstStyle/>
          <a:p>
            <a:pPr marL="152400" indent="0">
              <a:buNone/>
            </a:pPr>
            <a:r>
              <a:rPr lang="en-ID" sz="2000" b="1" dirty="0" err="1">
                <a:solidFill>
                  <a:srgbClr val="FFC000"/>
                </a:solidFill>
              </a:rPr>
              <a:t>Atomisitas</a:t>
            </a:r>
            <a:r>
              <a:rPr lang="en-ID" sz="2000" b="1" dirty="0"/>
              <a:t> </a:t>
            </a:r>
            <a:r>
              <a:rPr lang="en-ID" sz="2000" b="1" dirty="0" err="1"/>
              <a:t>sebenarnya</a:t>
            </a:r>
            <a:r>
              <a:rPr lang="en-ID" sz="2000" b="1" dirty="0"/>
              <a:t> </a:t>
            </a:r>
            <a:r>
              <a:rPr lang="en-ID" sz="2000" b="1" dirty="0" err="1"/>
              <a:t>merupakan</a:t>
            </a:r>
            <a:r>
              <a:rPr lang="en-ID" sz="2000" b="1" dirty="0"/>
              <a:t> </a:t>
            </a:r>
            <a:r>
              <a:rPr lang="en-ID" sz="2000" b="1" dirty="0" err="1"/>
              <a:t>properti</a:t>
            </a:r>
            <a:r>
              <a:rPr lang="en-ID" sz="2000" b="1" dirty="0"/>
              <a:t> yang </a:t>
            </a:r>
            <a:r>
              <a:rPr lang="en-ID" sz="2000" b="1" dirty="0" err="1"/>
              <a:t>bergantung</a:t>
            </a:r>
            <a:r>
              <a:rPr lang="en-ID" sz="2000" b="1" dirty="0"/>
              <a:t> pada </a:t>
            </a:r>
            <a:r>
              <a:rPr lang="en-ID" sz="2000" b="1" dirty="0" err="1"/>
              <a:t>bagaimana</a:t>
            </a:r>
            <a:r>
              <a:rPr lang="en-ID" sz="2000" b="1" dirty="0"/>
              <a:t> </a:t>
            </a:r>
            <a:r>
              <a:rPr lang="en-ID" sz="2000" b="1" dirty="0" err="1"/>
              <a:t>elemen-elemen</a:t>
            </a:r>
            <a:r>
              <a:rPr lang="en-ID" sz="2000" b="1" dirty="0"/>
              <a:t> </a:t>
            </a:r>
            <a:r>
              <a:rPr lang="en-ID" sz="2000" b="1" dirty="0" err="1"/>
              <a:t>dari</a:t>
            </a:r>
            <a:r>
              <a:rPr lang="en-ID" sz="2000" b="1" dirty="0"/>
              <a:t> </a:t>
            </a:r>
            <a:r>
              <a:rPr lang="en-ID" sz="2000" b="1" dirty="0" err="1"/>
              <a:t>suatu</a:t>
            </a:r>
            <a:r>
              <a:rPr lang="en-ID" sz="2000" b="1" dirty="0"/>
              <a:t> domain </a:t>
            </a:r>
            <a:r>
              <a:rPr lang="en-ID" sz="2000" b="1" dirty="0" err="1"/>
              <a:t>digunakan</a:t>
            </a:r>
            <a:r>
              <a:rPr lang="en-ID" sz="2000" b="1" dirty="0"/>
              <a:t>.</a:t>
            </a:r>
            <a:endParaRPr lang="en-ID" sz="2000" dirty="0"/>
          </a:p>
          <a:p>
            <a:pPr marL="622300" lvl="1" indent="-307975"/>
            <a:r>
              <a:rPr lang="en-ID" sz="1800" b="1" dirty="0" err="1"/>
              <a:t>Contoh</a:t>
            </a:r>
            <a:r>
              <a:rPr lang="en-ID" sz="1800" b="1" dirty="0"/>
              <a:t>:</a:t>
            </a:r>
            <a:r>
              <a:rPr lang="en-ID" sz="1800" dirty="0"/>
              <a:t> String </a:t>
            </a:r>
            <a:r>
              <a:rPr lang="en-ID" sz="1800" dirty="0" err="1"/>
              <a:t>biasanya</a:t>
            </a:r>
            <a:r>
              <a:rPr lang="en-ID" sz="1800" dirty="0"/>
              <a:t> </a:t>
            </a:r>
            <a:r>
              <a:rPr lang="en-ID" sz="1800" dirty="0" err="1"/>
              <a:t>dianggap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unit yang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dibagi</a:t>
            </a:r>
            <a:r>
              <a:rPr lang="en-ID" sz="1800" dirty="0"/>
              <a:t>.</a:t>
            </a:r>
          </a:p>
          <a:p>
            <a:pPr marL="622300" lvl="1" indent="-307975"/>
            <a:r>
              <a:rPr lang="en-ID" sz="1800" b="1" dirty="0" err="1"/>
              <a:t>Andaikan</a:t>
            </a:r>
            <a:r>
              <a:rPr lang="en-ID" sz="1800" b="1" dirty="0"/>
              <a:t> </a:t>
            </a:r>
            <a:r>
              <a:rPr lang="en-ID" sz="1800" b="1" dirty="0" err="1"/>
              <a:t>mahasiswa</a:t>
            </a:r>
            <a:r>
              <a:rPr lang="en-ID" sz="1800" b="1" dirty="0"/>
              <a:t> </a:t>
            </a:r>
            <a:r>
              <a:rPr lang="en-ID" sz="1800" b="1" dirty="0" err="1"/>
              <a:t>diberikan</a:t>
            </a:r>
            <a:r>
              <a:rPr lang="en-ID" sz="1800" b="1" dirty="0"/>
              <a:t> </a:t>
            </a:r>
            <a:r>
              <a:rPr lang="en-ID" sz="1800" b="1" dirty="0" err="1"/>
              <a:t>nomor</a:t>
            </a:r>
            <a:r>
              <a:rPr lang="en-ID" sz="1800" b="1" dirty="0"/>
              <a:t> </a:t>
            </a:r>
            <a:r>
              <a:rPr lang="en-ID" sz="1800" b="1" dirty="0" err="1"/>
              <a:t>induk</a:t>
            </a:r>
            <a:r>
              <a:rPr lang="en-ID" sz="1800" b="1" dirty="0"/>
              <a:t> (roll numbers) </a:t>
            </a:r>
            <a:r>
              <a:rPr lang="en-ID" sz="1800" b="1" dirty="0" err="1"/>
              <a:t>berupa</a:t>
            </a:r>
            <a:r>
              <a:rPr lang="en-ID" sz="1800" b="1" dirty="0"/>
              <a:t> string </a:t>
            </a:r>
            <a:r>
              <a:rPr lang="en-ID" sz="1800" b="1" dirty="0" err="1"/>
              <a:t>dengan</a:t>
            </a:r>
            <a:r>
              <a:rPr lang="en-ID" sz="1800" b="1" dirty="0"/>
              <a:t> format </a:t>
            </a:r>
            <a:r>
              <a:rPr lang="en-ID" sz="1800" b="1" i="1" dirty="0">
                <a:solidFill>
                  <a:srgbClr val="FFC000"/>
                </a:solidFill>
              </a:rPr>
              <a:t>CS0012</a:t>
            </a:r>
            <a:r>
              <a:rPr lang="en-ID" sz="1800" b="1" dirty="0"/>
              <a:t> </a:t>
            </a:r>
            <a:r>
              <a:rPr lang="en-ID" sz="1800" b="1" dirty="0" err="1"/>
              <a:t>atau</a:t>
            </a:r>
            <a:r>
              <a:rPr lang="en-ID" sz="1800" b="1" dirty="0"/>
              <a:t> </a:t>
            </a:r>
            <a:r>
              <a:rPr lang="en-ID" sz="1800" b="1" i="1" dirty="0">
                <a:solidFill>
                  <a:srgbClr val="FFC000"/>
                </a:solidFill>
              </a:rPr>
              <a:t>EE1127</a:t>
            </a:r>
            <a:r>
              <a:rPr lang="en-ID" sz="1800" b="1" dirty="0"/>
              <a:t>.</a:t>
            </a:r>
            <a:endParaRPr lang="en-ID" sz="1800" dirty="0"/>
          </a:p>
          <a:p>
            <a:pPr marL="622300" lvl="1" indent="-307975"/>
            <a:r>
              <a:rPr lang="en-ID" sz="1800" b="1" dirty="0"/>
              <a:t>Jika dua </a:t>
            </a:r>
            <a:r>
              <a:rPr lang="en-ID" sz="1800" b="1" dirty="0" err="1"/>
              <a:t>karakter</a:t>
            </a:r>
            <a:r>
              <a:rPr lang="en-ID" sz="1800" b="1" dirty="0"/>
              <a:t> </a:t>
            </a:r>
            <a:r>
              <a:rPr lang="en-ID" sz="1800" b="1" dirty="0" err="1"/>
              <a:t>pertama</a:t>
            </a:r>
            <a:r>
              <a:rPr lang="en-ID" sz="1800" b="1" dirty="0"/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diekstraksi</a:t>
            </a:r>
            <a:r>
              <a:rPr lang="en-ID" sz="1800" b="1" dirty="0"/>
              <a:t> </a:t>
            </a:r>
            <a:r>
              <a:rPr lang="en-ID" sz="1800" b="1" dirty="0" err="1"/>
              <a:t>untuk</a:t>
            </a:r>
            <a:r>
              <a:rPr lang="en-ID" sz="1800" b="1" dirty="0"/>
              <a:t> </a:t>
            </a:r>
            <a:r>
              <a:rPr lang="en-ID" sz="1800" b="1" dirty="0" err="1"/>
              <a:t>menentukan</a:t>
            </a:r>
            <a:r>
              <a:rPr lang="en-ID" sz="1800" b="1" dirty="0"/>
              <a:t> </a:t>
            </a:r>
            <a:r>
              <a:rPr lang="en-ID" sz="1800" b="1" dirty="0" err="1"/>
              <a:t>departemen</a:t>
            </a:r>
            <a:r>
              <a:rPr lang="en-ID" sz="1800" b="1" dirty="0"/>
              <a:t>, </a:t>
            </a:r>
            <a:r>
              <a:rPr lang="en-ID" sz="1800" b="1" dirty="0" err="1"/>
              <a:t>maka</a:t>
            </a:r>
            <a:r>
              <a:rPr lang="en-ID" sz="1800" b="1" dirty="0"/>
              <a:t> domain </a:t>
            </a:r>
            <a:r>
              <a:rPr lang="en-ID" sz="1800" b="1" dirty="0" err="1"/>
              <a:t>dari</a:t>
            </a:r>
            <a:r>
              <a:rPr lang="en-ID" sz="1800" b="1" dirty="0"/>
              <a:t> </a:t>
            </a:r>
            <a:r>
              <a:rPr lang="en-ID" sz="1800" b="1" dirty="0" err="1"/>
              <a:t>nomor</a:t>
            </a:r>
            <a:r>
              <a:rPr lang="en-ID" sz="1800" b="1" dirty="0"/>
              <a:t> </a:t>
            </a:r>
            <a:r>
              <a:rPr lang="en-ID" sz="1800" b="1" dirty="0" err="1"/>
              <a:t>induk</a:t>
            </a:r>
            <a:r>
              <a:rPr lang="en-ID" sz="1800" b="1" dirty="0"/>
              <a:t> </a:t>
            </a:r>
            <a:r>
              <a:rPr lang="en-ID" sz="1800" b="1" dirty="0" err="1"/>
              <a:t>tersebut</a:t>
            </a:r>
            <a:r>
              <a:rPr lang="en-ID" sz="1800" b="1" dirty="0"/>
              <a:t> </a:t>
            </a:r>
            <a:r>
              <a:rPr lang="en-ID" sz="1800" b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bersifat</a:t>
            </a:r>
            <a:r>
              <a:rPr lang="en-ID" sz="1800" b="1" dirty="0"/>
              <a:t> </a:t>
            </a:r>
            <a:r>
              <a:rPr lang="en-ID" sz="1800" b="1" dirty="0" err="1"/>
              <a:t>atomik</a:t>
            </a:r>
            <a:r>
              <a:rPr lang="en-ID" sz="1800" b="1" dirty="0"/>
              <a:t>.</a:t>
            </a:r>
            <a:endParaRPr lang="en-ID" sz="1800" dirty="0"/>
          </a:p>
          <a:p>
            <a:pPr marL="622300" lvl="1" indent="-307975"/>
            <a:r>
              <a:rPr lang="en-ID" sz="1800" b="1" dirty="0" err="1"/>
              <a:t>Melakukan</a:t>
            </a:r>
            <a:r>
              <a:rPr lang="en-ID" sz="1800" b="1" dirty="0"/>
              <a:t> </a:t>
            </a:r>
            <a:r>
              <a:rPr lang="en-ID" sz="1800" b="1" dirty="0" err="1"/>
              <a:t>hal</a:t>
            </a:r>
            <a:r>
              <a:rPr lang="en-ID" sz="1800" b="1" dirty="0"/>
              <a:t> </a:t>
            </a:r>
            <a:r>
              <a:rPr lang="en-ID" sz="1800" b="1" dirty="0" err="1"/>
              <a:t>tersebut</a:t>
            </a:r>
            <a:r>
              <a:rPr lang="en-ID" sz="1800" b="1" dirty="0"/>
              <a:t> </a:t>
            </a:r>
            <a:r>
              <a:rPr lang="en-ID" sz="1800" b="1" dirty="0" err="1"/>
              <a:t>merupakan</a:t>
            </a:r>
            <a:r>
              <a:rPr lang="en-ID" sz="1800" b="1" dirty="0"/>
              <a:t> </a:t>
            </a:r>
            <a:r>
              <a:rPr lang="en-ID" sz="1800" b="1" dirty="0" err="1"/>
              <a:t>tindakan</a:t>
            </a:r>
            <a:r>
              <a:rPr lang="en-ID" sz="1800" b="1" dirty="0"/>
              <a:t> yang </a:t>
            </a:r>
            <a:r>
              <a:rPr lang="en-ID" sz="1800" b="1" dirty="0" err="1"/>
              <a:t>kurang</a:t>
            </a:r>
            <a:r>
              <a:rPr lang="en-ID" sz="1800" b="1" dirty="0"/>
              <a:t> </a:t>
            </a:r>
            <a:r>
              <a:rPr lang="en-ID" sz="1800" b="1" dirty="0" err="1"/>
              <a:t>tepat</a:t>
            </a:r>
            <a:r>
              <a:rPr lang="en-ID" sz="1800" b="1" dirty="0"/>
              <a:t> </a:t>
            </a:r>
            <a:r>
              <a:rPr lang="en-ID" sz="1800" b="1" dirty="0" err="1"/>
              <a:t>karena</a:t>
            </a:r>
            <a:r>
              <a:rPr lang="en-ID" sz="1800" b="1" dirty="0"/>
              <a:t> </a:t>
            </a:r>
            <a:r>
              <a:rPr lang="en-ID" sz="1800" b="1" dirty="0" err="1"/>
              <a:t>menyebabkan</a:t>
            </a:r>
            <a:r>
              <a:rPr lang="en-ID" sz="1800" b="1" dirty="0"/>
              <a:t> </a:t>
            </a:r>
            <a:r>
              <a:rPr lang="en-ID" sz="1800" b="1" dirty="0" err="1"/>
              <a:t>terjadinya</a:t>
            </a:r>
            <a:r>
              <a:rPr lang="en-ID" sz="1800" b="1" dirty="0"/>
              <a:t> </a:t>
            </a:r>
            <a:r>
              <a:rPr lang="en-ID" sz="1800" b="1" dirty="0" err="1"/>
              <a:t>penyandian</a:t>
            </a:r>
            <a:r>
              <a:rPr lang="en-ID" sz="1800" b="1" dirty="0"/>
              <a:t> </a:t>
            </a:r>
            <a:r>
              <a:rPr lang="en-ID" sz="1800" b="1" dirty="0" err="1"/>
              <a:t>informasi</a:t>
            </a:r>
            <a:r>
              <a:rPr lang="en-ID" sz="1800" b="1" dirty="0"/>
              <a:t> (</a:t>
            </a:r>
            <a:r>
              <a:rPr lang="en-ID" sz="1800" b="1" i="1" dirty="0"/>
              <a:t>encoding of information</a:t>
            </a:r>
            <a:r>
              <a:rPr lang="en-ID" sz="1800" b="1" dirty="0"/>
              <a:t>) di </a:t>
            </a:r>
            <a:r>
              <a:rPr lang="en-ID" sz="1800" b="1" dirty="0" err="1"/>
              <a:t>dalam</a:t>
            </a:r>
            <a:r>
              <a:rPr lang="en-ID" sz="1800" b="1" dirty="0"/>
              <a:t> program </a:t>
            </a:r>
            <a:r>
              <a:rPr lang="en-ID" sz="1800" b="1" dirty="0" err="1"/>
              <a:t>aplikasi</a:t>
            </a:r>
            <a:r>
              <a:rPr lang="en-ID" sz="1800" b="1" dirty="0"/>
              <a:t>, </a:t>
            </a:r>
            <a:r>
              <a:rPr lang="en-ID" sz="1800" b="1" dirty="0" err="1"/>
              <a:t>alih-alih</a:t>
            </a:r>
            <a:r>
              <a:rPr lang="en-ID" sz="1800" b="1" dirty="0"/>
              <a:t> di </a:t>
            </a:r>
            <a:r>
              <a:rPr lang="en-ID" sz="1800" b="1" dirty="0" err="1"/>
              <a:t>dalam</a:t>
            </a:r>
            <a:r>
              <a:rPr lang="en-ID" sz="1800" b="1" dirty="0"/>
              <a:t> basis data </a:t>
            </a:r>
            <a:r>
              <a:rPr lang="en-ID" sz="1800" b="1" dirty="0" err="1"/>
              <a:t>itu</a:t>
            </a:r>
            <a:r>
              <a:rPr lang="en-ID" sz="1800" b="1" dirty="0"/>
              <a:t> </a:t>
            </a:r>
            <a:r>
              <a:rPr lang="en-ID" sz="1800" b="1" dirty="0" err="1"/>
              <a:t>sendiri</a:t>
            </a:r>
            <a:r>
              <a:rPr lang="en-ID" sz="1800" b="1" dirty="0"/>
              <a:t>.</a:t>
            </a:r>
            <a:endParaRPr lang="en-ID" sz="18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166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EE71-EBB8-37FE-0BD2-A77B830E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Tujuan(Goal) – Menyusun </a:t>
            </a:r>
            <a:r>
              <a:rPr lang="en-US" sz="2000" dirty="0" err="1"/>
              <a:t>teori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hal-hal</a:t>
            </a:r>
            <a:r>
              <a:rPr lang="en-US" sz="2000" dirty="0"/>
              <a:t> </a:t>
            </a:r>
            <a:r>
              <a:rPr lang="en-US" sz="2000" dirty="0" err="1"/>
              <a:t>berikut</a:t>
            </a:r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C2F83-F85D-2B25-156E-3F4281A08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000" b="1" dirty="0" err="1"/>
              <a:t>Menentukan</a:t>
            </a:r>
            <a:r>
              <a:rPr lang="en-ID" sz="2000" dirty="0"/>
              <a:t> </a:t>
            </a:r>
            <a:r>
              <a:rPr lang="en-ID" sz="2000" dirty="0" err="1"/>
              <a:t>apakah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R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yang "</a:t>
            </a:r>
            <a:r>
              <a:rPr lang="en-ID" sz="2000" dirty="0" err="1"/>
              <a:t>baik</a:t>
            </a:r>
            <a:r>
              <a:rPr lang="en-ID" sz="2000" dirty="0"/>
              <a:t>".</a:t>
            </a:r>
          </a:p>
          <a:p>
            <a:r>
              <a:rPr lang="en-ID" sz="2000" b="1" dirty="0"/>
              <a:t>Dalam </a:t>
            </a:r>
            <a:r>
              <a:rPr lang="en-ID" sz="2000" b="1" dirty="0" err="1"/>
              <a:t>hal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R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yang "</a:t>
            </a:r>
            <a:r>
              <a:rPr lang="en-ID" sz="2000" dirty="0" err="1"/>
              <a:t>baik</a:t>
            </a:r>
            <a:r>
              <a:rPr lang="en-ID" sz="2000" dirty="0"/>
              <a:t>", </a:t>
            </a:r>
            <a:r>
              <a:rPr lang="en-ID" sz="2000" b="1" dirty="0" err="1">
                <a:solidFill>
                  <a:srgbClr val="FFC000"/>
                </a:solidFill>
              </a:rPr>
              <a:t>dekomposisikan</a:t>
            </a:r>
            <a:r>
              <a:rPr lang="en-ID" sz="2000" dirty="0"/>
              <a:t> (</a:t>
            </a:r>
            <a:r>
              <a:rPr lang="en-ID" sz="2000" dirty="0" err="1"/>
              <a:t>pecah</a:t>
            </a:r>
            <a:r>
              <a:rPr lang="en-ID" sz="2000" dirty="0"/>
              <a:t>)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US" sz="2000" dirty="0"/>
              <a:t>{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i="1" dirty="0"/>
              <a:t>, R</a:t>
            </a:r>
            <a:r>
              <a:rPr lang="en-US" sz="2000" baseline="-25000" dirty="0"/>
              <a:t>2</a:t>
            </a:r>
            <a:r>
              <a:rPr lang="en-US" sz="2000" i="1" dirty="0"/>
              <a:t>, ..., R</a:t>
            </a:r>
            <a:r>
              <a:rPr lang="en-US" sz="2000" i="1" baseline="-25000" dirty="0"/>
              <a:t>n</a:t>
            </a:r>
            <a:r>
              <a:rPr lang="en-US" sz="2000" dirty="0"/>
              <a:t>}</a:t>
            </a:r>
            <a:r>
              <a:rPr lang="en-ID" sz="2000" dirty="0"/>
              <a:t> </a:t>
            </a:r>
            <a:r>
              <a:rPr lang="en-ID" sz="2000" dirty="0" err="1"/>
              <a:t>sedemikian</a:t>
            </a:r>
            <a:r>
              <a:rPr lang="en-ID" sz="2000" dirty="0"/>
              <a:t> </a:t>
            </a:r>
            <a:r>
              <a:rPr lang="en-ID" sz="2000" dirty="0" err="1"/>
              <a:t>rupa</a:t>
            </a:r>
            <a:r>
              <a:rPr lang="en-ID" sz="2000" dirty="0"/>
              <a:t> </a:t>
            </a:r>
            <a:r>
              <a:rPr lang="en-ID" sz="2000" dirty="0" err="1"/>
              <a:t>sehingga</a:t>
            </a:r>
            <a:r>
              <a:rPr lang="en-ID" sz="2000" dirty="0"/>
              <a:t>:</a:t>
            </a:r>
          </a:p>
          <a:p>
            <a:pPr lvl="1"/>
            <a:r>
              <a:rPr lang="en-ID" sz="2000" dirty="0" err="1"/>
              <a:t>setiap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dirty="0" err="1"/>
              <a:t>berada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yang </a:t>
            </a:r>
            <a:r>
              <a:rPr lang="en-ID" sz="2000" dirty="0" err="1"/>
              <a:t>baik</a:t>
            </a:r>
            <a:endParaRPr lang="en-ID" sz="2000" dirty="0"/>
          </a:p>
          <a:p>
            <a:pPr lvl="1"/>
            <a:r>
              <a:rPr lang="en-ID" sz="2000" dirty="0" err="1"/>
              <a:t>dekomposisinya</a:t>
            </a:r>
            <a:r>
              <a:rPr lang="en-ID" sz="2000" dirty="0"/>
              <a:t> </a:t>
            </a:r>
            <a:r>
              <a:rPr lang="en-ID" sz="2000" dirty="0" err="1"/>
              <a:t>merupakan</a:t>
            </a:r>
            <a:r>
              <a:rPr lang="en-ID" sz="2000" dirty="0"/>
              <a:t> </a:t>
            </a:r>
            <a:r>
              <a:rPr lang="en-ID" sz="2000" i="1" dirty="0"/>
              <a:t>lossless-join decomposition</a:t>
            </a:r>
            <a:r>
              <a:rPr lang="en-ID" sz="2000" dirty="0"/>
              <a:t> (</a:t>
            </a:r>
            <a:r>
              <a:rPr lang="en-ID" sz="2000" dirty="0" err="1"/>
              <a:t>dekomposisi</a:t>
            </a:r>
            <a:r>
              <a:rPr lang="en-ID" sz="2000" dirty="0"/>
              <a:t> </a:t>
            </a:r>
            <a:r>
              <a:rPr lang="en-ID" sz="2000" dirty="0" err="1"/>
              <a:t>gabungan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kehilangan</a:t>
            </a:r>
            <a:r>
              <a:rPr lang="en-ID" sz="2000" dirty="0"/>
              <a:t> data)</a:t>
            </a:r>
          </a:p>
          <a:p>
            <a:r>
              <a:rPr lang="en-ID" sz="2000" b="1" dirty="0"/>
              <a:t>Teori </a:t>
            </a:r>
            <a:r>
              <a:rPr lang="en-ID" sz="2000" b="1" dirty="0" err="1"/>
              <a:t>kita</a:t>
            </a:r>
            <a:r>
              <a:rPr lang="en-ID" sz="2000" b="1" dirty="0"/>
              <a:t> </a:t>
            </a:r>
            <a:r>
              <a:rPr lang="en-ID" sz="2000" b="1" dirty="0" err="1"/>
              <a:t>didasarkan</a:t>
            </a:r>
            <a:r>
              <a:rPr lang="en-ID" sz="2000" b="1" dirty="0"/>
              <a:t> pada:</a:t>
            </a:r>
            <a:endParaRPr lang="en-ID" sz="2000" dirty="0"/>
          </a:p>
          <a:p>
            <a:pPr lvl="1"/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(</a:t>
            </a:r>
            <a:r>
              <a:rPr lang="en-ID" sz="2000" i="1" dirty="0"/>
              <a:t>functional dependencies</a:t>
            </a:r>
            <a:r>
              <a:rPr lang="en-ID" sz="2000" dirty="0"/>
              <a:t>)</a:t>
            </a:r>
          </a:p>
          <a:p>
            <a:pPr lvl="1"/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bernilai</a:t>
            </a:r>
            <a:r>
              <a:rPr lang="en-ID" sz="2000" dirty="0"/>
              <a:t> </a:t>
            </a:r>
            <a:r>
              <a:rPr lang="en-ID" sz="2000" dirty="0" err="1"/>
              <a:t>banyak</a:t>
            </a:r>
            <a:r>
              <a:rPr lang="en-ID" sz="2000" dirty="0"/>
              <a:t> (</a:t>
            </a:r>
            <a:r>
              <a:rPr lang="en-ID" sz="2000" i="1" dirty="0"/>
              <a:t>multivalued dependencies</a:t>
            </a:r>
            <a:r>
              <a:rPr lang="en-ID" sz="2000" dirty="0"/>
              <a:t>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741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C197-A50A-FA6A-1A86-6EA9DCF0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r>
              <a:rPr lang="en-ID" b="1" dirty="0"/>
              <a:t> </a:t>
            </a:r>
            <a:br>
              <a:rPr lang="en-ID" b="1" dirty="0"/>
            </a:br>
            <a:r>
              <a:rPr lang="en-ID" b="1" dirty="0"/>
              <a:t>(Functional </a:t>
            </a:r>
            <a:r>
              <a:rPr lang="en-ID" b="1" dirty="0" err="1"/>
              <a:t>Depedencies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EA652-9FB8-4CAE-A450-0C7AB9932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88225"/>
            <a:ext cx="7704000" cy="3557847"/>
          </a:xfrm>
        </p:spPr>
        <p:txBody>
          <a:bodyPr/>
          <a:lstStyle/>
          <a:p>
            <a:r>
              <a:rPr lang="en-ID" sz="2400" b="1" dirty="0">
                <a:solidFill>
                  <a:srgbClr val="FFC000"/>
                </a:solidFill>
              </a:rPr>
              <a:t>Batasan-</a:t>
            </a:r>
            <a:r>
              <a:rPr lang="en-ID" sz="2400" b="1" dirty="0" err="1">
                <a:solidFill>
                  <a:srgbClr val="FFC000"/>
                </a:solidFill>
              </a:rPr>
              <a:t>batasan</a:t>
            </a:r>
            <a:r>
              <a:rPr lang="en-ID" sz="2400" dirty="0"/>
              <a:t> pada </a:t>
            </a:r>
            <a:r>
              <a:rPr lang="en-ID" sz="2400" dirty="0" err="1"/>
              <a:t>kumpulan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yang </a:t>
            </a:r>
            <a:r>
              <a:rPr lang="en-ID" sz="2400" dirty="0" err="1"/>
              <a:t>sah</a:t>
            </a:r>
            <a:r>
              <a:rPr lang="en-ID" sz="2400" dirty="0"/>
              <a:t>.</a:t>
            </a:r>
          </a:p>
          <a:p>
            <a:r>
              <a:rPr lang="en-ID" sz="2400" b="1" dirty="0" err="1">
                <a:solidFill>
                  <a:srgbClr val="FFC000"/>
                </a:solidFill>
              </a:rPr>
              <a:t>Mengharuskan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sekumpulan</a:t>
            </a:r>
            <a:r>
              <a:rPr lang="en-ID" sz="2400" dirty="0"/>
              <a:t> </a:t>
            </a:r>
            <a:r>
              <a:rPr lang="en-ID" sz="2400" dirty="0" err="1"/>
              <a:t>atribut</a:t>
            </a:r>
            <a:r>
              <a:rPr lang="en-ID" sz="2400" dirty="0"/>
              <a:t>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menentukan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unik</a:t>
            </a:r>
            <a:r>
              <a:rPr lang="en-ID" sz="2400" dirty="0"/>
              <a:t> </a:t>
            </a:r>
            <a:r>
              <a:rPr lang="en-ID" sz="2400" dirty="0" err="1"/>
              <a:t>nilai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sekumpulan</a:t>
            </a:r>
            <a:r>
              <a:rPr lang="en-ID" sz="2400" dirty="0"/>
              <a:t> </a:t>
            </a:r>
            <a:r>
              <a:rPr lang="en-ID" sz="2400" dirty="0" err="1"/>
              <a:t>atribut</a:t>
            </a:r>
            <a:r>
              <a:rPr lang="en-ID" sz="2400" dirty="0"/>
              <a:t> </a:t>
            </a:r>
            <a:r>
              <a:rPr lang="en-ID" sz="2400" dirty="0" err="1"/>
              <a:t>lainnya</a:t>
            </a:r>
            <a:r>
              <a:rPr lang="en-ID" sz="2400" dirty="0"/>
              <a:t>.</a:t>
            </a:r>
          </a:p>
          <a:p>
            <a:r>
              <a:rPr lang="en-ID" sz="2400" dirty="0" err="1"/>
              <a:t>Ketergantungan</a:t>
            </a:r>
            <a:r>
              <a:rPr lang="en-ID" sz="2400" dirty="0"/>
              <a:t> </a:t>
            </a:r>
            <a:r>
              <a:rPr lang="en-ID" sz="2400" dirty="0" err="1"/>
              <a:t>fungsional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generalisasi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konsep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i="1" dirty="0"/>
              <a:t>key</a:t>
            </a:r>
            <a:r>
              <a:rPr lang="en-ID" sz="2400" dirty="0"/>
              <a:t> (</a:t>
            </a:r>
            <a:r>
              <a:rPr lang="en-ID" sz="2400" dirty="0" err="1"/>
              <a:t>kunci</a:t>
            </a:r>
            <a:r>
              <a:rPr lang="en-ID" sz="2400" dirty="0"/>
              <a:t>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6725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5675B-AB3B-3799-C994-0869D4A8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4C1A-ACE6-CD93-3290-DBE2451CD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r>
              <a:rPr lang="en-ID" b="1" dirty="0"/>
              <a:t>  (Continue)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80D8E-7727-B351-97CA-4EB7E6DC4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17725"/>
            <a:ext cx="7704000" cy="3928347"/>
          </a:xfrm>
        </p:spPr>
        <p:txBody>
          <a:bodyPr/>
          <a:lstStyle/>
          <a:p>
            <a:r>
              <a:rPr lang="en-ID" sz="1600" dirty="0" err="1"/>
              <a:t>Misalkan</a:t>
            </a:r>
            <a:r>
              <a:rPr lang="en-ID" sz="1600" dirty="0"/>
              <a:t> R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endParaRPr lang="en-ID" sz="1600" dirty="0"/>
          </a:p>
          <a:p>
            <a:pPr lvl="1"/>
            <a:r>
              <a:rPr lang="el-GR" sz="1600" b="1" dirty="0">
                <a:solidFill>
                  <a:srgbClr val="FFC000"/>
                </a:solidFill>
              </a:rPr>
              <a:t>α ⊆ </a:t>
            </a:r>
            <a:r>
              <a:rPr lang="en-US" sz="1600" b="1" i="1" dirty="0">
                <a:solidFill>
                  <a:srgbClr val="FFC000"/>
                </a:solidFill>
              </a:rPr>
              <a:t>R  and  </a:t>
            </a:r>
            <a:r>
              <a:rPr lang="el-GR" sz="1600" b="1" i="1" dirty="0">
                <a:solidFill>
                  <a:srgbClr val="FFC000"/>
                </a:solidFill>
              </a:rPr>
              <a:t>β </a:t>
            </a:r>
            <a:r>
              <a:rPr lang="el-GR" sz="1600" b="1" dirty="0">
                <a:solidFill>
                  <a:srgbClr val="FFC000"/>
                </a:solidFill>
              </a:rPr>
              <a:t>⊆ </a:t>
            </a:r>
            <a:r>
              <a:rPr lang="en-US" sz="1600" b="1" i="1" dirty="0">
                <a:solidFill>
                  <a:srgbClr val="FFC000"/>
                </a:solidFill>
              </a:rPr>
              <a:t>R</a:t>
            </a:r>
            <a:endParaRPr lang="en-ID" sz="1600" b="1" dirty="0">
              <a:solidFill>
                <a:srgbClr val="FFC000"/>
              </a:solidFill>
            </a:endParaRPr>
          </a:p>
          <a:p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endParaRPr lang="en-ID" sz="1600" dirty="0"/>
          </a:p>
          <a:p>
            <a:pPr lvl="1"/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</a:t>
            </a:r>
          </a:p>
          <a:p>
            <a:pPr marL="609600" lvl="1" indent="0">
              <a:buNone/>
            </a:pPr>
            <a:r>
              <a:rPr lang="en-ID" sz="1600" b="1" dirty="0" err="1"/>
              <a:t>berlaku</a:t>
            </a:r>
            <a:r>
              <a:rPr lang="en-ID" sz="1600" b="1" dirty="0"/>
              <a:t> pada</a:t>
            </a:r>
            <a:r>
              <a:rPr lang="en-ID" sz="1600" dirty="0"/>
              <a:t> R </a:t>
            </a:r>
            <a:r>
              <a:rPr lang="en-ID" sz="1600" dirty="0" err="1"/>
              <a:t>jika</a:t>
            </a:r>
            <a:r>
              <a:rPr lang="en-ID" sz="1600" dirty="0"/>
              <a:t> dan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setiap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yang </a:t>
            </a:r>
            <a:r>
              <a:rPr lang="en-ID" sz="1600" dirty="0" err="1"/>
              <a:t>sah</a:t>
            </a:r>
            <a:r>
              <a:rPr lang="en-ID" sz="1600" dirty="0"/>
              <a:t> </a:t>
            </a:r>
            <a:r>
              <a:rPr lang="en-ID" sz="1600" i="1" dirty="0"/>
              <a:t>r(R)</a:t>
            </a:r>
            <a:r>
              <a:rPr lang="en-ID" sz="1600" dirty="0"/>
              <a:t>, </a:t>
            </a:r>
            <a:r>
              <a:rPr lang="en-ID" sz="1600" dirty="0" err="1"/>
              <a:t>kapan</a:t>
            </a:r>
            <a:r>
              <a:rPr lang="en-ID" sz="1600" dirty="0"/>
              <a:t> pun </a:t>
            </a:r>
            <a:r>
              <a:rPr lang="en-ID" sz="1600" dirty="0" err="1"/>
              <a:t>ada</a:t>
            </a:r>
            <a:r>
              <a:rPr lang="en-ID" sz="1600" dirty="0"/>
              <a:t> dua </a:t>
            </a:r>
            <a:r>
              <a:rPr lang="en-ID" sz="1600" dirty="0" err="1"/>
              <a:t>tupel</a:t>
            </a:r>
            <a:r>
              <a:rPr lang="en-ID" sz="1600" dirty="0"/>
              <a:t> t</a:t>
            </a:r>
            <a:r>
              <a:rPr lang="en-ID" sz="1600" baseline="-25000" dirty="0"/>
              <a:t>1</a:t>
            </a:r>
            <a:r>
              <a:rPr lang="en-ID" sz="1600" dirty="0"/>
              <a:t> dan t</a:t>
            </a:r>
            <a:r>
              <a:rPr lang="en-ID" sz="1600" baseline="-25000" dirty="0"/>
              <a:t>2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r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yang </a:t>
            </a:r>
            <a:r>
              <a:rPr lang="en-ID" sz="1600" dirty="0" err="1"/>
              <a:t>sama</a:t>
            </a:r>
            <a:r>
              <a:rPr lang="en-ID" sz="1600" dirty="0"/>
              <a:t> pada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US" sz="1600" dirty="0"/>
              <a:t>α</a:t>
            </a:r>
            <a:r>
              <a:rPr lang="en-ID" sz="1600" dirty="0"/>
              <a:t>, </a:t>
            </a:r>
            <a:r>
              <a:rPr lang="en-ID" sz="1600" dirty="0" err="1"/>
              <a:t>mereka</a:t>
            </a:r>
            <a:r>
              <a:rPr lang="en-ID" sz="1600" dirty="0"/>
              <a:t> juga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nilai</a:t>
            </a:r>
            <a:r>
              <a:rPr lang="en-ID" sz="1600" dirty="0"/>
              <a:t> yang </a:t>
            </a:r>
            <a:r>
              <a:rPr lang="en-ID" sz="1600" dirty="0" err="1"/>
              <a:t>sama</a:t>
            </a:r>
            <a:r>
              <a:rPr lang="en-ID" sz="1600" dirty="0"/>
              <a:t> pada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US" sz="1600" i="1" dirty="0"/>
              <a:t>β</a:t>
            </a:r>
            <a:r>
              <a:rPr lang="en-ID" sz="1600" dirty="0"/>
              <a:t>. </a:t>
            </a:r>
            <a:r>
              <a:rPr lang="en-ID" sz="1600" dirty="0" err="1"/>
              <a:t>Yaitu</a:t>
            </a:r>
            <a:r>
              <a:rPr lang="en-ID" sz="1600" dirty="0"/>
              <a:t>:</a:t>
            </a:r>
          </a:p>
          <a:p>
            <a:pPr marL="609600" lvl="1" indent="0" algn="ctr">
              <a:buNone/>
            </a:pPr>
            <a:r>
              <a:rPr lang="en-US" sz="1800" i="1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[α] = </a:t>
            </a:r>
            <a:r>
              <a:rPr lang="en-US" sz="1800" i="1" dirty="0"/>
              <a:t>t</a:t>
            </a:r>
            <a:r>
              <a:rPr lang="en-US" sz="1800" baseline="-25000" dirty="0"/>
              <a:t>2 </a:t>
            </a:r>
            <a:r>
              <a:rPr lang="en-US" sz="1800" dirty="0"/>
              <a:t>[α]   ⇒   </a:t>
            </a:r>
            <a:r>
              <a:rPr lang="en-US" sz="1800" i="1" dirty="0"/>
              <a:t>t</a:t>
            </a:r>
            <a:r>
              <a:rPr lang="en-US" sz="1800" baseline="-25000" dirty="0"/>
              <a:t>1</a:t>
            </a:r>
            <a:r>
              <a:rPr lang="en-US" sz="1800" dirty="0"/>
              <a:t>[</a:t>
            </a:r>
            <a:r>
              <a:rPr lang="en-US" sz="1800" i="1" dirty="0"/>
              <a:t>β </a:t>
            </a:r>
            <a:r>
              <a:rPr lang="en-US" sz="1800" dirty="0"/>
              <a:t>]  = </a:t>
            </a:r>
            <a:r>
              <a:rPr lang="en-US" sz="1800" i="1" dirty="0"/>
              <a:t>t</a:t>
            </a:r>
            <a:r>
              <a:rPr lang="en-US" sz="1800" baseline="-25000" dirty="0"/>
              <a:t>2 </a:t>
            </a:r>
            <a:r>
              <a:rPr lang="en-US" sz="1800" dirty="0"/>
              <a:t>[</a:t>
            </a:r>
            <a:r>
              <a:rPr lang="en-US" sz="1800" i="1" dirty="0"/>
              <a:t>β </a:t>
            </a:r>
            <a:r>
              <a:rPr lang="en-US" sz="1800" dirty="0"/>
              <a:t>]</a:t>
            </a:r>
            <a:endParaRPr lang="en-ID" sz="1800" dirty="0">
              <a:solidFill>
                <a:srgbClr val="FFC000"/>
              </a:solidFill>
            </a:endParaRPr>
          </a:p>
          <a:p>
            <a:r>
              <a:rPr lang="en-ID" sz="1600" b="1" dirty="0" err="1"/>
              <a:t>Contoh</a:t>
            </a:r>
            <a:r>
              <a:rPr lang="en-ID" sz="1600" b="1" dirty="0"/>
              <a:t>:</a:t>
            </a:r>
            <a:r>
              <a:rPr lang="en-ID" sz="1600" dirty="0"/>
              <a:t> </a:t>
            </a:r>
            <a:r>
              <a:rPr lang="en-ID" sz="1600" dirty="0" err="1"/>
              <a:t>Perhatikan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600" dirty="0"/>
              <a:t>(A</a:t>
            </a:r>
            <a:r>
              <a:rPr lang="en-US" sz="1600" i="1" dirty="0"/>
              <a:t>,B </a:t>
            </a:r>
            <a:r>
              <a:rPr lang="en-US" sz="1600" dirty="0"/>
              <a:t>)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instans</a:t>
            </a:r>
            <a:r>
              <a:rPr lang="en-ID" sz="1600" dirty="0"/>
              <a:t> r </a:t>
            </a:r>
            <a:r>
              <a:rPr lang="en-ID" sz="1600" dirty="0" err="1"/>
              <a:t>berikut</a:t>
            </a:r>
            <a:r>
              <a:rPr lang="en-ID" sz="1600" dirty="0"/>
              <a:t> 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ID" sz="1400" dirty="0"/>
              <a:t>Pada </a:t>
            </a:r>
            <a:r>
              <a:rPr lang="en-ID" sz="1400" dirty="0" err="1"/>
              <a:t>instans</a:t>
            </a:r>
            <a:r>
              <a:rPr lang="en-ID" sz="1400" dirty="0"/>
              <a:t> </a:t>
            </a:r>
            <a:r>
              <a:rPr lang="en-ID" sz="1400" dirty="0" err="1"/>
              <a:t>ini</a:t>
            </a:r>
            <a:r>
              <a:rPr lang="en-ID" sz="1400" dirty="0"/>
              <a:t>, </a:t>
            </a:r>
            <a:r>
              <a:rPr lang="en-US" sz="1400" i="1" dirty="0"/>
              <a:t>A</a:t>
            </a:r>
            <a:r>
              <a:rPr lang="en-US" sz="1400" dirty="0"/>
              <a:t> → </a:t>
            </a:r>
            <a:r>
              <a:rPr lang="en-US" sz="1400" i="1" dirty="0"/>
              <a:t>B</a:t>
            </a:r>
            <a:r>
              <a:rPr lang="en-ID" sz="1400" dirty="0"/>
              <a:t> </a:t>
            </a:r>
            <a:r>
              <a:rPr lang="en-ID" sz="1400" b="1" dirty="0"/>
              <a:t>TIDAK</a:t>
            </a:r>
            <a:r>
              <a:rPr lang="en-ID" sz="1400" dirty="0"/>
              <a:t> </a:t>
            </a:r>
            <a:r>
              <a:rPr lang="en-ID" sz="1400" dirty="0" err="1"/>
              <a:t>berlaku</a:t>
            </a:r>
            <a:r>
              <a:rPr lang="en-ID" sz="1400" dirty="0"/>
              <a:t>, </a:t>
            </a:r>
            <a:r>
              <a:rPr lang="en-ID" sz="1400" dirty="0" err="1"/>
              <a:t>tetapi</a:t>
            </a:r>
            <a:r>
              <a:rPr lang="en-ID" sz="1400" dirty="0"/>
              <a:t> </a:t>
            </a:r>
            <a:r>
              <a:rPr lang="en-US" sz="1400" i="1" dirty="0"/>
              <a:t>B</a:t>
            </a:r>
            <a:r>
              <a:rPr lang="en-US" sz="1400" dirty="0"/>
              <a:t> → </a:t>
            </a:r>
            <a:r>
              <a:rPr lang="en-US" sz="1400" i="1" dirty="0"/>
              <a:t>A</a:t>
            </a:r>
            <a:r>
              <a:rPr lang="en-ID" sz="1400" dirty="0"/>
              <a:t> </a:t>
            </a:r>
            <a:r>
              <a:rPr lang="en-ID" sz="1400" dirty="0" err="1"/>
              <a:t>berlaku</a:t>
            </a:r>
            <a:r>
              <a:rPr lang="en-ID" sz="1400" dirty="0"/>
              <a:t>.</a:t>
            </a:r>
            <a:endParaRPr lang="en-US" sz="1400" dirty="0"/>
          </a:p>
        </p:txBody>
      </p:sp>
      <p:sp>
        <p:nvSpPr>
          <p:cNvPr id="4" name="Google Shape;235;p13">
            <a:extLst>
              <a:ext uri="{FF2B5EF4-FFF2-40B4-BE49-F238E27FC236}">
                <a16:creationId xmlns:a16="http://schemas.microsoft.com/office/drawing/2014/main" id="{D0BA1B8B-D45F-9DA3-1008-5A102FCAB543}"/>
              </a:ext>
            </a:extLst>
          </p:cNvPr>
          <p:cNvSpPr txBox="1"/>
          <p:nvPr/>
        </p:nvSpPr>
        <p:spPr>
          <a:xfrm>
            <a:off x="6161491" y="3200263"/>
            <a:ext cx="777875" cy="92551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AutoNum type="arabicPlain"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1     5</a:t>
            </a:r>
            <a:endParaRPr dirty="0"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3     7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9146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8E127-5C31-896C-977D-9EF333E2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r>
              <a:rPr lang="en-ID" b="1" dirty="0"/>
              <a:t>  (Continue)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637D9-220C-A9CA-43F2-537F1718F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947487"/>
          </a:xfrm>
        </p:spPr>
        <p:txBody>
          <a:bodyPr/>
          <a:lstStyle/>
          <a:p>
            <a:r>
              <a:rPr lang="en-ID" sz="1600" i="1" dirty="0"/>
              <a:t>K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superkey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</a:t>
            </a:r>
            <a:r>
              <a:rPr lang="en-ID" sz="1600" i="1" dirty="0"/>
              <a:t>R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dan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i="1" dirty="0"/>
              <a:t>K</a:t>
            </a:r>
            <a:r>
              <a:rPr lang="en-ID" sz="1600" dirty="0"/>
              <a:t>→</a:t>
            </a:r>
            <a:r>
              <a:rPr lang="en-ID" sz="1600" i="1" dirty="0"/>
              <a:t>R</a:t>
            </a:r>
            <a:r>
              <a:rPr lang="en-ID" sz="1600" dirty="0"/>
              <a:t>.</a:t>
            </a:r>
          </a:p>
          <a:p>
            <a:r>
              <a:rPr lang="en-ID" sz="1600" i="1" dirty="0"/>
              <a:t>K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candidate key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i="1" dirty="0"/>
              <a:t>R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r>
              <a:rPr lang="en-ID" sz="1600" dirty="0"/>
              <a:t> dan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jika</a:t>
            </a:r>
            <a:endParaRPr lang="en-ID" sz="1600" dirty="0"/>
          </a:p>
          <a:p>
            <a:pPr lvl="1"/>
            <a:r>
              <a:rPr lang="en-ID" sz="1600" i="1" dirty="0"/>
              <a:t>K </a:t>
            </a:r>
            <a:r>
              <a:rPr lang="en-ID" sz="1600" b="1" dirty="0">
                <a:solidFill>
                  <a:srgbClr val="FFC000"/>
                </a:solidFill>
              </a:rPr>
              <a:t>→ </a:t>
            </a:r>
            <a:r>
              <a:rPr lang="en-ID" sz="1600" i="1" dirty="0"/>
              <a:t>R</a:t>
            </a:r>
            <a:r>
              <a:rPr lang="en-ID" sz="1600" dirty="0"/>
              <a:t>, dan</a:t>
            </a:r>
          </a:p>
          <a:p>
            <a:pPr lvl="1"/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l-GR" sz="1600" i="1" dirty="0"/>
              <a:t>α</a:t>
            </a:r>
            <a:r>
              <a:rPr lang="en-US" sz="1600" i="1" dirty="0"/>
              <a:t> </a:t>
            </a:r>
            <a:r>
              <a:rPr lang="el-GR" sz="1600" b="1" dirty="0">
                <a:solidFill>
                  <a:srgbClr val="FFC000"/>
                </a:solidFill>
              </a:rPr>
              <a:t>⊂</a:t>
            </a:r>
            <a:r>
              <a:rPr lang="en-US" sz="1600" dirty="0"/>
              <a:t> </a:t>
            </a:r>
            <a:r>
              <a:rPr lang="en-ID" sz="1600" i="1" dirty="0"/>
              <a:t>K</a:t>
            </a:r>
            <a:r>
              <a:rPr lang="en-ID" sz="1600" dirty="0"/>
              <a:t> </a:t>
            </a:r>
            <a:r>
              <a:rPr lang="en-ID" sz="1600" dirty="0" err="1"/>
              <a:t>sedemikian</a:t>
            </a:r>
            <a:r>
              <a:rPr lang="en-ID" sz="1600" dirty="0"/>
              <a:t> </a:t>
            </a:r>
            <a:r>
              <a:rPr lang="en-ID" sz="1600" dirty="0" err="1"/>
              <a:t>rupa</a:t>
            </a:r>
            <a:r>
              <a:rPr lang="en-ID" sz="1600" dirty="0"/>
              <a:t> </a:t>
            </a:r>
            <a:r>
              <a:rPr lang="en-ID" sz="1600" dirty="0" err="1"/>
              <a:t>sehingga</a:t>
            </a:r>
            <a:r>
              <a:rPr lang="en-ID" sz="1600" dirty="0"/>
              <a:t> </a:t>
            </a:r>
            <a:r>
              <a:rPr lang="el-GR" sz="1600" b="1" i="1" dirty="0">
                <a:solidFill>
                  <a:srgbClr val="FFC000"/>
                </a:solidFill>
              </a:rPr>
              <a:t>α</a:t>
            </a:r>
            <a:r>
              <a:rPr lang="en-US" sz="1600" b="1" i="1" dirty="0">
                <a:solidFill>
                  <a:srgbClr val="FFC000"/>
                </a:solidFill>
              </a:rPr>
              <a:t> </a:t>
            </a:r>
            <a:r>
              <a:rPr lang="el-GR" sz="1600" b="1" dirty="0">
                <a:solidFill>
                  <a:srgbClr val="FFC000"/>
                </a:solidFill>
              </a:rPr>
              <a:t>→</a:t>
            </a:r>
            <a:r>
              <a:rPr lang="en-US" sz="1600" b="1" dirty="0">
                <a:solidFill>
                  <a:srgbClr val="FFC000"/>
                </a:solidFill>
              </a:rPr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R</a:t>
            </a:r>
            <a:r>
              <a:rPr lang="en-ID" sz="1600" dirty="0"/>
              <a:t>.</a:t>
            </a:r>
          </a:p>
          <a:p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memungkinkan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menyatakan</a:t>
            </a:r>
            <a:r>
              <a:rPr lang="en-ID" sz="1600" dirty="0"/>
              <a:t> </a:t>
            </a:r>
            <a:r>
              <a:rPr lang="en-ID" sz="1600" dirty="0" err="1"/>
              <a:t>batasan-batasan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constraints</a:t>
            </a:r>
            <a:r>
              <a:rPr lang="en-ID" sz="1600" dirty="0"/>
              <a:t>) yang </a:t>
            </a:r>
            <a:r>
              <a:rPr lang="en-ID" sz="1600" b="1" u="sng" dirty="0" err="1">
                <a:solidFill>
                  <a:srgbClr val="FF0000"/>
                </a:solidFill>
              </a:rPr>
              <a:t>tidak</a:t>
            </a:r>
            <a:r>
              <a:rPr lang="en-ID" sz="1600" b="1" u="sng" dirty="0">
                <a:solidFill>
                  <a:srgbClr val="FF0000"/>
                </a:solidFill>
              </a:rPr>
              <a:t> </a:t>
            </a:r>
            <a:r>
              <a:rPr lang="en-ID" sz="1600" b="1" u="sng" dirty="0" err="1">
                <a:solidFill>
                  <a:srgbClr val="FF0000"/>
                </a:solidFill>
              </a:rPr>
              <a:t>dapat</a:t>
            </a:r>
            <a:r>
              <a:rPr lang="en-ID" sz="1600" b="1" u="sng" dirty="0">
                <a:solidFill>
                  <a:srgbClr val="FF0000"/>
                </a:solidFill>
              </a:rPr>
              <a:t> </a:t>
            </a:r>
            <a:r>
              <a:rPr lang="en-ID" sz="1600" b="1" u="sng" dirty="0" err="1">
                <a:solidFill>
                  <a:srgbClr val="FF0000"/>
                </a:solidFill>
              </a:rPr>
              <a:t>dinyatakan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b="1" i="1" dirty="0" err="1">
                <a:solidFill>
                  <a:srgbClr val="FFC000"/>
                </a:solidFill>
              </a:rPr>
              <a:t>superkeys</a:t>
            </a:r>
            <a:r>
              <a:rPr lang="en-ID" sz="1600" dirty="0"/>
              <a:t>. </a:t>
            </a:r>
          </a:p>
          <a:p>
            <a:endParaRPr lang="en-ID" sz="1600" dirty="0"/>
          </a:p>
          <a:p>
            <a:r>
              <a:rPr lang="en-ID" sz="1600" dirty="0" err="1"/>
              <a:t>Perhatikan</a:t>
            </a:r>
            <a:r>
              <a:rPr lang="en-ID" sz="1600" dirty="0"/>
              <a:t> </a:t>
            </a:r>
            <a:r>
              <a:rPr lang="en-ID" sz="1600" dirty="0" err="1"/>
              <a:t>skema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: </a:t>
            </a:r>
            <a:r>
              <a:rPr lang="en-ID" sz="1600" b="1" dirty="0" err="1">
                <a:solidFill>
                  <a:srgbClr val="FFC000"/>
                </a:solidFill>
              </a:rPr>
              <a:t>inst_dept</a:t>
            </a:r>
            <a:r>
              <a:rPr lang="en-ID" sz="1600" dirty="0"/>
              <a:t> (ID, name, salary, </a:t>
            </a:r>
            <a:r>
              <a:rPr lang="en-ID" sz="1600" dirty="0" err="1"/>
              <a:t>dept_name</a:t>
            </a:r>
            <a:r>
              <a:rPr lang="en-ID" sz="1600" dirty="0"/>
              <a:t>, building, budget) Kita </a:t>
            </a:r>
            <a:r>
              <a:rPr lang="en-ID" sz="1600" dirty="0" err="1"/>
              <a:t>mengharapkan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:</a:t>
            </a:r>
          </a:p>
          <a:p>
            <a:pPr marL="152400" indent="0" algn="ctr">
              <a:buNone/>
            </a:pPr>
            <a:r>
              <a:rPr lang="en-ID" sz="1600" i="1" dirty="0" err="1"/>
              <a:t>dept</a:t>
            </a:r>
            <a:r>
              <a:rPr lang="en-ID" sz="1600" dirty="0" err="1"/>
              <a:t>_</a:t>
            </a:r>
            <a:r>
              <a:rPr lang="en-ID" sz="1600" i="1" dirty="0" err="1"/>
              <a:t>name</a:t>
            </a:r>
            <a:r>
              <a:rPr lang="en-ID" sz="1600" i="1" dirty="0"/>
              <a:t> </a:t>
            </a:r>
            <a:r>
              <a:rPr lang="en-ID" sz="1600" dirty="0"/>
              <a:t>→ </a:t>
            </a:r>
            <a:r>
              <a:rPr lang="en-ID" sz="1600" i="1" dirty="0"/>
              <a:t>building</a:t>
            </a:r>
            <a:endParaRPr lang="en-ID" sz="1600" dirty="0"/>
          </a:p>
          <a:p>
            <a:pPr marL="152400" indent="0">
              <a:buNone/>
            </a:pPr>
            <a:r>
              <a:rPr lang="en-ID" sz="1600" dirty="0"/>
              <a:t>	dan</a:t>
            </a:r>
          </a:p>
          <a:p>
            <a:pPr marL="152400" indent="0" algn="ctr">
              <a:buNone/>
            </a:pPr>
            <a:r>
              <a:rPr lang="en-ID" sz="1600" i="1" dirty="0"/>
              <a:t>ID </a:t>
            </a:r>
            <a:r>
              <a:rPr lang="en-ID" sz="1600" dirty="0"/>
              <a:t>→ </a:t>
            </a:r>
            <a:r>
              <a:rPr lang="en-ID" sz="1600" i="1" dirty="0"/>
              <a:t>building</a:t>
            </a:r>
            <a:endParaRPr lang="en-ID" sz="1600" dirty="0"/>
          </a:p>
          <a:p>
            <a:pPr marL="152400" indent="0">
              <a:buNone/>
            </a:pPr>
            <a:r>
              <a:rPr lang="en-ID" sz="1600" dirty="0"/>
              <a:t>	</a:t>
            </a:r>
            <a:r>
              <a:rPr lang="en-ID" sz="1600" dirty="0" err="1"/>
              <a:t>tetapi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C00000"/>
                </a:solidFill>
              </a:rPr>
              <a:t>tidak</a:t>
            </a:r>
            <a:r>
              <a:rPr lang="en-ID" sz="1600" dirty="0"/>
              <a:t> </a:t>
            </a:r>
            <a:r>
              <a:rPr lang="en-ID" sz="1600" dirty="0" err="1"/>
              <a:t>mengharapkan</a:t>
            </a:r>
            <a:r>
              <a:rPr lang="en-ID" sz="1600" dirty="0"/>
              <a:t> </a:t>
            </a:r>
            <a:r>
              <a:rPr lang="en-ID" sz="1600" dirty="0" err="1"/>
              <a:t>hal</a:t>
            </a:r>
            <a:r>
              <a:rPr lang="en-ID" sz="1600" dirty="0"/>
              <a:t> </a:t>
            </a:r>
            <a:r>
              <a:rPr lang="en-ID" sz="1600" dirty="0" err="1"/>
              <a:t>berikut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:</a:t>
            </a:r>
          </a:p>
          <a:p>
            <a:pPr marL="152400" indent="0" algn="ctr">
              <a:buNone/>
            </a:pPr>
            <a:r>
              <a:rPr lang="en-ID" sz="1600" i="1" dirty="0" err="1"/>
              <a:t>dept</a:t>
            </a:r>
            <a:r>
              <a:rPr lang="en-ID" sz="1600" dirty="0" err="1"/>
              <a:t>_</a:t>
            </a:r>
            <a:r>
              <a:rPr lang="en-ID" sz="1600" i="1" dirty="0" err="1"/>
              <a:t>name</a:t>
            </a:r>
            <a:r>
              <a:rPr lang="en-ID" sz="1600" i="1" dirty="0"/>
              <a:t> </a:t>
            </a:r>
            <a:r>
              <a:rPr lang="en-ID" sz="1600" dirty="0"/>
              <a:t>→ </a:t>
            </a:r>
            <a:r>
              <a:rPr lang="en-ID" sz="1600" i="1" dirty="0"/>
              <a:t>salary</a:t>
            </a:r>
            <a:endParaRPr lang="en-ID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64301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94E2C-DB12-D782-4C05-9C4A1A2B1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Penggunaan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DC30E-50FF-4784-E075-56BE7A65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953" y="1088967"/>
            <a:ext cx="8312727" cy="3923607"/>
          </a:xfrm>
        </p:spPr>
        <p:txBody>
          <a:bodyPr/>
          <a:lstStyle/>
          <a:p>
            <a:r>
              <a:rPr lang="en-ID" sz="1800" b="1" dirty="0"/>
              <a:t>Kita </a:t>
            </a:r>
            <a:r>
              <a:rPr lang="en-ID" sz="1800" b="1" dirty="0" err="1"/>
              <a:t>menggunakan</a:t>
            </a:r>
            <a:r>
              <a:rPr lang="en-ID" sz="1800" b="1" dirty="0"/>
              <a:t> </a:t>
            </a:r>
            <a:r>
              <a:rPr lang="en-ID" sz="1800" b="1" dirty="0" err="1"/>
              <a:t>ketergantungan</a:t>
            </a:r>
            <a:r>
              <a:rPr lang="en-ID" sz="1800" b="1" dirty="0"/>
              <a:t> </a:t>
            </a:r>
            <a:r>
              <a:rPr lang="en-ID" sz="1800" b="1" dirty="0" err="1"/>
              <a:t>fungsional</a:t>
            </a:r>
            <a:r>
              <a:rPr lang="en-ID" sz="1800" b="1" dirty="0"/>
              <a:t> </a:t>
            </a:r>
            <a:r>
              <a:rPr lang="en-ID" sz="1800" b="1" dirty="0" err="1"/>
              <a:t>untuk</a:t>
            </a:r>
            <a:r>
              <a:rPr lang="en-ID" sz="1800" b="1" dirty="0"/>
              <a:t>:</a:t>
            </a:r>
            <a:endParaRPr lang="en-ID" sz="1800" dirty="0"/>
          </a:p>
          <a:p>
            <a:pPr lvl="1"/>
            <a:r>
              <a:rPr lang="en-ID" sz="1600" dirty="0" err="1">
                <a:solidFill>
                  <a:srgbClr val="FFC000"/>
                </a:solidFill>
              </a:rPr>
              <a:t>Menguji</a:t>
            </a:r>
            <a:r>
              <a:rPr lang="en-ID" sz="1600" dirty="0">
                <a:solidFill>
                  <a:srgbClr val="FFC000"/>
                </a:solidFill>
              </a:rPr>
              <a:t> </a:t>
            </a:r>
            <a:r>
              <a:rPr lang="en-ID" sz="1600" dirty="0" err="1">
                <a:solidFill>
                  <a:srgbClr val="FFC000"/>
                </a:solidFill>
              </a:rPr>
              <a:t>relasi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melihat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mereka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sah</a:t>
            </a:r>
            <a:r>
              <a:rPr lang="en-ID" sz="1600" b="1" dirty="0">
                <a:solidFill>
                  <a:srgbClr val="FFC000"/>
                </a:solidFill>
              </a:rPr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legal</a:t>
            </a:r>
            <a:r>
              <a:rPr lang="en-ID" sz="1600" b="1" dirty="0">
                <a:solidFill>
                  <a:srgbClr val="FFC000"/>
                </a:solidFill>
              </a:rPr>
              <a:t>)</a:t>
            </a:r>
            <a:r>
              <a:rPr lang="en-ID" sz="1600" dirty="0"/>
              <a:t> di </a:t>
            </a:r>
            <a:r>
              <a:rPr lang="en-ID" sz="1600" dirty="0" err="1"/>
              <a:t>bawah</a:t>
            </a:r>
            <a:r>
              <a:rPr lang="en-ID" sz="1600" dirty="0"/>
              <a:t> </a:t>
            </a:r>
            <a:r>
              <a:rPr lang="en-ID" sz="1600" dirty="0" err="1"/>
              <a:t>sekumpulan</a:t>
            </a:r>
            <a:r>
              <a:rPr lang="en-ID" sz="1600" dirty="0"/>
              <a:t> </a:t>
            </a:r>
            <a:r>
              <a:rPr lang="en-ID" sz="1600" dirty="0" err="1">
                <a:solidFill>
                  <a:srgbClr val="92D050"/>
                </a:solidFill>
              </a:rPr>
              <a:t>ketergantungan</a:t>
            </a:r>
            <a:r>
              <a:rPr lang="en-ID" sz="1600" dirty="0">
                <a:solidFill>
                  <a:srgbClr val="92D050"/>
                </a:solidFill>
              </a:rPr>
              <a:t> </a:t>
            </a:r>
            <a:r>
              <a:rPr lang="en-ID" sz="1600" dirty="0" err="1">
                <a:solidFill>
                  <a:srgbClr val="92D050"/>
                </a:solidFill>
              </a:rPr>
              <a:t>fungsional</a:t>
            </a:r>
            <a:r>
              <a:rPr lang="en-ID" sz="1600" dirty="0"/>
              <a:t> yang </a:t>
            </a:r>
            <a:r>
              <a:rPr lang="en-ID" sz="1600" dirty="0" err="1"/>
              <a:t>diberikan</a:t>
            </a:r>
            <a:r>
              <a:rPr lang="en-ID" sz="1600" dirty="0"/>
              <a:t>.</a:t>
            </a:r>
          </a:p>
          <a:p>
            <a:pPr lvl="2"/>
            <a:r>
              <a:rPr lang="en-ID" sz="1600" dirty="0"/>
              <a:t>Jika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r </a:t>
            </a:r>
            <a:r>
              <a:rPr lang="en-ID" sz="1600" dirty="0" err="1"/>
              <a:t>sah</a:t>
            </a:r>
            <a:r>
              <a:rPr lang="en-ID" sz="1600" dirty="0"/>
              <a:t> di </a:t>
            </a:r>
            <a:r>
              <a:rPr lang="en-ID" sz="1600" dirty="0" err="1"/>
              <a:t>bawah</a:t>
            </a:r>
            <a:r>
              <a:rPr lang="en-ID" sz="1600" dirty="0"/>
              <a:t> </a:t>
            </a:r>
            <a:r>
              <a:rPr lang="en-ID" sz="1600" dirty="0" err="1"/>
              <a:t>sekumpulan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F,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katakan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r </a:t>
            </a:r>
            <a:r>
              <a:rPr lang="en-ID" sz="1600" b="1" dirty="0" err="1">
                <a:solidFill>
                  <a:srgbClr val="FFC000"/>
                </a:solidFill>
              </a:rPr>
              <a:t>memenuhi</a:t>
            </a:r>
            <a:r>
              <a:rPr lang="en-ID" sz="1600" b="1" dirty="0"/>
              <a:t> (</a:t>
            </a:r>
            <a:r>
              <a:rPr lang="en-ID" sz="1600" b="1" i="1" dirty="0">
                <a:solidFill>
                  <a:srgbClr val="92D050"/>
                </a:solidFill>
              </a:rPr>
              <a:t>satisfies</a:t>
            </a:r>
            <a:r>
              <a:rPr lang="en-ID" sz="1600" b="1" dirty="0"/>
              <a:t>)</a:t>
            </a:r>
            <a:r>
              <a:rPr lang="en-ID" sz="1600" dirty="0"/>
              <a:t> F.</a:t>
            </a:r>
          </a:p>
          <a:p>
            <a:pPr lvl="1"/>
            <a:r>
              <a:rPr lang="en-ID" sz="1600" b="1" dirty="0" err="1">
                <a:solidFill>
                  <a:srgbClr val="FFC000"/>
                </a:solidFill>
              </a:rPr>
              <a:t>Menentukan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batasan</a:t>
            </a:r>
            <a:r>
              <a:rPr lang="en-ID" sz="1600" b="1" dirty="0">
                <a:solidFill>
                  <a:srgbClr val="FFC000"/>
                </a:solidFill>
              </a:rPr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constraints</a:t>
            </a:r>
            <a:r>
              <a:rPr lang="en-ID" sz="1600" b="1" dirty="0">
                <a:solidFill>
                  <a:srgbClr val="FFC000"/>
                </a:solidFill>
              </a:rPr>
              <a:t>)</a:t>
            </a:r>
            <a:r>
              <a:rPr lang="en-ID" sz="1600" dirty="0"/>
              <a:t> pada </a:t>
            </a:r>
            <a:r>
              <a:rPr lang="en-ID" sz="1600" dirty="0" err="1"/>
              <a:t>kumpulan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yang </a:t>
            </a:r>
            <a:r>
              <a:rPr lang="en-ID" sz="1600" dirty="0" err="1"/>
              <a:t>sah</a:t>
            </a:r>
            <a:r>
              <a:rPr lang="en-ID" sz="1600" dirty="0"/>
              <a:t>.</a:t>
            </a:r>
          </a:p>
          <a:p>
            <a:pPr lvl="2"/>
            <a:r>
              <a:rPr lang="en-ID" sz="1600" dirty="0"/>
              <a:t>Kita </a:t>
            </a:r>
            <a:r>
              <a:rPr lang="en-ID" sz="1600" dirty="0" err="1"/>
              <a:t>katakan</a:t>
            </a:r>
            <a:r>
              <a:rPr lang="en-ID" sz="1600" dirty="0"/>
              <a:t> </a:t>
            </a:r>
            <a:r>
              <a:rPr lang="en-ID" sz="1600" dirty="0" err="1"/>
              <a:t>bahwa</a:t>
            </a:r>
            <a:r>
              <a:rPr lang="en-ID" sz="1600" dirty="0"/>
              <a:t> F </a:t>
            </a:r>
            <a:r>
              <a:rPr lang="en-ID" sz="1600" b="1" dirty="0" err="1">
                <a:solidFill>
                  <a:srgbClr val="FFC000"/>
                </a:solidFill>
              </a:rPr>
              <a:t>berlaku</a:t>
            </a:r>
            <a:r>
              <a:rPr lang="en-ID" sz="1600" b="1" dirty="0">
                <a:solidFill>
                  <a:srgbClr val="FFC000"/>
                </a:solidFill>
              </a:rPr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holds</a:t>
            </a:r>
            <a:r>
              <a:rPr lang="en-ID" sz="1600" b="1" dirty="0">
                <a:solidFill>
                  <a:srgbClr val="FFC000"/>
                </a:solidFill>
              </a:rPr>
              <a:t>)</a:t>
            </a:r>
            <a:r>
              <a:rPr lang="en-ID" sz="1600" dirty="0"/>
              <a:t> pada R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relasi</a:t>
            </a:r>
            <a:r>
              <a:rPr lang="en-ID" sz="1600" dirty="0"/>
              <a:t> yang </a:t>
            </a:r>
            <a:r>
              <a:rPr lang="en-ID" sz="1600" dirty="0" err="1"/>
              <a:t>sah</a:t>
            </a:r>
            <a:r>
              <a:rPr lang="en-ID" sz="1600" dirty="0"/>
              <a:t> pada R </a:t>
            </a:r>
            <a:r>
              <a:rPr lang="en-ID" sz="1600" dirty="0" err="1"/>
              <a:t>memenuhi</a:t>
            </a:r>
            <a:r>
              <a:rPr lang="en-ID" sz="1600" dirty="0"/>
              <a:t> </a:t>
            </a:r>
            <a:r>
              <a:rPr lang="en-ID" sz="1600" dirty="0" err="1"/>
              <a:t>kumpulan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F.</a:t>
            </a:r>
            <a:endParaRPr lang="en-ID" sz="2000" dirty="0"/>
          </a:p>
          <a:p>
            <a:r>
              <a:rPr lang="en-ID" sz="1800" b="1" dirty="0" err="1">
                <a:solidFill>
                  <a:srgbClr val="FFC000"/>
                </a:solidFill>
              </a:rPr>
              <a:t>Catatan</a:t>
            </a:r>
            <a:r>
              <a:rPr lang="en-ID" sz="1800" b="1" dirty="0"/>
              <a:t>: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i="1" dirty="0"/>
              <a:t>instance</a:t>
            </a:r>
            <a:r>
              <a:rPr lang="en-ID" sz="1800" dirty="0"/>
              <a:t> </a:t>
            </a:r>
            <a:r>
              <a:rPr lang="en-ID" sz="1800" dirty="0" err="1"/>
              <a:t>spesifik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mungkin</a:t>
            </a:r>
            <a:r>
              <a:rPr lang="en-ID" sz="1800" dirty="0"/>
              <a:t> </a:t>
            </a:r>
            <a:r>
              <a:rPr lang="en-ID" sz="1800" dirty="0" err="1"/>
              <a:t>memenuhi</a:t>
            </a:r>
            <a:r>
              <a:rPr lang="en-ID" sz="1800" dirty="0"/>
              <a:t> </a:t>
            </a:r>
            <a:r>
              <a:rPr lang="en-ID" sz="1800" dirty="0" err="1"/>
              <a:t>suatu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dirty="0" err="1"/>
              <a:t>meskipun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berlaku</a:t>
            </a:r>
            <a:r>
              <a:rPr lang="en-ID" sz="1800" dirty="0"/>
              <a:t> pada </a:t>
            </a:r>
            <a:r>
              <a:rPr lang="en-ID" sz="1800" dirty="0" err="1"/>
              <a:t>semua</a:t>
            </a:r>
            <a:r>
              <a:rPr lang="en-ID" sz="1800" dirty="0"/>
              <a:t> </a:t>
            </a:r>
            <a:r>
              <a:rPr lang="en-ID" sz="1800" dirty="0" err="1"/>
              <a:t>instans</a:t>
            </a:r>
            <a:r>
              <a:rPr lang="en-ID" sz="1800" dirty="0"/>
              <a:t> yang </a:t>
            </a:r>
            <a:r>
              <a:rPr lang="en-ID" sz="1800" dirty="0" err="1"/>
              <a:t>sah</a:t>
            </a:r>
            <a:r>
              <a:rPr lang="en-ID" sz="1800" dirty="0"/>
              <a:t>.</a:t>
            </a:r>
          </a:p>
          <a:p>
            <a:pPr lvl="1"/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contoh</a:t>
            </a:r>
            <a:r>
              <a:rPr lang="en-ID" sz="1600" dirty="0"/>
              <a:t>,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i="1" dirty="0"/>
              <a:t>instance</a:t>
            </a:r>
            <a:r>
              <a:rPr lang="en-ID" sz="1600" dirty="0"/>
              <a:t> </a:t>
            </a:r>
            <a:r>
              <a:rPr lang="en-ID" sz="1600" dirty="0" err="1"/>
              <a:t>spesifik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 instructor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saja</a:t>
            </a:r>
            <a:r>
              <a:rPr lang="en-ID" sz="1600" dirty="0"/>
              <a:t>,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kebetulan</a:t>
            </a:r>
            <a:r>
              <a:rPr lang="en-ID" sz="1600" dirty="0"/>
              <a:t>, </a:t>
            </a:r>
            <a:r>
              <a:rPr lang="en-ID" sz="1600" dirty="0" err="1"/>
              <a:t>memenuhi</a:t>
            </a:r>
            <a:r>
              <a:rPr lang="en-ID" sz="1600" dirty="0"/>
              <a:t>:</a:t>
            </a:r>
          </a:p>
          <a:p>
            <a:pPr marL="609600" lvl="1" indent="0" algn="ctr">
              <a:buNone/>
            </a:pPr>
            <a:r>
              <a:rPr lang="en-US" sz="1600" dirty="0"/>
              <a:t> </a:t>
            </a:r>
            <a:r>
              <a:rPr lang="en-US" sz="1600" i="1" dirty="0"/>
              <a:t>name </a:t>
            </a:r>
            <a:r>
              <a:rPr lang="en-US" sz="1600" dirty="0"/>
              <a:t>→ </a:t>
            </a:r>
            <a:r>
              <a:rPr lang="en-US" sz="1600" i="1" dirty="0"/>
              <a:t>ID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44548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7CF6-78B7-3421-5889-D8347CA4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5586B-EF1B-6ED0-C4E5-AF9DC9FA6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2651985"/>
            <a:ext cx="7704000" cy="2343964"/>
          </a:xfrm>
        </p:spPr>
        <p:txBody>
          <a:bodyPr/>
          <a:lstStyle/>
          <a:p>
            <a:pPr marL="152400" indent="0">
              <a:buNone/>
            </a:pPr>
            <a:r>
              <a:rPr lang="en-US" sz="1600" dirty="0"/>
              <a:t>Jika </a:t>
            </a:r>
            <a:r>
              <a:rPr lang="en-US" sz="1600" dirty="0" err="1"/>
              <a:t>kita</a:t>
            </a:r>
            <a:r>
              <a:rPr lang="en-US" sz="1600" dirty="0"/>
              <a:t> </a:t>
            </a:r>
            <a:r>
              <a:rPr lang="en-US" sz="1600" dirty="0" err="1"/>
              <a:t>melihat</a:t>
            </a:r>
            <a:r>
              <a:rPr lang="en-US" sz="1600" dirty="0"/>
              <a:t> data (instance) pada </a:t>
            </a:r>
            <a:r>
              <a:rPr lang="en-US" sz="1600" dirty="0" err="1"/>
              <a:t>tabel</a:t>
            </a:r>
            <a:r>
              <a:rPr lang="en-US" sz="1600" dirty="0"/>
              <a:t>, </a:t>
            </a:r>
            <a:r>
              <a:rPr lang="en-US" sz="1600" dirty="0" err="1"/>
              <a:t>seolah-olah</a:t>
            </a:r>
            <a:r>
              <a:rPr lang="en-US" sz="1600" dirty="0"/>
              <a:t> </a:t>
            </a:r>
            <a:r>
              <a:rPr lang="en-US" sz="1600" dirty="0" err="1"/>
              <a:t>berlaku</a:t>
            </a:r>
            <a:r>
              <a:rPr lang="en-US" sz="1600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1600" b="1" i="1" dirty="0">
                <a:solidFill>
                  <a:srgbClr val="FFC000"/>
                </a:solidFill>
              </a:rPr>
              <a:t>Nama </a:t>
            </a:r>
            <a:r>
              <a:rPr lang="en-US" sz="1600" b="1" dirty="0">
                <a:solidFill>
                  <a:srgbClr val="FFC000"/>
                </a:solidFill>
              </a:rPr>
              <a:t>→ </a:t>
            </a:r>
            <a:r>
              <a:rPr lang="en-US" sz="1600" b="1" i="1" dirty="0">
                <a:solidFill>
                  <a:srgbClr val="FFC000"/>
                </a:solidFill>
              </a:rPr>
              <a:t>ID</a:t>
            </a:r>
            <a:r>
              <a:rPr lang="en-US" sz="1600" i="1" dirty="0"/>
              <a:t>  :  </a:t>
            </a:r>
            <a:r>
              <a:rPr lang="en-US" sz="1600" i="1" dirty="0" err="1"/>
              <a:t>benar</a:t>
            </a:r>
            <a:r>
              <a:rPr lang="en-US" sz="1600" i="1" dirty="0"/>
              <a:t> </a:t>
            </a:r>
            <a:r>
              <a:rPr lang="en-US" sz="1600" i="1" dirty="0" err="1"/>
              <a:t>untuk</a:t>
            </a:r>
            <a:r>
              <a:rPr lang="en-US" sz="1600" i="1" dirty="0"/>
              <a:t> data </a:t>
            </a:r>
            <a:r>
              <a:rPr lang="en-US" sz="1600" i="1" dirty="0" err="1"/>
              <a:t>ini</a:t>
            </a:r>
            <a:r>
              <a:rPr lang="en-US" sz="1600" i="1" dirty="0"/>
              <a:t>, </a:t>
            </a:r>
            <a:r>
              <a:rPr lang="en-US" sz="1600" i="1" dirty="0" err="1"/>
              <a:t>karena</a:t>
            </a:r>
            <a:r>
              <a:rPr lang="en-US" sz="1600" i="1" dirty="0"/>
              <a:t> </a:t>
            </a:r>
            <a:r>
              <a:rPr lang="en-US" sz="1600" i="1" dirty="0" err="1"/>
              <a:t>setiap</a:t>
            </a:r>
            <a:r>
              <a:rPr lang="en-US" sz="1600" i="1" dirty="0"/>
              <a:t> nama </a:t>
            </a:r>
            <a:r>
              <a:rPr lang="en-US" sz="1600" i="1" dirty="0" err="1"/>
              <a:t>merujuk</a:t>
            </a:r>
            <a:r>
              <a:rPr lang="en-US" sz="1600" i="1" dirty="0"/>
              <a:t> </a:t>
            </a:r>
            <a:r>
              <a:rPr lang="en-US" sz="1600" i="1" dirty="0" err="1"/>
              <a:t>ke</a:t>
            </a:r>
            <a:r>
              <a:rPr lang="en-US" sz="1600" i="1" dirty="0"/>
              <a:t> ID yang </a:t>
            </a:r>
            <a:r>
              <a:rPr lang="en-US" sz="1600" i="1" dirty="0" err="1"/>
              <a:t>unik</a:t>
            </a:r>
            <a:endParaRPr lang="en-US" sz="1600" i="1" dirty="0"/>
          </a:p>
          <a:p>
            <a:pPr>
              <a:buFont typeface="Wingdings" pitchFamily="2" charset="2"/>
              <a:buChar char="Ø"/>
            </a:pPr>
            <a:r>
              <a:rPr lang="en-US" sz="1600" b="1" i="1" dirty="0">
                <a:solidFill>
                  <a:srgbClr val="FFC000"/>
                </a:solidFill>
              </a:rPr>
              <a:t>Alamat </a:t>
            </a:r>
            <a:r>
              <a:rPr lang="en-US" sz="1600" b="1" dirty="0">
                <a:solidFill>
                  <a:srgbClr val="FFC000"/>
                </a:solidFill>
              </a:rPr>
              <a:t>→ </a:t>
            </a:r>
            <a:r>
              <a:rPr lang="en-US" sz="1600" b="1" i="1" dirty="0">
                <a:solidFill>
                  <a:srgbClr val="FFC000"/>
                </a:solidFill>
              </a:rPr>
              <a:t>Nama</a:t>
            </a:r>
            <a:r>
              <a:rPr lang="en-US" sz="1600" i="1" dirty="0"/>
              <a:t>  : </a:t>
            </a:r>
            <a:r>
              <a:rPr lang="en-US" sz="1600" i="1" dirty="0" err="1"/>
              <a:t>benar</a:t>
            </a:r>
            <a:r>
              <a:rPr lang="en-US" sz="1600" i="1" dirty="0"/>
              <a:t> </a:t>
            </a:r>
            <a:r>
              <a:rPr lang="en-US" sz="1600" i="1" dirty="0" err="1"/>
              <a:t>untuk</a:t>
            </a:r>
            <a:r>
              <a:rPr lang="en-US" sz="1600" i="1" dirty="0"/>
              <a:t> data </a:t>
            </a:r>
            <a:r>
              <a:rPr lang="en-US" sz="1600" i="1" dirty="0" err="1"/>
              <a:t>ini</a:t>
            </a:r>
            <a:r>
              <a:rPr lang="en-US" sz="1600" i="1" dirty="0"/>
              <a:t>, </a:t>
            </a:r>
            <a:r>
              <a:rPr lang="en-US" sz="1600" i="1" dirty="0" err="1"/>
              <a:t>karena</a:t>
            </a:r>
            <a:r>
              <a:rPr lang="en-US" sz="1600" i="1" dirty="0"/>
              <a:t> </a:t>
            </a:r>
            <a:r>
              <a:rPr lang="en-US" sz="1600" i="1" dirty="0" err="1"/>
              <a:t>setiap</a:t>
            </a:r>
            <a:r>
              <a:rPr lang="en-US" sz="1600" i="1" dirty="0"/>
              <a:t> Alamat </a:t>
            </a:r>
            <a:r>
              <a:rPr lang="en-US" sz="1600" i="1" dirty="0" err="1"/>
              <a:t>hanya</a:t>
            </a:r>
            <a:r>
              <a:rPr lang="en-US" sz="1600" i="1" dirty="0"/>
              <a:t> punya </a:t>
            </a:r>
            <a:r>
              <a:rPr lang="en-US" sz="1600" i="1" dirty="0" err="1"/>
              <a:t>satu</a:t>
            </a:r>
            <a:r>
              <a:rPr lang="en-US" sz="1600" i="1" dirty="0"/>
              <a:t> nama.</a:t>
            </a:r>
          </a:p>
          <a:p>
            <a:pPr marL="152400" indent="0">
              <a:buNone/>
            </a:pPr>
            <a:r>
              <a:rPr lang="en-US" sz="1600" b="1" i="1" u="sng" dirty="0" err="1">
                <a:solidFill>
                  <a:srgbClr val="C00000"/>
                </a:solidFill>
              </a:rPr>
              <a:t>Namun</a:t>
            </a:r>
            <a:r>
              <a:rPr lang="en-US" sz="1600" b="1" i="1" u="sng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secara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aturan</a:t>
            </a:r>
            <a:r>
              <a:rPr lang="en-US" sz="1600" dirty="0">
                <a:solidFill>
                  <a:schemeClr val="tx1"/>
                </a:solidFill>
              </a:rPr>
              <a:t> system (</a:t>
            </a:r>
            <a:r>
              <a:rPr lang="en-US" sz="1600" dirty="0" err="1">
                <a:solidFill>
                  <a:schemeClr val="tx1"/>
                </a:solidFill>
              </a:rPr>
              <a:t>skema</a:t>
            </a:r>
            <a:r>
              <a:rPr lang="en-US" sz="1600" dirty="0">
                <a:solidFill>
                  <a:schemeClr val="tx1"/>
                </a:solidFill>
              </a:rPr>
              <a:t>), </a:t>
            </a:r>
            <a:r>
              <a:rPr lang="en-US" sz="1600" dirty="0" err="1">
                <a:solidFill>
                  <a:schemeClr val="tx1"/>
                </a:solidFill>
              </a:rPr>
              <a:t>kita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TIDAK BOLEH </a:t>
            </a:r>
            <a:r>
              <a:rPr lang="en-US" sz="1600" dirty="0" err="1">
                <a:solidFill>
                  <a:schemeClr val="tx1"/>
                </a:solidFill>
              </a:rPr>
              <a:t>menetapkan</a:t>
            </a:r>
            <a:r>
              <a:rPr lang="en-US" sz="1600" dirty="0">
                <a:solidFill>
                  <a:schemeClr val="tx1"/>
                </a:solidFill>
              </a:rPr>
              <a:t>  </a:t>
            </a:r>
            <a:r>
              <a:rPr lang="en-US" sz="1600" dirty="0" err="1">
                <a:solidFill>
                  <a:schemeClr val="tx1"/>
                </a:solidFill>
              </a:rPr>
              <a:t>sebagai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FFC000"/>
                </a:solidFill>
              </a:rPr>
              <a:t>Nama </a:t>
            </a:r>
            <a:r>
              <a:rPr lang="en-US" sz="1600" b="1" dirty="0">
                <a:solidFill>
                  <a:srgbClr val="FFC000"/>
                </a:solidFill>
              </a:rPr>
              <a:t>→ </a:t>
            </a:r>
            <a:r>
              <a:rPr lang="en-US" sz="1600" b="1" i="1" dirty="0">
                <a:solidFill>
                  <a:srgbClr val="FFC000"/>
                </a:solidFill>
              </a:rPr>
              <a:t>ID </a:t>
            </a:r>
            <a:r>
              <a:rPr lang="en-US" sz="1600" dirty="0" err="1">
                <a:solidFill>
                  <a:schemeClr val="tx1"/>
                </a:solidFill>
              </a:rPr>
              <a:t>aturan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baku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  <a:r>
              <a:rPr lang="en-US" sz="1600" dirty="0" err="1">
                <a:solidFill>
                  <a:schemeClr val="tx1"/>
                </a:solidFill>
              </a:rPr>
              <a:t>Misalnya</a:t>
            </a:r>
            <a:r>
              <a:rPr lang="en-US" sz="1600" dirty="0">
                <a:solidFill>
                  <a:schemeClr val="tx1"/>
                </a:solidFill>
              </a:rPr>
              <a:t> pada baris </a:t>
            </a:r>
            <a:r>
              <a:rPr lang="en-US" sz="1600" dirty="0" err="1">
                <a:solidFill>
                  <a:schemeClr val="tx1"/>
                </a:solidFill>
              </a:rPr>
              <a:t>selanjutnya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ada</a:t>
            </a:r>
            <a:r>
              <a:rPr lang="en-US" sz="1600" dirty="0">
                <a:solidFill>
                  <a:schemeClr val="tx1"/>
                </a:solidFill>
              </a:rPr>
              <a:t> nama Budi </a:t>
            </a:r>
            <a:r>
              <a:rPr lang="en-US" sz="1600" dirty="0" err="1">
                <a:solidFill>
                  <a:schemeClr val="tx1"/>
                </a:solidFill>
              </a:rPr>
              <a:t>dengan</a:t>
            </a:r>
            <a:r>
              <a:rPr lang="en-US" sz="1600" dirty="0">
                <a:solidFill>
                  <a:schemeClr val="tx1"/>
                </a:solidFill>
              </a:rPr>
              <a:t> ID 004. </a:t>
            </a:r>
            <a:r>
              <a:rPr lang="en-US" sz="1600" dirty="0" err="1">
                <a:solidFill>
                  <a:schemeClr val="tx1"/>
                </a:solidFill>
              </a:rPr>
              <a:t>hal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akan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melanggar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aturan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i="1" dirty="0">
                <a:solidFill>
                  <a:srgbClr val="FFC000"/>
                </a:solidFill>
              </a:rPr>
              <a:t>Nama </a:t>
            </a:r>
            <a:r>
              <a:rPr lang="en-US" sz="1600" b="1" dirty="0">
                <a:solidFill>
                  <a:srgbClr val="FFC000"/>
                </a:solidFill>
              </a:rPr>
              <a:t>→ </a:t>
            </a:r>
            <a:r>
              <a:rPr lang="en-US" sz="1600" b="1" i="1" dirty="0">
                <a:solidFill>
                  <a:srgbClr val="FFC000"/>
                </a:solidFill>
              </a:rPr>
              <a:t>ID. </a:t>
            </a:r>
            <a:r>
              <a:rPr lang="en-US" sz="1600" dirty="0" err="1">
                <a:solidFill>
                  <a:schemeClr val="tx1"/>
                </a:solidFill>
              </a:rPr>
              <a:t>Kegagal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aturan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terjadi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karena</a:t>
            </a:r>
            <a:r>
              <a:rPr lang="en-US" sz="1600" dirty="0">
                <a:solidFill>
                  <a:schemeClr val="tx1"/>
                </a:solidFill>
              </a:rPr>
              <a:t> pada </a:t>
            </a:r>
            <a:r>
              <a:rPr lang="en-US" sz="1600" dirty="0" err="1">
                <a:solidFill>
                  <a:schemeClr val="tx1"/>
                </a:solidFill>
              </a:rPr>
              <a:t>kolom</a:t>
            </a:r>
            <a:r>
              <a:rPr lang="en-US" sz="1600" dirty="0">
                <a:solidFill>
                  <a:schemeClr val="tx1"/>
                </a:solidFill>
              </a:rPr>
              <a:t> nama </a:t>
            </a:r>
            <a:r>
              <a:rPr lang="en-US" sz="1600" dirty="0" err="1">
                <a:solidFill>
                  <a:schemeClr val="tx1"/>
                </a:solidFill>
              </a:rPr>
              <a:t>terdapat</a:t>
            </a:r>
            <a:r>
              <a:rPr lang="en-US" sz="1600" dirty="0">
                <a:solidFill>
                  <a:schemeClr val="tx1"/>
                </a:solidFill>
              </a:rPr>
              <a:t> dua nama Budi, </a:t>
            </a:r>
            <a:r>
              <a:rPr lang="en-US" sz="1600" dirty="0" err="1">
                <a:solidFill>
                  <a:schemeClr val="tx1"/>
                </a:solidFill>
              </a:rPr>
              <a:t>dengan</a:t>
            </a:r>
            <a:r>
              <a:rPr lang="en-US" sz="1600" dirty="0">
                <a:solidFill>
                  <a:schemeClr val="tx1"/>
                </a:solidFill>
              </a:rPr>
              <a:t> ID yang </a:t>
            </a:r>
            <a:r>
              <a:rPr lang="en-US" sz="1600" dirty="0" err="1">
                <a:solidFill>
                  <a:schemeClr val="tx1"/>
                </a:solidFill>
              </a:rPr>
              <a:t>berbeda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i="1" u="sng" dirty="0">
              <a:solidFill>
                <a:srgbClr val="C00000"/>
              </a:solidFill>
            </a:endParaRPr>
          </a:p>
          <a:p>
            <a:pPr>
              <a:buFont typeface="Wingdings" pitchFamily="2" charset="2"/>
              <a:buChar char="Ø"/>
            </a:pPr>
            <a:endParaRPr lang="en-US" sz="1600" i="1" dirty="0"/>
          </a:p>
          <a:p>
            <a:pPr>
              <a:buFont typeface="Wingdings" pitchFamily="2" charset="2"/>
              <a:buChar char="Ø"/>
            </a:pPr>
            <a:endParaRPr lang="en-US" sz="1600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75CC3C-42CA-CBA8-7AA1-50AC4BA12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162818"/>
              </p:ext>
            </p:extLst>
          </p:nvPr>
        </p:nvGraphicFramePr>
        <p:xfrm>
          <a:off x="2075410" y="1017725"/>
          <a:ext cx="4993179" cy="1483360"/>
        </p:xfrm>
        <a:graphic>
          <a:graphicData uri="http://schemas.openxmlformats.org/drawingml/2006/table">
            <a:tbl>
              <a:tblPr firstRow="1" bandRow="1">
                <a:tableStyleId>{41DC9C12-13C3-427B-B50E-1C3D4F8C5AD2}</a:tableStyleId>
              </a:tblPr>
              <a:tblGrid>
                <a:gridCol w="678873">
                  <a:extLst>
                    <a:ext uri="{9D8B030D-6E8A-4147-A177-3AD203B41FA5}">
                      <a16:colId xmlns:a16="http://schemas.microsoft.com/office/drawing/2014/main" val="2299957366"/>
                    </a:ext>
                  </a:extLst>
                </a:gridCol>
                <a:gridCol w="2061556">
                  <a:extLst>
                    <a:ext uri="{9D8B030D-6E8A-4147-A177-3AD203B41FA5}">
                      <a16:colId xmlns:a16="http://schemas.microsoft.com/office/drawing/2014/main" val="1735009100"/>
                    </a:ext>
                  </a:extLst>
                </a:gridCol>
                <a:gridCol w="2252750">
                  <a:extLst>
                    <a:ext uri="{9D8B030D-6E8A-4147-A177-3AD203B41FA5}">
                      <a16:colId xmlns:a16="http://schemas.microsoft.com/office/drawing/2014/main" val="6086929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Alamat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Jakarta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02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Bandung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676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Surabaya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463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872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7992-8738-8CE2-7C97-D7C7EEC2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AC38-D9EB-6337-0A09-070DAABE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r>
              <a:rPr lang="en-ID" b="1" dirty="0"/>
              <a:t>  (Continue)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0F939-49CD-0C4B-7327-948EC24E7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947487"/>
          </a:xfrm>
        </p:spPr>
        <p:txBody>
          <a:bodyPr/>
          <a:lstStyle/>
          <a:p>
            <a:pPr marL="152400" indent="0">
              <a:buNone/>
            </a:pPr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ketergantungan</a:t>
            </a:r>
            <a:r>
              <a:rPr lang="en-ID" sz="2400" dirty="0"/>
              <a:t> </a:t>
            </a:r>
            <a:r>
              <a:rPr lang="en-ID" sz="2400" dirty="0" err="1"/>
              <a:t>fungsional</a:t>
            </a:r>
            <a:r>
              <a:rPr lang="en-ID" sz="2400" dirty="0"/>
              <a:t> </a:t>
            </a:r>
            <a:r>
              <a:rPr lang="en-ID" sz="2400" dirty="0" err="1"/>
              <a:t>dikatakan</a:t>
            </a:r>
            <a:r>
              <a:rPr lang="en-ID" sz="2400" dirty="0"/>
              <a:t> </a:t>
            </a:r>
            <a:r>
              <a:rPr lang="en-ID" sz="2400" b="1" dirty="0">
                <a:solidFill>
                  <a:srgbClr val="FFC000"/>
                </a:solidFill>
              </a:rPr>
              <a:t>trivial</a:t>
            </a:r>
            <a:r>
              <a:rPr lang="en-ID" sz="2400" dirty="0"/>
              <a:t>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ia</a:t>
            </a:r>
            <a:r>
              <a:rPr lang="en-ID" sz="2400" dirty="0"/>
              <a:t> </a:t>
            </a:r>
            <a:r>
              <a:rPr lang="en-ID" sz="2400" dirty="0" err="1"/>
              <a:t>dipenuhi</a:t>
            </a:r>
            <a:r>
              <a:rPr lang="en-ID" sz="2400" dirty="0"/>
              <a:t> oleh </a:t>
            </a:r>
            <a:r>
              <a:rPr lang="en-ID" sz="2400" dirty="0" err="1"/>
              <a:t>semua</a:t>
            </a:r>
            <a:r>
              <a:rPr lang="en-ID" sz="2400" dirty="0"/>
              <a:t> </a:t>
            </a:r>
            <a:r>
              <a:rPr lang="en-ID" sz="2400" dirty="0" err="1"/>
              <a:t>instans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suatu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.</a:t>
            </a:r>
          </a:p>
          <a:p>
            <a:pPr lvl="1"/>
            <a:r>
              <a:rPr lang="en-ID" sz="2400" b="1" dirty="0" err="1"/>
              <a:t>Contoh</a:t>
            </a:r>
            <a:r>
              <a:rPr lang="en-ID" sz="2400" b="1" dirty="0"/>
              <a:t>:</a:t>
            </a:r>
          </a:p>
          <a:p>
            <a:pPr marL="1143000" lvl="2" indent="-228600">
              <a:spcBef>
                <a:spcPts val="480"/>
              </a:spcBef>
              <a:buSzPts val="2400"/>
              <a:buChar char="•"/>
            </a:pPr>
            <a:r>
              <a:rPr lang="en-US" sz="2400" i="1" dirty="0"/>
              <a:t>ID, name </a:t>
            </a:r>
            <a:r>
              <a:rPr lang="en-US" sz="2400" dirty="0"/>
              <a:t>→ </a:t>
            </a:r>
            <a:r>
              <a:rPr lang="en-US" sz="2400" i="1" dirty="0"/>
              <a:t>ID</a:t>
            </a:r>
            <a:endParaRPr lang="en-US" sz="2400" dirty="0"/>
          </a:p>
          <a:p>
            <a:pPr marL="1143000" lvl="2" indent="-228600">
              <a:spcBef>
                <a:spcPts val="480"/>
              </a:spcBef>
              <a:buSzPts val="2400"/>
              <a:buChar char="•"/>
            </a:pPr>
            <a:r>
              <a:rPr lang="en-US" sz="2400" i="1" dirty="0"/>
              <a:t>name </a:t>
            </a:r>
            <a:r>
              <a:rPr lang="en-US" sz="2400" dirty="0"/>
              <a:t>→ </a:t>
            </a:r>
            <a:r>
              <a:rPr lang="en-US" sz="2400" i="1" dirty="0"/>
              <a:t>name </a:t>
            </a:r>
            <a:endParaRPr lang="en-ID" sz="2400" b="1" dirty="0"/>
          </a:p>
          <a:p>
            <a:pPr lvl="1"/>
            <a:r>
              <a:rPr lang="en-ID" sz="2400" b="1" dirty="0" err="1"/>
              <a:t>Secara</a:t>
            </a:r>
            <a:r>
              <a:rPr lang="en-ID" sz="2400" b="1" dirty="0"/>
              <a:t> </a:t>
            </a:r>
            <a:r>
              <a:rPr lang="en-ID" sz="2400" b="1" dirty="0" err="1"/>
              <a:t>umum</a:t>
            </a:r>
            <a:r>
              <a:rPr lang="en-ID" sz="2400" b="1" dirty="0"/>
              <a:t>, </a:t>
            </a:r>
            <a:r>
              <a:rPr lang="el-GR" sz="2400" dirty="0"/>
              <a:t>α → </a:t>
            </a:r>
            <a:r>
              <a:rPr lang="el-GR" sz="2400" i="1" dirty="0"/>
              <a:t>β</a:t>
            </a:r>
            <a:r>
              <a:rPr lang="en-ID" sz="2400" b="1" dirty="0"/>
              <a:t> </a:t>
            </a:r>
            <a:r>
              <a:rPr lang="en-ID" sz="2400" b="1" dirty="0" err="1"/>
              <a:t>adalah</a:t>
            </a:r>
            <a:r>
              <a:rPr lang="en-ID" sz="2400" b="1" dirty="0"/>
              <a:t> </a:t>
            </a:r>
            <a:r>
              <a:rPr lang="en-ID" sz="2400" b="1" dirty="0">
                <a:solidFill>
                  <a:srgbClr val="FFC000"/>
                </a:solidFill>
              </a:rPr>
              <a:t>trivial</a:t>
            </a:r>
            <a:r>
              <a:rPr lang="en-ID" sz="2400" b="1" dirty="0"/>
              <a:t> </a:t>
            </a:r>
            <a:r>
              <a:rPr lang="en-ID" sz="2400" b="1" dirty="0" err="1"/>
              <a:t>jika</a:t>
            </a:r>
            <a:r>
              <a:rPr lang="en-ID" sz="2400" b="1" dirty="0"/>
              <a:t> </a:t>
            </a:r>
            <a:r>
              <a:rPr lang="el-GR" sz="2400" i="1" dirty="0"/>
              <a:t> β</a:t>
            </a:r>
            <a:r>
              <a:rPr lang="el-GR" sz="2400" dirty="0"/>
              <a:t> ⊆ α</a:t>
            </a:r>
            <a:endParaRPr lang="en-ID" sz="2400" b="1" dirty="0"/>
          </a:p>
          <a:p>
            <a:pPr lvl="1"/>
            <a:endParaRPr lang="en-ID" sz="2400" dirty="0"/>
          </a:p>
          <a:p>
            <a:pPr marL="457200" lvl="1" indent="0">
              <a:spcBef>
                <a:spcPts val="560"/>
              </a:spcBef>
              <a:buSzPts val="2800"/>
              <a:buNone/>
            </a:pPr>
            <a:r>
              <a:rPr lang="en-US" sz="2400" i="1" dirty="0"/>
              <a:t> </a:t>
            </a:r>
            <a:br>
              <a:rPr lang="el-GR" sz="2400" i="1" dirty="0"/>
            </a:br>
            <a:r>
              <a:rPr lang="el-GR" sz="2400" i="1" dirty="0"/>
              <a:t> 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421613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7CEC-6B7D-C1B5-F0C6-12E1ABB0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Teori </a:t>
            </a:r>
            <a:r>
              <a:rPr lang="en-ID" b="1" dirty="0" err="1"/>
              <a:t>Ketergantungan-Fungsional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9385F-5CDD-6206-87BA-25EC687B3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72671"/>
          </a:xfrm>
        </p:spPr>
        <p:txBody>
          <a:bodyPr/>
          <a:lstStyle/>
          <a:p>
            <a:r>
              <a:rPr lang="en-ID" sz="2000" b="1" dirty="0">
                <a:solidFill>
                  <a:srgbClr val="FFC000"/>
                </a:solidFill>
              </a:rPr>
              <a:t>Kita </a:t>
            </a:r>
            <a:r>
              <a:rPr lang="en-ID" sz="2000" b="1" dirty="0" err="1">
                <a:solidFill>
                  <a:srgbClr val="FFC000"/>
                </a:solidFill>
              </a:rPr>
              <a:t>sekarang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mempertimbangkan</a:t>
            </a:r>
            <a:r>
              <a:rPr lang="en-ID" sz="2000" dirty="0"/>
              <a:t> </a:t>
            </a:r>
            <a:r>
              <a:rPr lang="en-ID" sz="2000" dirty="0" err="1"/>
              <a:t>teori</a:t>
            </a:r>
            <a:r>
              <a:rPr lang="en-ID" sz="2000" dirty="0"/>
              <a:t> formal yang </a:t>
            </a:r>
            <a:r>
              <a:rPr lang="en-ID" sz="2000" dirty="0" err="1"/>
              <a:t>memberi</a:t>
            </a:r>
            <a:r>
              <a:rPr lang="en-ID" sz="2000" dirty="0"/>
              <a:t> </a:t>
            </a:r>
            <a:r>
              <a:rPr lang="en-ID" sz="2000" dirty="0" err="1"/>
              <a:t>tahu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mana yang </a:t>
            </a:r>
            <a:r>
              <a:rPr lang="en-ID" sz="2000" dirty="0" err="1"/>
              <a:t>tersirat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logis</a:t>
            </a:r>
            <a:r>
              <a:rPr lang="en-ID" sz="2000" dirty="0"/>
              <a:t> oleh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yang </a:t>
            </a:r>
            <a:r>
              <a:rPr lang="en-ID" sz="2000" dirty="0" err="1"/>
              <a:t>diberikan</a:t>
            </a:r>
            <a:r>
              <a:rPr lang="en-ID" sz="2000" dirty="0"/>
              <a:t>.</a:t>
            </a:r>
          </a:p>
          <a:p>
            <a:r>
              <a:rPr lang="en-ID" sz="2000" b="1" dirty="0">
                <a:solidFill>
                  <a:srgbClr val="FFC000"/>
                </a:solidFill>
              </a:rPr>
              <a:t>Kita </a:t>
            </a:r>
            <a:r>
              <a:rPr lang="en-ID" sz="2000" b="1" dirty="0" err="1">
                <a:solidFill>
                  <a:srgbClr val="FFC000"/>
                </a:solidFill>
              </a:rPr>
              <a:t>kemudian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menghasilkan</a:t>
            </a:r>
            <a:r>
              <a:rPr lang="en-ID" sz="2000" dirty="0"/>
              <a:t> </a:t>
            </a:r>
            <a:r>
              <a:rPr lang="en-ID" sz="2000" dirty="0" err="1"/>
              <a:t>dekomposisi</a:t>
            </a:r>
            <a:r>
              <a:rPr lang="en-ID" sz="2000" dirty="0"/>
              <a:t>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kehilangan</a:t>
            </a:r>
            <a:r>
              <a:rPr lang="en-ID" sz="2000" dirty="0"/>
              <a:t> data (</a:t>
            </a:r>
            <a:r>
              <a:rPr lang="en-ID" sz="2000" i="1" dirty="0">
                <a:solidFill>
                  <a:srgbClr val="FF0000"/>
                </a:solidFill>
              </a:rPr>
              <a:t>lossless decompositions</a:t>
            </a:r>
            <a:r>
              <a:rPr lang="en-ID" sz="2000" dirty="0"/>
              <a:t>)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bentuk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BCNF</a:t>
            </a:r>
            <a:r>
              <a:rPr lang="en-ID" sz="2000" dirty="0"/>
              <a:t> dan </a:t>
            </a:r>
            <a:r>
              <a:rPr lang="en-ID" sz="2000" b="1" dirty="0">
                <a:solidFill>
                  <a:srgbClr val="FFC000"/>
                </a:solidFill>
              </a:rPr>
              <a:t>3NF</a:t>
            </a:r>
            <a:r>
              <a:rPr lang="en-ID" sz="2000" dirty="0"/>
              <a:t>.</a:t>
            </a:r>
          </a:p>
          <a:p>
            <a:r>
              <a:rPr lang="en-ID" sz="2000" b="1" dirty="0">
                <a:solidFill>
                  <a:srgbClr val="FFC000"/>
                </a:solidFill>
              </a:rPr>
              <a:t>Kita </a:t>
            </a:r>
            <a:r>
              <a:rPr lang="en-ID" sz="2000" b="1" dirty="0" err="1">
                <a:solidFill>
                  <a:srgbClr val="FFC000"/>
                </a:solidFill>
              </a:rPr>
              <a:t>kemudian</a:t>
            </a:r>
            <a:r>
              <a:rPr lang="en-ID" sz="2000" b="1" dirty="0">
                <a:solidFill>
                  <a:srgbClr val="FFC000"/>
                </a:solidFill>
              </a:rPr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mengembangkan</a:t>
            </a:r>
            <a:r>
              <a:rPr lang="en-ID" sz="2000" dirty="0"/>
              <a:t>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menguji</a:t>
            </a:r>
            <a:r>
              <a:rPr lang="en-ID" sz="2000" dirty="0"/>
              <a:t> </a:t>
            </a:r>
            <a:r>
              <a:rPr lang="en-ID" sz="2000" dirty="0" err="1"/>
              <a:t>apakah</a:t>
            </a:r>
            <a:r>
              <a:rPr lang="en-ID" sz="2000" dirty="0"/>
              <a:t> </a:t>
            </a:r>
            <a:r>
              <a:rPr lang="en-ID" sz="2000" dirty="0" err="1"/>
              <a:t>suatu</a:t>
            </a:r>
            <a:r>
              <a:rPr lang="en-ID" sz="2000" dirty="0"/>
              <a:t> </a:t>
            </a:r>
            <a:r>
              <a:rPr lang="en-ID" sz="2000" dirty="0" err="1"/>
              <a:t>dekomposisi</a:t>
            </a:r>
            <a:r>
              <a:rPr lang="en-ID" sz="2000" dirty="0"/>
              <a:t> </a:t>
            </a:r>
            <a:r>
              <a:rPr lang="en-ID" sz="2000" dirty="0" err="1"/>
              <a:t>bersifat</a:t>
            </a:r>
            <a:r>
              <a:rPr lang="en-ID" sz="2000" dirty="0"/>
              <a:t> </a:t>
            </a:r>
            <a:r>
              <a:rPr lang="en-ID" sz="2000" dirty="0" err="1"/>
              <a:t>mempertahankan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0000"/>
                </a:solidFill>
              </a:rPr>
              <a:t>dependency-preserving</a:t>
            </a:r>
            <a:r>
              <a:rPr lang="en-ID" sz="2000" dirty="0"/>
              <a:t>).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12852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C464-90B8-423A-E42E-87DBFE92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Penutupan</a:t>
            </a:r>
            <a:r>
              <a:rPr lang="en-ID" b="1" dirty="0"/>
              <a:t> (</a:t>
            </a:r>
            <a:r>
              <a:rPr lang="en-ID" b="1" i="1" dirty="0"/>
              <a:t>Closure</a:t>
            </a:r>
            <a:r>
              <a:rPr lang="en-ID" b="1" dirty="0"/>
              <a:t>)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Sekumpulan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A933C-BA31-656A-4A61-15C8D6E4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56034"/>
            <a:ext cx="7704000" cy="3581726"/>
          </a:xfrm>
        </p:spPr>
        <p:txBody>
          <a:bodyPr/>
          <a:lstStyle/>
          <a:p>
            <a:r>
              <a:rPr lang="en-ID" sz="2000" b="1" dirty="0" err="1"/>
              <a:t>Diberikan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i="1" dirty="0"/>
              <a:t>F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, </a:t>
            </a:r>
            <a:r>
              <a:rPr lang="en-ID" sz="2000" dirty="0" err="1"/>
              <a:t>terdapat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</a:t>
            </a:r>
            <a:r>
              <a:rPr lang="en-ID" sz="2000" dirty="0" err="1"/>
              <a:t>tertentu</a:t>
            </a:r>
            <a:r>
              <a:rPr lang="en-ID" sz="2000" dirty="0"/>
              <a:t> </a:t>
            </a:r>
            <a:r>
              <a:rPr lang="en-ID" sz="2000" dirty="0" err="1"/>
              <a:t>lainnya</a:t>
            </a:r>
            <a:r>
              <a:rPr lang="en-ID" sz="2000" dirty="0"/>
              <a:t> yang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logis</a:t>
            </a:r>
            <a:r>
              <a:rPr lang="en-ID" sz="2000" dirty="0"/>
              <a:t> </a:t>
            </a:r>
            <a:r>
              <a:rPr lang="en-ID" sz="2000" dirty="0" err="1"/>
              <a:t>tersirat</a:t>
            </a:r>
            <a:r>
              <a:rPr lang="en-ID" sz="2000" dirty="0"/>
              <a:t> oleh </a:t>
            </a:r>
            <a:r>
              <a:rPr lang="en-ID" sz="2000" i="1" dirty="0"/>
              <a:t>F</a:t>
            </a:r>
            <a:r>
              <a:rPr lang="en-ID" sz="2000" dirty="0"/>
              <a:t>.</a:t>
            </a:r>
          </a:p>
          <a:p>
            <a:pPr lvl="1"/>
            <a:r>
              <a:rPr lang="en-ID" sz="2000" b="1" dirty="0" err="1"/>
              <a:t>Sebagai</a:t>
            </a:r>
            <a:r>
              <a:rPr lang="en-ID" sz="2000" b="1" dirty="0"/>
              <a:t> </a:t>
            </a:r>
            <a:r>
              <a:rPr lang="en-ID" sz="2000" b="1" dirty="0" err="1"/>
              <a:t>contoh</a:t>
            </a:r>
            <a:r>
              <a:rPr lang="en-ID" sz="2000" b="1" dirty="0"/>
              <a:t>:</a:t>
            </a:r>
            <a:r>
              <a:rPr lang="en-ID" sz="2000" dirty="0"/>
              <a:t> Jika </a:t>
            </a:r>
            <a:r>
              <a:rPr lang="en-US" sz="2000" b="1" i="1" dirty="0">
                <a:solidFill>
                  <a:srgbClr val="FFC000"/>
                </a:solidFill>
              </a:rPr>
              <a:t>A</a:t>
            </a:r>
            <a:r>
              <a:rPr lang="en-US" sz="2000" b="1" dirty="0">
                <a:solidFill>
                  <a:srgbClr val="FFC000"/>
                </a:solidFill>
              </a:rPr>
              <a:t> → </a:t>
            </a:r>
            <a:r>
              <a:rPr lang="en-US" sz="2000" b="1" i="1" dirty="0">
                <a:solidFill>
                  <a:srgbClr val="FFC000"/>
                </a:solidFill>
              </a:rPr>
              <a:t>B</a:t>
            </a:r>
            <a:r>
              <a:rPr lang="en-ID" sz="2000" dirty="0"/>
              <a:t> dan </a:t>
            </a:r>
            <a:r>
              <a:rPr lang="en-US" sz="2000" b="1" i="1" dirty="0">
                <a:solidFill>
                  <a:srgbClr val="FFC000"/>
                </a:solidFill>
              </a:rPr>
              <a:t>B</a:t>
            </a:r>
            <a:r>
              <a:rPr lang="en-US" sz="2000" b="1" dirty="0">
                <a:solidFill>
                  <a:srgbClr val="FFC000"/>
                </a:solidFill>
              </a:rPr>
              <a:t> → </a:t>
            </a:r>
            <a:r>
              <a:rPr lang="en-US" sz="2000" b="1" i="1" dirty="0">
                <a:solidFill>
                  <a:srgbClr val="FFC000"/>
                </a:solidFill>
              </a:rPr>
              <a:t>C</a:t>
            </a:r>
            <a:r>
              <a:rPr lang="en-ID" sz="2000" dirty="0"/>
              <a:t>, </a:t>
            </a:r>
            <a:r>
              <a:rPr lang="en-ID" sz="2000" dirty="0" err="1"/>
              <a:t>maka</a:t>
            </a:r>
            <a:r>
              <a:rPr lang="en-ID" sz="2000" dirty="0"/>
              <a:t>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menyimpulkan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US" sz="2000" b="1" i="1" dirty="0">
                <a:solidFill>
                  <a:srgbClr val="FFC000"/>
                </a:solidFill>
              </a:rPr>
              <a:t>A</a:t>
            </a:r>
            <a:r>
              <a:rPr lang="en-US" sz="2000" b="1" dirty="0">
                <a:solidFill>
                  <a:srgbClr val="FFC000"/>
                </a:solidFill>
              </a:rPr>
              <a:t> → </a:t>
            </a:r>
            <a:r>
              <a:rPr lang="en-US" sz="2000" b="1" i="1" dirty="0">
                <a:solidFill>
                  <a:srgbClr val="FFC000"/>
                </a:solidFill>
              </a:rPr>
              <a:t>C</a:t>
            </a:r>
            <a:r>
              <a:rPr lang="en-ID" sz="2000" dirty="0"/>
              <a:t>.</a:t>
            </a:r>
          </a:p>
          <a:p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semua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yang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logis</a:t>
            </a:r>
            <a:r>
              <a:rPr lang="en-ID" sz="2000" dirty="0"/>
              <a:t> </a:t>
            </a:r>
            <a:r>
              <a:rPr lang="en-ID" sz="2000" dirty="0" err="1"/>
              <a:t>tersirat</a:t>
            </a:r>
            <a:r>
              <a:rPr lang="en-ID" sz="2000" dirty="0"/>
              <a:t> oleh </a:t>
            </a:r>
            <a:r>
              <a:rPr lang="en-ID" sz="2000" i="1" dirty="0"/>
              <a:t>F</a:t>
            </a:r>
            <a:r>
              <a:rPr lang="en-ID" sz="2000" dirty="0"/>
              <a:t> </a:t>
            </a:r>
            <a:r>
              <a:rPr lang="en-ID" sz="2000" dirty="0" err="1"/>
              <a:t>disebut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penutupan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C000"/>
                </a:solidFill>
              </a:rPr>
              <a:t>closure</a:t>
            </a:r>
            <a:r>
              <a:rPr lang="en-ID" sz="2000" b="1" dirty="0"/>
              <a:t>)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F</a:t>
            </a:r>
            <a:r>
              <a:rPr lang="en-ID" sz="2000" dirty="0"/>
              <a:t>.</a:t>
            </a:r>
          </a:p>
          <a:p>
            <a:r>
              <a:rPr lang="en-ID" sz="2000" dirty="0"/>
              <a:t>Kita </a:t>
            </a:r>
            <a:r>
              <a:rPr lang="en-ID" sz="2000" dirty="0" err="1"/>
              <a:t>melambangkan</a:t>
            </a:r>
            <a:r>
              <a:rPr lang="en-ID" sz="2000" dirty="0"/>
              <a:t> </a:t>
            </a:r>
            <a:r>
              <a:rPr lang="en-ID" sz="2000" b="1" i="1" dirty="0">
                <a:solidFill>
                  <a:srgbClr val="FFC000"/>
                </a:solidFill>
              </a:rPr>
              <a:t>closure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F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US" sz="2000" b="1" i="1" dirty="0">
                <a:solidFill>
                  <a:srgbClr val="FFC000"/>
                </a:solidFill>
              </a:rPr>
              <a:t>F</a:t>
            </a:r>
            <a:r>
              <a:rPr lang="en-US" sz="2000" b="1" i="1" baseline="30000" dirty="0">
                <a:solidFill>
                  <a:srgbClr val="FFC000"/>
                </a:solidFill>
              </a:rPr>
              <a:t>+</a:t>
            </a:r>
            <a:r>
              <a:rPr lang="en-ID" sz="2000" dirty="0"/>
              <a:t>.</a:t>
            </a:r>
          </a:p>
          <a:p>
            <a:r>
              <a:rPr lang="en-US" sz="2000" b="1" i="1" dirty="0">
                <a:solidFill>
                  <a:srgbClr val="FFC000"/>
                </a:solidFill>
              </a:rPr>
              <a:t>F</a:t>
            </a:r>
            <a:r>
              <a:rPr lang="en-US" sz="2000" b="1" i="1" baseline="30000" dirty="0">
                <a:solidFill>
                  <a:srgbClr val="FFC000"/>
                </a:solidFill>
              </a:rPr>
              <a:t>+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superset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F</a:t>
            </a:r>
            <a:r>
              <a:rPr lang="en-ID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19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D839-CB98-1467-F658-B8F97A95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Penutupan</a:t>
            </a:r>
            <a:r>
              <a:rPr lang="en-ID" b="1" dirty="0"/>
              <a:t> (</a:t>
            </a:r>
            <a:r>
              <a:rPr lang="en-ID" b="1" i="1" dirty="0"/>
              <a:t>Closure</a:t>
            </a:r>
            <a:r>
              <a:rPr lang="en-ID" b="1" dirty="0"/>
              <a:t>)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Sekumpulan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AEE7F-FFE2-3A2B-CA5D-E80BDC38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445905"/>
            <a:ext cx="7704000" cy="2768648"/>
          </a:xfrm>
        </p:spPr>
        <p:txBody>
          <a:bodyPr/>
          <a:lstStyle/>
          <a:p>
            <a:r>
              <a:rPr lang="en-ID" sz="1600" b="1" dirty="0"/>
              <a:t>Kita </a:t>
            </a:r>
            <a:r>
              <a:rPr lang="en-ID" sz="1600" b="1" dirty="0" err="1">
                <a:solidFill>
                  <a:srgbClr val="FFC000"/>
                </a:solidFill>
              </a:rPr>
              <a:t>dapat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menemukan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US" sz="1600" b="1" dirty="0">
                <a:solidFill>
                  <a:srgbClr val="FFC000"/>
                </a:solidFill>
              </a:rPr>
              <a:t>F</a:t>
            </a:r>
            <a:r>
              <a:rPr lang="en-US" sz="1600" b="1" i="1" baseline="30000" dirty="0">
                <a:solidFill>
                  <a:srgbClr val="FFC000"/>
                </a:solidFill>
              </a:rPr>
              <a:t>+</a:t>
            </a:r>
            <a:r>
              <a:rPr lang="en-ID" sz="1600" dirty="0"/>
              <a:t>, </a:t>
            </a:r>
            <a:r>
              <a:rPr lang="en-ID" sz="1600" dirty="0" err="1"/>
              <a:t>yaitu</a:t>
            </a:r>
            <a:r>
              <a:rPr lang="en-ID" sz="1600" dirty="0"/>
              <a:t> </a:t>
            </a:r>
            <a:r>
              <a:rPr lang="en-ID" sz="1600" i="1" dirty="0">
                <a:solidFill>
                  <a:srgbClr val="FF0000"/>
                </a:solidFill>
              </a:rPr>
              <a:t>closure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F,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menerapkan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berulang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Aksioma</a:t>
            </a:r>
            <a:r>
              <a:rPr lang="en-ID" sz="1600" b="1" dirty="0">
                <a:solidFill>
                  <a:srgbClr val="FFC000"/>
                </a:solidFill>
              </a:rPr>
              <a:t> Armstrong</a:t>
            </a:r>
            <a:r>
              <a:rPr lang="en-ID" sz="1600" dirty="0"/>
              <a:t>:</a:t>
            </a:r>
          </a:p>
          <a:p>
            <a:pPr marL="742950" lvl="1" indent="-285750">
              <a:spcBef>
                <a:spcPts val="518"/>
              </a:spcBef>
              <a:buSzPct val="100000"/>
              <a:buChar char="–"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l-GR" sz="1600" i="1" dirty="0"/>
              <a:t>β</a:t>
            </a:r>
            <a:r>
              <a:rPr lang="el-GR" sz="1600" dirty="0"/>
              <a:t> ⊆ α,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l-GR" sz="1600" dirty="0"/>
              <a:t>α → </a:t>
            </a:r>
            <a:r>
              <a:rPr lang="el-GR" sz="1600" i="1" dirty="0"/>
              <a:t>β                      </a:t>
            </a:r>
            <a:r>
              <a:rPr lang="en-US" sz="1600" i="1" dirty="0"/>
              <a:t>   </a:t>
            </a:r>
            <a:r>
              <a:rPr lang="el-GR" sz="1600" b="1" dirty="0"/>
              <a:t>(</a:t>
            </a:r>
            <a:r>
              <a:rPr lang="en-US" sz="1600" b="1" dirty="0">
                <a:solidFill>
                  <a:srgbClr val="FFC000"/>
                </a:solidFill>
              </a:rPr>
              <a:t>reflexivity</a:t>
            </a:r>
            <a:r>
              <a:rPr lang="en-US" sz="1600" b="1" dirty="0"/>
              <a:t>)</a:t>
            </a:r>
            <a:endParaRPr lang="en-US" sz="1600" dirty="0"/>
          </a:p>
          <a:p>
            <a:pPr marL="742950" lvl="1" indent="-285750">
              <a:spcBef>
                <a:spcPts val="518"/>
              </a:spcBef>
              <a:buSzPct val="100000"/>
              <a:buChar char="–"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l-GR" sz="1600" dirty="0"/>
              <a:t>α → </a:t>
            </a:r>
            <a:r>
              <a:rPr lang="el-GR" sz="1600" i="1" dirty="0"/>
              <a:t>β,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l-GR" sz="1600" dirty="0"/>
              <a:t>γ α →  γ </a:t>
            </a:r>
            <a:r>
              <a:rPr lang="el-GR" sz="1600" i="1" dirty="0"/>
              <a:t>β               </a:t>
            </a:r>
            <a:r>
              <a:rPr lang="en-US" sz="1600" i="1" dirty="0"/>
              <a:t>  </a:t>
            </a:r>
            <a:r>
              <a:rPr lang="el-GR" sz="1600" b="1" dirty="0"/>
              <a:t>(</a:t>
            </a:r>
            <a:r>
              <a:rPr lang="en-US" sz="1600" b="1" dirty="0">
                <a:solidFill>
                  <a:srgbClr val="FFC000"/>
                </a:solidFill>
              </a:rPr>
              <a:t>augmentation</a:t>
            </a:r>
            <a:r>
              <a:rPr lang="en-US" sz="1600" b="1" dirty="0"/>
              <a:t>)</a:t>
            </a:r>
            <a:endParaRPr lang="en-US" sz="1600" dirty="0"/>
          </a:p>
          <a:p>
            <a:pPr marL="742950" lvl="1" indent="-285750">
              <a:spcBef>
                <a:spcPts val="518"/>
              </a:spcBef>
              <a:buSzPct val="100000"/>
              <a:buChar char="–"/>
            </a:pPr>
            <a:r>
              <a:rPr lang="en-US" sz="1600" dirty="0" err="1"/>
              <a:t>jika</a:t>
            </a:r>
            <a:r>
              <a:rPr lang="en-US" sz="1600" dirty="0"/>
              <a:t> </a:t>
            </a:r>
            <a:r>
              <a:rPr lang="el-GR" sz="1600" dirty="0"/>
              <a:t>α → </a:t>
            </a:r>
            <a:r>
              <a:rPr lang="el-GR" sz="1600" i="1" dirty="0"/>
              <a:t>β, </a:t>
            </a:r>
            <a:r>
              <a:rPr lang="en-US" sz="1600" dirty="0"/>
              <a:t>dan </a:t>
            </a:r>
            <a:r>
              <a:rPr lang="el-GR" sz="1600" i="1" dirty="0"/>
              <a:t>β </a:t>
            </a:r>
            <a:r>
              <a:rPr lang="el-GR" sz="1600" dirty="0"/>
              <a:t>→ γ, </a:t>
            </a:r>
            <a:r>
              <a:rPr lang="en-US" sz="1600" dirty="0" err="1"/>
              <a:t>maka</a:t>
            </a:r>
            <a:r>
              <a:rPr lang="en-US" sz="1600" dirty="0"/>
              <a:t> </a:t>
            </a:r>
            <a:r>
              <a:rPr lang="el-GR" sz="1600" dirty="0"/>
              <a:t>α →  γ   </a:t>
            </a:r>
            <a:r>
              <a:rPr lang="en-US" sz="1600" dirty="0"/>
              <a:t> </a:t>
            </a:r>
            <a:r>
              <a:rPr lang="el-GR" sz="1600" b="1" dirty="0"/>
              <a:t>(</a:t>
            </a:r>
            <a:r>
              <a:rPr lang="en-US" sz="1600" b="1" dirty="0">
                <a:solidFill>
                  <a:srgbClr val="FFC000"/>
                </a:solidFill>
              </a:rPr>
              <a:t>transitivity</a:t>
            </a:r>
            <a:r>
              <a:rPr lang="en-US" sz="1600" b="1" dirty="0"/>
              <a:t>)</a:t>
            </a:r>
            <a:endParaRPr lang="en-ID" sz="1600" dirty="0"/>
          </a:p>
          <a:p>
            <a:r>
              <a:rPr lang="en-ID" sz="1600" b="1" dirty="0" err="1"/>
              <a:t>Aturan-aturan</a:t>
            </a:r>
            <a:r>
              <a:rPr lang="en-ID" sz="1600" b="1" dirty="0"/>
              <a:t> </a:t>
            </a:r>
            <a:r>
              <a:rPr lang="en-ID" sz="1600" b="1" dirty="0" err="1"/>
              <a:t>ini</a:t>
            </a:r>
            <a:r>
              <a:rPr lang="en-ID" sz="1600" b="1" dirty="0"/>
              <a:t> </a:t>
            </a:r>
            <a:r>
              <a:rPr lang="en-ID" sz="1600" b="1" dirty="0" err="1"/>
              <a:t>bersifat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b="1" i="1" dirty="0">
                <a:solidFill>
                  <a:srgbClr val="FFC000"/>
                </a:solidFill>
              </a:rPr>
              <a:t>sound</a:t>
            </a:r>
            <a:r>
              <a:rPr lang="en-ID" sz="1600" dirty="0"/>
              <a:t> (</a:t>
            </a:r>
            <a:r>
              <a:rPr lang="en-ID" sz="1600" dirty="0" err="1"/>
              <a:t>menghasilkan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yang </a:t>
            </a:r>
            <a:r>
              <a:rPr lang="en-ID" sz="1600" dirty="0" err="1"/>
              <a:t>benar-benar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), dan</a:t>
            </a:r>
          </a:p>
          <a:p>
            <a:pPr lvl="1"/>
            <a:r>
              <a:rPr lang="en-ID" sz="1600" b="1" i="1" dirty="0">
                <a:solidFill>
                  <a:srgbClr val="FFC000"/>
                </a:solidFill>
              </a:rPr>
              <a:t>complete</a:t>
            </a:r>
            <a:r>
              <a:rPr lang="en-ID" sz="1600" dirty="0"/>
              <a:t> (</a:t>
            </a:r>
            <a:r>
              <a:rPr lang="en-ID" sz="1600" dirty="0" err="1"/>
              <a:t>menghasilkan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yang </a:t>
            </a:r>
            <a:r>
              <a:rPr lang="en-ID" sz="1600" dirty="0" err="1"/>
              <a:t>berlaku</a:t>
            </a:r>
            <a:r>
              <a:rPr lang="en-ID" sz="1600" dirty="0"/>
              <a:t>).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09321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FCEE-4684-319C-8E58-9017044C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D27AA-D383-D451-EE87-2C5F1ECD3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932080"/>
            <a:ext cx="7704000" cy="3989049"/>
          </a:xfrm>
        </p:spPr>
        <p:txBody>
          <a:bodyPr/>
          <a:lstStyle/>
          <a:p>
            <a:r>
              <a:rPr lang="en-ID" sz="1400" dirty="0" err="1"/>
              <a:t>Misalkan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tabel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{A, B, C} dan </a:t>
            </a:r>
            <a:r>
              <a:rPr lang="en-ID" sz="1400" dirty="0" err="1"/>
              <a:t>sekumpulan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</a:t>
            </a:r>
            <a:r>
              <a:rPr lang="en-ID" sz="1400" dirty="0" err="1"/>
              <a:t>dasar</a:t>
            </a:r>
            <a:r>
              <a:rPr lang="en-ID" sz="1400" dirty="0"/>
              <a:t> F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berikut</a:t>
            </a:r>
            <a:r>
              <a:rPr lang="en-ID" sz="1400" dirty="0"/>
              <a:t>:</a:t>
            </a:r>
          </a:p>
          <a:p>
            <a:pPr lvl="1"/>
            <a:r>
              <a:rPr lang="en-US" sz="1400" b="1" i="1" dirty="0">
                <a:solidFill>
                  <a:srgbClr val="FFC000"/>
                </a:solidFill>
              </a:rPr>
              <a:t>A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B </a:t>
            </a:r>
          </a:p>
          <a:p>
            <a:pPr lvl="1"/>
            <a:r>
              <a:rPr lang="en-US" sz="1400" b="1" i="1" dirty="0">
                <a:solidFill>
                  <a:srgbClr val="FFC000"/>
                </a:solidFill>
              </a:rPr>
              <a:t>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C </a:t>
            </a:r>
          </a:p>
          <a:p>
            <a:r>
              <a:rPr lang="en-ID" sz="1400" dirty="0" err="1"/>
              <a:t>Sekarang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terapkan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Aksioma</a:t>
            </a:r>
            <a:r>
              <a:rPr lang="en-ID" sz="1400" b="1" dirty="0">
                <a:solidFill>
                  <a:srgbClr val="FFC000"/>
                </a:solidFill>
              </a:rPr>
              <a:t> Armstrong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mencari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yang </a:t>
            </a:r>
            <a:r>
              <a:rPr lang="en-ID" sz="1400" dirty="0" err="1"/>
              <a:t>mungkin</a:t>
            </a:r>
            <a:r>
              <a:rPr lang="en-ID" sz="1400" dirty="0"/>
              <a:t> (</a:t>
            </a:r>
            <a:r>
              <a:rPr lang="en-ID" sz="1400" dirty="0" err="1"/>
              <a:t>isi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F</a:t>
            </a:r>
            <a:r>
              <a:rPr lang="en-US" sz="1400" b="1" i="1" baseline="30000" dirty="0">
                <a:solidFill>
                  <a:srgbClr val="FFC000"/>
                </a:solidFill>
              </a:rPr>
              <a:t>+</a:t>
            </a:r>
            <a:r>
              <a:rPr lang="en-ID" sz="1400" dirty="0"/>
              <a:t>):</a:t>
            </a:r>
          </a:p>
          <a:p>
            <a:pPr lvl="1">
              <a:buFont typeface="+mj-lt"/>
              <a:buAutoNum type="arabicPeriod"/>
            </a:pP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dirty="0" err="1"/>
              <a:t>Transitivitas</a:t>
            </a:r>
            <a:r>
              <a:rPr lang="en-ID" sz="1400" b="1" dirty="0"/>
              <a:t> (</a:t>
            </a:r>
            <a:r>
              <a:rPr lang="en-ID" sz="1400" b="1" dirty="0">
                <a:solidFill>
                  <a:srgbClr val="FFC000"/>
                </a:solidFill>
              </a:rPr>
              <a:t>Transitivity</a:t>
            </a:r>
            <a:r>
              <a:rPr lang="en-ID" sz="1400" b="1" dirty="0"/>
              <a:t>)</a:t>
            </a:r>
          </a:p>
          <a:p>
            <a:pPr lvl="2"/>
            <a:r>
              <a:rPr lang="en-ID" sz="1400" dirty="0"/>
              <a:t>Karena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tahu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A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B</a:t>
            </a:r>
            <a:r>
              <a:rPr lang="en-ID" sz="1400" dirty="0"/>
              <a:t> dan </a:t>
            </a:r>
            <a:r>
              <a:rPr lang="en-US" sz="1400" b="1" i="1" dirty="0">
                <a:solidFill>
                  <a:srgbClr val="FFC000"/>
                </a:solidFill>
              </a:rPr>
              <a:t>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C</a:t>
            </a:r>
            <a:r>
              <a:rPr lang="en-ID" sz="1400" dirty="0"/>
              <a:t>, </a:t>
            </a:r>
            <a:r>
              <a:rPr lang="en-ID" sz="1400" dirty="0" err="1"/>
              <a:t>maka</a:t>
            </a:r>
            <a:r>
              <a:rPr lang="en-ID" sz="1400" dirty="0"/>
              <a:t> </a:t>
            </a:r>
            <a:r>
              <a:rPr lang="en-ID" sz="1400" dirty="0" err="1"/>
              <a:t>menurut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transitivitas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menyimpulkan</a:t>
            </a:r>
            <a:r>
              <a:rPr lang="en-ID" sz="1400" dirty="0"/>
              <a:t>:</a:t>
            </a:r>
          </a:p>
          <a:p>
            <a:pPr lvl="3"/>
            <a:r>
              <a:rPr lang="en-US" sz="1400" b="1" i="1" dirty="0">
                <a:solidFill>
                  <a:srgbClr val="FFC000"/>
                </a:solidFill>
              </a:rPr>
              <a:t>A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C</a:t>
            </a:r>
            <a:r>
              <a:rPr lang="en-ID" sz="1400" dirty="0"/>
              <a:t> (</a:t>
            </a:r>
            <a:r>
              <a:rPr lang="en-ID" sz="1400" dirty="0" err="1">
                <a:solidFill>
                  <a:srgbClr val="FF0000"/>
                </a:solidFill>
              </a:rPr>
              <a:t>Aturan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baru</a:t>
            </a:r>
            <a:r>
              <a:rPr lang="en-ID" sz="1400" dirty="0">
                <a:solidFill>
                  <a:srgbClr val="FF0000"/>
                </a:solidFill>
              </a:rPr>
              <a:t> 1</a:t>
            </a:r>
            <a:r>
              <a:rPr lang="en-ID" sz="1400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dirty="0" err="1"/>
              <a:t>Augmentasi</a:t>
            </a:r>
            <a:r>
              <a:rPr lang="en-ID" sz="1400" b="1" dirty="0"/>
              <a:t> (</a:t>
            </a:r>
            <a:r>
              <a:rPr lang="en-ID" sz="1400" b="1" dirty="0">
                <a:solidFill>
                  <a:srgbClr val="FFC000"/>
                </a:solidFill>
              </a:rPr>
              <a:t>Augmentation</a:t>
            </a:r>
            <a:r>
              <a:rPr lang="en-ID" sz="1400" b="1" dirty="0"/>
              <a:t>)</a:t>
            </a:r>
          </a:p>
          <a:p>
            <a:pPr lvl="2"/>
            <a:r>
              <a:rPr lang="en-ID" sz="1400" dirty="0"/>
              <a:t>Kita </a:t>
            </a:r>
            <a:r>
              <a:rPr lang="en-ID" sz="1400" dirty="0" err="1"/>
              <a:t>bisa</a:t>
            </a:r>
            <a:r>
              <a:rPr lang="en-ID" sz="1400" dirty="0"/>
              <a:t> </a:t>
            </a:r>
            <a:r>
              <a:rPr lang="en-ID" sz="1400" dirty="0" err="1"/>
              <a:t>menambahkan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</a:t>
            </a:r>
            <a:r>
              <a:rPr lang="en-ID" sz="1400" dirty="0" err="1"/>
              <a:t>apa</a:t>
            </a:r>
            <a:r>
              <a:rPr lang="en-ID" sz="1400" dirty="0"/>
              <a:t> </a:t>
            </a:r>
            <a:r>
              <a:rPr lang="en-ID" sz="1400" dirty="0" err="1"/>
              <a:t>saja</a:t>
            </a:r>
            <a:r>
              <a:rPr lang="en-ID" sz="1400" dirty="0"/>
              <a:t> di </a:t>
            </a:r>
            <a:r>
              <a:rPr lang="en-ID" sz="1400" dirty="0" err="1"/>
              <a:t>kedua</a:t>
            </a:r>
            <a:r>
              <a:rPr lang="en-ID" sz="1400" dirty="0"/>
              <a:t> </a:t>
            </a:r>
            <a:r>
              <a:rPr lang="en-ID" sz="1400" dirty="0" err="1"/>
              <a:t>sisi</a:t>
            </a:r>
            <a:r>
              <a:rPr lang="en-ID" sz="1400" dirty="0"/>
              <a:t>. </a:t>
            </a:r>
            <a:r>
              <a:rPr lang="en-ID" sz="1400" dirty="0" err="1"/>
              <a:t>Misalnya</a:t>
            </a:r>
            <a:r>
              <a:rPr lang="en-ID" sz="1400" dirty="0"/>
              <a:t>,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tambahkan</a:t>
            </a:r>
            <a:r>
              <a:rPr lang="en-ID" sz="1400" dirty="0"/>
              <a:t> A pada </a:t>
            </a:r>
            <a:r>
              <a:rPr lang="en-ID" sz="1400" dirty="0" err="1"/>
              <a:t>aturan</a:t>
            </a:r>
            <a:r>
              <a:rPr lang="en-ID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C</a:t>
            </a:r>
            <a:r>
              <a:rPr lang="en-ID" sz="1400" dirty="0"/>
              <a:t>, </a:t>
            </a:r>
            <a:r>
              <a:rPr lang="en-ID" sz="1400" dirty="0" err="1"/>
              <a:t>maka</a:t>
            </a:r>
            <a:r>
              <a:rPr lang="en-ID" sz="1400" dirty="0"/>
              <a:t>:</a:t>
            </a:r>
          </a:p>
          <a:p>
            <a:pPr lvl="2"/>
            <a:r>
              <a:rPr lang="en-US" sz="1400" b="1" i="1" dirty="0">
                <a:solidFill>
                  <a:srgbClr val="FFC000"/>
                </a:solidFill>
              </a:rPr>
              <a:t>AB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AC</a:t>
            </a:r>
            <a:r>
              <a:rPr lang="en-ID" sz="1400" dirty="0"/>
              <a:t> (</a:t>
            </a:r>
            <a:r>
              <a:rPr lang="en-ID" sz="1400" dirty="0" err="1">
                <a:solidFill>
                  <a:srgbClr val="FF0000"/>
                </a:solidFill>
              </a:rPr>
              <a:t>Aturan</a:t>
            </a:r>
            <a:r>
              <a:rPr lang="en-ID" sz="1400" dirty="0">
                <a:solidFill>
                  <a:srgbClr val="FF0000"/>
                </a:solidFill>
              </a:rPr>
              <a:t> </a:t>
            </a:r>
            <a:r>
              <a:rPr lang="en-ID" sz="1400" dirty="0" err="1">
                <a:solidFill>
                  <a:srgbClr val="FF0000"/>
                </a:solidFill>
              </a:rPr>
              <a:t>baru</a:t>
            </a:r>
            <a:r>
              <a:rPr lang="en-ID" sz="1400" dirty="0">
                <a:solidFill>
                  <a:srgbClr val="FF0000"/>
                </a:solidFill>
              </a:rPr>
              <a:t> 2</a:t>
            </a:r>
            <a:r>
              <a:rPr lang="en-ID" sz="1400" dirty="0"/>
              <a:t>)</a:t>
            </a:r>
          </a:p>
          <a:p>
            <a:pPr lvl="1">
              <a:buFont typeface="+mj-lt"/>
              <a:buAutoNum type="arabicPeriod"/>
            </a:pPr>
            <a:r>
              <a:rPr lang="en-ID" sz="1400" b="1" dirty="0" err="1"/>
              <a:t>Menggunakan</a:t>
            </a:r>
            <a:r>
              <a:rPr lang="en-ID" sz="1400" b="1" dirty="0"/>
              <a:t> </a:t>
            </a:r>
            <a:r>
              <a:rPr lang="en-ID" sz="1400" b="1" dirty="0" err="1"/>
              <a:t>Refleksivitas</a:t>
            </a:r>
            <a:r>
              <a:rPr lang="en-ID" sz="1400" b="1" dirty="0"/>
              <a:t> (</a:t>
            </a:r>
            <a:r>
              <a:rPr lang="en-ID" sz="1400" b="1" dirty="0">
                <a:solidFill>
                  <a:srgbClr val="FFC000"/>
                </a:solidFill>
              </a:rPr>
              <a:t>Reflexivity</a:t>
            </a:r>
            <a:r>
              <a:rPr lang="en-ID" sz="1400" b="1" dirty="0"/>
              <a:t>). </a:t>
            </a:r>
            <a:r>
              <a:rPr lang="en-ID" sz="1400" dirty="0"/>
              <a:t>Ini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aturan</a:t>
            </a:r>
            <a:r>
              <a:rPr lang="en-ID" sz="1400" dirty="0"/>
              <a:t> yang "</a:t>
            </a:r>
            <a:r>
              <a:rPr lang="en-ID" sz="1400" dirty="0" err="1"/>
              <a:t>pasti</a:t>
            </a:r>
            <a:r>
              <a:rPr lang="en-ID" sz="1400" dirty="0"/>
              <a:t> </a:t>
            </a:r>
            <a:r>
              <a:rPr lang="en-ID" sz="1400" dirty="0" err="1"/>
              <a:t>benar</a:t>
            </a:r>
            <a:r>
              <a:rPr lang="en-ID" sz="1400" dirty="0"/>
              <a:t>" (</a:t>
            </a:r>
            <a:r>
              <a:rPr lang="en-ID" sz="1400" b="1" dirty="0">
                <a:solidFill>
                  <a:srgbClr val="FFC000"/>
                </a:solidFill>
              </a:rPr>
              <a:t>trivial</a:t>
            </a:r>
            <a:r>
              <a:rPr lang="en-ID" sz="1400" dirty="0"/>
              <a:t>). Karena A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bagian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{A, B}, </a:t>
            </a:r>
            <a:r>
              <a:rPr lang="en-ID" sz="1400" dirty="0" err="1"/>
              <a:t>maka</a:t>
            </a:r>
            <a:r>
              <a:rPr lang="en-ID" sz="1400" dirty="0"/>
              <a:t>:</a:t>
            </a:r>
          </a:p>
          <a:p>
            <a:pPr lvl="2"/>
            <a:r>
              <a:rPr lang="en-US" sz="1400" b="1" i="1" dirty="0">
                <a:solidFill>
                  <a:srgbClr val="FFC000"/>
                </a:solidFill>
              </a:rPr>
              <a:t>AB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A</a:t>
            </a:r>
          </a:p>
          <a:p>
            <a:pPr lvl="2"/>
            <a:r>
              <a:rPr lang="en-US" sz="1400" b="1" i="1" dirty="0">
                <a:solidFill>
                  <a:srgbClr val="FFC000"/>
                </a:solidFill>
              </a:rPr>
              <a:t>AB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B </a:t>
            </a:r>
          </a:p>
          <a:p>
            <a:pPr lvl="2"/>
            <a:r>
              <a:rPr lang="en-US" sz="1400" b="1" i="1" dirty="0">
                <a:solidFill>
                  <a:srgbClr val="FFC000"/>
                </a:solidFill>
              </a:rPr>
              <a:t>A</a:t>
            </a:r>
            <a:r>
              <a:rPr lang="en-US" sz="1400" b="1" dirty="0">
                <a:solidFill>
                  <a:srgbClr val="FFC000"/>
                </a:solidFill>
              </a:rPr>
              <a:t> → </a:t>
            </a:r>
            <a:r>
              <a:rPr lang="en-US" sz="1400" b="1" i="1" dirty="0">
                <a:solidFill>
                  <a:srgbClr val="FFC000"/>
                </a:solidFill>
              </a:rPr>
              <a:t>A</a:t>
            </a:r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243020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C123F-836F-00E3-66A0-A221E316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(</a:t>
            </a:r>
            <a:r>
              <a:rPr lang="en-US" dirty="0" err="1"/>
              <a:t>lanjutan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25B95-4665-4A10-6561-A682254C8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72671"/>
          </a:xfrm>
        </p:spPr>
        <p:txBody>
          <a:bodyPr/>
          <a:lstStyle/>
          <a:p>
            <a:r>
              <a:rPr lang="en-ID" sz="1600" b="1" dirty="0"/>
              <a:t>Hasil Akhir </a:t>
            </a:r>
            <a:r>
              <a:rPr lang="en-US" sz="1600" b="1" i="1" dirty="0">
                <a:solidFill>
                  <a:srgbClr val="FFC000"/>
                </a:solidFill>
              </a:rPr>
              <a:t>F</a:t>
            </a:r>
            <a:r>
              <a:rPr lang="en-US" sz="1600" b="1" i="1" baseline="30000" dirty="0">
                <a:solidFill>
                  <a:srgbClr val="FFC000"/>
                </a:solidFill>
              </a:rPr>
              <a:t>+</a:t>
            </a:r>
            <a:endParaRPr lang="en-ID" sz="1600" b="1" dirty="0"/>
          </a:p>
          <a:p>
            <a:r>
              <a:rPr lang="en-ID" sz="1600" dirty="0"/>
              <a:t>Maka, </a:t>
            </a:r>
            <a:r>
              <a:rPr lang="en-US" sz="1600" b="1" i="1" dirty="0">
                <a:solidFill>
                  <a:srgbClr val="FFC000"/>
                </a:solidFill>
              </a:rPr>
              <a:t>F</a:t>
            </a:r>
            <a:r>
              <a:rPr lang="en-US" sz="1600" b="1" i="1" baseline="30000" dirty="0">
                <a:solidFill>
                  <a:srgbClr val="FFC000"/>
                </a:solidFill>
              </a:rPr>
              <a:t>+</a:t>
            </a:r>
            <a:r>
              <a:rPr lang="en-ID" sz="1600" dirty="0"/>
              <a:t> </a:t>
            </a:r>
            <a:r>
              <a:rPr lang="en-ID" sz="1600" dirty="0" err="1"/>
              <a:t>berisi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asli</a:t>
            </a:r>
            <a:r>
              <a:rPr lang="en-ID" sz="1600" dirty="0"/>
              <a:t> </a:t>
            </a:r>
            <a:r>
              <a:rPr lang="en-ID" sz="1600" dirty="0" err="1"/>
              <a:t>ditambah</a:t>
            </a:r>
            <a:r>
              <a:rPr lang="en-ID" sz="1600" dirty="0"/>
              <a:t>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baru</a:t>
            </a:r>
            <a:r>
              <a:rPr lang="en-ID" sz="1600" dirty="0"/>
              <a:t> yang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temukan</a:t>
            </a:r>
            <a:r>
              <a:rPr lang="en-ID" sz="1600" dirty="0"/>
              <a:t> </a:t>
            </a:r>
            <a:r>
              <a:rPr lang="en-ID" sz="1600" dirty="0" err="1"/>
              <a:t>tadi</a:t>
            </a:r>
            <a:r>
              <a:rPr lang="en-ID" sz="1600" dirty="0"/>
              <a:t>:</a:t>
            </a:r>
          </a:p>
          <a:p>
            <a:pPr marL="609600" lvl="1" indent="0">
              <a:buNone/>
            </a:pPr>
            <a:r>
              <a:rPr lang="en-US" sz="1600" b="1" i="1" dirty="0">
                <a:solidFill>
                  <a:srgbClr val="FFC000"/>
                </a:solidFill>
              </a:rPr>
              <a:t>F</a:t>
            </a:r>
            <a:r>
              <a:rPr lang="en-US" sz="1600" b="1" i="1" baseline="30000" dirty="0">
                <a:solidFill>
                  <a:srgbClr val="FFC000"/>
                </a:solidFill>
              </a:rPr>
              <a:t>+</a:t>
            </a:r>
            <a:r>
              <a:rPr lang="en-ID" sz="1600" dirty="0"/>
              <a:t> = {</a:t>
            </a:r>
            <a:r>
              <a:rPr lang="en-US" sz="1600" b="1" i="1" dirty="0">
                <a:solidFill>
                  <a:srgbClr val="FFC000"/>
                </a:solidFill>
              </a:rPr>
              <a:t>A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B</a:t>
            </a:r>
            <a:r>
              <a:rPr lang="en-ID" sz="1600" dirty="0"/>
              <a:t>, </a:t>
            </a:r>
            <a:r>
              <a:rPr lang="en-US" sz="1600" b="1" i="1" dirty="0">
                <a:solidFill>
                  <a:srgbClr val="FFC000"/>
                </a:solidFill>
              </a:rPr>
              <a:t>B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C</a:t>
            </a:r>
            <a:r>
              <a:rPr lang="en-ID" sz="1600" dirty="0"/>
              <a:t>, </a:t>
            </a:r>
            <a:r>
              <a:rPr lang="en-US" sz="1600" b="1" i="1" dirty="0">
                <a:solidFill>
                  <a:srgbClr val="FFC000"/>
                </a:solidFill>
              </a:rPr>
              <a:t>A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C</a:t>
            </a:r>
            <a:r>
              <a:rPr lang="en-ID" sz="1600" dirty="0"/>
              <a:t>, </a:t>
            </a:r>
            <a:r>
              <a:rPr lang="en-US" sz="1600" b="1" i="1" dirty="0">
                <a:solidFill>
                  <a:srgbClr val="FFC000"/>
                </a:solidFill>
              </a:rPr>
              <a:t>AB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AC</a:t>
            </a:r>
            <a:r>
              <a:rPr lang="en-ID" sz="1600" dirty="0"/>
              <a:t>, </a:t>
            </a:r>
            <a:r>
              <a:rPr lang="en-US" sz="1600" b="1" i="1" dirty="0">
                <a:solidFill>
                  <a:srgbClr val="FFC000"/>
                </a:solidFill>
              </a:rPr>
              <a:t>AB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A</a:t>
            </a:r>
            <a:r>
              <a:rPr lang="en-ID" sz="1600" dirty="0"/>
              <a:t>,…dan </a:t>
            </a:r>
            <a:r>
              <a:rPr lang="en-ID" sz="1600" dirty="0" err="1"/>
              <a:t>seterusnya</a:t>
            </a:r>
            <a:r>
              <a:rPr lang="en-ID" sz="1600" dirty="0"/>
              <a:t>}</a:t>
            </a:r>
          </a:p>
          <a:p>
            <a:pPr marL="609600" lvl="1" indent="0">
              <a:buNone/>
            </a:pPr>
            <a:endParaRPr lang="en-ID" sz="1600" dirty="0"/>
          </a:p>
          <a:p>
            <a:r>
              <a:rPr lang="en-ID" sz="1600" b="1" dirty="0" err="1">
                <a:solidFill>
                  <a:srgbClr val="FF0000"/>
                </a:solidFill>
              </a:rPr>
              <a:t>Kenapa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ini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penting</a:t>
            </a:r>
            <a:r>
              <a:rPr lang="en-ID" sz="1600" b="1" dirty="0">
                <a:solidFill>
                  <a:srgbClr val="FF0000"/>
                </a:solidFill>
              </a:rPr>
              <a:t>?</a:t>
            </a:r>
            <a:endParaRPr lang="en-ID" sz="1600" dirty="0">
              <a:solidFill>
                <a:srgbClr val="FF0000"/>
              </a:solidFill>
            </a:endParaRPr>
          </a:p>
          <a:p>
            <a:r>
              <a:rPr lang="en-ID" sz="1600" dirty="0"/>
              <a:t>Dalam </a:t>
            </a:r>
            <a:r>
              <a:rPr lang="en-ID" sz="1600" dirty="0" err="1"/>
              <a:t>desain</a:t>
            </a:r>
            <a:r>
              <a:rPr lang="en-ID" sz="1600" dirty="0"/>
              <a:t> database, </a:t>
            </a:r>
            <a:r>
              <a:rPr lang="en-ID" sz="1600" dirty="0" err="1"/>
              <a:t>mengetahui</a:t>
            </a:r>
            <a:r>
              <a:rPr lang="en-US" sz="1600" b="1" i="1" dirty="0">
                <a:solidFill>
                  <a:srgbClr val="FFC000"/>
                </a:solidFill>
              </a:rPr>
              <a:t> A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C</a:t>
            </a:r>
            <a:r>
              <a:rPr lang="en-ID" sz="1600" dirty="0"/>
              <a:t> sangat </a:t>
            </a:r>
            <a:r>
              <a:rPr lang="en-ID" sz="1600" dirty="0" err="1"/>
              <a:t>penting</a:t>
            </a:r>
            <a:r>
              <a:rPr lang="en-ID" sz="1600" dirty="0"/>
              <a:t> </a:t>
            </a:r>
            <a:r>
              <a:rPr lang="en-ID" sz="1600" dirty="0" err="1"/>
              <a:t>karena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menunjukkan</a:t>
            </a:r>
            <a:r>
              <a:rPr lang="en-ID" sz="1600" dirty="0"/>
              <a:t> </a:t>
            </a:r>
            <a:r>
              <a:rPr lang="en-ID" sz="1600" dirty="0" err="1"/>
              <a:t>adanya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ketergantungan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transitif</a:t>
            </a:r>
            <a:r>
              <a:rPr lang="en-ID" sz="1600" dirty="0"/>
              <a:t>. Jika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membiarkan</a:t>
            </a:r>
            <a:r>
              <a:rPr lang="en-ID" sz="1600" dirty="0"/>
              <a:t>             </a:t>
            </a:r>
            <a:r>
              <a:rPr lang="en-US" sz="1600" b="1" i="1" dirty="0">
                <a:solidFill>
                  <a:srgbClr val="FFC000"/>
                </a:solidFill>
              </a:rPr>
              <a:t>A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B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i="1" dirty="0">
                <a:solidFill>
                  <a:srgbClr val="FFC000"/>
                </a:solidFill>
              </a:rPr>
              <a:t>C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satu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, </a:t>
            </a:r>
            <a:r>
              <a:rPr lang="en-ID" sz="1600" dirty="0" err="1"/>
              <a:t>biasanya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terjadi</a:t>
            </a:r>
            <a:r>
              <a:rPr lang="en-ID" sz="1600" dirty="0"/>
              <a:t> </a:t>
            </a:r>
            <a:r>
              <a:rPr lang="en-ID" sz="1600" dirty="0" err="1"/>
              <a:t>redundansi</a:t>
            </a:r>
            <a:r>
              <a:rPr lang="en-ID" sz="1600" dirty="0"/>
              <a:t> (data </a:t>
            </a:r>
            <a:r>
              <a:rPr lang="en-ID" sz="1600" dirty="0" err="1"/>
              <a:t>berulang</a:t>
            </a:r>
            <a:r>
              <a:rPr lang="en-ID" sz="1600" dirty="0"/>
              <a:t>)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efisien</a:t>
            </a:r>
            <a:r>
              <a:rPr lang="en-ID" sz="1600" dirty="0"/>
              <a:t>. </a:t>
            </a:r>
            <a:r>
              <a:rPr lang="en-ID" sz="1600" dirty="0" err="1"/>
              <a:t>Itulah</a:t>
            </a:r>
            <a:r>
              <a:rPr lang="en-ID" sz="1600" dirty="0"/>
              <a:t> </a:t>
            </a:r>
            <a:r>
              <a:rPr lang="en-ID" sz="1600" dirty="0" err="1"/>
              <a:t>alasan</a:t>
            </a:r>
            <a:r>
              <a:rPr lang="en-ID" sz="1600" dirty="0"/>
              <a:t>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dirty="0" err="1"/>
              <a:t>perlu</a:t>
            </a:r>
            <a:r>
              <a:rPr lang="en-ID" sz="1600" dirty="0"/>
              <a:t> </a:t>
            </a:r>
            <a:r>
              <a:rPr lang="en-ID" sz="1600" dirty="0" err="1"/>
              <a:t>melakukan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Normalisasi</a:t>
            </a:r>
            <a:r>
              <a:rPr lang="en-ID" sz="1600" dirty="0"/>
              <a:t>.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7157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BF53-4606-76B7-3211-64308C255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(</a:t>
            </a:r>
            <a:r>
              <a:rPr lang="en-US" dirty="0" err="1"/>
              <a:t>lanjutan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71C0E-CDC1-0F55-7D3D-9C11E2E81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SzPct val="100000"/>
              <a:buChar char="•"/>
            </a:pPr>
            <a:r>
              <a:rPr lang="en-US" sz="1400" i="1" dirty="0"/>
              <a:t>R = (A, B, C, G, H, I)</a:t>
            </a:r>
            <a:br>
              <a:rPr lang="en-US" sz="1400" i="1" dirty="0"/>
            </a:br>
            <a:r>
              <a:rPr lang="en-US" sz="1400" i="1" dirty="0"/>
              <a:t>F = </a:t>
            </a:r>
            <a:r>
              <a:rPr lang="en-US" sz="1400" dirty="0"/>
              <a:t>{  </a:t>
            </a:r>
            <a:r>
              <a:rPr lang="en-US" sz="1400" i="1" dirty="0"/>
              <a:t>A </a:t>
            </a:r>
            <a:r>
              <a:rPr lang="en-US" sz="1400" dirty="0"/>
              <a:t>→ </a:t>
            </a:r>
            <a:r>
              <a:rPr lang="en-US" sz="1400" i="1" dirty="0"/>
              <a:t>B</a:t>
            </a:r>
            <a:br>
              <a:rPr lang="en-US" sz="1400" i="1" dirty="0"/>
            </a:br>
            <a:r>
              <a:rPr lang="en-US" sz="1400" i="1" dirty="0"/>
              <a:t>	   A </a:t>
            </a:r>
            <a:r>
              <a:rPr lang="en-US" sz="1400" dirty="0"/>
              <a:t>→ </a:t>
            </a:r>
            <a:r>
              <a:rPr lang="en-US" sz="1400" i="1" dirty="0"/>
              <a:t>C</a:t>
            </a:r>
            <a:br>
              <a:rPr lang="en-US" sz="1400" i="1" dirty="0"/>
            </a:br>
            <a:r>
              <a:rPr lang="en-US" sz="1400" i="1" dirty="0"/>
              <a:t>	CG </a:t>
            </a:r>
            <a:r>
              <a:rPr lang="en-US" sz="1400" dirty="0"/>
              <a:t>→ </a:t>
            </a:r>
            <a:r>
              <a:rPr lang="en-US" sz="1400" i="1" dirty="0"/>
              <a:t>H</a:t>
            </a:r>
            <a:br>
              <a:rPr lang="en-US" sz="1400" i="1" dirty="0"/>
            </a:br>
            <a:r>
              <a:rPr lang="en-US" sz="1400" i="1" dirty="0"/>
              <a:t>	CG </a:t>
            </a:r>
            <a:r>
              <a:rPr lang="en-US" sz="1400" dirty="0"/>
              <a:t>→ </a:t>
            </a:r>
            <a:r>
              <a:rPr lang="en-US" sz="1400" i="1" dirty="0"/>
              <a:t>I</a:t>
            </a:r>
            <a:br>
              <a:rPr lang="en-US" sz="1400" i="1" dirty="0"/>
            </a:br>
            <a:r>
              <a:rPr lang="en-US" sz="1400" i="1" dirty="0"/>
              <a:t>	   B </a:t>
            </a:r>
            <a:r>
              <a:rPr lang="en-US" sz="1400" dirty="0"/>
              <a:t>→ </a:t>
            </a:r>
            <a:r>
              <a:rPr lang="en-US" sz="1400" i="1" dirty="0"/>
              <a:t>H</a:t>
            </a:r>
            <a:r>
              <a:rPr lang="en-US" sz="1400" dirty="0"/>
              <a:t>}</a:t>
            </a:r>
          </a:p>
          <a:p>
            <a:pPr marL="342900" lvl="0" indent="-342900">
              <a:spcBef>
                <a:spcPts val="544"/>
              </a:spcBef>
              <a:buSzPct val="100000"/>
              <a:buChar char="•"/>
            </a:pPr>
            <a:r>
              <a:rPr lang="en-US" sz="1400" dirty="0"/>
              <a:t>some members of </a:t>
            </a:r>
            <a:r>
              <a:rPr lang="en-US" sz="1400" i="1" dirty="0"/>
              <a:t>F</a:t>
            </a:r>
            <a:r>
              <a:rPr lang="en-US" sz="1400" baseline="30000" dirty="0"/>
              <a:t>+</a:t>
            </a:r>
            <a:endParaRPr lang="en-US" sz="1400" dirty="0"/>
          </a:p>
          <a:p>
            <a:pPr marL="742950" lvl="1" indent="-285750">
              <a:spcBef>
                <a:spcPts val="476"/>
              </a:spcBef>
              <a:buSzPct val="100000"/>
              <a:buChar char="–"/>
            </a:pPr>
            <a:r>
              <a:rPr lang="en-US" sz="1400" i="1" dirty="0"/>
              <a:t>A </a:t>
            </a:r>
            <a:r>
              <a:rPr lang="en-US" sz="1400" dirty="0"/>
              <a:t>→ </a:t>
            </a:r>
            <a:r>
              <a:rPr lang="en-US" sz="1400" i="1" dirty="0"/>
              <a:t>H        </a:t>
            </a:r>
            <a:endParaRPr lang="en-US" sz="1400" dirty="0"/>
          </a:p>
          <a:p>
            <a:pPr marL="1143000" lvl="2" indent="-228600">
              <a:spcBef>
                <a:spcPts val="408"/>
              </a:spcBef>
              <a:buSzPct val="100000"/>
              <a:buChar char="•"/>
            </a:pPr>
            <a:r>
              <a:rPr lang="en-US" sz="1400" dirty="0" err="1"/>
              <a:t>berdasarkan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transivitas</a:t>
            </a:r>
            <a:r>
              <a:rPr lang="en-US" sz="1400" dirty="0"/>
              <a:t> </a:t>
            </a:r>
            <a:r>
              <a:rPr lang="en-US" sz="1400" dirty="0" err="1"/>
              <a:t>dari</a:t>
            </a:r>
            <a:r>
              <a:rPr lang="en-US" sz="1400" dirty="0"/>
              <a:t> </a:t>
            </a:r>
            <a:r>
              <a:rPr lang="en-US" sz="1400" i="1" dirty="0"/>
              <a:t>A </a:t>
            </a:r>
            <a:r>
              <a:rPr lang="en-US" sz="1400" dirty="0"/>
              <a:t>→ </a:t>
            </a:r>
            <a:r>
              <a:rPr lang="en-US" sz="1400" i="1" dirty="0"/>
              <a:t>B dan B </a:t>
            </a:r>
            <a:r>
              <a:rPr lang="en-US" sz="1400" dirty="0"/>
              <a:t>→ </a:t>
            </a:r>
            <a:r>
              <a:rPr lang="en-US" sz="1400" i="1" dirty="0"/>
              <a:t>H</a:t>
            </a:r>
            <a:endParaRPr lang="en-US" sz="1400" dirty="0"/>
          </a:p>
          <a:p>
            <a:pPr marL="742950" lvl="1" indent="-285750">
              <a:spcBef>
                <a:spcPts val="476"/>
              </a:spcBef>
              <a:buSzPct val="100000"/>
              <a:buChar char="–"/>
            </a:pPr>
            <a:r>
              <a:rPr lang="en-US" sz="1400" i="1" dirty="0"/>
              <a:t>AG </a:t>
            </a:r>
            <a:r>
              <a:rPr lang="en-US" sz="1400" dirty="0"/>
              <a:t>→ </a:t>
            </a:r>
            <a:r>
              <a:rPr lang="en-US" sz="1400" i="1" dirty="0"/>
              <a:t>I       </a:t>
            </a:r>
            <a:endParaRPr lang="en-US" sz="1400" dirty="0"/>
          </a:p>
          <a:p>
            <a:pPr marL="1143000" lvl="2" indent="-228600">
              <a:spcBef>
                <a:spcPts val="408"/>
              </a:spcBef>
              <a:buSzPct val="100000"/>
              <a:buChar char="•"/>
            </a:pP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meng-</a:t>
            </a:r>
            <a:r>
              <a:rPr lang="en-US" sz="1400" b="1" dirty="0" err="1">
                <a:solidFill>
                  <a:srgbClr val="FFC000"/>
                </a:solidFill>
              </a:rPr>
              <a:t>augmentasi</a:t>
            </a:r>
            <a:r>
              <a:rPr lang="en-US" sz="1400" dirty="0"/>
              <a:t> </a:t>
            </a:r>
            <a:r>
              <a:rPr lang="en-US" sz="1400" i="1" dirty="0"/>
              <a:t>A </a:t>
            </a:r>
            <a:r>
              <a:rPr lang="en-US" sz="1400" dirty="0"/>
              <a:t>→ </a:t>
            </a:r>
            <a:r>
              <a:rPr lang="en-US" sz="1400" i="1" dirty="0"/>
              <a:t>C </a:t>
            </a:r>
            <a:r>
              <a:rPr lang="en-US" sz="1400" dirty="0" err="1"/>
              <a:t>dengan</a:t>
            </a:r>
            <a:r>
              <a:rPr lang="en-US" sz="1400" dirty="0"/>
              <a:t> G,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memperoleh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AG </a:t>
            </a:r>
            <a:r>
              <a:rPr lang="en-US" sz="1400" b="1" dirty="0">
                <a:solidFill>
                  <a:srgbClr val="FFC000"/>
                </a:solidFill>
              </a:rPr>
              <a:t>→ </a:t>
            </a:r>
            <a:r>
              <a:rPr lang="en-US" sz="1400" b="1" i="1" dirty="0">
                <a:solidFill>
                  <a:srgbClr val="FFC000"/>
                </a:solidFill>
              </a:rPr>
              <a:t>CG</a:t>
            </a:r>
            <a:r>
              <a:rPr lang="en-US" sz="1400" i="1" dirty="0"/>
              <a:t> </a:t>
            </a:r>
            <a:br>
              <a:rPr lang="en-US" sz="1400" i="1" dirty="0"/>
            </a:br>
            <a:r>
              <a:rPr lang="en-US" sz="1400" i="1" dirty="0"/>
              <a:t>                   </a:t>
            </a:r>
            <a:r>
              <a:rPr lang="en-US" sz="1400" dirty="0"/>
              <a:t>dan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dirty="0" err="1"/>
              <a:t>transivitas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b="1" i="1" dirty="0">
                <a:solidFill>
                  <a:srgbClr val="FFC000"/>
                </a:solidFill>
              </a:rPr>
              <a:t>CG </a:t>
            </a:r>
            <a:r>
              <a:rPr lang="en-US" sz="1400" b="1" dirty="0">
                <a:solidFill>
                  <a:srgbClr val="FFC000"/>
                </a:solidFill>
              </a:rPr>
              <a:t>→ </a:t>
            </a:r>
            <a:r>
              <a:rPr lang="en-US" sz="1400" b="1" i="1" dirty="0">
                <a:solidFill>
                  <a:srgbClr val="FFC000"/>
                </a:solidFill>
              </a:rPr>
              <a:t>I</a:t>
            </a:r>
            <a:r>
              <a:rPr lang="en-US" sz="1400" i="1" dirty="0"/>
              <a:t> </a:t>
            </a:r>
            <a:endParaRPr lang="en-US" sz="1400" dirty="0"/>
          </a:p>
          <a:p>
            <a:pPr marL="742950" lvl="1" indent="-285750">
              <a:spcBef>
                <a:spcPts val="476"/>
              </a:spcBef>
              <a:buSzPct val="100000"/>
              <a:buChar char="–"/>
            </a:pPr>
            <a:r>
              <a:rPr lang="en-US" sz="1400" i="1" dirty="0"/>
              <a:t>CG </a:t>
            </a:r>
            <a:r>
              <a:rPr lang="en-US" sz="1400" dirty="0"/>
              <a:t>→ </a:t>
            </a:r>
            <a:r>
              <a:rPr lang="en-US" sz="1400" i="1" dirty="0"/>
              <a:t>HI     </a:t>
            </a:r>
            <a:endParaRPr lang="en-US" sz="1400" dirty="0"/>
          </a:p>
          <a:p>
            <a:pPr marL="1143000" lvl="2" indent="-228600">
              <a:spcBef>
                <a:spcPts val="408"/>
              </a:spcBef>
              <a:buSzPct val="100000"/>
              <a:buChar char="•"/>
            </a:pP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b="1" dirty="0">
                <a:solidFill>
                  <a:srgbClr val="FFC000"/>
                </a:solidFill>
              </a:rPr>
              <a:t>meng-</a:t>
            </a:r>
            <a:r>
              <a:rPr lang="en-US" sz="1400" b="1" dirty="0" err="1">
                <a:solidFill>
                  <a:srgbClr val="FFC000"/>
                </a:solidFill>
              </a:rPr>
              <a:t>augmentasi</a:t>
            </a:r>
            <a:r>
              <a:rPr lang="en-US" sz="1400" dirty="0"/>
              <a:t> </a:t>
            </a:r>
            <a:r>
              <a:rPr lang="en-US" sz="1400" i="1" dirty="0"/>
              <a:t>CG </a:t>
            </a:r>
            <a:r>
              <a:rPr lang="en-US" sz="1400" dirty="0"/>
              <a:t>→ </a:t>
            </a:r>
            <a:r>
              <a:rPr lang="en-US" sz="1400" i="1" dirty="0"/>
              <a:t>I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menyimpulkan</a:t>
            </a:r>
            <a:r>
              <a:rPr lang="en-US" sz="1400" dirty="0"/>
              <a:t> </a:t>
            </a:r>
            <a:r>
              <a:rPr lang="en-US" sz="1400" i="1" dirty="0"/>
              <a:t>CG </a:t>
            </a:r>
            <a:r>
              <a:rPr lang="en-US" sz="1400" dirty="0"/>
              <a:t>→ CG</a:t>
            </a:r>
            <a:r>
              <a:rPr lang="en-US" sz="1400" i="1" dirty="0"/>
              <a:t>I, </a:t>
            </a:r>
            <a:endParaRPr lang="en-US" sz="1400" dirty="0"/>
          </a:p>
          <a:p>
            <a:pPr marL="1143000" lvl="2" indent="-228600">
              <a:spcBef>
                <a:spcPts val="408"/>
              </a:spcBef>
              <a:buSzPct val="100000"/>
              <a:buNone/>
            </a:pPr>
            <a:r>
              <a:rPr lang="en-US" sz="1400" dirty="0"/>
              <a:t>    dan </a:t>
            </a:r>
            <a:r>
              <a:rPr lang="en-US" sz="1400" b="1" dirty="0">
                <a:solidFill>
                  <a:srgbClr val="FFC000"/>
                </a:solidFill>
              </a:rPr>
              <a:t>meng-</a:t>
            </a:r>
            <a:r>
              <a:rPr lang="en-US" sz="1400" b="1" dirty="0" err="1">
                <a:solidFill>
                  <a:srgbClr val="FFC000"/>
                </a:solidFill>
              </a:rPr>
              <a:t>augmentasi</a:t>
            </a:r>
            <a:r>
              <a:rPr lang="en-US" sz="1400" dirty="0"/>
              <a:t> </a:t>
            </a:r>
            <a:r>
              <a:rPr lang="en-US" sz="1400" i="1" dirty="0"/>
              <a:t>CG </a:t>
            </a:r>
            <a:r>
              <a:rPr lang="en-US" sz="1400" dirty="0"/>
              <a:t>→ </a:t>
            </a:r>
            <a:r>
              <a:rPr lang="en-US" sz="1400" i="1" dirty="0"/>
              <a:t>H </a:t>
            </a:r>
            <a:r>
              <a:rPr lang="en-US" sz="1400" dirty="0" err="1"/>
              <a:t>untuk</a:t>
            </a:r>
            <a:r>
              <a:rPr lang="en-US" sz="1400" dirty="0"/>
              <a:t> </a:t>
            </a:r>
            <a:r>
              <a:rPr lang="en-US" sz="1400" dirty="0" err="1"/>
              <a:t>menyimpulkan</a:t>
            </a:r>
            <a:r>
              <a:rPr lang="en-US" sz="1400" i="1" dirty="0"/>
              <a:t> CGI </a:t>
            </a:r>
            <a:r>
              <a:rPr lang="en-US" sz="1400" dirty="0"/>
              <a:t>→ </a:t>
            </a:r>
            <a:r>
              <a:rPr lang="en-US" sz="1400" i="1" dirty="0"/>
              <a:t>HI, </a:t>
            </a:r>
            <a:endParaRPr lang="en-US" sz="1400" dirty="0"/>
          </a:p>
          <a:p>
            <a:pPr marL="1143000" lvl="2" indent="-228600">
              <a:spcBef>
                <a:spcPts val="408"/>
              </a:spcBef>
              <a:buSzPct val="100000"/>
              <a:buNone/>
            </a:pPr>
            <a:r>
              <a:rPr lang="en-US" sz="1400" i="1" dirty="0"/>
              <a:t>                         </a:t>
            </a:r>
            <a:r>
              <a:rPr lang="en-US" sz="1400" dirty="0"/>
              <a:t>dan </a:t>
            </a:r>
            <a:r>
              <a:rPr lang="en-US" sz="1400" dirty="0" err="1"/>
              <a:t>kemudian</a:t>
            </a:r>
            <a:r>
              <a:rPr lang="en-US" sz="1400" dirty="0"/>
              <a:t> </a:t>
            </a:r>
            <a:r>
              <a:rPr lang="en-US" sz="1400" b="1" dirty="0" err="1">
                <a:solidFill>
                  <a:srgbClr val="FFC000"/>
                </a:solidFill>
              </a:rPr>
              <a:t>Transivitas</a:t>
            </a:r>
            <a:endParaRPr lang="en-US" sz="1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590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AF3C3-0839-0524-BAC4-AE461C8B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4DA75-BC35-ED3D-24AF-CE76A025F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DF0F1D-2C5B-881E-811B-C9EFD88F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62" y="0"/>
            <a:ext cx="442187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7365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B673-705C-4DCF-AE37-CDA3E3929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Prosedur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Menghitung</a:t>
            </a:r>
            <a:r>
              <a:rPr lang="en-ID" dirty="0"/>
              <a:t> F</a:t>
            </a:r>
            <a:r>
              <a:rPr lang="en-ID" baseline="30000" dirty="0"/>
              <a:t>+</a:t>
            </a:r>
            <a:endParaRPr lang="en-US" baseline="30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CC5D9-ECF9-15D5-F549-8AD47D500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64359"/>
          </a:xfrm>
        </p:spPr>
        <p:txBody>
          <a:bodyPr/>
          <a:lstStyle/>
          <a:p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menghitung</a:t>
            </a:r>
            <a:r>
              <a:rPr lang="en-ID" sz="1600" b="1" dirty="0"/>
              <a:t> </a:t>
            </a:r>
            <a:r>
              <a:rPr lang="en-ID" sz="1600" b="1" dirty="0" err="1"/>
              <a:t>penutupan</a:t>
            </a:r>
            <a:r>
              <a:rPr lang="en-ID" sz="1600" b="1" dirty="0"/>
              <a:t> (</a:t>
            </a:r>
            <a:r>
              <a:rPr lang="en-ID" sz="1600" b="1" i="1" dirty="0"/>
              <a:t>closure</a:t>
            </a:r>
            <a:r>
              <a:rPr lang="en-ID" sz="1600" b="1" dirty="0"/>
              <a:t>)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sekumpulan</a:t>
            </a:r>
            <a:r>
              <a:rPr lang="en-ID" sz="1600" b="1" dirty="0"/>
              <a:t> </a:t>
            </a:r>
            <a:r>
              <a:rPr lang="en-ID" sz="1600" b="1" dirty="0" err="1"/>
              <a:t>ketergantungan</a:t>
            </a:r>
            <a:r>
              <a:rPr lang="en-ID" sz="1600" b="1" dirty="0"/>
              <a:t> </a:t>
            </a:r>
            <a:r>
              <a:rPr lang="en-ID" sz="1600" b="1" dirty="0" err="1"/>
              <a:t>fungsional</a:t>
            </a:r>
            <a:r>
              <a:rPr lang="en-ID" sz="1600" b="1" dirty="0"/>
              <a:t> F:</a:t>
            </a:r>
          </a:p>
          <a:p>
            <a:endParaRPr lang="en-ID" sz="1600" dirty="0"/>
          </a:p>
          <a:p>
            <a:pPr marL="609600" lvl="1" indent="0">
              <a:buNone/>
            </a:pP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b="1" i="1" baseline="30000" dirty="0">
                <a:solidFill>
                  <a:srgbClr val="FFC000"/>
                </a:solidFill>
              </a:rPr>
              <a:t>+</a:t>
            </a:r>
            <a:r>
              <a:rPr lang="en-ID" sz="1600" b="1" i="1" dirty="0">
                <a:solidFill>
                  <a:srgbClr val="FFC000"/>
                </a:solidFill>
              </a:rPr>
              <a:t> = F</a:t>
            </a:r>
          </a:p>
          <a:p>
            <a:pPr marL="609600" lvl="1" indent="0">
              <a:buNone/>
            </a:pPr>
            <a:r>
              <a:rPr lang="en-ID" sz="1600" b="1" i="1" dirty="0">
                <a:solidFill>
                  <a:srgbClr val="FFC000"/>
                </a:solidFill>
              </a:rPr>
              <a:t>repeat</a:t>
            </a:r>
            <a:endParaRPr lang="en-ID" sz="1600" dirty="0">
              <a:solidFill>
                <a:srgbClr val="FFC000"/>
              </a:solidFill>
            </a:endParaRPr>
          </a:p>
          <a:p>
            <a:pPr marL="1066800" lvl="2" indent="0">
              <a:buNone/>
            </a:pPr>
            <a:r>
              <a:rPr lang="en-ID" sz="1600" b="1" i="1" dirty="0">
                <a:solidFill>
                  <a:srgbClr val="FFC000"/>
                </a:solidFill>
              </a:rPr>
              <a:t>for each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b="1" i="1" baseline="30000" dirty="0">
                <a:solidFill>
                  <a:srgbClr val="FFC000"/>
                </a:solidFill>
              </a:rPr>
              <a:t>+</a:t>
            </a:r>
            <a:endParaRPr lang="en-ID" sz="1600" dirty="0"/>
          </a:p>
          <a:p>
            <a:pPr marL="1066800" lvl="2" indent="0">
              <a:buNone/>
            </a:pPr>
            <a:r>
              <a:rPr lang="en-ID" sz="1600" dirty="0"/>
              <a:t>	</a:t>
            </a:r>
            <a:r>
              <a:rPr lang="en-ID" sz="1600" dirty="0" err="1"/>
              <a:t>terapkan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refleksivitas</a:t>
            </a:r>
            <a:r>
              <a:rPr lang="en-ID" sz="1600" dirty="0"/>
              <a:t> (</a:t>
            </a:r>
            <a:r>
              <a:rPr lang="en-ID" sz="1600" i="1" dirty="0"/>
              <a:t>reflexivity</a:t>
            </a:r>
            <a:r>
              <a:rPr lang="en-ID" sz="1600" dirty="0"/>
              <a:t>) dan </a:t>
            </a:r>
            <a:r>
              <a:rPr lang="en-ID" sz="1600" dirty="0" err="1"/>
              <a:t>augmentasi</a:t>
            </a:r>
            <a:r>
              <a:rPr lang="en-ID" sz="1600" dirty="0"/>
              <a:t> 	(</a:t>
            </a:r>
            <a:r>
              <a:rPr lang="en-ID" sz="1600" i="1" dirty="0"/>
              <a:t>augmentation</a:t>
            </a:r>
            <a:r>
              <a:rPr lang="en-ID" sz="1600" dirty="0"/>
              <a:t>) pada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dirty="0"/>
              <a:t>. </a:t>
            </a: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	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b="1" i="1" baseline="30000" dirty="0">
                <a:solidFill>
                  <a:srgbClr val="FFC000"/>
                </a:solidFill>
              </a:rPr>
              <a:t>+</a:t>
            </a:r>
            <a:endParaRPr lang="en-ID" sz="1600" dirty="0"/>
          </a:p>
          <a:p>
            <a:pPr marL="1066800" lvl="2" indent="0">
              <a:buNone/>
            </a:pPr>
            <a:r>
              <a:rPr lang="en-ID" sz="1600" b="1" i="1" dirty="0">
                <a:solidFill>
                  <a:srgbClr val="FFC000"/>
                </a:solidFill>
              </a:rPr>
              <a:t>for each</a:t>
            </a:r>
            <a:r>
              <a:rPr lang="en-ID" sz="1600" dirty="0"/>
              <a:t> </a:t>
            </a:r>
            <a:r>
              <a:rPr lang="en-ID" sz="1600" dirty="0" err="1"/>
              <a:t>pasangan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US" sz="1600" i="1" dirty="0"/>
              <a:t>f</a:t>
            </a:r>
            <a:r>
              <a:rPr lang="en-US" sz="1600" baseline="-25000" dirty="0"/>
              <a:t>1</a:t>
            </a:r>
            <a:r>
              <a:rPr lang="en-ID" sz="1600" dirty="0"/>
              <a:t> dan </a:t>
            </a:r>
            <a:r>
              <a:rPr lang="en-US" sz="1600" i="1" dirty="0"/>
              <a:t>f</a:t>
            </a:r>
            <a:r>
              <a:rPr lang="en-US" sz="1600" baseline="-25000" dirty="0"/>
              <a:t>2</a:t>
            </a:r>
            <a:r>
              <a:rPr lang="en-ID" sz="1600" dirty="0"/>
              <a:t> di 	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b="1" i="1" baseline="30000" dirty="0">
                <a:solidFill>
                  <a:srgbClr val="FFC000"/>
                </a:solidFill>
              </a:rPr>
              <a:t>+</a:t>
            </a:r>
            <a:endParaRPr lang="en-ID" sz="1600" dirty="0"/>
          </a:p>
          <a:p>
            <a:pPr marL="895350" lvl="1" indent="0">
              <a:buNone/>
            </a:pPr>
            <a:r>
              <a:rPr lang="en-ID" sz="1600" b="1" dirty="0"/>
              <a:t>	   </a:t>
            </a:r>
            <a:r>
              <a:rPr lang="en-ID" sz="1600" b="1" i="1" dirty="0">
                <a:solidFill>
                  <a:srgbClr val="FFC000"/>
                </a:solidFill>
              </a:rPr>
              <a:t>if</a:t>
            </a:r>
            <a:r>
              <a:rPr lang="en-ID" sz="1600" dirty="0"/>
              <a:t> </a:t>
            </a:r>
            <a:r>
              <a:rPr lang="en-US" sz="1600" i="1" dirty="0"/>
              <a:t>f</a:t>
            </a:r>
            <a:r>
              <a:rPr lang="en-US" sz="1600" baseline="-25000" dirty="0"/>
              <a:t>1</a:t>
            </a:r>
            <a:r>
              <a:rPr lang="en-ID" sz="1600" dirty="0"/>
              <a:t> dan </a:t>
            </a:r>
            <a:r>
              <a:rPr lang="en-US" sz="1600" i="1" dirty="0"/>
              <a:t>f</a:t>
            </a:r>
            <a:r>
              <a:rPr lang="en-US" sz="1600" baseline="-25000" dirty="0"/>
              <a:t>2</a:t>
            </a:r>
            <a:r>
              <a:rPr lang="en-ID" sz="1600" dirty="0"/>
              <a:t>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digabungkan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transitivitas</a:t>
            </a:r>
            <a:endParaRPr lang="en-ID" sz="1600" b="1" dirty="0">
              <a:solidFill>
                <a:srgbClr val="FFC000"/>
              </a:solidFill>
            </a:endParaRPr>
          </a:p>
          <a:p>
            <a:pPr marL="609600" lvl="1" indent="0">
              <a:buNone/>
            </a:pPr>
            <a:r>
              <a:rPr lang="en-ID" sz="1600" b="1" dirty="0"/>
              <a:t>	   </a:t>
            </a:r>
            <a:r>
              <a:rPr lang="en-ID" sz="1600" b="1" i="1" dirty="0">
                <a:solidFill>
                  <a:srgbClr val="FFC000"/>
                </a:solidFill>
              </a:rPr>
              <a:t>then</a:t>
            </a:r>
            <a:r>
              <a:rPr lang="en-ID" sz="1600" dirty="0"/>
              <a:t> </a:t>
            </a:r>
            <a:r>
              <a:rPr lang="en-ID" sz="1600" dirty="0" err="1"/>
              <a:t>tambahkan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b="1" i="1" dirty="0">
                <a:solidFill>
                  <a:srgbClr val="FFC000"/>
                </a:solidFill>
              </a:rPr>
              <a:t> F</a:t>
            </a:r>
            <a:r>
              <a:rPr lang="en-ID" sz="1600" b="1" i="1" baseline="30000" dirty="0">
                <a:solidFill>
                  <a:srgbClr val="FFC000"/>
                </a:solidFill>
              </a:rPr>
              <a:t>+</a:t>
            </a:r>
            <a:endParaRPr lang="en-ID" sz="1600" dirty="0"/>
          </a:p>
          <a:p>
            <a:pPr marL="609600" lvl="1" indent="0">
              <a:buNone/>
            </a:pPr>
            <a:r>
              <a:rPr lang="en-ID" sz="1600" b="1" i="1" dirty="0">
                <a:solidFill>
                  <a:srgbClr val="FFC000"/>
                </a:solidFill>
              </a:rPr>
              <a:t>until</a:t>
            </a:r>
            <a:r>
              <a:rPr lang="en-ID" sz="1600" dirty="0"/>
              <a:t> </a:t>
            </a:r>
            <a:r>
              <a:rPr lang="en-ID" sz="1600" b="1" i="1" dirty="0">
                <a:solidFill>
                  <a:srgbClr val="FFC000"/>
                </a:solidFill>
              </a:rPr>
              <a:t>F</a:t>
            </a:r>
            <a:r>
              <a:rPr lang="en-ID" sz="1600" b="1" i="1" baseline="30000" dirty="0">
                <a:solidFill>
                  <a:srgbClr val="FFC000"/>
                </a:solidFill>
              </a:rPr>
              <a:t>+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berubah</a:t>
            </a:r>
            <a:r>
              <a:rPr lang="en-ID" sz="1600" dirty="0"/>
              <a:t> </a:t>
            </a:r>
            <a:r>
              <a:rPr lang="en-ID" sz="1600" dirty="0" err="1"/>
              <a:t>lagi</a:t>
            </a:r>
            <a:endParaRPr lang="en-ID" sz="1600" dirty="0"/>
          </a:p>
          <a:p>
            <a:pPr marL="609600" lvl="1" indent="0">
              <a:buNone/>
            </a:pPr>
            <a:endParaRPr lang="en-ID" sz="1600" dirty="0"/>
          </a:p>
          <a:p>
            <a:pPr marL="609600" lvl="1" indent="0">
              <a:buNone/>
            </a:pPr>
            <a:r>
              <a:rPr lang="en-ID" sz="1600" b="1" dirty="0"/>
              <a:t>CATATAN:</a:t>
            </a:r>
            <a:r>
              <a:rPr lang="en-ID" sz="1600" dirty="0"/>
              <a:t> Kita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melihat</a:t>
            </a:r>
            <a:r>
              <a:rPr lang="en-ID" sz="1600" dirty="0"/>
              <a:t> </a:t>
            </a:r>
            <a:r>
              <a:rPr lang="en-ID" sz="1600" dirty="0" err="1"/>
              <a:t>prosedur</a:t>
            </a:r>
            <a:r>
              <a:rPr lang="en-ID" sz="1600" dirty="0"/>
              <a:t> </a:t>
            </a:r>
            <a:r>
              <a:rPr lang="en-ID" sz="1600" dirty="0" err="1"/>
              <a:t>alternatif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tugas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nanti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5013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53C0-C3B8-DF9E-A608-9ACCF15EB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04DB2-1C97-4E47-0DB6-6A3D8609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Penutupan</a:t>
            </a:r>
            <a:r>
              <a:rPr lang="en-ID" b="1" dirty="0"/>
              <a:t> (</a:t>
            </a:r>
            <a:r>
              <a:rPr lang="en-ID" b="1" i="1" dirty="0"/>
              <a:t>Closure</a:t>
            </a:r>
            <a:r>
              <a:rPr lang="en-ID" b="1" dirty="0"/>
              <a:t>)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Sekumpulan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</a:t>
            </a:r>
            <a:r>
              <a:rPr lang="en-ID" b="1" dirty="0" err="1"/>
              <a:t>Fungsional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13B7C-1CAB-4577-06B7-17968C2C7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56034"/>
            <a:ext cx="7704000" cy="3581726"/>
          </a:xfrm>
        </p:spPr>
        <p:txBody>
          <a:bodyPr/>
          <a:lstStyle/>
          <a:p>
            <a:r>
              <a:rPr lang="en-ID" sz="1600" b="1" dirty="0" err="1"/>
              <a:t>Aturan</a:t>
            </a:r>
            <a:r>
              <a:rPr lang="en-ID" sz="1600" b="1" dirty="0"/>
              <a:t> </a:t>
            </a:r>
            <a:r>
              <a:rPr lang="en-ID" sz="1600" b="1" dirty="0" err="1"/>
              <a:t>tambahan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/>
              <a:t>Jika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dan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</a:t>
            </a:r>
            <a:r>
              <a:rPr lang="en-ID" sz="1600" b="1" dirty="0"/>
              <a:t>(</a:t>
            </a:r>
            <a:r>
              <a:rPr lang="en-ID" sz="1600" b="1" dirty="0" err="1">
                <a:solidFill>
                  <a:srgbClr val="FFC000"/>
                </a:solidFill>
              </a:rPr>
              <a:t>gabungan</a:t>
            </a:r>
            <a:r>
              <a:rPr lang="en-ID" sz="1600" b="1" dirty="0"/>
              <a:t> / </a:t>
            </a:r>
            <a:r>
              <a:rPr lang="en-ID" sz="1600" b="1" i="1" dirty="0"/>
              <a:t>union</a:t>
            </a:r>
            <a:r>
              <a:rPr lang="en-ID" sz="1600" b="1" dirty="0"/>
              <a:t>)</a:t>
            </a:r>
            <a:endParaRPr lang="en-ID" sz="1600" dirty="0"/>
          </a:p>
          <a:p>
            <a:pPr lvl="1"/>
            <a:r>
              <a:rPr lang="en-ID" sz="1600" dirty="0"/>
              <a:t>Jika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dan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</a:t>
            </a:r>
            <a:r>
              <a:rPr lang="en-ID" sz="1600" b="1" dirty="0"/>
              <a:t>(</a:t>
            </a:r>
            <a:r>
              <a:rPr lang="en-ID" sz="1600" b="1" dirty="0" err="1">
                <a:solidFill>
                  <a:srgbClr val="FFC000"/>
                </a:solidFill>
              </a:rPr>
              <a:t>dekomposisi</a:t>
            </a:r>
            <a:r>
              <a:rPr lang="en-ID" sz="1600" b="1" dirty="0"/>
              <a:t> / </a:t>
            </a:r>
            <a:r>
              <a:rPr lang="en-ID" sz="1600" b="1" i="1" dirty="0"/>
              <a:t>decomposition</a:t>
            </a:r>
            <a:r>
              <a:rPr lang="en-ID" sz="1600" b="1" dirty="0"/>
              <a:t>)</a:t>
            </a:r>
            <a:endParaRPr lang="en-ID" sz="1600" dirty="0"/>
          </a:p>
          <a:p>
            <a:pPr lvl="1"/>
            <a:r>
              <a:rPr lang="en-ID" sz="1600" dirty="0"/>
              <a:t>Jika </a:t>
            </a:r>
            <a:r>
              <a:rPr lang="en-US" sz="1600" b="1" dirty="0">
                <a:solidFill>
                  <a:srgbClr val="FFC000"/>
                </a:solidFill>
              </a:rPr>
              <a:t>α → </a:t>
            </a:r>
            <a:r>
              <a:rPr lang="en-US" sz="1600" b="1" i="1" dirty="0">
                <a:solidFill>
                  <a:srgbClr val="FFC000"/>
                </a:solidFill>
              </a:rPr>
              <a:t>β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dan </a:t>
            </a:r>
            <a:r>
              <a:rPr lang="en-US" sz="1600" b="1" i="1" dirty="0">
                <a:solidFill>
                  <a:srgbClr val="FFC000"/>
                </a:solidFill>
              </a:rPr>
              <a:t>β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→ </a:t>
            </a:r>
            <a:r>
              <a:rPr lang="en-US" sz="1600" b="1" dirty="0" err="1">
                <a:solidFill>
                  <a:srgbClr val="FFC000"/>
                </a:solidFill>
              </a:rPr>
              <a:t>δ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</a:t>
            </a:r>
            <a:r>
              <a:rPr lang="en-US" sz="1600" b="1" dirty="0">
                <a:solidFill>
                  <a:srgbClr val="FFC000"/>
                </a:solidFill>
              </a:rPr>
              <a:t>α</a:t>
            </a:r>
            <a:r>
              <a:rPr lang="en-ID" sz="1600" dirty="0"/>
              <a:t> </a:t>
            </a:r>
            <a:r>
              <a:rPr lang="en-US" sz="1600" b="1" dirty="0" err="1">
                <a:solidFill>
                  <a:srgbClr val="FFC000"/>
                </a:solidFill>
              </a:rPr>
              <a:t>γ</a:t>
            </a:r>
            <a:r>
              <a:rPr lang="en-US" sz="1600" b="1" dirty="0">
                <a:solidFill>
                  <a:srgbClr val="FFC000"/>
                </a:solidFill>
              </a:rPr>
              <a:t> → </a:t>
            </a:r>
            <a:r>
              <a:rPr lang="en-US" sz="1600" b="1" dirty="0" err="1">
                <a:solidFill>
                  <a:srgbClr val="FFC000"/>
                </a:solidFill>
              </a:rPr>
              <a:t>δ</a:t>
            </a:r>
            <a:r>
              <a:rPr lang="en-ID" sz="1600" dirty="0"/>
              <a:t> </a:t>
            </a:r>
            <a:r>
              <a:rPr lang="en-ID" sz="1600" dirty="0" err="1"/>
              <a:t>berlaku</a:t>
            </a:r>
            <a:r>
              <a:rPr lang="en-ID" sz="1600" dirty="0"/>
              <a:t> </a:t>
            </a:r>
            <a:r>
              <a:rPr lang="en-ID" sz="1600" b="1" dirty="0"/>
              <a:t>(</a:t>
            </a:r>
            <a:r>
              <a:rPr lang="en-ID" sz="1600" b="1" dirty="0" err="1">
                <a:solidFill>
                  <a:srgbClr val="FFC000"/>
                </a:solidFill>
              </a:rPr>
              <a:t>pseudotransitivitas</a:t>
            </a:r>
            <a:r>
              <a:rPr lang="en-ID" sz="1600" b="1" dirty="0"/>
              <a:t> / </a:t>
            </a:r>
            <a:r>
              <a:rPr lang="en-ID" sz="1600" b="1" i="1" dirty="0" err="1"/>
              <a:t>pseudotransitivity</a:t>
            </a:r>
            <a:r>
              <a:rPr lang="en-ID" sz="1600" b="1" dirty="0"/>
              <a:t>)</a:t>
            </a:r>
            <a:endParaRPr lang="en-ID" sz="1600" dirty="0"/>
          </a:p>
          <a:p>
            <a:r>
              <a:rPr lang="en-ID" sz="1600" b="1" dirty="0" err="1"/>
              <a:t>Aturan-aturan</a:t>
            </a:r>
            <a:r>
              <a:rPr lang="en-ID" sz="1600" b="1" dirty="0"/>
              <a:t> di </a:t>
            </a:r>
            <a:r>
              <a:rPr lang="en-ID" sz="1600" b="1" dirty="0" err="1"/>
              <a:t>atas</a:t>
            </a:r>
            <a:r>
              <a:rPr lang="en-ID" sz="1600" b="1" dirty="0"/>
              <a:t> </a:t>
            </a:r>
            <a:r>
              <a:rPr lang="en-ID" sz="1600" b="1" dirty="0" err="1"/>
              <a:t>dapat</a:t>
            </a:r>
            <a:r>
              <a:rPr lang="en-ID" sz="1600" b="1" dirty="0"/>
              <a:t> </a:t>
            </a:r>
            <a:r>
              <a:rPr lang="en-ID" sz="1600" b="1" dirty="0" err="1"/>
              <a:t>disimpulkan</a:t>
            </a:r>
            <a:r>
              <a:rPr lang="en-ID" sz="1600" b="1" dirty="0"/>
              <a:t> </a:t>
            </a:r>
            <a:r>
              <a:rPr lang="en-ID" sz="1600" b="1" dirty="0" err="1"/>
              <a:t>dari</a:t>
            </a:r>
            <a:r>
              <a:rPr lang="en-ID" sz="1600" b="1" dirty="0"/>
              <a:t> </a:t>
            </a:r>
            <a:r>
              <a:rPr lang="en-ID" sz="1600" b="1" dirty="0" err="1"/>
              <a:t>aksioma-aksioma</a:t>
            </a:r>
            <a:r>
              <a:rPr lang="en-ID" sz="1600" b="1" dirty="0"/>
              <a:t> Armstrong.</a:t>
            </a:r>
            <a:endParaRPr lang="en-ID" sz="1600" dirty="0"/>
          </a:p>
        </p:txBody>
      </p:sp>
    </p:spTree>
    <p:extLst>
      <p:ext uri="{BB962C8B-B14F-4D97-AF65-F5344CB8AC3E}">
        <p14:creationId xmlns:p14="http://schemas.microsoft.com/office/powerpoint/2010/main" val="1683055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53824-7C07-4383-6BF0-DBC49C7B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Penutupan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Kumpulan </a:t>
            </a:r>
            <a:r>
              <a:rPr lang="en-ID" b="1" dirty="0" err="1"/>
              <a:t>Atribut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650E8-B6A5-5228-4752-513E59E5B0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4086724"/>
          </a:xfrm>
        </p:spPr>
        <p:txBody>
          <a:bodyPr/>
          <a:lstStyle/>
          <a:p>
            <a:r>
              <a:rPr lang="en-ID" sz="2000" b="1" dirty="0" err="1"/>
              <a:t>Diberikan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ID" sz="2000" dirty="0"/>
              <a:t>, </a:t>
            </a:r>
            <a:r>
              <a:rPr lang="en-ID" sz="2000" dirty="0" err="1"/>
              <a:t>definisikan</a:t>
            </a:r>
            <a:r>
              <a:rPr lang="en-ID" sz="2000" dirty="0"/>
              <a:t> </a:t>
            </a:r>
            <a:r>
              <a:rPr lang="en-ID" sz="2000" b="1" dirty="0" err="1"/>
              <a:t>penutupan</a:t>
            </a:r>
            <a:r>
              <a:rPr lang="en-ID" sz="2000" b="1" dirty="0"/>
              <a:t> (</a:t>
            </a:r>
            <a:r>
              <a:rPr lang="en-ID" sz="2000" b="1" i="1" dirty="0"/>
              <a:t>closure</a:t>
            </a:r>
            <a:r>
              <a:rPr lang="en-ID" sz="2000" b="1" dirty="0"/>
              <a:t>)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ID" sz="2000" dirty="0"/>
              <a:t> di </a:t>
            </a:r>
            <a:r>
              <a:rPr lang="en-ID" sz="2000" dirty="0" err="1"/>
              <a:t>bawah</a:t>
            </a:r>
            <a:r>
              <a:rPr lang="en-ID" sz="2000" dirty="0"/>
              <a:t> F (</a:t>
            </a:r>
            <a:r>
              <a:rPr lang="en-ID" sz="2000" dirty="0" err="1"/>
              <a:t>dilambangkan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 baseline="30000" dirty="0"/>
              <a:t>+</a:t>
            </a:r>
            <a:r>
              <a:rPr lang="en-ID" sz="2000" dirty="0"/>
              <a:t>)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sekumpulan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ditentukan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fungsional</a:t>
            </a:r>
            <a:r>
              <a:rPr lang="en-ID" sz="2000" dirty="0"/>
              <a:t> oleh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ID" sz="2000" dirty="0"/>
              <a:t> di </a:t>
            </a:r>
            <a:r>
              <a:rPr lang="en-ID" sz="2000" dirty="0" err="1"/>
              <a:t>bawah</a:t>
            </a:r>
            <a:r>
              <a:rPr lang="en-ID" sz="2000" dirty="0"/>
              <a:t> F.</a:t>
            </a:r>
          </a:p>
          <a:p>
            <a:r>
              <a:rPr lang="en-ID" sz="2000" b="1" dirty="0" err="1"/>
              <a:t>Algoritma</a:t>
            </a:r>
            <a:r>
              <a:rPr lang="en-ID" sz="2000" b="1" dirty="0"/>
              <a:t> </a:t>
            </a:r>
            <a:r>
              <a:rPr lang="en-ID" sz="2000" b="1" dirty="0" err="1"/>
              <a:t>untuk</a:t>
            </a:r>
            <a:r>
              <a:rPr lang="en-ID" sz="2000" b="1" dirty="0"/>
              <a:t> </a:t>
            </a:r>
            <a:r>
              <a:rPr lang="en-ID" sz="2000" b="1" dirty="0" err="1"/>
              <a:t>menghitung</a:t>
            </a:r>
            <a:r>
              <a:rPr lang="en-ID" sz="2000" b="1" dirty="0"/>
              <a:t>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 baseline="30000" dirty="0"/>
              <a:t>+</a:t>
            </a:r>
            <a:r>
              <a:rPr lang="en-ID" sz="2000" b="1" dirty="0"/>
              <a:t>, </a:t>
            </a:r>
            <a:r>
              <a:rPr lang="en-ID" sz="2000" b="1" dirty="0" err="1"/>
              <a:t>yaitu</a:t>
            </a:r>
            <a:r>
              <a:rPr lang="en-ID" sz="2000" b="1" dirty="0"/>
              <a:t> </a:t>
            </a:r>
            <a:r>
              <a:rPr lang="en-ID" sz="2000" b="1" i="1" dirty="0"/>
              <a:t>closure</a:t>
            </a:r>
            <a:r>
              <a:rPr lang="en-ID" sz="2000" b="1" dirty="0"/>
              <a:t> </a:t>
            </a:r>
            <a:r>
              <a:rPr lang="en-ID" sz="2000" b="1" dirty="0" err="1"/>
              <a:t>dari</a:t>
            </a:r>
            <a:r>
              <a:rPr lang="en-ID" sz="2000" b="1" dirty="0"/>
              <a:t>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ID" sz="2000" b="1" dirty="0"/>
              <a:t> di </a:t>
            </a:r>
            <a:r>
              <a:rPr lang="en-ID" sz="2000" b="1" dirty="0" err="1"/>
              <a:t>bawah</a:t>
            </a:r>
            <a:r>
              <a:rPr lang="en-ID" sz="2000" b="1" dirty="0"/>
              <a:t> F:</a:t>
            </a:r>
            <a:endParaRPr lang="en-ID" sz="2000" dirty="0"/>
          </a:p>
          <a:p>
            <a:pPr marL="1066800" lvl="2" indent="0">
              <a:buNone/>
            </a:pPr>
            <a:r>
              <a:rPr lang="en-ID" sz="2000" dirty="0"/>
              <a:t>result := </a:t>
            </a:r>
            <a:r>
              <a:rPr lang="en-US" sz="2000" dirty="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ID" sz="2000" dirty="0"/>
              <a:t>;</a:t>
            </a:r>
          </a:p>
          <a:p>
            <a:pPr marL="1066800" lvl="2" indent="0">
              <a:buNone/>
            </a:pPr>
            <a:r>
              <a:rPr lang="en-ID" sz="2000" b="1" dirty="0"/>
              <a:t>	while</a:t>
            </a:r>
            <a:r>
              <a:rPr lang="en-ID" sz="2000" dirty="0"/>
              <a:t> (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perubahan</a:t>
            </a:r>
            <a:r>
              <a:rPr lang="en-ID" sz="2000" dirty="0"/>
              <a:t> pada result) </a:t>
            </a:r>
            <a:r>
              <a:rPr lang="en-ID" sz="2000" b="1" dirty="0"/>
              <a:t>do</a:t>
            </a:r>
            <a:endParaRPr lang="en-ID" sz="2000" dirty="0"/>
          </a:p>
          <a:p>
            <a:pPr marL="1066800" lvl="2" indent="0">
              <a:buNone/>
            </a:pPr>
            <a:r>
              <a:rPr lang="en-ID" sz="2000" b="1" dirty="0"/>
              <a:t>		for each</a:t>
            </a:r>
            <a:r>
              <a:rPr lang="en-ID" sz="2000" dirty="0"/>
              <a:t> </a:t>
            </a:r>
            <a:r>
              <a:rPr lang="en-US" sz="2000" b="1" i="1" dirty="0">
                <a:solidFill>
                  <a:srgbClr val="FFC000"/>
                </a:solidFill>
              </a:rPr>
              <a:t>β</a:t>
            </a:r>
            <a:r>
              <a:rPr lang="en-ID" sz="2000" dirty="0"/>
              <a:t> </a:t>
            </a:r>
            <a:r>
              <a:rPr lang="en-US" sz="2000" b="1" dirty="0">
                <a:solidFill>
                  <a:srgbClr val="FFC000"/>
                </a:solidFill>
              </a:rPr>
              <a:t>→ </a:t>
            </a:r>
            <a:r>
              <a:rPr lang="en-US" sz="2000" b="1" dirty="0" err="1">
                <a:solidFill>
                  <a:srgbClr val="FFC000"/>
                </a:solidFill>
              </a:rPr>
              <a:t>γ</a:t>
            </a:r>
            <a:r>
              <a:rPr lang="en-ID" sz="2000" dirty="0"/>
              <a:t> </a:t>
            </a:r>
            <a:r>
              <a:rPr lang="en-ID" sz="2000" b="1" dirty="0"/>
              <a:t>in</a:t>
            </a:r>
            <a:r>
              <a:rPr lang="en-ID" sz="2000" dirty="0"/>
              <a:t> F </a:t>
            </a:r>
            <a:r>
              <a:rPr lang="en-ID" sz="2000" b="1" dirty="0"/>
              <a:t>do</a:t>
            </a:r>
            <a:endParaRPr lang="en-ID" sz="2000" dirty="0"/>
          </a:p>
          <a:p>
            <a:pPr marL="1066800" lvl="2" indent="0">
              <a:buNone/>
            </a:pPr>
            <a:r>
              <a:rPr lang="en-ID" sz="2000" b="1" dirty="0"/>
              <a:t>		begin</a:t>
            </a:r>
            <a:endParaRPr lang="en-ID" sz="2000" dirty="0"/>
          </a:p>
          <a:p>
            <a:pPr marL="1066800" lvl="2" indent="0">
              <a:buNone/>
            </a:pPr>
            <a:r>
              <a:rPr lang="en-ID" sz="2000" b="1" dirty="0"/>
              <a:t>		if</a:t>
            </a:r>
            <a:r>
              <a:rPr lang="en-ID" sz="2000" dirty="0"/>
              <a:t> </a:t>
            </a:r>
            <a:r>
              <a:rPr lang="en-US" sz="2000" b="1" i="1" dirty="0">
                <a:solidFill>
                  <a:srgbClr val="FFC000"/>
                </a:solidFill>
              </a:rPr>
              <a:t>β</a:t>
            </a:r>
            <a:r>
              <a:rPr lang="en-ID" sz="2000" dirty="0"/>
              <a:t> </a:t>
            </a:r>
            <a:r>
              <a:rPr lang="en-US" sz="2000" dirty="0"/>
              <a:t>⊆</a:t>
            </a:r>
            <a:r>
              <a:rPr lang="en-ID" sz="2000" dirty="0"/>
              <a:t> result </a:t>
            </a:r>
            <a:r>
              <a:rPr lang="en-ID" sz="2000" b="1" dirty="0"/>
              <a:t>then</a:t>
            </a:r>
            <a:r>
              <a:rPr lang="en-ID" sz="2000" dirty="0"/>
              <a:t> result := result </a:t>
            </a:r>
            <a:r>
              <a:rPr lang="en-US" sz="2000" dirty="0"/>
              <a:t>∪ </a:t>
            </a:r>
            <a:r>
              <a:rPr lang="en-US" sz="2000" dirty="0" err="1"/>
              <a:t>γ</a:t>
            </a:r>
            <a:r>
              <a:rPr lang="en-US" sz="2000" dirty="0"/>
              <a:t> </a:t>
            </a:r>
            <a:endParaRPr lang="en-ID" sz="2000" dirty="0"/>
          </a:p>
          <a:p>
            <a:pPr marL="1066800" lvl="2" indent="0">
              <a:buNone/>
            </a:pPr>
            <a:r>
              <a:rPr lang="en-ID" sz="2000" b="1" dirty="0"/>
              <a:t>end</a:t>
            </a:r>
            <a:endParaRPr lang="en-ID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1262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AF3D-2F4C-3B49-D7E5-5B70322B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Attribute Set Closure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D1869-B59F-F3CD-6E56-5CFDE050C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90000"/>
              </a:lnSpc>
              <a:buSzPct val="100000"/>
              <a:buChar char="•"/>
            </a:pPr>
            <a:r>
              <a:rPr lang="en-US" i="1" dirty="0"/>
              <a:t>R = (A, B, C, G, H, I)</a:t>
            </a:r>
            <a:endParaRPr lang="en-US" dirty="0"/>
          </a:p>
          <a:p>
            <a:pPr marL="342900" lvl="0" indent="-342900">
              <a:lnSpc>
                <a:spcPct val="90000"/>
              </a:lnSpc>
              <a:spcBef>
                <a:spcPts val="544"/>
              </a:spcBef>
              <a:buSzPct val="100000"/>
              <a:buChar char="•"/>
            </a:pPr>
            <a:r>
              <a:rPr lang="en-US" i="1" dirty="0"/>
              <a:t>F = </a:t>
            </a:r>
            <a:r>
              <a:rPr lang="en-US" dirty="0"/>
              <a:t>{</a:t>
            </a:r>
            <a:r>
              <a:rPr lang="en-US" i="1" dirty="0"/>
              <a:t>A </a:t>
            </a:r>
            <a:r>
              <a:rPr lang="en-US" dirty="0"/>
              <a:t>→ </a:t>
            </a:r>
            <a:r>
              <a:rPr lang="en-US" i="1" dirty="0"/>
              <a:t>B</a:t>
            </a:r>
            <a:br>
              <a:rPr lang="en-US" i="1" dirty="0"/>
            </a:br>
            <a:r>
              <a:rPr lang="en-US" i="1" dirty="0"/>
              <a:t>	A </a:t>
            </a:r>
            <a:r>
              <a:rPr lang="en-US" dirty="0"/>
              <a:t>→ </a:t>
            </a:r>
            <a:r>
              <a:rPr lang="en-US" i="1" dirty="0"/>
              <a:t>C </a:t>
            </a:r>
            <a:br>
              <a:rPr lang="en-US" i="1" dirty="0"/>
            </a:br>
            <a:r>
              <a:rPr lang="en-US" i="1" dirty="0"/>
              <a:t>	CG </a:t>
            </a:r>
            <a:r>
              <a:rPr lang="en-US" dirty="0"/>
              <a:t>→ </a:t>
            </a:r>
            <a:r>
              <a:rPr lang="en-US" i="1" dirty="0"/>
              <a:t>H</a:t>
            </a:r>
            <a:br>
              <a:rPr lang="en-US" i="1" dirty="0"/>
            </a:br>
            <a:r>
              <a:rPr lang="en-US" i="1" dirty="0"/>
              <a:t>	CG </a:t>
            </a:r>
            <a:r>
              <a:rPr lang="en-US" dirty="0"/>
              <a:t>→ </a:t>
            </a:r>
            <a:r>
              <a:rPr lang="en-US" i="1" dirty="0"/>
              <a:t>I</a:t>
            </a:r>
            <a:br>
              <a:rPr lang="en-US" i="1" dirty="0"/>
            </a:br>
            <a:r>
              <a:rPr lang="en-US" i="1" dirty="0"/>
              <a:t>	B </a:t>
            </a:r>
            <a:r>
              <a:rPr lang="en-US" dirty="0"/>
              <a:t>→ </a:t>
            </a:r>
            <a:r>
              <a:rPr lang="en-US" i="1" dirty="0"/>
              <a:t>H</a:t>
            </a:r>
            <a:r>
              <a:rPr lang="en-US" dirty="0"/>
              <a:t>}</a:t>
            </a:r>
          </a:p>
          <a:p>
            <a:pPr marL="342900" lvl="0" indent="-342900">
              <a:lnSpc>
                <a:spcPct val="90000"/>
              </a:lnSpc>
              <a:spcBef>
                <a:spcPts val="544"/>
              </a:spcBef>
              <a:buSzPct val="100000"/>
              <a:buChar char="•"/>
            </a:pPr>
            <a:r>
              <a:rPr lang="en-US" dirty="0"/>
              <a:t>(</a:t>
            </a:r>
            <a:r>
              <a:rPr lang="en-US" i="1" dirty="0"/>
              <a:t>AG)</a:t>
            </a:r>
            <a:r>
              <a:rPr lang="en-US" baseline="30000" dirty="0"/>
              <a:t>+</a:t>
            </a:r>
            <a:endParaRPr lang="en-US" dirty="0"/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None/>
            </a:pPr>
            <a:r>
              <a:rPr lang="en-US" dirty="0"/>
              <a:t>1.	</a:t>
            </a:r>
            <a:r>
              <a:rPr lang="en-US" i="1" dirty="0"/>
              <a:t>result = AG</a:t>
            </a:r>
            <a:endParaRPr lang="en-US" dirty="0"/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None/>
            </a:pPr>
            <a:r>
              <a:rPr lang="en-US" dirty="0"/>
              <a:t>2.	</a:t>
            </a:r>
            <a:r>
              <a:rPr lang="en-US" i="1" dirty="0"/>
              <a:t>result = ABCG	(A </a:t>
            </a:r>
            <a:r>
              <a:rPr lang="en-US" dirty="0"/>
              <a:t>→ </a:t>
            </a:r>
            <a:r>
              <a:rPr lang="en-US" i="1" dirty="0"/>
              <a:t>C </a:t>
            </a:r>
            <a:r>
              <a:rPr lang="en-US" dirty="0"/>
              <a:t>and </a:t>
            </a:r>
            <a:r>
              <a:rPr lang="en-US" i="1" dirty="0"/>
              <a:t>A </a:t>
            </a:r>
            <a:r>
              <a:rPr lang="en-US" dirty="0"/>
              <a:t>→</a:t>
            </a:r>
            <a:r>
              <a:rPr lang="en-US" i="1" dirty="0"/>
              <a:t> B)</a:t>
            </a:r>
            <a:endParaRPr lang="en-US" dirty="0"/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None/>
            </a:pPr>
            <a:r>
              <a:rPr lang="en-US" dirty="0"/>
              <a:t>3.	</a:t>
            </a:r>
            <a:r>
              <a:rPr lang="en-US" i="1" dirty="0"/>
              <a:t>result = ABCGH	(CG </a:t>
            </a:r>
            <a:r>
              <a:rPr lang="en-US" dirty="0"/>
              <a:t>→ </a:t>
            </a:r>
            <a:r>
              <a:rPr lang="en-US" i="1" dirty="0"/>
              <a:t>H</a:t>
            </a:r>
            <a:r>
              <a:rPr lang="en-US" dirty="0"/>
              <a:t> and </a:t>
            </a:r>
            <a:r>
              <a:rPr lang="en-US" i="1" dirty="0"/>
              <a:t>CG </a:t>
            </a:r>
            <a:r>
              <a:rPr lang="en-US" dirty="0"/>
              <a:t>⊆ </a:t>
            </a:r>
            <a:r>
              <a:rPr lang="en-US" i="1" dirty="0"/>
              <a:t>AGBC)</a:t>
            </a:r>
            <a:endParaRPr lang="en-US" dirty="0"/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None/>
            </a:pPr>
            <a:r>
              <a:rPr lang="en-US" dirty="0"/>
              <a:t>4.	</a:t>
            </a:r>
            <a:r>
              <a:rPr lang="en-US" i="1" dirty="0"/>
              <a:t>result = ABCGHI	(CG </a:t>
            </a:r>
            <a:r>
              <a:rPr lang="en-US" dirty="0"/>
              <a:t>→ </a:t>
            </a:r>
            <a:r>
              <a:rPr lang="en-US" i="1" dirty="0"/>
              <a:t>I</a:t>
            </a:r>
            <a:r>
              <a:rPr lang="en-US" dirty="0"/>
              <a:t> and </a:t>
            </a:r>
            <a:r>
              <a:rPr lang="en-US" i="1" dirty="0"/>
              <a:t>CG </a:t>
            </a:r>
            <a:r>
              <a:rPr lang="en-US" dirty="0"/>
              <a:t>⊆ </a:t>
            </a:r>
            <a:r>
              <a:rPr lang="en-US" i="1" dirty="0"/>
              <a:t>AGBCH)</a:t>
            </a:r>
            <a:endParaRPr lang="en-US" dirty="0"/>
          </a:p>
          <a:p>
            <a:pPr marL="342900" lvl="0" indent="-342900">
              <a:lnSpc>
                <a:spcPct val="90000"/>
              </a:lnSpc>
              <a:spcBef>
                <a:spcPts val="544"/>
              </a:spcBef>
              <a:buSzPct val="100000"/>
              <a:buChar char="•"/>
            </a:pPr>
            <a:r>
              <a:rPr lang="en-US" dirty="0"/>
              <a:t>Is </a:t>
            </a:r>
            <a:r>
              <a:rPr lang="en-US" i="1" dirty="0"/>
              <a:t>AG</a:t>
            </a:r>
            <a:r>
              <a:rPr lang="en-US" dirty="0"/>
              <a:t> a candidate key?  </a:t>
            </a:r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Font typeface="Arial"/>
              <a:buAutoNum type="arabicPeriod"/>
            </a:pPr>
            <a:r>
              <a:rPr lang="en-US" dirty="0"/>
              <a:t>Is AG a super key?</a:t>
            </a:r>
          </a:p>
          <a:p>
            <a:pPr marL="1163638" lvl="2">
              <a:lnSpc>
                <a:spcPct val="90000"/>
              </a:lnSpc>
              <a:spcBef>
                <a:spcPts val="408"/>
              </a:spcBef>
              <a:buSzPct val="100000"/>
              <a:buFont typeface="Arial"/>
              <a:buAutoNum type="arabicPeriod"/>
            </a:pPr>
            <a:r>
              <a:rPr lang="en-US" dirty="0"/>
              <a:t>Does </a:t>
            </a:r>
            <a:r>
              <a:rPr lang="en-US" i="1" dirty="0"/>
              <a:t>AG </a:t>
            </a:r>
            <a:r>
              <a:rPr lang="en-US" dirty="0"/>
              <a:t>→ </a:t>
            </a:r>
            <a:r>
              <a:rPr lang="en-US" i="1" dirty="0"/>
              <a:t>R? == </a:t>
            </a:r>
            <a:r>
              <a:rPr lang="en-US" dirty="0"/>
              <a:t>Is (AG)</a:t>
            </a:r>
            <a:r>
              <a:rPr lang="en-US" baseline="30000" dirty="0"/>
              <a:t>+ </a:t>
            </a:r>
            <a:r>
              <a:rPr lang="en-US" dirty="0"/>
              <a:t>⊇ R</a:t>
            </a:r>
            <a:endParaRPr lang="en-US" i="1" dirty="0"/>
          </a:p>
          <a:p>
            <a:pPr marL="762000" lvl="1">
              <a:lnSpc>
                <a:spcPct val="90000"/>
              </a:lnSpc>
              <a:spcBef>
                <a:spcPts val="476"/>
              </a:spcBef>
              <a:buSzPct val="100000"/>
              <a:buFont typeface="Arial"/>
              <a:buAutoNum type="arabicPeriod"/>
            </a:pPr>
            <a:r>
              <a:rPr lang="en-US" dirty="0"/>
              <a:t>Is any subset of AG a </a:t>
            </a:r>
            <a:r>
              <a:rPr lang="en-US" dirty="0" err="1"/>
              <a:t>superkey</a:t>
            </a:r>
            <a:r>
              <a:rPr lang="en-US" dirty="0"/>
              <a:t>?</a:t>
            </a:r>
          </a:p>
          <a:p>
            <a:pPr marL="1163638" lvl="2">
              <a:lnSpc>
                <a:spcPct val="90000"/>
              </a:lnSpc>
              <a:spcBef>
                <a:spcPts val="408"/>
              </a:spcBef>
              <a:buSzPct val="100000"/>
              <a:buFont typeface="Arial"/>
              <a:buAutoNum type="arabicPeriod"/>
            </a:pPr>
            <a:r>
              <a:rPr lang="en-US" dirty="0"/>
              <a:t>Does </a:t>
            </a:r>
            <a:r>
              <a:rPr lang="en-US" i="1" dirty="0"/>
              <a:t>A</a:t>
            </a:r>
            <a:r>
              <a:rPr lang="en-US" dirty="0"/>
              <a:t> → </a:t>
            </a:r>
            <a:r>
              <a:rPr lang="en-US" i="1" dirty="0"/>
              <a:t>R</a:t>
            </a:r>
            <a:r>
              <a:rPr lang="en-US" dirty="0"/>
              <a:t>? </a:t>
            </a:r>
            <a:r>
              <a:rPr lang="en-US" i="1" dirty="0"/>
              <a:t>== </a:t>
            </a:r>
            <a:r>
              <a:rPr lang="en-US" dirty="0"/>
              <a:t>Is (A)</a:t>
            </a:r>
            <a:r>
              <a:rPr lang="en-US" baseline="30000" dirty="0"/>
              <a:t>+ </a:t>
            </a:r>
            <a:r>
              <a:rPr lang="en-US" dirty="0"/>
              <a:t>⊇ R</a:t>
            </a:r>
          </a:p>
          <a:p>
            <a:pPr marL="1163638" lvl="2">
              <a:lnSpc>
                <a:spcPct val="90000"/>
              </a:lnSpc>
              <a:spcBef>
                <a:spcPts val="408"/>
              </a:spcBef>
              <a:buSzPct val="100000"/>
              <a:buFont typeface="Arial"/>
              <a:buAutoNum type="arabicPeriod"/>
            </a:pPr>
            <a:r>
              <a:rPr lang="en-US" dirty="0"/>
              <a:t>Does </a:t>
            </a:r>
            <a:r>
              <a:rPr lang="en-US" i="1" dirty="0"/>
              <a:t>G</a:t>
            </a:r>
            <a:r>
              <a:rPr lang="en-US" dirty="0"/>
              <a:t> → </a:t>
            </a:r>
            <a:r>
              <a:rPr lang="en-US" i="1" dirty="0"/>
              <a:t>R</a:t>
            </a:r>
            <a:r>
              <a:rPr lang="en-US" dirty="0"/>
              <a:t>? == Is (G)</a:t>
            </a:r>
            <a:r>
              <a:rPr lang="en-US" baseline="30000" dirty="0"/>
              <a:t>+ </a:t>
            </a:r>
            <a:r>
              <a:rPr lang="en-US" dirty="0"/>
              <a:t>⊇ 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654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0745-8997-C23D-EF3C-2FD16C5DD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Kegunaan</a:t>
            </a:r>
            <a:r>
              <a:rPr lang="en-ID" b="1" dirty="0"/>
              <a:t> </a:t>
            </a:r>
            <a:r>
              <a:rPr lang="en-ID" b="1" dirty="0" err="1"/>
              <a:t>dari</a:t>
            </a:r>
            <a:r>
              <a:rPr lang="en-ID" b="1" dirty="0"/>
              <a:t> </a:t>
            </a:r>
            <a:r>
              <a:rPr lang="en-ID" b="1" dirty="0" err="1"/>
              <a:t>Penutupan</a:t>
            </a:r>
            <a:r>
              <a:rPr lang="en-ID" b="1" dirty="0"/>
              <a:t> </a:t>
            </a:r>
            <a:r>
              <a:rPr lang="en-ID" b="1" dirty="0" err="1"/>
              <a:t>Atribut</a:t>
            </a:r>
            <a:r>
              <a:rPr lang="en-ID" b="1" dirty="0"/>
              <a:t> (Attribute Closure)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FD962-4451-0D79-BECD-F42F9DE5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56042"/>
            <a:ext cx="7704000" cy="3698096"/>
          </a:xfrm>
        </p:spPr>
        <p:txBody>
          <a:bodyPr/>
          <a:lstStyle/>
          <a:p>
            <a:r>
              <a:rPr lang="en-ID" sz="1400" dirty="0" err="1"/>
              <a:t>Terdapat</a:t>
            </a:r>
            <a:r>
              <a:rPr lang="en-ID" sz="1400" dirty="0"/>
              <a:t> </a:t>
            </a:r>
            <a:r>
              <a:rPr lang="en-ID" sz="1400" dirty="0" err="1"/>
              <a:t>beberapa</a:t>
            </a:r>
            <a:r>
              <a:rPr lang="en-ID" sz="1400" dirty="0"/>
              <a:t> </a:t>
            </a:r>
            <a:r>
              <a:rPr lang="en-ID" sz="1400" dirty="0" err="1"/>
              <a:t>kegunaan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algoritma</a:t>
            </a:r>
            <a:r>
              <a:rPr lang="en-ID" sz="1400" dirty="0"/>
              <a:t> </a:t>
            </a:r>
            <a:r>
              <a:rPr lang="en-ID" sz="1400" dirty="0" err="1"/>
              <a:t>penutupan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(</a:t>
            </a:r>
            <a:r>
              <a:rPr lang="en-ID" sz="1400" i="1" dirty="0"/>
              <a:t>attribute closure</a:t>
            </a:r>
            <a:r>
              <a:rPr lang="en-ID" sz="1400" dirty="0"/>
              <a:t>):</a:t>
            </a:r>
          </a:p>
          <a:p>
            <a:r>
              <a:rPr lang="en-ID" sz="1400" b="1" dirty="0" err="1"/>
              <a:t>Menguji</a:t>
            </a:r>
            <a:r>
              <a:rPr lang="en-ID" sz="1400" b="1" dirty="0"/>
              <a:t> </a:t>
            </a:r>
            <a:r>
              <a:rPr lang="en-ID" sz="1400" b="1" i="1" dirty="0" err="1"/>
              <a:t>superkey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menguji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US" sz="1400" dirty="0"/>
              <a:t>α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i="1" dirty="0" err="1"/>
              <a:t>superkey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menghitung</a:t>
            </a:r>
            <a:r>
              <a:rPr lang="en-ID" sz="1400" dirty="0"/>
              <a:t> </a:t>
            </a:r>
            <a:r>
              <a:rPr lang="en-US" sz="1400" dirty="0"/>
              <a:t>α</a:t>
            </a:r>
            <a:r>
              <a:rPr lang="en-US" sz="1400" baseline="30000" dirty="0"/>
              <a:t>+</a:t>
            </a:r>
            <a:r>
              <a:rPr lang="en-ID" sz="1400" dirty="0"/>
              <a:t> dan </a:t>
            </a:r>
            <a:r>
              <a:rPr lang="en-ID" sz="1400" dirty="0" err="1"/>
              <a:t>memeriksa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US" sz="1400" dirty="0"/>
              <a:t>α</a:t>
            </a:r>
            <a:r>
              <a:rPr lang="en-US" sz="1400" baseline="30000" dirty="0"/>
              <a:t>+</a:t>
            </a:r>
            <a:r>
              <a:rPr lang="en-ID" sz="1400" dirty="0"/>
              <a:t> </a:t>
            </a:r>
            <a:r>
              <a:rPr lang="en-ID" sz="1400" dirty="0" err="1"/>
              <a:t>berisi</a:t>
            </a:r>
            <a:r>
              <a:rPr lang="en-ID" sz="1400" dirty="0"/>
              <a:t> </a:t>
            </a:r>
            <a:r>
              <a:rPr lang="en-ID" sz="1400" dirty="0" err="1"/>
              <a:t>semua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 yang </a:t>
            </a:r>
            <a:r>
              <a:rPr lang="en-ID" sz="1400" dirty="0" err="1"/>
              <a:t>ada</a:t>
            </a:r>
            <a:r>
              <a:rPr lang="en-ID" sz="1400" dirty="0"/>
              <a:t> pada R.</a:t>
            </a:r>
          </a:p>
          <a:p>
            <a:r>
              <a:rPr lang="en-ID" sz="1400" b="1" dirty="0" err="1"/>
              <a:t>Menguji</a:t>
            </a:r>
            <a:r>
              <a:rPr lang="en-ID" sz="1400" b="1" dirty="0"/>
              <a:t> </a:t>
            </a:r>
            <a:r>
              <a:rPr lang="en-ID" sz="1400" b="1" dirty="0" err="1"/>
              <a:t>ketergantungan</a:t>
            </a:r>
            <a:r>
              <a:rPr lang="en-ID" sz="1400" b="1" dirty="0"/>
              <a:t> </a:t>
            </a:r>
            <a:r>
              <a:rPr lang="en-ID" sz="1400" b="1" dirty="0" err="1"/>
              <a:t>fungsional</a:t>
            </a:r>
            <a:r>
              <a:rPr lang="en-ID" sz="1400" b="1" dirty="0"/>
              <a:t>:</a:t>
            </a:r>
            <a:endParaRPr lang="en-ID" sz="1400" dirty="0"/>
          </a:p>
          <a:p>
            <a:pPr lvl="1"/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memeriksa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US" sz="1400" dirty="0"/>
              <a:t>α → β</a:t>
            </a:r>
            <a:r>
              <a:rPr lang="en-ID" sz="1400" dirty="0"/>
              <a:t> </a:t>
            </a:r>
            <a:r>
              <a:rPr lang="en-ID" sz="1400" dirty="0" err="1"/>
              <a:t>berlaku</a:t>
            </a:r>
            <a:r>
              <a:rPr lang="en-ID" sz="1400" dirty="0"/>
              <a:t> (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kata lain, </a:t>
            </a:r>
            <a:r>
              <a:rPr lang="en-ID" sz="1400" dirty="0" err="1"/>
              <a:t>ada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US" sz="1400" i="1" dirty="0"/>
              <a:t>F</a:t>
            </a:r>
            <a:r>
              <a:rPr lang="en-US" sz="1400" baseline="30000" dirty="0"/>
              <a:t>+</a:t>
            </a:r>
            <a:r>
              <a:rPr lang="en-ID" sz="1400" dirty="0"/>
              <a:t>), </a:t>
            </a:r>
            <a:r>
              <a:rPr lang="en-ID" sz="1400" dirty="0" err="1"/>
              <a:t>cukup</a:t>
            </a:r>
            <a:r>
              <a:rPr lang="en-ID" sz="1400" dirty="0"/>
              <a:t> </a:t>
            </a:r>
            <a:r>
              <a:rPr lang="en-ID" sz="1400" dirty="0" err="1"/>
              <a:t>periksa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US" sz="1400" dirty="0"/>
              <a:t>β ⊆ α</a:t>
            </a:r>
            <a:r>
              <a:rPr lang="en-US" sz="1400" baseline="30000" dirty="0"/>
              <a:t>+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Artinya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menghitung</a:t>
            </a:r>
            <a:r>
              <a:rPr lang="en-ID" sz="1400" dirty="0"/>
              <a:t> </a:t>
            </a:r>
            <a:r>
              <a:rPr lang="en-US" sz="1400" dirty="0"/>
              <a:t>α</a:t>
            </a:r>
            <a:r>
              <a:rPr lang="en-US" sz="1400" baseline="30000" dirty="0"/>
              <a:t>+</a:t>
            </a:r>
            <a:r>
              <a:rPr lang="en-ID" sz="1400" dirty="0"/>
              <a:t> </a:t>
            </a:r>
            <a:r>
              <a:rPr lang="en-ID" sz="1400" dirty="0" err="1"/>
              <a:t>dengan</a:t>
            </a:r>
            <a:r>
              <a:rPr lang="en-ID" sz="1400" dirty="0"/>
              <a:t> </a:t>
            </a:r>
            <a:r>
              <a:rPr lang="en-ID" sz="1400" dirty="0" err="1"/>
              <a:t>menggunakan</a:t>
            </a:r>
            <a:r>
              <a:rPr lang="en-ID" sz="1400" dirty="0"/>
              <a:t> </a:t>
            </a:r>
            <a:r>
              <a:rPr lang="en-ID" sz="1400" dirty="0" err="1"/>
              <a:t>penutupan</a:t>
            </a:r>
            <a:r>
              <a:rPr lang="en-ID" sz="1400" dirty="0"/>
              <a:t> </a:t>
            </a:r>
            <a:r>
              <a:rPr lang="en-ID" sz="1400" dirty="0" err="1"/>
              <a:t>atribut</a:t>
            </a:r>
            <a:r>
              <a:rPr lang="en-ID" sz="1400" dirty="0"/>
              <a:t>, </a:t>
            </a:r>
            <a:r>
              <a:rPr lang="en-ID" sz="1400" dirty="0" err="1"/>
              <a:t>lalu</a:t>
            </a:r>
            <a:r>
              <a:rPr lang="en-ID" sz="1400" dirty="0"/>
              <a:t> </a:t>
            </a:r>
            <a:r>
              <a:rPr lang="en-ID" sz="1400" dirty="0" err="1"/>
              <a:t>memeriksa</a:t>
            </a:r>
            <a:r>
              <a:rPr lang="en-ID" sz="1400" dirty="0"/>
              <a:t> </a:t>
            </a:r>
            <a:r>
              <a:rPr lang="en-ID" sz="1400" dirty="0" err="1"/>
              <a:t>apakah</a:t>
            </a:r>
            <a:r>
              <a:rPr lang="en-ID" sz="1400" dirty="0"/>
              <a:t> </a:t>
            </a:r>
            <a:r>
              <a:rPr lang="en-ID" sz="1400" dirty="0" err="1"/>
              <a:t>hasilnya</a:t>
            </a:r>
            <a:r>
              <a:rPr lang="en-ID" sz="1400" dirty="0"/>
              <a:t> </a:t>
            </a:r>
            <a:r>
              <a:rPr lang="en-ID" sz="1400" dirty="0" err="1"/>
              <a:t>mengandung</a:t>
            </a:r>
            <a:r>
              <a:rPr lang="en-ID" sz="1400" dirty="0"/>
              <a:t> </a:t>
            </a:r>
            <a:r>
              <a:rPr lang="en-US" sz="1400" dirty="0"/>
              <a:t>β</a:t>
            </a:r>
            <a:r>
              <a:rPr lang="en-ID" sz="1400" dirty="0"/>
              <a:t>.</a:t>
            </a:r>
          </a:p>
          <a:p>
            <a:pPr lvl="1"/>
            <a:r>
              <a:rPr lang="en-ID" sz="1400" dirty="0"/>
              <a:t>Ini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pengujian</a:t>
            </a:r>
            <a:r>
              <a:rPr lang="en-ID" sz="1400" dirty="0"/>
              <a:t> yang </a:t>
            </a:r>
            <a:r>
              <a:rPr lang="en-ID" sz="1400" dirty="0" err="1"/>
              <a:t>sederhana</a:t>
            </a:r>
            <a:r>
              <a:rPr lang="en-ID" sz="1400" dirty="0"/>
              <a:t>, </a:t>
            </a:r>
            <a:r>
              <a:rPr lang="en-ID" sz="1400" dirty="0" err="1"/>
              <a:t>murah</a:t>
            </a:r>
            <a:r>
              <a:rPr lang="en-ID" sz="1400" dirty="0"/>
              <a:t> (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komputasi</a:t>
            </a:r>
            <a:r>
              <a:rPr lang="en-ID" sz="1400" dirty="0"/>
              <a:t>), dan sangat </a:t>
            </a:r>
            <a:r>
              <a:rPr lang="en-ID" sz="1400" dirty="0" err="1"/>
              <a:t>berguna</a:t>
            </a:r>
            <a:r>
              <a:rPr lang="en-ID" sz="1400" dirty="0"/>
              <a:t>.</a:t>
            </a:r>
          </a:p>
          <a:p>
            <a:r>
              <a:rPr lang="en-ID" sz="1400" b="1" dirty="0" err="1"/>
              <a:t>Menghitung</a:t>
            </a:r>
            <a:r>
              <a:rPr lang="en-ID" sz="1400" b="1" dirty="0"/>
              <a:t> </a:t>
            </a:r>
            <a:r>
              <a:rPr lang="en-ID" sz="1400" b="1" dirty="0" err="1"/>
              <a:t>penutupan</a:t>
            </a:r>
            <a:r>
              <a:rPr lang="en-ID" sz="1400" b="1" dirty="0"/>
              <a:t> </a:t>
            </a:r>
            <a:r>
              <a:rPr lang="en-ID" sz="1400" b="1" dirty="0" err="1"/>
              <a:t>dari</a:t>
            </a:r>
            <a:r>
              <a:rPr lang="en-ID" sz="1400" b="1" dirty="0"/>
              <a:t> F :</a:t>
            </a:r>
            <a:endParaRPr lang="en-ID" sz="1400" dirty="0"/>
          </a:p>
          <a:p>
            <a:pPr lvl="1"/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US" sz="1400" dirty="0" err="1"/>
              <a:t>γ</a:t>
            </a:r>
            <a:r>
              <a:rPr lang="en-US" sz="1400" dirty="0"/>
              <a:t> ⊆ </a:t>
            </a:r>
            <a:r>
              <a:rPr lang="en-US" sz="1400" i="1" dirty="0"/>
              <a:t>R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mencari</a:t>
            </a:r>
            <a:r>
              <a:rPr lang="en-ID" sz="1400" dirty="0"/>
              <a:t> </a:t>
            </a:r>
            <a:r>
              <a:rPr lang="en-ID" sz="1400" dirty="0" err="1"/>
              <a:t>penutupan</a:t>
            </a:r>
            <a:r>
              <a:rPr lang="en-ID" sz="1400" dirty="0"/>
              <a:t> </a:t>
            </a:r>
            <a:r>
              <a:rPr lang="en-US" sz="1400" dirty="0" err="1"/>
              <a:t>γ</a:t>
            </a:r>
            <a:r>
              <a:rPr lang="en-US" sz="1400" baseline="30000" dirty="0"/>
              <a:t>+</a:t>
            </a:r>
            <a:r>
              <a:rPr lang="en-ID" sz="1400" dirty="0"/>
              <a:t>, dan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US" sz="1400" i="1" dirty="0"/>
              <a:t>S</a:t>
            </a:r>
            <a:r>
              <a:rPr lang="en-US" sz="1400" dirty="0"/>
              <a:t> ⊆ </a:t>
            </a:r>
            <a:r>
              <a:rPr lang="en-US" sz="1400" dirty="0" err="1"/>
              <a:t>γ</a:t>
            </a:r>
            <a:r>
              <a:rPr lang="en-US" sz="1400" baseline="30000" dirty="0"/>
              <a:t>+</a:t>
            </a:r>
            <a:r>
              <a:rPr lang="en-ID" sz="1400" dirty="0"/>
              <a:t>, </a:t>
            </a:r>
            <a:r>
              <a:rPr lang="en-ID" sz="1400" dirty="0" err="1"/>
              <a:t>kita</a:t>
            </a:r>
            <a:r>
              <a:rPr lang="en-ID" sz="1400" dirty="0"/>
              <a:t> </a:t>
            </a:r>
            <a:r>
              <a:rPr lang="en-ID" sz="1400" dirty="0" err="1"/>
              <a:t>mengeluarkan</a:t>
            </a:r>
            <a:r>
              <a:rPr lang="en-ID" sz="1400" dirty="0"/>
              <a:t> </a:t>
            </a:r>
            <a:r>
              <a:rPr lang="en-ID" sz="1400" dirty="0" err="1"/>
              <a:t>hasil</a:t>
            </a:r>
            <a:r>
              <a:rPr lang="en-ID" sz="1400" dirty="0"/>
              <a:t> </a:t>
            </a:r>
            <a:r>
              <a:rPr lang="en-ID" sz="1400" dirty="0" err="1"/>
              <a:t>berupa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US" sz="1400" dirty="0" err="1"/>
              <a:t>γ</a:t>
            </a:r>
            <a:r>
              <a:rPr lang="en-US" sz="1400" dirty="0"/>
              <a:t> → </a:t>
            </a:r>
            <a:r>
              <a:rPr lang="en-US" sz="1400" i="1" dirty="0"/>
              <a:t>S</a:t>
            </a:r>
            <a:r>
              <a:rPr lang="en-ID" sz="1400" dirty="0"/>
              <a:t>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8124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DC389-0FEE-A027-53A4-128B9ADAD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Penutup</a:t>
            </a:r>
            <a:r>
              <a:rPr lang="en-ID" b="1" dirty="0"/>
              <a:t> </a:t>
            </a:r>
            <a:r>
              <a:rPr lang="en-ID" b="1" dirty="0" err="1"/>
              <a:t>Kanonik</a:t>
            </a:r>
            <a:r>
              <a:rPr lang="en-ID" b="1" dirty="0"/>
              <a:t> (</a:t>
            </a:r>
            <a:r>
              <a:rPr lang="en-ID" b="1" i="1" dirty="0"/>
              <a:t>Canonical Cover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F26E-2394-9029-5E15-980C1A5D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97609"/>
          </a:xfrm>
        </p:spPr>
        <p:txBody>
          <a:bodyPr/>
          <a:lstStyle/>
          <a:p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memiliki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yang </a:t>
            </a:r>
            <a:r>
              <a:rPr lang="en-ID" sz="1600" dirty="0" err="1"/>
              <a:t>redundan</a:t>
            </a:r>
            <a:r>
              <a:rPr lang="en-ID" sz="1600" dirty="0"/>
              <a:t> (</a:t>
            </a:r>
            <a:r>
              <a:rPr lang="en-ID" sz="1600" dirty="0" err="1"/>
              <a:t>berlebihan</a:t>
            </a:r>
            <a:r>
              <a:rPr lang="en-ID" sz="1600" dirty="0"/>
              <a:t>)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disimpulkan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lainnya</a:t>
            </a:r>
            <a:r>
              <a:rPr lang="en-ID" sz="1600" dirty="0"/>
              <a:t>.</a:t>
            </a:r>
          </a:p>
          <a:p>
            <a:pPr lvl="1"/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contoh</a:t>
            </a:r>
            <a:r>
              <a:rPr lang="en-ID" sz="1600" dirty="0"/>
              <a:t>: A </a:t>
            </a:r>
            <a:r>
              <a:rPr lang="en-US" sz="1600" dirty="0"/>
              <a:t>→</a:t>
            </a:r>
            <a:r>
              <a:rPr lang="en-ID" sz="1600" dirty="0"/>
              <a:t> C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redundan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: {A </a:t>
            </a:r>
            <a:r>
              <a:rPr lang="en-US" sz="1600" dirty="0"/>
              <a:t>→</a:t>
            </a:r>
            <a:r>
              <a:rPr lang="en-ID" sz="1600" dirty="0"/>
              <a:t> B, B </a:t>
            </a:r>
            <a:r>
              <a:rPr lang="en-US" sz="1600" dirty="0"/>
              <a:t>→</a:t>
            </a:r>
            <a:r>
              <a:rPr lang="en-ID" sz="1600" dirty="0"/>
              <a:t> C, A </a:t>
            </a:r>
            <a:r>
              <a:rPr lang="en-US" sz="1600" dirty="0"/>
              <a:t>→</a:t>
            </a:r>
            <a:r>
              <a:rPr lang="en-ID" sz="1600" dirty="0"/>
              <a:t> C}</a:t>
            </a:r>
          </a:p>
          <a:p>
            <a:pPr lvl="1"/>
            <a:r>
              <a:rPr lang="en-ID" sz="1600" dirty="0"/>
              <a:t>Bagian-</a:t>
            </a:r>
            <a:r>
              <a:rPr lang="en-ID" sz="1600" dirty="0" err="1"/>
              <a:t>bagian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ID" sz="1600" dirty="0" err="1"/>
              <a:t>mungkin</a:t>
            </a:r>
            <a:r>
              <a:rPr lang="en-ID" sz="1600" dirty="0"/>
              <a:t>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redundan</a:t>
            </a:r>
            <a:r>
              <a:rPr lang="en-ID" sz="1600" dirty="0"/>
              <a:t>:</a:t>
            </a:r>
          </a:p>
          <a:p>
            <a:pPr lvl="2"/>
            <a:r>
              <a:rPr lang="en-ID" sz="1600" dirty="0" err="1"/>
              <a:t>Contoh</a:t>
            </a:r>
            <a:r>
              <a:rPr lang="en-ID" sz="1600" dirty="0"/>
              <a:t> pada </a:t>
            </a:r>
            <a:r>
              <a:rPr lang="en-ID" sz="1600" dirty="0" err="1"/>
              <a:t>sisi</a:t>
            </a:r>
            <a:r>
              <a:rPr lang="en-ID" sz="1600" dirty="0"/>
              <a:t> </a:t>
            </a:r>
            <a:r>
              <a:rPr lang="en-ID" sz="1600" dirty="0" err="1"/>
              <a:t>kanan</a:t>
            </a:r>
            <a:r>
              <a:rPr lang="en-ID" sz="1600" dirty="0"/>
              <a:t> (RHS): </a:t>
            </a:r>
          </a:p>
          <a:p>
            <a:pPr marL="1066800" lvl="2" indent="0">
              <a:buNone/>
            </a:pPr>
            <a:r>
              <a:rPr lang="en-ID" sz="1600" dirty="0"/>
              <a:t>        {A </a:t>
            </a:r>
            <a:r>
              <a:rPr lang="en-US" sz="1600" dirty="0"/>
              <a:t>→</a:t>
            </a:r>
            <a:r>
              <a:rPr lang="en-ID" sz="1600" dirty="0"/>
              <a:t> B, B </a:t>
            </a:r>
            <a:r>
              <a:rPr lang="en-US" sz="1600" dirty="0"/>
              <a:t>→</a:t>
            </a:r>
            <a:r>
              <a:rPr lang="en-ID" sz="1600" dirty="0"/>
              <a:t> C, A </a:t>
            </a:r>
            <a:r>
              <a:rPr lang="en-US" sz="1600" dirty="0"/>
              <a:t>→ </a:t>
            </a:r>
            <a:r>
              <a:rPr lang="en-ID" sz="1600" dirty="0"/>
              <a:t>CD}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disederhanakan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   </a:t>
            </a:r>
          </a:p>
          <a:p>
            <a:pPr marL="1066800" lvl="2" indent="0">
              <a:buNone/>
            </a:pPr>
            <a:r>
              <a:rPr lang="en-ID" sz="1600" dirty="0"/>
              <a:t>        {A </a:t>
            </a:r>
            <a:r>
              <a:rPr lang="en-US" sz="1600" dirty="0"/>
              <a:t>→</a:t>
            </a:r>
            <a:r>
              <a:rPr lang="en-ID" sz="1600" dirty="0"/>
              <a:t> B, B </a:t>
            </a:r>
            <a:r>
              <a:rPr lang="en-US" sz="1600" dirty="0"/>
              <a:t>→</a:t>
            </a:r>
            <a:r>
              <a:rPr lang="en-ID" sz="1600" dirty="0"/>
              <a:t> C, A </a:t>
            </a:r>
            <a:r>
              <a:rPr lang="en-US" sz="1600" dirty="0"/>
              <a:t>→</a:t>
            </a:r>
            <a:r>
              <a:rPr lang="en-ID" sz="1600" dirty="0"/>
              <a:t> D}</a:t>
            </a:r>
          </a:p>
          <a:p>
            <a:pPr lvl="2"/>
            <a:r>
              <a:rPr lang="en-ID" sz="1600" dirty="0" err="1"/>
              <a:t>Contoh</a:t>
            </a:r>
            <a:r>
              <a:rPr lang="en-ID" sz="1600" dirty="0"/>
              <a:t> pada </a:t>
            </a:r>
            <a:r>
              <a:rPr lang="en-ID" sz="1600" dirty="0" err="1"/>
              <a:t>sisi</a:t>
            </a:r>
            <a:r>
              <a:rPr lang="en-ID" sz="1600" dirty="0"/>
              <a:t> kiri (LHS): </a:t>
            </a:r>
          </a:p>
          <a:p>
            <a:pPr marL="1066800" lvl="2" indent="0">
              <a:buNone/>
            </a:pPr>
            <a:r>
              <a:rPr lang="en-ID" sz="1600" dirty="0"/>
              <a:t>        {A </a:t>
            </a:r>
            <a:r>
              <a:rPr lang="en-US" sz="1600" dirty="0"/>
              <a:t>→</a:t>
            </a:r>
            <a:r>
              <a:rPr lang="en-ID" sz="1600" dirty="0"/>
              <a:t> B, B </a:t>
            </a:r>
            <a:r>
              <a:rPr lang="en-US" sz="1600" dirty="0"/>
              <a:t>→</a:t>
            </a:r>
            <a:r>
              <a:rPr lang="en-ID" sz="1600" dirty="0"/>
              <a:t> C, AC </a:t>
            </a:r>
            <a:r>
              <a:rPr lang="en-US" sz="1600" dirty="0"/>
              <a:t>→</a:t>
            </a:r>
            <a:r>
              <a:rPr lang="en-ID" sz="1600" dirty="0"/>
              <a:t> D}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disederhanakan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</a:p>
          <a:p>
            <a:pPr marL="1066800" lvl="2" indent="0">
              <a:buNone/>
            </a:pPr>
            <a:r>
              <a:rPr lang="en-ID" sz="1600" dirty="0"/>
              <a:t>        {A </a:t>
            </a:r>
            <a:r>
              <a:rPr lang="en-US" sz="1600" dirty="0"/>
              <a:t>→</a:t>
            </a:r>
            <a:r>
              <a:rPr lang="en-ID" sz="1600" dirty="0"/>
              <a:t> B, B </a:t>
            </a:r>
            <a:r>
              <a:rPr lang="en-US" sz="1600" dirty="0"/>
              <a:t>→</a:t>
            </a:r>
            <a:r>
              <a:rPr lang="en-ID" sz="1600" dirty="0"/>
              <a:t> C, A </a:t>
            </a:r>
            <a:r>
              <a:rPr lang="en-US" sz="1600" dirty="0"/>
              <a:t>→</a:t>
            </a:r>
            <a:r>
              <a:rPr lang="en-ID" sz="1600" dirty="0"/>
              <a:t> D)</a:t>
            </a:r>
          </a:p>
          <a:p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intuitif</a:t>
            </a:r>
            <a:r>
              <a:rPr lang="en-ID" sz="1600" dirty="0"/>
              <a:t>, </a:t>
            </a:r>
            <a:r>
              <a:rPr lang="en-ID" sz="1600" dirty="0" err="1"/>
              <a:t>penutup</a:t>
            </a:r>
            <a:r>
              <a:rPr lang="en-ID" sz="1600" dirty="0"/>
              <a:t> </a:t>
            </a:r>
            <a:r>
              <a:rPr lang="en-ID" sz="1600" dirty="0" err="1"/>
              <a:t>kanonik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i="1" dirty="0"/>
              <a:t>F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yang "minimal" yang </a:t>
            </a:r>
            <a:r>
              <a:rPr lang="en-ID" sz="1600" dirty="0" err="1"/>
              <a:t>setara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i="1" dirty="0"/>
              <a:t>F</a:t>
            </a:r>
            <a:r>
              <a:rPr lang="en-ID" sz="1600" dirty="0"/>
              <a:t>, di mana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terdapat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yang </a:t>
            </a:r>
            <a:r>
              <a:rPr lang="en-ID" sz="1600" dirty="0" err="1"/>
              <a:t>redundan</a:t>
            </a:r>
            <a:r>
              <a:rPr lang="en-ID" sz="1600" dirty="0"/>
              <a:t> </a:t>
            </a:r>
            <a:r>
              <a:rPr lang="en-ID" sz="1600" dirty="0" err="1"/>
              <a:t>maupun</a:t>
            </a:r>
            <a:r>
              <a:rPr lang="en-ID" sz="1600" dirty="0"/>
              <a:t> </a:t>
            </a:r>
            <a:r>
              <a:rPr lang="en-ID" sz="1600" dirty="0" err="1"/>
              <a:t>bagian-bagian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yang </a:t>
            </a:r>
            <a:r>
              <a:rPr lang="en-ID" sz="1600" dirty="0" err="1"/>
              <a:t>redundan</a:t>
            </a:r>
            <a:r>
              <a:rPr lang="en-ID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5703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49429-2AA4-46C9-BB68-0F108E2D2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Extraneous Attributes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4A5D9-2A58-2D9B-D1D1-9F4E3CB19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207727"/>
          </a:xfrm>
        </p:spPr>
        <p:txBody>
          <a:bodyPr/>
          <a:lstStyle/>
          <a:p>
            <a:r>
              <a:rPr lang="en-ID" sz="1400" dirty="0" err="1"/>
              <a:t>Pertimbangkan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i="1" dirty="0"/>
              <a:t>F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(</a:t>
            </a:r>
            <a:r>
              <a:rPr lang="en-ID" sz="1400" i="1" dirty="0"/>
              <a:t>functional dependencies</a:t>
            </a:r>
            <a:r>
              <a:rPr lang="en-ID" sz="1400" dirty="0"/>
              <a:t>) dan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  <a:r>
              <a:rPr lang="en-US" sz="1400" dirty="0"/>
              <a:t>α → β 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ID" sz="1400" i="1" dirty="0"/>
              <a:t>F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Atribut</a:t>
            </a:r>
            <a:r>
              <a:rPr lang="en-ID" sz="1400" dirty="0"/>
              <a:t> A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ekstranus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US" sz="1400" dirty="0"/>
              <a:t>α</a:t>
            </a:r>
            <a:r>
              <a:rPr lang="en-ID" sz="1400" dirty="0"/>
              <a:t>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US" sz="1400" i="1" dirty="0"/>
              <a:t>A </a:t>
            </a:r>
            <a:r>
              <a:rPr lang="en-US" sz="1400" dirty="0"/>
              <a:t>∈ α</a:t>
            </a:r>
            <a:r>
              <a:rPr lang="en-ID" sz="1400" dirty="0"/>
              <a:t> </a:t>
            </a:r>
          </a:p>
          <a:p>
            <a:pPr marL="609600" lvl="1" indent="0">
              <a:buNone/>
            </a:pPr>
            <a:r>
              <a:rPr lang="en-ID" sz="1400" dirty="0"/>
              <a:t>	dan </a:t>
            </a:r>
            <a:r>
              <a:rPr lang="en-ID" sz="1400" i="1" dirty="0"/>
              <a:t>F</a:t>
            </a:r>
            <a:r>
              <a:rPr lang="en-ID" sz="1400" dirty="0"/>
              <a:t>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logis</a:t>
            </a:r>
            <a:r>
              <a:rPr lang="en-ID" sz="1400" dirty="0"/>
              <a:t> </a:t>
            </a:r>
            <a:r>
              <a:rPr lang="en-ID" sz="1400" dirty="0" err="1"/>
              <a:t>menyiratkan</a:t>
            </a:r>
            <a:r>
              <a:rPr lang="en-ID" sz="1400" dirty="0"/>
              <a:t> </a:t>
            </a:r>
            <a:r>
              <a:rPr lang="en-US" sz="1400" dirty="0"/>
              <a:t>(</a:t>
            </a:r>
            <a:r>
              <a:rPr lang="en-US" sz="1400" i="1" dirty="0"/>
              <a:t>F</a:t>
            </a:r>
            <a:r>
              <a:rPr lang="en-US" sz="1400" dirty="0"/>
              <a:t> – {α → β}) ∪ {(α  – </a:t>
            </a:r>
            <a:r>
              <a:rPr lang="en-US" sz="1400" i="1" dirty="0"/>
              <a:t>A</a:t>
            </a:r>
            <a:r>
              <a:rPr lang="en-US" sz="1400" dirty="0"/>
              <a:t>) → β}</a:t>
            </a:r>
            <a:r>
              <a:rPr lang="en-ID" sz="1400" dirty="0"/>
              <a:t>.</a:t>
            </a:r>
          </a:p>
          <a:p>
            <a:pPr lvl="1"/>
            <a:r>
              <a:rPr lang="en-ID" sz="1400" dirty="0" err="1"/>
              <a:t>Atribut</a:t>
            </a:r>
            <a:r>
              <a:rPr lang="en-ID" sz="1400" dirty="0"/>
              <a:t> A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ekstranus</a:t>
            </a:r>
            <a:r>
              <a:rPr lang="en-ID" sz="1400" dirty="0"/>
              <a:t> di </a:t>
            </a:r>
            <a:r>
              <a:rPr lang="en-ID" sz="1400" dirty="0" err="1"/>
              <a:t>dalam</a:t>
            </a:r>
            <a:r>
              <a:rPr lang="en-ID" sz="1400" dirty="0"/>
              <a:t> </a:t>
            </a:r>
            <a:r>
              <a:rPr lang="en-US" sz="1400" dirty="0"/>
              <a:t>β</a:t>
            </a:r>
            <a:r>
              <a:rPr lang="en-ID" sz="1400" dirty="0"/>
              <a:t> </a:t>
            </a:r>
            <a:r>
              <a:rPr lang="en-ID" sz="1400" dirty="0" err="1"/>
              <a:t>jika</a:t>
            </a:r>
            <a:r>
              <a:rPr lang="en-ID" sz="1400" dirty="0"/>
              <a:t> </a:t>
            </a:r>
            <a:r>
              <a:rPr lang="en-US" sz="1400" i="1" dirty="0"/>
              <a:t>A </a:t>
            </a:r>
            <a:r>
              <a:rPr lang="en-US" sz="1400" dirty="0"/>
              <a:t>∈ β </a:t>
            </a:r>
            <a:r>
              <a:rPr lang="en-ID" sz="1400" dirty="0"/>
              <a:t>	</a:t>
            </a:r>
          </a:p>
          <a:p>
            <a:pPr marL="609600" lvl="1" indent="0">
              <a:buNone/>
            </a:pPr>
            <a:r>
              <a:rPr lang="en-ID" sz="1400" dirty="0"/>
              <a:t>	dan </a:t>
            </a:r>
            <a:r>
              <a:rPr lang="en-ID" sz="1400" dirty="0" err="1"/>
              <a:t>himpunan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</a:t>
            </a:r>
          </a:p>
          <a:p>
            <a:pPr marL="609600" lvl="1" indent="0">
              <a:buNone/>
            </a:pPr>
            <a:r>
              <a:rPr lang="en-US" sz="1400" dirty="0"/>
              <a:t>	 (</a:t>
            </a:r>
            <a:r>
              <a:rPr lang="en-US" sz="1400" i="1" dirty="0"/>
              <a:t>F</a:t>
            </a:r>
            <a:r>
              <a:rPr lang="en-US" sz="1400" dirty="0"/>
              <a:t>  – {α → β}) ∪ {α →</a:t>
            </a:r>
            <a:r>
              <a:rPr lang="en-US" sz="1400" i="1" dirty="0"/>
              <a:t>(</a:t>
            </a:r>
            <a:r>
              <a:rPr lang="en-US" sz="1400" dirty="0"/>
              <a:t>β</a:t>
            </a:r>
            <a:r>
              <a:rPr lang="en-US" sz="1400" i="1" dirty="0"/>
              <a:t> </a:t>
            </a:r>
            <a:r>
              <a:rPr lang="en-US" sz="1400" dirty="0"/>
              <a:t>– </a:t>
            </a:r>
            <a:r>
              <a:rPr lang="en-US" sz="1400" i="1" dirty="0"/>
              <a:t>A</a:t>
            </a:r>
            <a:r>
              <a:rPr lang="en-US" sz="1400" dirty="0"/>
              <a:t>)} </a:t>
            </a:r>
            <a:r>
              <a:rPr lang="en-US" sz="1400" dirty="0" err="1"/>
              <a:t>secara</a:t>
            </a:r>
            <a:r>
              <a:rPr lang="en-US" sz="1400" dirty="0"/>
              <a:t> </a:t>
            </a:r>
            <a:r>
              <a:rPr lang="en-US" sz="1400" dirty="0" err="1"/>
              <a:t>logis</a:t>
            </a:r>
            <a:r>
              <a:rPr lang="en-US" sz="1400" dirty="0"/>
              <a:t> </a:t>
            </a:r>
            <a:r>
              <a:rPr lang="en-US" sz="1400" dirty="0" err="1"/>
              <a:t>menyiratkan</a:t>
            </a:r>
            <a:r>
              <a:rPr lang="en-US" sz="1400" dirty="0"/>
              <a:t> </a:t>
            </a:r>
            <a:r>
              <a:rPr lang="en-US" sz="1400" i="1" dirty="0"/>
              <a:t>F.</a:t>
            </a:r>
            <a:endParaRPr lang="en-ID" sz="1400" dirty="0"/>
          </a:p>
          <a:p>
            <a:r>
              <a:rPr lang="en-ID" sz="1400" b="1" dirty="0" err="1"/>
              <a:t>Catatan</a:t>
            </a:r>
            <a:r>
              <a:rPr lang="en-ID" sz="1400" b="1" dirty="0"/>
              <a:t>:</a:t>
            </a:r>
            <a:r>
              <a:rPr lang="en-ID" sz="1400" dirty="0"/>
              <a:t> Implikasi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arah</a:t>
            </a:r>
            <a:r>
              <a:rPr lang="en-ID" sz="1400" dirty="0"/>
              <a:t> </a:t>
            </a:r>
            <a:r>
              <a:rPr lang="en-ID" sz="1400" dirty="0" err="1"/>
              <a:t>sebaliknya</a:t>
            </a:r>
            <a:r>
              <a:rPr lang="en-ID" sz="1400" dirty="0"/>
              <a:t> </a:t>
            </a:r>
            <a:r>
              <a:rPr lang="en-ID" sz="1400" dirty="0" err="1"/>
              <a:t>bersifat</a:t>
            </a:r>
            <a:r>
              <a:rPr lang="en-ID" sz="1400" dirty="0"/>
              <a:t> </a:t>
            </a:r>
            <a:r>
              <a:rPr lang="en-ID" sz="1400" b="1" dirty="0">
                <a:solidFill>
                  <a:srgbClr val="FFC000"/>
                </a:solidFill>
              </a:rPr>
              <a:t>trivial</a:t>
            </a:r>
            <a:r>
              <a:rPr lang="en-ID" sz="1400" dirty="0"/>
              <a:t> (</a:t>
            </a:r>
            <a:r>
              <a:rPr lang="en-ID" sz="1400" dirty="0" err="1"/>
              <a:t>sudah</a:t>
            </a:r>
            <a:r>
              <a:rPr lang="en-ID" sz="1400" dirty="0"/>
              <a:t> </a:t>
            </a:r>
            <a:r>
              <a:rPr lang="en-ID" sz="1400" dirty="0" err="1"/>
              <a:t>pasti</a:t>
            </a:r>
            <a:r>
              <a:rPr lang="en-ID" sz="1400" dirty="0"/>
              <a:t> </a:t>
            </a:r>
            <a:r>
              <a:rPr lang="en-ID" sz="1400" dirty="0" err="1"/>
              <a:t>benar</a:t>
            </a:r>
            <a:r>
              <a:rPr lang="en-ID" sz="1400" dirty="0"/>
              <a:t>) pada masing-masing </a:t>
            </a:r>
            <a:r>
              <a:rPr lang="en-ID" sz="1400" dirty="0" err="1"/>
              <a:t>kasus</a:t>
            </a:r>
            <a:r>
              <a:rPr lang="en-ID" sz="1400" dirty="0"/>
              <a:t> di </a:t>
            </a:r>
            <a:r>
              <a:rPr lang="en-ID" sz="1400" dirty="0" err="1"/>
              <a:t>atas</a:t>
            </a:r>
            <a:r>
              <a:rPr lang="en-ID" sz="1400" dirty="0"/>
              <a:t>, </a:t>
            </a:r>
            <a:r>
              <a:rPr lang="en-ID" sz="1400" dirty="0" err="1"/>
              <a:t>karena</a:t>
            </a:r>
            <a:r>
              <a:rPr lang="en-ID" sz="1400" dirty="0"/>
              <a:t> </a:t>
            </a:r>
            <a:r>
              <a:rPr lang="en-ID" sz="1400" dirty="0" err="1"/>
              <a:t>ketergantungan</a:t>
            </a:r>
            <a:r>
              <a:rPr lang="en-ID" sz="1400" dirty="0"/>
              <a:t> </a:t>
            </a:r>
            <a:r>
              <a:rPr lang="en-ID" sz="1400" dirty="0" err="1"/>
              <a:t>fungsional</a:t>
            </a:r>
            <a:r>
              <a:rPr lang="en-ID" sz="1400" dirty="0"/>
              <a:t> yang "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kuat</a:t>
            </a:r>
            <a:r>
              <a:rPr lang="en-ID" sz="1400" dirty="0"/>
              <a:t>" </a:t>
            </a:r>
            <a:r>
              <a:rPr lang="en-ID" sz="1400" dirty="0" err="1"/>
              <a:t>akan</a:t>
            </a:r>
            <a:r>
              <a:rPr lang="en-ID" sz="1400" dirty="0"/>
              <a:t> </a:t>
            </a:r>
            <a:r>
              <a:rPr lang="en-ID" sz="1400" dirty="0" err="1"/>
              <a:t>selalu</a:t>
            </a:r>
            <a:r>
              <a:rPr lang="en-ID" sz="1400" dirty="0"/>
              <a:t> </a:t>
            </a:r>
            <a:r>
              <a:rPr lang="en-ID" sz="1400" dirty="0" err="1"/>
              <a:t>menyiratkan</a:t>
            </a:r>
            <a:r>
              <a:rPr lang="en-ID" sz="1400" dirty="0"/>
              <a:t> yang "</a:t>
            </a:r>
            <a:r>
              <a:rPr lang="en-ID" sz="1400" dirty="0" err="1"/>
              <a:t>lebih</a:t>
            </a:r>
            <a:r>
              <a:rPr lang="en-ID" sz="1400" dirty="0"/>
              <a:t> </a:t>
            </a:r>
            <a:r>
              <a:rPr lang="en-ID" sz="1400" dirty="0" err="1"/>
              <a:t>lemah</a:t>
            </a:r>
            <a:r>
              <a:rPr lang="en-ID" sz="1400" dirty="0"/>
              <a:t>".</a:t>
            </a:r>
          </a:p>
          <a:p>
            <a:endParaRPr lang="en-ID" sz="1400" dirty="0"/>
          </a:p>
          <a:p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Diberikan</a:t>
            </a:r>
            <a:r>
              <a:rPr lang="en-ID" sz="1400" dirty="0"/>
              <a:t> F = {A </a:t>
            </a:r>
            <a:r>
              <a:rPr lang="en-US" sz="1400" dirty="0"/>
              <a:t>→</a:t>
            </a:r>
            <a:r>
              <a:rPr lang="en-ID" sz="1400" dirty="0"/>
              <a:t> C, AB </a:t>
            </a:r>
            <a:r>
              <a:rPr lang="en-US" sz="1400" dirty="0"/>
              <a:t>→</a:t>
            </a:r>
            <a:r>
              <a:rPr lang="en-ID" sz="1400" dirty="0"/>
              <a:t> C}</a:t>
            </a:r>
          </a:p>
          <a:p>
            <a:pPr lvl="1"/>
            <a:r>
              <a:rPr lang="en-ID" sz="1400" dirty="0"/>
              <a:t>B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ekstranus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AB </a:t>
            </a:r>
            <a:r>
              <a:rPr lang="en-US" sz="1400" dirty="0"/>
              <a:t>→</a:t>
            </a:r>
            <a:r>
              <a:rPr lang="en-ID" sz="1400" dirty="0"/>
              <a:t> C </a:t>
            </a:r>
            <a:r>
              <a:rPr lang="en-ID" sz="1400" dirty="0" err="1"/>
              <a:t>karena</a:t>
            </a:r>
            <a:r>
              <a:rPr lang="en-ID" sz="1400" dirty="0"/>
              <a:t> {A </a:t>
            </a:r>
            <a:r>
              <a:rPr lang="en-US" sz="1400" dirty="0"/>
              <a:t>→</a:t>
            </a:r>
            <a:r>
              <a:rPr lang="en-ID" sz="1400" dirty="0"/>
              <a:t> C, AB </a:t>
            </a:r>
            <a:r>
              <a:rPr lang="en-US" sz="1400" dirty="0"/>
              <a:t>→</a:t>
            </a:r>
            <a:r>
              <a:rPr lang="en-ID" sz="1400" dirty="0"/>
              <a:t> C} </a:t>
            </a:r>
            <a:r>
              <a:rPr lang="en-ID" sz="1400" dirty="0" err="1"/>
              <a:t>secara</a:t>
            </a:r>
            <a:r>
              <a:rPr lang="en-ID" sz="1400" dirty="0"/>
              <a:t> </a:t>
            </a:r>
            <a:r>
              <a:rPr lang="en-ID" sz="1400" dirty="0" err="1"/>
              <a:t>logis</a:t>
            </a:r>
            <a:r>
              <a:rPr lang="en-ID" sz="1400" dirty="0"/>
              <a:t> </a:t>
            </a:r>
            <a:r>
              <a:rPr lang="en-ID" sz="1400" dirty="0" err="1"/>
              <a:t>menyiratkan</a:t>
            </a:r>
            <a:r>
              <a:rPr lang="en-ID" sz="1400" dirty="0"/>
              <a:t> </a:t>
            </a:r>
          </a:p>
          <a:p>
            <a:pPr marL="609600" lvl="1" indent="0">
              <a:buNone/>
            </a:pPr>
            <a:r>
              <a:rPr lang="en-ID" sz="1400" dirty="0"/>
              <a:t>	A </a:t>
            </a:r>
            <a:r>
              <a:rPr lang="en-US" sz="1400" dirty="0"/>
              <a:t>→</a:t>
            </a:r>
            <a:r>
              <a:rPr lang="en-ID" sz="1400" dirty="0"/>
              <a:t> C (</a:t>
            </a:r>
            <a:r>
              <a:rPr lang="en-ID" sz="1400" dirty="0" err="1"/>
              <a:t>yaitu</a:t>
            </a:r>
            <a:r>
              <a:rPr lang="en-ID" sz="1400" dirty="0"/>
              <a:t> </a:t>
            </a:r>
            <a:r>
              <a:rPr lang="en-ID" sz="1400" dirty="0" err="1"/>
              <a:t>hasil</a:t>
            </a:r>
            <a:r>
              <a:rPr lang="en-ID" sz="1400" dirty="0"/>
              <a:t>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menghapus</a:t>
            </a:r>
            <a:r>
              <a:rPr lang="en-ID" sz="1400" dirty="0"/>
              <a:t> B </a:t>
            </a:r>
            <a:r>
              <a:rPr lang="en-ID" sz="1400" dirty="0" err="1"/>
              <a:t>dari</a:t>
            </a:r>
            <a:r>
              <a:rPr lang="en-ID" sz="1400" dirty="0"/>
              <a:t> AB </a:t>
            </a:r>
            <a:r>
              <a:rPr lang="en-US" sz="1400" dirty="0"/>
              <a:t>→</a:t>
            </a:r>
            <a:r>
              <a:rPr lang="en-ID" sz="1400" dirty="0"/>
              <a:t> C).</a:t>
            </a:r>
          </a:p>
          <a:p>
            <a:r>
              <a:rPr lang="en-ID" sz="1400" b="1" dirty="0" err="1"/>
              <a:t>Contoh</a:t>
            </a:r>
            <a:r>
              <a:rPr lang="en-ID" sz="1400" b="1" dirty="0"/>
              <a:t>:</a:t>
            </a:r>
            <a:r>
              <a:rPr lang="en-ID" sz="1400" dirty="0"/>
              <a:t> </a:t>
            </a:r>
            <a:r>
              <a:rPr lang="en-ID" sz="1400" dirty="0" err="1"/>
              <a:t>Diberikan</a:t>
            </a:r>
            <a:r>
              <a:rPr lang="en-ID" sz="1400" dirty="0"/>
              <a:t> F = {A </a:t>
            </a:r>
            <a:r>
              <a:rPr lang="en-US" sz="1400" dirty="0"/>
              <a:t>→</a:t>
            </a:r>
            <a:r>
              <a:rPr lang="en-ID" sz="1400" dirty="0"/>
              <a:t> C, AB </a:t>
            </a:r>
            <a:r>
              <a:rPr lang="en-US" sz="1400" dirty="0"/>
              <a:t>→</a:t>
            </a:r>
            <a:r>
              <a:rPr lang="en-ID" sz="1400" dirty="0"/>
              <a:t> CD}</a:t>
            </a:r>
          </a:p>
          <a:p>
            <a:pPr lvl="1"/>
            <a:r>
              <a:rPr lang="en-ID" sz="1400" dirty="0"/>
              <a:t>C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ekstranus</a:t>
            </a:r>
            <a:r>
              <a:rPr lang="en-ID" sz="1400" dirty="0"/>
              <a:t> </a:t>
            </a:r>
            <a:r>
              <a:rPr lang="en-ID" sz="1400" dirty="0" err="1"/>
              <a:t>dalam</a:t>
            </a:r>
            <a:r>
              <a:rPr lang="en-ID" sz="1400" dirty="0"/>
              <a:t> AB </a:t>
            </a:r>
            <a:r>
              <a:rPr lang="en-US" sz="1400" dirty="0"/>
              <a:t>→</a:t>
            </a:r>
            <a:r>
              <a:rPr lang="en-ID" sz="1400" dirty="0"/>
              <a:t> CD </a:t>
            </a:r>
            <a:r>
              <a:rPr lang="en-ID" sz="1400" dirty="0" err="1"/>
              <a:t>karena</a:t>
            </a:r>
            <a:r>
              <a:rPr lang="en-ID" sz="1400" dirty="0"/>
              <a:t> AB </a:t>
            </a:r>
            <a:r>
              <a:rPr lang="en-US" sz="1400" dirty="0"/>
              <a:t>→</a:t>
            </a:r>
            <a:r>
              <a:rPr lang="en-ID" sz="1400" dirty="0"/>
              <a:t> C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disimpulkan</a:t>
            </a:r>
            <a:r>
              <a:rPr lang="en-ID" sz="1400" dirty="0"/>
              <a:t> </a:t>
            </a:r>
            <a:r>
              <a:rPr lang="en-ID" sz="1400" dirty="0" err="1"/>
              <a:t>bahkan</a:t>
            </a:r>
            <a:r>
              <a:rPr lang="en-ID" sz="1400" dirty="0"/>
              <a:t> </a:t>
            </a:r>
            <a:r>
              <a:rPr lang="en-ID" sz="1400" dirty="0" err="1"/>
              <a:t>setelah</a:t>
            </a:r>
            <a:r>
              <a:rPr lang="en-ID" sz="1400" dirty="0"/>
              <a:t> </a:t>
            </a:r>
            <a:r>
              <a:rPr lang="en-ID" sz="1400" dirty="0" err="1"/>
              <a:t>menghapus</a:t>
            </a:r>
            <a:r>
              <a:rPr lang="en-ID" sz="1400" dirty="0"/>
              <a:t> C.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7575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11AC-82D6-B406-D171-2050EB992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if an Attribute is Extraneous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5F869-8D99-8C41-F89C-5ADDC3D12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55089"/>
          </a:xfrm>
        </p:spPr>
        <p:txBody>
          <a:bodyPr/>
          <a:lstStyle/>
          <a:p>
            <a:pPr marL="152400" indent="0">
              <a:buNone/>
            </a:pPr>
            <a:r>
              <a:rPr lang="en-ID" sz="1600" b="1" dirty="0" err="1">
                <a:solidFill>
                  <a:srgbClr val="FFC000"/>
                </a:solidFill>
              </a:rPr>
              <a:t>Menguji</a:t>
            </a:r>
            <a:r>
              <a:rPr lang="en-ID" sz="1600" b="1" dirty="0"/>
              <a:t> </a:t>
            </a:r>
            <a:r>
              <a:rPr lang="en-ID" sz="1600" b="1" dirty="0" err="1"/>
              <a:t>Apakah</a:t>
            </a:r>
            <a:r>
              <a:rPr lang="en-ID" sz="1600" b="1" dirty="0"/>
              <a:t> </a:t>
            </a:r>
            <a:r>
              <a:rPr lang="en-ID" sz="1600" b="1" dirty="0" err="1"/>
              <a:t>suatu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Atribut</a:t>
            </a:r>
            <a:r>
              <a:rPr lang="en-ID" sz="1600" b="1" dirty="0"/>
              <a:t> </a:t>
            </a:r>
            <a:r>
              <a:rPr lang="en-ID" sz="1600" b="1" dirty="0" err="1"/>
              <a:t>adalah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Ekstranus</a:t>
            </a:r>
            <a:endParaRPr lang="en-ID" sz="1600" b="1" dirty="0">
              <a:solidFill>
                <a:srgbClr val="FFC000"/>
              </a:solidFill>
            </a:endParaRPr>
          </a:p>
          <a:p>
            <a:r>
              <a:rPr lang="en-ID" sz="1600" dirty="0" err="1"/>
              <a:t>Pertimbangkan</a:t>
            </a:r>
            <a:r>
              <a:rPr lang="en-ID" sz="1600" dirty="0"/>
              <a:t> </a:t>
            </a:r>
            <a:r>
              <a:rPr lang="en-ID" sz="1600" dirty="0" err="1"/>
              <a:t>sebuah</a:t>
            </a:r>
            <a:r>
              <a:rPr lang="en-ID" sz="1600" dirty="0"/>
              <a:t> </a:t>
            </a:r>
            <a:r>
              <a:rPr lang="en-ID" sz="1600" dirty="0" err="1"/>
              <a:t>himpunan</a:t>
            </a:r>
            <a:r>
              <a:rPr lang="en-ID" sz="1600" dirty="0"/>
              <a:t> F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(</a:t>
            </a:r>
            <a:r>
              <a:rPr lang="en-ID" sz="1600" i="1" dirty="0"/>
              <a:t>functional dependencies</a:t>
            </a:r>
            <a:r>
              <a:rPr lang="en-ID" sz="1600" dirty="0"/>
              <a:t>) dan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US" sz="1600" dirty="0"/>
              <a:t>α → β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F.</a:t>
            </a:r>
          </a:p>
          <a:p>
            <a:endParaRPr lang="en-ID" sz="1600" dirty="0"/>
          </a:p>
          <a:p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menguji</a:t>
            </a:r>
            <a:r>
              <a:rPr lang="en-ID" sz="1600" b="1" dirty="0"/>
              <a:t> </a:t>
            </a:r>
            <a:r>
              <a:rPr lang="en-ID" sz="1600" b="1" dirty="0" err="1"/>
              <a:t>apakah</a:t>
            </a:r>
            <a:r>
              <a:rPr lang="en-ID" sz="1600" b="1" dirty="0"/>
              <a:t> </a:t>
            </a:r>
            <a:r>
              <a:rPr lang="en-ID" sz="1600" b="1" dirty="0" err="1"/>
              <a:t>atribut</a:t>
            </a:r>
            <a:r>
              <a:rPr lang="en-ID" sz="1600" b="1" dirty="0"/>
              <a:t> </a:t>
            </a:r>
            <a:r>
              <a:rPr lang="en-US" sz="1600" dirty="0"/>
              <a:t>A ∈ α</a:t>
            </a:r>
            <a:r>
              <a:rPr lang="en-ID" sz="1600" b="1" dirty="0"/>
              <a:t> </a:t>
            </a:r>
            <a:r>
              <a:rPr lang="en-ID" sz="1600" b="1" dirty="0" err="1"/>
              <a:t>adalah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ekstranus</a:t>
            </a:r>
            <a:r>
              <a:rPr lang="en-ID" sz="1600" b="1" dirty="0"/>
              <a:t> di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US" sz="1600" dirty="0"/>
              <a:t>α 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 err="1"/>
              <a:t>Hitung</a:t>
            </a:r>
            <a:r>
              <a:rPr lang="en-ID" sz="1600" dirty="0"/>
              <a:t> </a:t>
            </a:r>
            <a:r>
              <a:rPr lang="en-US" sz="1600" dirty="0"/>
              <a:t>({α} – A)</a:t>
            </a:r>
            <a:r>
              <a:rPr lang="en-US" sz="2000" baseline="30000" dirty="0"/>
              <a:t>+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ketergantungan-ketergantungan</a:t>
            </a:r>
            <a:r>
              <a:rPr lang="en-ID" sz="1600" dirty="0"/>
              <a:t> yang </a:t>
            </a:r>
            <a:r>
              <a:rPr lang="en-ID" sz="1600" dirty="0" err="1"/>
              <a:t>ada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F.</a:t>
            </a:r>
          </a:p>
          <a:p>
            <a:pPr lvl="1"/>
            <a:r>
              <a:rPr lang="en-ID" sz="1600" dirty="0" err="1"/>
              <a:t>Periksa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US" sz="1600" dirty="0"/>
              <a:t>({α} – A)</a:t>
            </a:r>
            <a:r>
              <a:rPr lang="en-US" sz="2000" baseline="30000" dirty="0"/>
              <a:t>+</a:t>
            </a:r>
            <a:r>
              <a:rPr lang="en-ID" sz="1600" dirty="0"/>
              <a:t> </a:t>
            </a:r>
            <a:r>
              <a:rPr lang="en-ID" sz="1600" dirty="0" err="1"/>
              <a:t>mengandung</a:t>
            </a:r>
            <a:r>
              <a:rPr lang="en-ID" sz="1600" dirty="0"/>
              <a:t> </a:t>
            </a:r>
            <a:r>
              <a:rPr lang="en-US" sz="1600" dirty="0"/>
              <a:t>β</a:t>
            </a:r>
            <a:r>
              <a:rPr lang="en-ID" sz="1600" dirty="0"/>
              <a:t>;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ya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A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ekstranus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dirty="0"/>
              <a:t>α</a:t>
            </a:r>
            <a:r>
              <a:rPr lang="en-ID" sz="1600" dirty="0"/>
              <a:t>.</a:t>
            </a:r>
          </a:p>
          <a:p>
            <a:pPr lvl="1"/>
            <a:endParaRPr lang="en-ID" sz="1600" dirty="0"/>
          </a:p>
          <a:p>
            <a:r>
              <a:rPr lang="en-ID" sz="1600" b="1" dirty="0" err="1"/>
              <a:t>Untuk</a:t>
            </a:r>
            <a:r>
              <a:rPr lang="en-ID" sz="1600" b="1" dirty="0"/>
              <a:t> </a:t>
            </a:r>
            <a:r>
              <a:rPr lang="en-ID" sz="1600" b="1" dirty="0" err="1"/>
              <a:t>menguji</a:t>
            </a:r>
            <a:r>
              <a:rPr lang="en-ID" sz="1600" b="1" dirty="0"/>
              <a:t> </a:t>
            </a:r>
            <a:r>
              <a:rPr lang="en-ID" sz="1600" b="1" dirty="0" err="1"/>
              <a:t>apakah</a:t>
            </a:r>
            <a:r>
              <a:rPr lang="en-ID" sz="1600" b="1" dirty="0"/>
              <a:t> </a:t>
            </a:r>
            <a:r>
              <a:rPr lang="en-ID" sz="1600" b="1" dirty="0" err="1"/>
              <a:t>atribut</a:t>
            </a:r>
            <a:r>
              <a:rPr lang="en-ID" sz="1600" b="1" dirty="0"/>
              <a:t> </a:t>
            </a:r>
            <a:r>
              <a:rPr lang="en-US" sz="1600" i="1" dirty="0"/>
              <a:t>A</a:t>
            </a:r>
            <a:r>
              <a:rPr lang="en-US" sz="1600" dirty="0"/>
              <a:t> ∈ β</a:t>
            </a:r>
            <a:r>
              <a:rPr lang="en-ID" sz="1600" b="1" dirty="0"/>
              <a:t> </a:t>
            </a:r>
            <a:r>
              <a:rPr lang="en-ID" sz="1600" b="1" dirty="0" err="1"/>
              <a:t>adalah</a:t>
            </a:r>
            <a:r>
              <a:rPr lang="en-ID" sz="1600" b="1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ekstranus</a:t>
            </a:r>
            <a:r>
              <a:rPr lang="en-ID" sz="1600" b="1" dirty="0"/>
              <a:t> di </a:t>
            </a:r>
            <a:r>
              <a:rPr lang="en-ID" sz="1600" b="1" dirty="0" err="1"/>
              <a:t>dalam</a:t>
            </a:r>
            <a:r>
              <a:rPr lang="en-ID" sz="1600" b="1" dirty="0"/>
              <a:t> </a:t>
            </a:r>
            <a:r>
              <a:rPr lang="en-US" sz="1600" dirty="0"/>
              <a:t>β</a:t>
            </a:r>
            <a:r>
              <a:rPr lang="en-ID" sz="1600" b="1" dirty="0"/>
              <a:t>:</a:t>
            </a:r>
            <a:endParaRPr lang="en-ID" sz="1600" dirty="0"/>
          </a:p>
          <a:p>
            <a:pPr lvl="1"/>
            <a:r>
              <a:rPr lang="en-ID" sz="1600" dirty="0" err="1"/>
              <a:t>Hitung</a:t>
            </a:r>
            <a:r>
              <a:rPr lang="en-ID" sz="1600" dirty="0"/>
              <a:t> </a:t>
            </a:r>
            <a:r>
              <a:rPr lang="en-US" sz="1600" dirty="0"/>
              <a:t>α</a:t>
            </a:r>
            <a:r>
              <a:rPr lang="en-US" sz="2000" baseline="30000" dirty="0"/>
              <a:t>+</a:t>
            </a:r>
            <a:r>
              <a:rPr lang="en-ID" sz="1600" dirty="0"/>
              <a:t> </a:t>
            </a:r>
            <a:r>
              <a:rPr lang="en-ID" sz="1600" dirty="0" err="1"/>
              <a:t>hanya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ketergantungan-ketergantungan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dirty="0"/>
              <a:t>  F’ = (</a:t>
            </a:r>
            <a:r>
              <a:rPr lang="en-US" sz="1600" i="1" dirty="0"/>
              <a:t>F</a:t>
            </a:r>
            <a:r>
              <a:rPr lang="en-US" sz="1600" dirty="0"/>
              <a:t>  – {α → β}) ∪ {α →</a:t>
            </a:r>
            <a:r>
              <a:rPr lang="en-US" sz="1600" i="1" dirty="0"/>
              <a:t>(</a:t>
            </a:r>
            <a:r>
              <a:rPr lang="en-US" sz="1600" dirty="0"/>
              <a:t>β</a:t>
            </a:r>
            <a:r>
              <a:rPr lang="en-US" sz="1600" i="1" dirty="0"/>
              <a:t> </a:t>
            </a:r>
            <a:r>
              <a:rPr lang="en-US" sz="1600" dirty="0"/>
              <a:t>– </a:t>
            </a:r>
            <a:r>
              <a:rPr lang="en-US" sz="1600" i="1" dirty="0"/>
              <a:t>A</a:t>
            </a:r>
            <a:r>
              <a:rPr lang="en-US" sz="1600" dirty="0"/>
              <a:t>)},</a:t>
            </a:r>
            <a:endParaRPr lang="en-ID" sz="1600" dirty="0"/>
          </a:p>
          <a:p>
            <a:pPr lvl="1"/>
            <a:r>
              <a:rPr lang="en-ID" sz="1600" dirty="0" err="1"/>
              <a:t>Periksa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US" sz="1600" dirty="0"/>
              <a:t>α</a:t>
            </a:r>
            <a:r>
              <a:rPr lang="en-US" sz="2000" baseline="30000" dirty="0"/>
              <a:t>+</a:t>
            </a:r>
            <a:r>
              <a:rPr lang="en-ID" sz="1600" dirty="0"/>
              <a:t> </a:t>
            </a:r>
            <a:r>
              <a:rPr lang="en-ID" sz="1600" dirty="0" err="1"/>
              <a:t>mengandung</a:t>
            </a:r>
            <a:r>
              <a:rPr lang="en-ID" sz="1600" dirty="0"/>
              <a:t> A; </a:t>
            </a:r>
            <a:r>
              <a:rPr lang="en-ID" sz="1600" dirty="0" err="1"/>
              <a:t>jika</a:t>
            </a:r>
            <a:r>
              <a:rPr lang="en-ID" sz="1600" dirty="0"/>
              <a:t> </a:t>
            </a:r>
            <a:r>
              <a:rPr lang="en-ID" sz="1600" dirty="0" err="1"/>
              <a:t>ya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A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ekstranus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dirty="0"/>
              <a:t>β</a:t>
            </a:r>
            <a:r>
              <a:rPr lang="en-ID" sz="16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58088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03884-A4AD-69E7-B0E2-66CD2CA9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Canonical cover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C8300A-36A7-977E-92F9-939F9E88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60286"/>
          </a:xfrm>
        </p:spPr>
        <p:txBody>
          <a:bodyPr/>
          <a:lstStyle/>
          <a:p>
            <a:pPr marL="152400" indent="0">
              <a:buNone/>
            </a:pPr>
            <a:r>
              <a:rPr lang="en-ID" b="1" dirty="0" err="1"/>
              <a:t>Penutup</a:t>
            </a:r>
            <a:r>
              <a:rPr lang="en-ID" b="1" dirty="0"/>
              <a:t> </a:t>
            </a:r>
            <a:r>
              <a:rPr lang="en-ID" b="1" dirty="0" err="1"/>
              <a:t>Kanonik</a:t>
            </a:r>
            <a:r>
              <a:rPr lang="en-ID" b="1" dirty="0"/>
              <a:t> (Canonical Cover)</a:t>
            </a:r>
          </a:p>
          <a:p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b="1" dirty="0" err="1"/>
              <a:t>penutup</a:t>
            </a:r>
            <a:r>
              <a:rPr lang="en-ID" b="1" dirty="0"/>
              <a:t> </a:t>
            </a:r>
            <a:r>
              <a:rPr lang="en-ID" b="1" dirty="0" err="1"/>
              <a:t>kanonik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F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US" i="1" dirty="0"/>
              <a:t>F</a:t>
            </a:r>
            <a:r>
              <a:rPr lang="en-US" i="1" baseline="-25000" dirty="0"/>
              <a:t>c</a:t>
            </a:r>
            <a:r>
              <a:rPr lang="en-ID" dirty="0"/>
              <a:t> </a:t>
            </a:r>
            <a:r>
              <a:rPr lang="en-ID" dirty="0" err="1"/>
              <a:t>sedemikian</a:t>
            </a:r>
            <a:r>
              <a:rPr lang="en-ID" dirty="0"/>
              <a:t> </a:t>
            </a:r>
            <a:r>
              <a:rPr lang="en-ID" dirty="0" err="1"/>
              <a:t>rupa</a:t>
            </a:r>
            <a:r>
              <a:rPr lang="en-ID" dirty="0"/>
              <a:t> </a:t>
            </a:r>
            <a:r>
              <a:rPr lang="en-ID" dirty="0" err="1"/>
              <a:t>sehingga</a:t>
            </a:r>
            <a:r>
              <a:rPr lang="en-ID" dirty="0"/>
              <a:t>:</a:t>
            </a:r>
          </a:p>
          <a:p>
            <a:pPr lvl="1"/>
            <a:r>
              <a:rPr lang="en-ID" dirty="0"/>
              <a:t>F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</a:t>
            </a:r>
            <a:r>
              <a:rPr lang="en-ID" dirty="0" err="1"/>
              <a:t>menyiratkan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US" i="1" dirty="0"/>
              <a:t>F</a:t>
            </a:r>
            <a:r>
              <a:rPr lang="en-US" i="1" baseline="-25000" dirty="0"/>
              <a:t>c</a:t>
            </a:r>
            <a:r>
              <a:rPr lang="en-ID" dirty="0"/>
              <a:t>, dan</a:t>
            </a:r>
          </a:p>
          <a:p>
            <a:pPr lvl="1"/>
            <a:r>
              <a:rPr lang="en-US" i="1" dirty="0"/>
              <a:t>F</a:t>
            </a:r>
            <a:r>
              <a:rPr lang="en-US" i="1" baseline="-25000" dirty="0"/>
              <a:t>c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</a:t>
            </a:r>
            <a:r>
              <a:rPr lang="en-ID" dirty="0" err="1"/>
              <a:t>menyiratkan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F, dan</a:t>
            </a:r>
          </a:p>
          <a:p>
            <a:pPr lvl="1"/>
            <a:r>
              <a:rPr lang="en-ID" dirty="0"/>
              <a:t>Tidak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US" i="1" dirty="0"/>
              <a:t>F</a:t>
            </a:r>
            <a:r>
              <a:rPr lang="en-US" i="1" baseline="-25000" dirty="0"/>
              <a:t>c</a:t>
            </a:r>
            <a:r>
              <a:rPr lang="en-ID" dirty="0"/>
              <a:t> yang </a:t>
            </a:r>
            <a:r>
              <a:rPr lang="en-ID" dirty="0" err="1"/>
              <a:t>mengandung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ekstranus</a:t>
            </a:r>
            <a:r>
              <a:rPr lang="en-ID" dirty="0"/>
              <a:t>, dan</a:t>
            </a:r>
          </a:p>
          <a:p>
            <a:pPr lvl="1"/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sisi</a:t>
            </a:r>
            <a:r>
              <a:rPr lang="en-ID" dirty="0"/>
              <a:t> kiri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US" i="1" dirty="0"/>
              <a:t>F</a:t>
            </a:r>
            <a:r>
              <a:rPr lang="en-US" i="1" baseline="-25000" dirty="0"/>
              <a:t>c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unik</a:t>
            </a:r>
            <a:r>
              <a:rPr lang="en-ID" dirty="0"/>
              <a:t> (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</a:t>
            </a:r>
            <a:r>
              <a:rPr lang="en-ID" dirty="0" err="1"/>
              <a:t>duplikasi</a:t>
            </a:r>
            <a:r>
              <a:rPr lang="en-ID" dirty="0"/>
              <a:t> </a:t>
            </a:r>
            <a:r>
              <a:rPr lang="en-ID" dirty="0" err="1"/>
              <a:t>syarat</a:t>
            </a:r>
            <a:r>
              <a:rPr lang="en-ID" dirty="0"/>
              <a:t>).</a:t>
            </a:r>
          </a:p>
          <a:p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menghitung</a:t>
            </a:r>
            <a:r>
              <a:rPr lang="en-ID" b="1" dirty="0"/>
              <a:t> </a:t>
            </a:r>
            <a:r>
              <a:rPr lang="en-ID" b="1" dirty="0" err="1"/>
              <a:t>penutup</a:t>
            </a:r>
            <a:r>
              <a:rPr lang="en-ID" b="1" dirty="0"/>
              <a:t> </a:t>
            </a:r>
            <a:r>
              <a:rPr lang="en-ID" b="1" dirty="0" err="1"/>
              <a:t>kanonik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F:</a:t>
            </a:r>
            <a:endParaRPr lang="en-ID" dirty="0"/>
          </a:p>
          <a:p>
            <a:pPr lvl="1"/>
            <a:r>
              <a:rPr lang="en-ID" b="1" dirty="0" err="1"/>
              <a:t>Ulangi</a:t>
            </a:r>
            <a:r>
              <a:rPr lang="en-ID" b="1" dirty="0"/>
              <a:t> (repeat):</a:t>
            </a:r>
            <a:endParaRPr lang="en-ID" dirty="0"/>
          </a:p>
          <a:p>
            <a:pPr lvl="2"/>
            <a:r>
              <a:rPr lang="en-ID" dirty="0" err="1"/>
              <a:t>Gunakan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(</a:t>
            </a:r>
            <a:r>
              <a:rPr lang="en-ID" i="1" dirty="0"/>
              <a:t>union rule</a:t>
            </a:r>
            <a:r>
              <a:rPr lang="en-ID" dirty="0"/>
              <a:t>)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mengganti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apa</a:t>
            </a:r>
            <a:r>
              <a:rPr lang="en-ID" dirty="0"/>
              <a:t> pun </a:t>
            </a:r>
            <a:r>
              <a:rPr lang="en-ID" dirty="0" err="1"/>
              <a:t>dalam</a:t>
            </a:r>
            <a:r>
              <a:rPr lang="en-ID" dirty="0"/>
              <a:t> F yang </a:t>
            </a:r>
            <a:r>
              <a:rPr lang="en-ID" dirty="0" err="1"/>
              <a:t>berbentuk</a:t>
            </a:r>
            <a:r>
              <a:rPr lang="en-ID" dirty="0"/>
              <a:t> : </a:t>
            </a:r>
          </a:p>
          <a:p>
            <a:pPr marL="1066800" lvl="2" indent="0" algn="ctr">
              <a:buNone/>
            </a:pPr>
            <a:r>
              <a:rPr lang="en-ID" dirty="0"/>
              <a:t>	</a:t>
            </a:r>
            <a:r>
              <a:rPr lang="en-US" dirty="0"/>
              <a:t>α</a:t>
            </a:r>
            <a:r>
              <a:rPr lang="en-US" baseline="-25000" dirty="0"/>
              <a:t>1</a:t>
            </a:r>
            <a:r>
              <a:rPr lang="en-US" dirty="0"/>
              <a:t> → β</a:t>
            </a:r>
            <a:r>
              <a:rPr lang="en-US" baseline="-25000" dirty="0"/>
              <a:t>1</a:t>
            </a:r>
            <a:r>
              <a:rPr lang="en-US" dirty="0"/>
              <a:t> dan α</a:t>
            </a:r>
            <a:r>
              <a:rPr lang="en-US" baseline="-25000" dirty="0"/>
              <a:t>1</a:t>
            </a:r>
            <a:r>
              <a:rPr lang="en-US" dirty="0"/>
              <a:t> → β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α</a:t>
            </a:r>
            <a:r>
              <a:rPr lang="en-US" baseline="-25000" dirty="0"/>
              <a:t>1</a:t>
            </a:r>
            <a:r>
              <a:rPr lang="en-US" dirty="0"/>
              <a:t> → β</a:t>
            </a:r>
            <a:r>
              <a:rPr lang="en-US" baseline="-25000" dirty="0"/>
              <a:t>1</a:t>
            </a:r>
            <a:r>
              <a:rPr lang="en-US" dirty="0"/>
              <a:t> β</a:t>
            </a:r>
            <a:r>
              <a:rPr lang="en-US" baseline="-25000" dirty="0"/>
              <a:t>2</a:t>
            </a:r>
            <a:endParaRPr lang="en-ID" dirty="0"/>
          </a:p>
          <a:p>
            <a:pPr lvl="2"/>
            <a:r>
              <a:rPr lang="en-ID" dirty="0" err="1"/>
              <a:t>Temukan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fungsional</a:t>
            </a:r>
            <a:r>
              <a:rPr lang="en-ID" dirty="0"/>
              <a:t> </a:t>
            </a:r>
            <a:r>
              <a:rPr lang="en-US" dirty="0"/>
              <a:t>α → β</a:t>
            </a:r>
            <a:r>
              <a:rPr lang="en-ID" dirty="0"/>
              <a:t> yang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ekstranus</a:t>
            </a:r>
            <a:r>
              <a:rPr lang="en-ID" dirty="0"/>
              <a:t> </a:t>
            </a:r>
            <a:r>
              <a:rPr lang="en-ID" dirty="0" err="1"/>
              <a:t>baik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US" dirty="0"/>
              <a:t>α </a:t>
            </a:r>
            <a:r>
              <a:rPr lang="en-ID" dirty="0" err="1"/>
              <a:t>maupun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US" dirty="0"/>
              <a:t> β</a:t>
            </a:r>
            <a:r>
              <a:rPr lang="en-ID" dirty="0"/>
              <a:t>.</a:t>
            </a:r>
          </a:p>
          <a:p>
            <a:pPr lvl="3"/>
            <a:r>
              <a:rPr lang="en-ID" b="1" dirty="0" err="1">
                <a:solidFill>
                  <a:srgbClr val="FFC000"/>
                </a:solidFill>
              </a:rPr>
              <a:t>Catatan</a:t>
            </a:r>
            <a:r>
              <a:rPr lang="en-ID" b="1" dirty="0">
                <a:solidFill>
                  <a:srgbClr val="FFC000"/>
                </a:solidFill>
              </a:rPr>
              <a:t>: </a:t>
            </a:r>
            <a:r>
              <a:rPr lang="en-ID" b="1" dirty="0" err="1">
                <a:solidFill>
                  <a:srgbClr val="FFC000"/>
                </a:solidFill>
              </a:rPr>
              <a:t>pengujian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atribut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ekstranus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dilakukan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ID" b="1" dirty="0" err="1">
                <a:solidFill>
                  <a:srgbClr val="FFC000"/>
                </a:solidFill>
              </a:rPr>
              <a:t>menggunakan</a:t>
            </a:r>
            <a:r>
              <a:rPr lang="en-ID" b="1" dirty="0">
                <a:solidFill>
                  <a:srgbClr val="FFC000"/>
                </a:solidFill>
              </a:rPr>
              <a:t> </a:t>
            </a:r>
            <a:r>
              <a:rPr lang="en-US" b="1" i="1" dirty="0">
                <a:solidFill>
                  <a:srgbClr val="FFC000"/>
                </a:solidFill>
              </a:rPr>
              <a:t>F</a:t>
            </a:r>
            <a:r>
              <a:rPr lang="en-US" b="1" i="1" baseline="-25000" dirty="0">
                <a:solidFill>
                  <a:srgbClr val="FFC000"/>
                </a:solidFill>
              </a:rPr>
              <a:t>c</a:t>
            </a:r>
            <a:r>
              <a:rPr lang="en-ID" b="1" dirty="0">
                <a:solidFill>
                  <a:srgbClr val="FFC000"/>
                </a:solidFill>
              </a:rPr>
              <a:t>, </a:t>
            </a:r>
            <a:r>
              <a:rPr lang="en-ID" b="1" dirty="0" err="1">
                <a:solidFill>
                  <a:srgbClr val="FFC000"/>
                </a:solidFill>
              </a:rPr>
              <a:t>bukan</a:t>
            </a:r>
            <a:r>
              <a:rPr lang="en-ID" b="1" dirty="0">
                <a:solidFill>
                  <a:srgbClr val="FFC000"/>
                </a:solidFill>
              </a:rPr>
              <a:t> F.</a:t>
            </a:r>
          </a:p>
          <a:p>
            <a:pPr lvl="2"/>
            <a:r>
              <a:rPr lang="en-ID" dirty="0"/>
              <a:t>Jika </a:t>
            </a:r>
            <a:r>
              <a:rPr lang="en-ID" dirty="0" err="1"/>
              <a:t>ditemukan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ekstranus</a:t>
            </a:r>
            <a:r>
              <a:rPr lang="en-ID" dirty="0"/>
              <a:t>, hapus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US" dirty="0"/>
              <a:t>α → β</a:t>
            </a:r>
            <a:r>
              <a:rPr lang="en-ID" dirty="0"/>
              <a:t>.</a:t>
            </a:r>
          </a:p>
          <a:p>
            <a:pPr lvl="1"/>
            <a:r>
              <a:rPr lang="en-ID" b="1" dirty="0" err="1"/>
              <a:t>Sampai</a:t>
            </a:r>
            <a:r>
              <a:rPr lang="en-ID" b="1" dirty="0"/>
              <a:t> (until)</a:t>
            </a:r>
            <a:r>
              <a:rPr lang="en-ID" dirty="0"/>
              <a:t> F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berubah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.</a:t>
            </a:r>
          </a:p>
          <a:p>
            <a:r>
              <a:rPr lang="en-ID" b="1" dirty="0" err="1"/>
              <a:t>Catatan</a:t>
            </a:r>
            <a:r>
              <a:rPr lang="en-ID" b="1" dirty="0"/>
              <a:t>: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gabungan</a:t>
            </a:r>
            <a:r>
              <a:rPr lang="en-ID" dirty="0"/>
              <a:t> (</a:t>
            </a:r>
            <a:r>
              <a:rPr lang="en-ID" i="1" dirty="0"/>
              <a:t>union rule</a:t>
            </a:r>
            <a:r>
              <a:rPr lang="en-ID" dirty="0"/>
              <a:t>) </a:t>
            </a:r>
            <a:r>
              <a:rPr lang="en-ID" dirty="0" err="1"/>
              <a:t>mungkin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</a:t>
            </a:r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ekstranus</a:t>
            </a:r>
            <a:r>
              <a:rPr lang="en-ID" dirty="0"/>
              <a:t> </a:t>
            </a:r>
            <a:r>
              <a:rPr lang="en-ID" dirty="0" err="1"/>
              <a:t>dihapus</a:t>
            </a:r>
            <a:r>
              <a:rPr lang="en-ID" dirty="0"/>
              <a:t>, </a:t>
            </a:r>
            <a:r>
              <a:rPr lang="en-ID" dirty="0" err="1"/>
              <a:t>jadi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terus</a:t>
            </a:r>
            <a:r>
              <a:rPr lang="en-ID" dirty="0"/>
              <a:t> </a:t>
            </a:r>
            <a:r>
              <a:rPr lang="en-ID" dirty="0" err="1"/>
              <a:t>diterapkan</a:t>
            </a:r>
            <a:r>
              <a:rPr lang="en-ID" dirty="0"/>
              <a:t> </a:t>
            </a:r>
            <a:r>
              <a:rPr lang="en-ID" dirty="0" err="1"/>
              <a:t>ulang</a:t>
            </a:r>
            <a:r>
              <a:rPr lang="en-ID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100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EAB4-7980-083C-7793-86F646312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Canonical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902EF-240F-D9AE-6970-FADA16690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968378"/>
          </a:xfrm>
        </p:spPr>
        <p:txBody>
          <a:bodyPr/>
          <a:lstStyle/>
          <a:p>
            <a:r>
              <a:rPr lang="en-ID" dirty="0"/>
              <a:t>R = (A, B, C)</a:t>
            </a:r>
          </a:p>
          <a:p>
            <a:r>
              <a:rPr lang="en-US" i="1" dirty="0"/>
              <a:t>F = {A </a:t>
            </a:r>
            <a:r>
              <a:rPr lang="en-US" dirty="0"/>
              <a:t>→ </a:t>
            </a:r>
            <a:r>
              <a:rPr lang="en-US" i="1" dirty="0"/>
              <a:t>BC</a:t>
            </a:r>
          </a:p>
          <a:p>
            <a:pPr marL="152400" indent="0">
              <a:buNone/>
            </a:pPr>
            <a:r>
              <a:rPr lang="en-US" i="1" dirty="0"/>
              <a:t>	  B </a:t>
            </a:r>
            <a:r>
              <a:rPr lang="en-US" dirty="0"/>
              <a:t>→ </a:t>
            </a:r>
            <a:r>
              <a:rPr lang="en-US" i="1" dirty="0"/>
              <a:t>C</a:t>
            </a:r>
            <a:br>
              <a:rPr lang="en-US" i="1" dirty="0"/>
            </a:br>
            <a:r>
              <a:rPr lang="en-US" i="1" dirty="0"/>
              <a:t>	  A </a:t>
            </a:r>
            <a:r>
              <a:rPr lang="en-US" dirty="0"/>
              <a:t>→ </a:t>
            </a:r>
            <a:r>
              <a:rPr lang="en-US" i="1" dirty="0"/>
              <a:t>B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/>
              <a:t>AB</a:t>
            </a:r>
            <a:r>
              <a:rPr lang="en-US" dirty="0"/>
              <a:t> → </a:t>
            </a:r>
            <a:r>
              <a:rPr lang="en-US" i="1" dirty="0"/>
              <a:t>C</a:t>
            </a:r>
            <a:r>
              <a:rPr lang="en-US" dirty="0"/>
              <a:t>}</a:t>
            </a:r>
            <a:endParaRPr lang="en-ID" b="1" dirty="0"/>
          </a:p>
          <a:p>
            <a:r>
              <a:rPr lang="en-ID" b="1" dirty="0" err="1"/>
              <a:t>Gabungkan</a:t>
            </a:r>
            <a:r>
              <a:rPr lang="en-ID" b="1" dirty="0"/>
              <a:t> A </a:t>
            </a:r>
            <a:r>
              <a:rPr lang="en-US" dirty="0"/>
              <a:t>→</a:t>
            </a:r>
            <a:r>
              <a:rPr lang="en-ID" b="1" dirty="0"/>
              <a:t> BC dan A </a:t>
            </a:r>
            <a:r>
              <a:rPr lang="en-US" dirty="0"/>
              <a:t>→</a:t>
            </a:r>
            <a:r>
              <a:rPr lang="en-ID" b="1" dirty="0"/>
              <a:t> B </a:t>
            </a:r>
            <a:r>
              <a:rPr lang="en-ID" b="1" dirty="0" err="1"/>
              <a:t>menjadi</a:t>
            </a:r>
            <a:r>
              <a:rPr lang="en-ID" b="1" dirty="0"/>
              <a:t> A </a:t>
            </a:r>
            <a:r>
              <a:rPr lang="en-US" dirty="0"/>
              <a:t>→ </a:t>
            </a:r>
            <a:r>
              <a:rPr lang="en-ID" b="1" dirty="0"/>
              <a:t> BC</a:t>
            </a:r>
            <a:endParaRPr lang="en-ID" dirty="0"/>
          </a:p>
          <a:p>
            <a:pPr lvl="1"/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{A </a:t>
            </a:r>
            <a:r>
              <a:rPr lang="en-US" dirty="0"/>
              <a:t>→</a:t>
            </a:r>
            <a:r>
              <a:rPr lang="en-ID" dirty="0"/>
              <a:t> BC, B </a:t>
            </a:r>
            <a:r>
              <a:rPr lang="en-US" dirty="0"/>
              <a:t>→</a:t>
            </a:r>
            <a:r>
              <a:rPr lang="en-ID" dirty="0"/>
              <a:t> C, AB </a:t>
            </a:r>
            <a:r>
              <a:rPr lang="en-US" dirty="0"/>
              <a:t>→</a:t>
            </a:r>
            <a:r>
              <a:rPr lang="en-ID" dirty="0"/>
              <a:t> C}</a:t>
            </a:r>
          </a:p>
          <a:p>
            <a:r>
              <a:rPr lang="en-ID" b="1" dirty="0"/>
              <a:t>A </a:t>
            </a:r>
            <a:r>
              <a:rPr lang="en-ID" b="1" dirty="0" err="1"/>
              <a:t>adalah</a:t>
            </a:r>
            <a:r>
              <a:rPr lang="en-ID" b="1" dirty="0"/>
              <a:t> </a:t>
            </a:r>
            <a:r>
              <a:rPr lang="en-ID" b="1" dirty="0" err="1"/>
              <a:t>ekstranus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AB </a:t>
            </a:r>
            <a:r>
              <a:rPr lang="en-US" dirty="0"/>
              <a:t>→</a:t>
            </a:r>
            <a:r>
              <a:rPr lang="en-ID" b="1" dirty="0"/>
              <a:t> C</a:t>
            </a:r>
            <a:endParaRPr lang="en-ID" dirty="0"/>
          </a:p>
          <a:p>
            <a:pPr lvl="1"/>
            <a:r>
              <a:rPr lang="en-ID" dirty="0" err="1"/>
              <a:t>Periksa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menghapus</a:t>
            </a:r>
            <a:r>
              <a:rPr lang="en-ID" dirty="0"/>
              <a:t> A </a:t>
            </a:r>
            <a:r>
              <a:rPr lang="en-ID" dirty="0" err="1"/>
              <a:t>dari</a:t>
            </a:r>
            <a:r>
              <a:rPr lang="en-ID" dirty="0"/>
              <a:t> AB </a:t>
            </a:r>
            <a:r>
              <a:rPr lang="en-US" dirty="0"/>
              <a:t>→</a:t>
            </a:r>
            <a:r>
              <a:rPr lang="en-ID" dirty="0"/>
              <a:t> C (</a:t>
            </a:r>
            <a:r>
              <a:rPr lang="en-ID" dirty="0" err="1"/>
              <a:t>yaitu</a:t>
            </a:r>
            <a:r>
              <a:rPr lang="en-ID" dirty="0"/>
              <a:t> B </a:t>
            </a:r>
            <a:r>
              <a:rPr lang="en-US" dirty="0"/>
              <a:t>→</a:t>
            </a:r>
            <a:r>
              <a:rPr lang="en-ID" dirty="0"/>
              <a:t> C) </a:t>
            </a:r>
            <a:r>
              <a:rPr lang="en-ID" dirty="0" err="1"/>
              <a:t>tersirat</a:t>
            </a:r>
            <a:r>
              <a:rPr lang="en-ID" dirty="0"/>
              <a:t> oleh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lvl="2"/>
            <a:r>
              <a:rPr lang="en-ID" b="1" dirty="0"/>
              <a:t>Ya:</a:t>
            </a:r>
            <a:r>
              <a:rPr lang="en-ID" dirty="0"/>
              <a:t> </a:t>
            </a:r>
            <a:r>
              <a:rPr lang="en-ID" dirty="0" err="1"/>
              <a:t>bahkan</a:t>
            </a:r>
            <a:r>
              <a:rPr lang="en-ID" dirty="0"/>
              <a:t>, B </a:t>
            </a:r>
            <a:r>
              <a:rPr lang="en-US" dirty="0"/>
              <a:t>→</a:t>
            </a:r>
            <a:r>
              <a:rPr lang="en-ID" dirty="0"/>
              <a:t> C </a:t>
            </a:r>
            <a:r>
              <a:rPr lang="en-ID" dirty="0" err="1"/>
              <a:t>memang</a:t>
            </a:r>
            <a:r>
              <a:rPr lang="en-ID" dirty="0"/>
              <a:t>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!</a:t>
            </a:r>
          </a:p>
          <a:p>
            <a:pPr lvl="1"/>
            <a:r>
              <a:rPr lang="en-ID" dirty="0" err="1"/>
              <a:t>Himpunan</a:t>
            </a:r>
            <a:r>
              <a:rPr lang="en-ID" dirty="0"/>
              <a:t>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{A </a:t>
            </a:r>
            <a:r>
              <a:rPr lang="en-US" dirty="0"/>
              <a:t>→</a:t>
            </a:r>
            <a:r>
              <a:rPr lang="en-ID" dirty="0"/>
              <a:t> BC, B </a:t>
            </a:r>
            <a:r>
              <a:rPr lang="en-US" dirty="0"/>
              <a:t>→</a:t>
            </a:r>
            <a:r>
              <a:rPr lang="en-ID" dirty="0"/>
              <a:t> C}</a:t>
            </a:r>
          </a:p>
          <a:p>
            <a:r>
              <a:rPr lang="en-ID" b="1" dirty="0"/>
              <a:t>C </a:t>
            </a:r>
            <a:r>
              <a:rPr lang="en-ID" b="1" dirty="0" err="1"/>
              <a:t>adalah</a:t>
            </a:r>
            <a:r>
              <a:rPr lang="en-ID" b="1" dirty="0"/>
              <a:t> </a:t>
            </a:r>
            <a:r>
              <a:rPr lang="en-ID" b="1" dirty="0" err="1"/>
              <a:t>ekstranus</a:t>
            </a:r>
            <a:r>
              <a:rPr lang="en-ID" b="1" dirty="0"/>
              <a:t> </a:t>
            </a:r>
            <a:r>
              <a:rPr lang="en-ID" b="1" dirty="0" err="1"/>
              <a:t>dalam</a:t>
            </a:r>
            <a:r>
              <a:rPr lang="en-ID" b="1" dirty="0"/>
              <a:t> A </a:t>
            </a:r>
            <a:r>
              <a:rPr lang="en-US" dirty="0"/>
              <a:t>→</a:t>
            </a:r>
            <a:r>
              <a:rPr lang="en-ID" b="1" dirty="0"/>
              <a:t> BC</a:t>
            </a:r>
            <a:endParaRPr lang="en-ID" dirty="0"/>
          </a:p>
          <a:p>
            <a:pPr lvl="1"/>
            <a:r>
              <a:rPr lang="en-ID" dirty="0" err="1"/>
              <a:t>Periksa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A </a:t>
            </a:r>
            <a:r>
              <a:rPr lang="en-US" dirty="0"/>
              <a:t>→</a:t>
            </a:r>
            <a:r>
              <a:rPr lang="en-ID" dirty="0"/>
              <a:t> C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logis</a:t>
            </a:r>
            <a:r>
              <a:rPr lang="en-ID" dirty="0"/>
              <a:t> </a:t>
            </a:r>
            <a:r>
              <a:rPr lang="en-ID" dirty="0" err="1"/>
              <a:t>tersirat</a:t>
            </a:r>
            <a:r>
              <a:rPr lang="en-ID" dirty="0"/>
              <a:t> oleh A </a:t>
            </a:r>
            <a:r>
              <a:rPr lang="en-US" dirty="0"/>
              <a:t>→</a:t>
            </a:r>
            <a:r>
              <a:rPr lang="en-ID" dirty="0"/>
              <a:t> B dan </a:t>
            </a:r>
            <a:r>
              <a:rPr lang="en-ID" dirty="0" err="1"/>
              <a:t>ketergantungan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</a:t>
            </a:r>
          </a:p>
          <a:p>
            <a:pPr lvl="2"/>
            <a:r>
              <a:rPr lang="en-ID" b="1" dirty="0"/>
              <a:t>Ya: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transitif</a:t>
            </a:r>
            <a:r>
              <a:rPr lang="en-ID" dirty="0"/>
              <a:t> pada A </a:t>
            </a:r>
            <a:r>
              <a:rPr lang="en-US" dirty="0"/>
              <a:t>→</a:t>
            </a:r>
            <a:r>
              <a:rPr lang="en-ID" dirty="0"/>
              <a:t> B dan B </a:t>
            </a:r>
            <a:r>
              <a:rPr lang="en-US" dirty="0"/>
              <a:t>→</a:t>
            </a:r>
            <a:r>
              <a:rPr lang="en-ID" dirty="0"/>
              <a:t> C.</a:t>
            </a:r>
          </a:p>
          <a:p>
            <a:pPr lvl="2"/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i="1" dirty="0"/>
              <a:t>attribute closure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A pada </a:t>
            </a:r>
            <a:r>
              <a:rPr lang="en-ID" dirty="0" err="1"/>
              <a:t>kasus-kasus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kompleks</a:t>
            </a:r>
            <a:r>
              <a:rPr lang="en-ID" dirty="0"/>
              <a:t>.</a:t>
            </a:r>
          </a:p>
          <a:p>
            <a:r>
              <a:rPr lang="en-ID" b="1" dirty="0" err="1"/>
              <a:t>Penutup</a:t>
            </a:r>
            <a:r>
              <a:rPr lang="en-ID" b="1" dirty="0"/>
              <a:t> </a:t>
            </a:r>
            <a:r>
              <a:rPr lang="en-ID" b="1" dirty="0" err="1"/>
              <a:t>Kanonik</a:t>
            </a:r>
            <a:r>
              <a:rPr lang="en-ID" b="1" dirty="0"/>
              <a:t> (</a:t>
            </a:r>
            <a:r>
              <a:rPr lang="en-ID" b="1" i="1" dirty="0"/>
              <a:t>Canonical Cover</a:t>
            </a:r>
            <a:r>
              <a:rPr lang="en-ID" b="1" dirty="0"/>
              <a:t>) </a:t>
            </a:r>
            <a:r>
              <a:rPr lang="en-ID" b="1" dirty="0" err="1"/>
              <a:t>adalah</a:t>
            </a:r>
            <a:r>
              <a:rPr lang="en-ID" b="1" dirty="0"/>
              <a:t>:</a:t>
            </a:r>
            <a:endParaRPr lang="en-ID" dirty="0"/>
          </a:p>
          <a:p>
            <a:pPr marL="609600" lvl="1" indent="0">
              <a:buNone/>
            </a:pPr>
            <a:r>
              <a:rPr lang="en-ID" dirty="0"/>
              <a:t>A </a:t>
            </a:r>
            <a:r>
              <a:rPr lang="en-US" dirty="0"/>
              <a:t>→</a:t>
            </a:r>
            <a:r>
              <a:rPr lang="en-ID" dirty="0"/>
              <a:t> B</a:t>
            </a:r>
          </a:p>
          <a:p>
            <a:pPr marL="609600" lvl="1" indent="0">
              <a:buNone/>
            </a:pPr>
            <a:r>
              <a:rPr lang="en-ID" dirty="0"/>
              <a:t>B </a:t>
            </a:r>
            <a:r>
              <a:rPr lang="en-US" dirty="0"/>
              <a:t>→</a:t>
            </a:r>
            <a:r>
              <a:rPr lang="en-ID" dirty="0"/>
              <a:t> C</a:t>
            </a:r>
          </a:p>
        </p:txBody>
      </p:sp>
    </p:spTree>
    <p:extLst>
      <p:ext uri="{BB962C8B-B14F-4D97-AF65-F5344CB8AC3E}">
        <p14:creationId xmlns:p14="http://schemas.microsoft.com/office/powerpoint/2010/main" val="13838661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AF176-268B-9B56-1DAA-9A24F42A8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Bentuk</a:t>
            </a:r>
            <a:r>
              <a:rPr lang="en-ID" b="1" dirty="0"/>
              <a:t> Normal </a:t>
            </a:r>
            <a:r>
              <a:rPr lang="en-ID" b="1" dirty="0" err="1"/>
              <a:t>Kedua</a:t>
            </a:r>
            <a:r>
              <a:rPr lang="en-ID" b="1" dirty="0"/>
              <a:t> (2NF)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CA00E-C36E-2D05-7323-EA72FF50D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563776"/>
          </a:xfrm>
        </p:spPr>
        <p:txBody>
          <a:bodyPr/>
          <a:lstStyle/>
          <a:p>
            <a:r>
              <a:rPr lang="en-ID" sz="2400" dirty="0" err="1"/>
              <a:t>Sebuah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</a:t>
            </a:r>
            <a:r>
              <a:rPr lang="en-ID" sz="2400" dirty="0" err="1"/>
              <a:t>berada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b="1" dirty="0"/>
              <a:t>2NF</a:t>
            </a:r>
            <a:r>
              <a:rPr lang="en-ID" sz="2400" dirty="0"/>
              <a:t> </a:t>
            </a:r>
            <a:r>
              <a:rPr lang="en-ID" sz="2400" dirty="0" err="1"/>
              <a:t>jika</a:t>
            </a:r>
            <a:r>
              <a:rPr lang="en-ID" sz="2400" dirty="0"/>
              <a:t> dan </a:t>
            </a:r>
            <a:r>
              <a:rPr lang="en-ID" sz="2400" dirty="0" err="1"/>
              <a:t>hanya</a:t>
            </a:r>
            <a:r>
              <a:rPr lang="en-ID" sz="2400" dirty="0"/>
              <a:t> </a:t>
            </a:r>
            <a:r>
              <a:rPr lang="en-ID" sz="2400" dirty="0" err="1"/>
              <a:t>jika</a:t>
            </a:r>
            <a:r>
              <a:rPr lang="en-ID" sz="2400" dirty="0"/>
              <a:t> </a:t>
            </a:r>
            <a:r>
              <a:rPr lang="en-ID" sz="2400" dirty="0" err="1"/>
              <a:t>relasi</a:t>
            </a:r>
            <a:r>
              <a:rPr lang="en-ID" sz="2400" dirty="0"/>
              <a:t> </a:t>
            </a:r>
            <a:r>
              <a:rPr lang="en-ID" sz="2400" dirty="0" err="1"/>
              <a:t>tersebut</a:t>
            </a:r>
            <a:r>
              <a:rPr lang="en-ID" sz="2400" dirty="0"/>
              <a:t> </a:t>
            </a:r>
            <a:r>
              <a:rPr lang="en-ID" sz="2400" dirty="0" err="1"/>
              <a:t>berada</a:t>
            </a:r>
            <a:r>
              <a:rPr lang="en-ID" sz="2400" dirty="0"/>
              <a:t> </a:t>
            </a:r>
            <a:r>
              <a:rPr lang="en-ID" sz="2400" dirty="0" err="1"/>
              <a:t>dalam</a:t>
            </a:r>
            <a:r>
              <a:rPr lang="en-ID" sz="2400" dirty="0"/>
              <a:t> </a:t>
            </a:r>
            <a:r>
              <a:rPr lang="en-ID" sz="2400" b="1" dirty="0"/>
              <a:t>1NF</a:t>
            </a:r>
            <a:r>
              <a:rPr lang="en-ID" sz="2400" dirty="0"/>
              <a:t> dan </a:t>
            </a:r>
            <a:r>
              <a:rPr lang="en-ID" sz="2400" dirty="0" err="1"/>
              <a:t>setiap</a:t>
            </a:r>
            <a:r>
              <a:rPr lang="en-ID" sz="2400" dirty="0"/>
              <a:t> </a:t>
            </a:r>
            <a:r>
              <a:rPr lang="en-ID" sz="2400" dirty="0" err="1"/>
              <a:t>atribut</a:t>
            </a:r>
            <a:r>
              <a:rPr lang="en-ID" sz="2400" dirty="0"/>
              <a:t> yang </a:t>
            </a:r>
            <a:r>
              <a:rPr lang="en-ID" sz="2400" dirty="0" err="1"/>
              <a:t>bukan</a:t>
            </a:r>
            <a:r>
              <a:rPr lang="en-ID" sz="2400" dirty="0"/>
              <a:t> </a:t>
            </a:r>
            <a:r>
              <a:rPr lang="en-ID" sz="2400" dirty="0" err="1"/>
              <a:t>kunci</a:t>
            </a:r>
            <a:r>
              <a:rPr lang="en-ID" sz="2400" dirty="0"/>
              <a:t> (</a:t>
            </a:r>
            <a:r>
              <a:rPr lang="en-ID" sz="2400" b="1" i="1" dirty="0" err="1">
                <a:solidFill>
                  <a:srgbClr val="FFC000"/>
                </a:solidFill>
              </a:rPr>
              <a:t>nonkey</a:t>
            </a:r>
            <a:r>
              <a:rPr lang="en-ID" sz="2400" b="1" i="1" dirty="0">
                <a:solidFill>
                  <a:srgbClr val="FFC000"/>
                </a:solidFill>
              </a:rPr>
              <a:t> attribute</a:t>
            </a:r>
            <a:r>
              <a:rPr lang="en-ID" sz="2400" dirty="0"/>
              <a:t>) </a:t>
            </a:r>
            <a:r>
              <a:rPr lang="en-ID" sz="2400" b="1" dirty="0" err="1">
                <a:solidFill>
                  <a:srgbClr val="FFC000"/>
                </a:solidFill>
              </a:rPr>
              <a:t>bergantung</a:t>
            </a:r>
            <a:r>
              <a:rPr lang="en-ID" sz="2400" dirty="0"/>
              <a:t> </a:t>
            </a:r>
            <a:r>
              <a:rPr lang="en-ID" sz="2400" dirty="0" err="1"/>
              <a:t>secara</a:t>
            </a:r>
            <a:r>
              <a:rPr lang="en-ID" sz="2400" dirty="0"/>
              <a:t> </a:t>
            </a:r>
            <a:r>
              <a:rPr lang="en-ID" sz="2400" dirty="0" err="1"/>
              <a:t>penuh</a:t>
            </a:r>
            <a:r>
              <a:rPr lang="en-ID" sz="2400" dirty="0"/>
              <a:t> (</a:t>
            </a:r>
            <a:r>
              <a:rPr lang="en-ID" sz="2400" b="1" i="1" dirty="0">
                <a:solidFill>
                  <a:srgbClr val="FFC000"/>
                </a:solidFill>
              </a:rPr>
              <a:t>irreducibly dependent</a:t>
            </a:r>
            <a:r>
              <a:rPr lang="en-ID" sz="2400" dirty="0"/>
              <a:t>) pada </a:t>
            </a:r>
            <a:r>
              <a:rPr lang="en-ID" sz="2400" dirty="0" err="1"/>
              <a:t>kunci</a:t>
            </a:r>
            <a:r>
              <a:rPr lang="en-ID" sz="2400" dirty="0"/>
              <a:t> primer (</a:t>
            </a:r>
            <a:r>
              <a:rPr lang="en-ID" sz="2400" b="1" i="1" dirty="0">
                <a:solidFill>
                  <a:srgbClr val="FFC000"/>
                </a:solidFill>
              </a:rPr>
              <a:t>primary key</a:t>
            </a:r>
            <a:r>
              <a:rPr lang="en-ID" sz="2400" dirty="0"/>
              <a:t>).</a:t>
            </a:r>
          </a:p>
          <a:p>
            <a:r>
              <a:rPr lang="en-ID" sz="2400" dirty="0"/>
              <a:t>2NF </a:t>
            </a:r>
            <a:r>
              <a:rPr lang="en-ID" sz="2400" dirty="0" err="1"/>
              <a:t>masih</a:t>
            </a:r>
            <a:r>
              <a:rPr lang="en-ID" sz="2400" dirty="0"/>
              <a:t> </a:t>
            </a:r>
            <a:r>
              <a:rPr lang="en-ID" sz="2400" dirty="0" err="1"/>
              <a:t>memperbolehkan</a:t>
            </a:r>
            <a:r>
              <a:rPr lang="en-ID" sz="2400" dirty="0"/>
              <a:t> </a:t>
            </a:r>
            <a:r>
              <a:rPr lang="en-ID" sz="2400" dirty="0" err="1"/>
              <a:t>adanya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ketergantungan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transitif</a:t>
            </a:r>
            <a:r>
              <a:rPr lang="en-ID" sz="2400" dirty="0"/>
              <a:t> (</a:t>
            </a:r>
            <a:r>
              <a:rPr lang="en-ID" sz="2400" i="1" dirty="0"/>
              <a:t>transitive dependencies</a:t>
            </a:r>
            <a:r>
              <a:rPr lang="en-ID" sz="2400" dirty="0"/>
              <a:t>).</a:t>
            </a:r>
          </a:p>
          <a:p>
            <a:r>
              <a:rPr lang="en-ID" sz="2400" dirty="0" err="1"/>
              <a:t>Ketergantungan</a:t>
            </a:r>
            <a:r>
              <a:rPr lang="en-ID" sz="2400" dirty="0"/>
              <a:t> </a:t>
            </a:r>
            <a:r>
              <a:rPr lang="en-ID" sz="2400" dirty="0" err="1"/>
              <a:t>transitif</a:t>
            </a:r>
            <a:r>
              <a:rPr lang="en-ID" sz="2400" dirty="0"/>
              <a:t>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menyebabkan</a:t>
            </a:r>
            <a:r>
              <a:rPr lang="en-ID" sz="2400" dirty="0"/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anomali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pembaruan</a:t>
            </a:r>
            <a:r>
              <a:rPr lang="en-ID" sz="2400" dirty="0"/>
              <a:t> (</a:t>
            </a:r>
            <a:r>
              <a:rPr lang="en-ID" sz="2400" i="1" dirty="0"/>
              <a:t>update anomalies</a:t>
            </a:r>
            <a:r>
              <a:rPr lang="en-ID" sz="2400" dirty="0"/>
              <a:t>).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72427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9293E-86D2-E573-B182-7D1B0591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Tujuan </a:t>
            </a:r>
            <a:r>
              <a:rPr lang="en-US" dirty="0" err="1"/>
              <a:t>Normalisasi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C7710-50BA-8D8C-5BCB-00A54B9D3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887458"/>
          </a:xfrm>
        </p:spPr>
        <p:txBody>
          <a:bodyPr/>
          <a:lstStyle/>
          <a:p>
            <a:r>
              <a:rPr lang="en-ID" sz="1800" dirty="0" err="1"/>
              <a:t>Anggaplah</a:t>
            </a:r>
            <a:r>
              <a:rPr lang="en-ID" sz="1800" dirty="0"/>
              <a:t> R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F.</a:t>
            </a:r>
          </a:p>
          <a:p>
            <a:r>
              <a:rPr lang="en-ID" sz="1800" dirty="0" err="1"/>
              <a:t>Tentukan</a:t>
            </a:r>
            <a:r>
              <a:rPr lang="en-ID" sz="1800" dirty="0"/>
              <a:t> </a:t>
            </a:r>
            <a:r>
              <a:rPr lang="en-ID" sz="1800" dirty="0" err="1"/>
              <a:t>apakah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R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yang "</a:t>
            </a:r>
            <a:r>
              <a:rPr lang="en-ID" sz="1800" dirty="0" err="1"/>
              <a:t>baik</a:t>
            </a:r>
            <a:r>
              <a:rPr lang="en-ID" sz="1800" dirty="0"/>
              <a:t>" (</a:t>
            </a:r>
            <a:r>
              <a:rPr lang="en-ID" sz="1800" i="1" dirty="0"/>
              <a:t>good form</a:t>
            </a:r>
            <a:r>
              <a:rPr lang="en-ID" sz="1800" dirty="0"/>
              <a:t>).</a:t>
            </a:r>
          </a:p>
          <a:p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hal</a:t>
            </a:r>
            <a:r>
              <a:rPr lang="en-ID" sz="1800" dirty="0"/>
              <a:t>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R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yang "</a:t>
            </a:r>
            <a:r>
              <a:rPr lang="en-ID" sz="1800" dirty="0" err="1"/>
              <a:t>baik</a:t>
            </a:r>
            <a:r>
              <a:rPr lang="en-ID" sz="1800" dirty="0"/>
              <a:t>", </a:t>
            </a:r>
            <a:r>
              <a:rPr lang="en-ID" sz="1800" b="1" dirty="0" err="1">
                <a:solidFill>
                  <a:srgbClr val="FFC000"/>
                </a:solidFill>
              </a:rPr>
              <a:t>pecahlah</a:t>
            </a:r>
            <a:r>
              <a:rPr lang="en-ID" sz="1800" dirty="0"/>
              <a:t> (</a:t>
            </a:r>
            <a:r>
              <a:rPr lang="en-ID" sz="1800" i="1" dirty="0"/>
              <a:t>decompose</a:t>
            </a:r>
            <a:r>
              <a:rPr lang="en-ID" sz="1800" dirty="0"/>
              <a:t>)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satu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set </a:t>
            </a:r>
            <a:r>
              <a:rPr lang="en-ID" sz="1800" b="1" dirty="0" err="1">
                <a:solidFill>
                  <a:srgbClr val="FFC000"/>
                </a:solidFill>
              </a:rPr>
              <a:t>skema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relasi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US" sz="1800" b="1" dirty="0">
                <a:solidFill>
                  <a:srgbClr val="FFC000"/>
                </a:solidFill>
              </a:rPr>
              <a:t>{</a:t>
            </a:r>
            <a:r>
              <a:rPr lang="en-US" sz="1800" b="1" i="1" dirty="0">
                <a:solidFill>
                  <a:srgbClr val="FFC000"/>
                </a:solidFill>
              </a:rPr>
              <a:t>R</a:t>
            </a:r>
            <a:r>
              <a:rPr lang="en-US" sz="1800" b="1" baseline="-25000" dirty="0">
                <a:solidFill>
                  <a:srgbClr val="FFC000"/>
                </a:solidFill>
              </a:rPr>
              <a:t>1</a:t>
            </a:r>
            <a:r>
              <a:rPr lang="en-US" sz="1800" b="1" i="1" dirty="0">
                <a:solidFill>
                  <a:srgbClr val="FFC000"/>
                </a:solidFill>
              </a:rPr>
              <a:t>, R</a:t>
            </a:r>
            <a:r>
              <a:rPr lang="en-US" sz="1800" b="1" baseline="-25000" dirty="0">
                <a:solidFill>
                  <a:srgbClr val="FFC000"/>
                </a:solidFill>
              </a:rPr>
              <a:t>2</a:t>
            </a:r>
            <a:r>
              <a:rPr lang="en-US" sz="1800" b="1" i="1" dirty="0">
                <a:solidFill>
                  <a:srgbClr val="FFC000"/>
                </a:solidFill>
              </a:rPr>
              <a:t>, ..., R</a:t>
            </a:r>
            <a:r>
              <a:rPr lang="en-US" sz="1800" b="1" i="1" baseline="-25000" dirty="0">
                <a:solidFill>
                  <a:srgbClr val="FFC000"/>
                </a:solidFill>
              </a:rPr>
              <a:t>n</a:t>
            </a:r>
            <a:r>
              <a:rPr lang="en-US" sz="1800" b="1" dirty="0">
                <a:solidFill>
                  <a:srgbClr val="FFC000"/>
                </a:solidFill>
              </a:rPr>
              <a:t>}</a:t>
            </a:r>
            <a:r>
              <a:rPr lang="en-ID" sz="1800" dirty="0"/>
              <a:t> </a:t>
            </a:r>
            <a:r>
              <a:rPr lang="en-ID" sz="1800" dirty="0" err="1"/>
              <a:t>sedemikian</a:t>
            </a:r>
            <a:r>
              <a:rPr lang="en-ID" sz="1800" dirty="0"/>
              <a:t> </a:t>
            </a:r>
            <a:r>
              <a:rPr lang="en-ID" sz="1800" dirty="0" err="1"/>
              <a:t>rupa</a:t>
            </a:r>
            <a:r>
              <a:rPr lang="en-ID" sz="1800" dirty="0"/>
              <a:t> </a:t>
            </a:r>
            <a:r>
              <a:rPr lang="en-ID" sz="1800" dirty="0" err="1"/>
              <a:t>sehingga</a:t>
            </a:r>
            <a:r>
              <a:rPr lang="en-ID" sz="1800" dirty="0"/>
              <a:t>:</a:t>
            </a:r>
          </a:p>
          <a:p>
            <a:pPr lvl="1"/>
            <a:r>
              <a:rPr lang="en-ID" sz="1800" dirty="0"/>
              <a:t>Masing-masing </a:t>
            </a:r>
            <a:r>
              <a:rPr lang="en-ID" sz="1800" dirty="0" err="1"/>
              <a:t>skema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yang "</a:t>
            </a:r>
            <a:r>
              <a:rPr lang="en-ID" sz="1800" dirty="0" err="1"/>
              <a:t>baik</a:t>
            </a:r>
            <a:r>
              <a:rPr lang="en-ID" sz="1800" dirty="0"/>
              <a:t>".</a:t>
            </a:r>
          </a:p>
          <a:p>
            <a:pPr lvl="1"/>
            <a:r>
              <a:rPr lang="en-ID" sz="1800" dirty="0" err="1"/>
              <a:t>Dekomposisi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lossless-join decomposition</a:t>
            </a:r>
            <a:r>
              <a:rPr lang="en-ID" sz="1800" dirty="0"/>
              <a:t> (</a:t>
            </a:r>
            <a:r>
              <a:rPr lang="en-ID" sz="1800" dirty="0" err="1"/>
              <a:t>artinya</a:t>
            </a:r>
            <a:r>
              <a:rPr lang="en-ID" sz="1800" dirty="0"/>
              <a:t>: data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hilang</a:t>
            </a:r>
            <a:r>
              <a:rPr lang="en-ID" sz="1800" dirty="0"/>
              <a:t> </a:t>
            </a:r>
            <a:r>
              <a:rPr lang="en-ID" sz="1800" dirty="0" err="1"/>
              <a:t>saat</a:t>
            </a:r>
            <a:r>
              <a:rPr lang="en-ID" sz="1800" dirty="0"/>
              <a:t> </a:t>
            </a:r>
            <a:r>
              <a:rPr lang="en-ID" sz="1800" dirty="0" err="1"/>
              <a:t>tabel-tabel</a:t>
            </a:r>
            <a:r>
              <a:rPr lang="en-ID" sz="1800" dirty="0"/>
              <a:t> </a:t>
            </a:r>
            <a:r>
              <a:rPr lang="en-ID" sz="1800" dirty="0" err="1"/>
              <a:t>digabungkan</a:t>
            </a:r>
            <a:r>
              <a:rPr lang="en-ID" sz="1800" dirty="0"/>
              <a:t> </a:t>
            </a:r>
            <a:r>
              <a:rPr lang="en-ID" sz="1800" dirty="0" err="1"/>
              <a:t>kembali</a:t>
            </a:r>
            <a:r>
              <a:rPr lang="en-ID" sz="1800" dirty="0"/>
              <a:t>).</a:t>
            </a:r>
          </a:p>
          <a:p>
            <a:pPr lvl="1"/>
            <a:r>
              <a:rPr lang="en-ID" sz="1800" dirty="0" err="1"/>
              <a:t>Sebaiknya</a:t>
            </a:r>
            <a:r>
              <a:rPr lang="en-ID" sz="1800" dirty="0"/>
              <a:t>, </a:t>
            </a:r>
            <a:r>
              <a:rPr lang="en-ID" sz="1800" dirty="0" err="1"/>
              <a:t>dekomposisi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dependency preserving</a:t>
            </a:r>
            <a:r>
              <a:rPr lang="en-ID" sz="1800" dirty="0"/>
              <a:t> (</a:t>
            </a:r>
            <a:r>
              <a:rPr lang="en-ID" sz="1800" dirty="0" err="1"/>
              <a:t>artinya</a:t>
            </a:r>
            <a:r>
              <a:rPr lang="en-ID" sz="1800" dirty="0"/>
              <a:t>: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antar</a:t>
            </a:r>
            <a:r>
              <a:rPr lang="en-ID" sz="1800" dirty="0"/>
              <a:t> data </a:t>
            </a:r>
            <a:r>
              <a:rPr lang="en-ID" sz="1800" dirty="0" err="1"/>
              <a:t>tetap</a:t>
            </a:r>
            <a:r>
              <a:rPr lang="en-ID" sz="1800" dirty="0"/>
              <a:t> </a:t>
            </a:r>
            <a:r>
              <a:rPr lang="en-ID" sz="1800" dirty="0" err="1"/>
              <a:t>terjaga</a:t>
            </a:r>
            <a:r>
              <a:rPr lang="en-ID" sz="1800" dirty="0"/>
              <a:t>/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hilang</a:t>
            </a:r>
            <a:r>
              <a:rPr lang="en-ID" sz="1800" dirty="0"/>
              <a:t> </a:t>
            </a:r>
            <a:r>
              <a:rPr lang="en-ID" sz="1800" dirty="0" err="1"/>
              <a:t>setelah</a:t>
            </a:r>
            <a:r>
              <a:rPr lang="en-ID" sz="1800" dirty="0"/>
              <a:t> </a:t>
            </a:r>
            <a:r>
              <a:rPr lang="en-ID" sz="1800" dirty="0" err="1"/>
              <a:t>pemecahan</a:t>
            </a:r>
            <a:r>
              <a:rPr lang="en-ID" sz="1800" dirty="0"/>
              <a:t> </a:t>
            </a:r>
            <a:r>
              <a:rPr lang="en-ID" sz="1800" dirty="0" err="1"/>
              <a:t>tabel</a:t>
            </a:r>
            <a:r>
              <a:rPr lang="en-ID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5632201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FB8C-B614-6494-7FD7-82617239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Dekomposisi</a:t>
            </a:r>
            <a:r>
              <a:rPr lang="en-ID" b="1" dirty="0"/>
              <a:t> </a:t>
            </a:r>
            <a:r>
              <a:rPr lang="en-ID" b="1" dirty="0" err="1"/>
              <a:t>Gabungan</a:t>
            </a:r>
            <a:r>
              <a:rPr lang="en-ID" b="1" dirty="0"/>
              <a:t> </a:t>
            </a:r>
            <a:r>
              <a:rPr lang="en-ID" b="1" dirty="0" err="1"/>
              <a:t>Tanpa</a:t>
            </a:r>
            <a:r>
              <a:rPr lang="en-ID" b="1" dirty="0"/>
              <a:t> </a:t>
            </a:r>
            <a:r>
              <a:rPr lang="en-ID" b="1" dirty="0" err="1"/>
              <a:t>Kehilangan</a:t>
            </a:r>
            <a:r>
              <a:rPr lang="en-ID" b="1" dirty="0"/>
              <a:t> (</a:t>
            </a:r>
            <a:r>
              <a:rPr lang="en-ID" b="1" i="1" dirty="0"/>
              <a:t>Lossless-join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4152E-0C3A-0C98-CCF4-F1EC7604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526112"/>
            <a:ext cx="7704000" cy="3401938"/>
          </a:xfrm>
        </p:spPr>
        <p:txBody>
          <a:bodyPr/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kasus</a:t>
            </a:r>
            <a:r>
              <a:rPr lang="en-ID" sz="2000" dirty="0"/>
              <a:t> </a:t>
            </a:r>
            <a:r>
              <a:rPr lang="en-US" sz="2000" i="1" dirty="0"/>
              <a:t>R</a:t>
            </a:r>
            <a:r>
              <a:rPr lang="en-US" sz="2000" dirty="0"/>
              <a:t> = (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r>
              <a:rPr lang="en-US" sz="2000" i="1" dirty="0"/>
              <a:t>, R</a:t>
            </a:r>
            <a:r>
              <a:rPr lang="en-US" sz="2000" baseline="-25000" dirty="0"/>
              <a:t>2</a:t>
            </a:r>
            <a:r>
              <a:rPr lang="en-US" sz="2000" dirty="0"/>
              <a:t>)</a:t>
            </a:r>
            <a:r>
              <a:rPr lang="en-ID" sz="2000" dirty="0"/>
              <a:t>,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mensyaratkan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semua</a:t>
            </a:r>
            <a:r>
              <a:rPr lang="en-ID" sz="2000" dirty="0"/>
              <a:t> </a:t>
            </a:r>
            <a:r>
              <a:rPr lang="en-ID" sz="2000" dirty="0" err="1"/>
              <a:t>kemungkinan</a:t>
            </a:r>
            <a:r>
              <a:rPr lang="en-ID" sz="2000" dirty="0"/>
              <a:t> </a:t>
            </a:r>
            <a:r>
              <a:rPr lang="en-ID" sz="2000" dirty="0" err="1"/>
              <a:t>relasi</a:t>
            </a:r>
            <a:r>
              <a:rPr lang="en-ID" sz="2000" dirty="0"/>
              <a:t> </a:t>
            </a:r>
            <a:r>
              <a:rPr lang="en-ID" sz="2000" i="1" dirty="0"/>
              <a:t>r</a:t>
            </a:r>
            <a:r>
              <a:rPr lang="en-ID" sz="2000" dirty="0"/>
              <a:t> pada </a:t>
            </a:r>
            <a:r>
              <a:rPr lang="en-ID" sz="2000" dirty="0" err="1"/>
              <a:t>skema</a:t>
            </a:r>
            <a:r>
              <a:rPr lang="en-ID" sz="2000" dirty="0"/>
              <a:t> </a:t>
            </a:r>
            <a:r>
              <a:rPr lang="en-ID" sz="2000" i="1" dirty="0"/>
              <a:t>R</a:t>
            </a:r>
            <a:r>
              <a:rPr lang="en-ID" sz="2000" dirty="0"/>
              <a:t>:</a:t>
            </a:r>
          </a:p>
          <a:p>
            <a:pPr marL="257175">
              <a:spcBef>
                <a:spcPts val="480"/>
              </a:spcBef>
              <a:buSzPts val="3200"/>
              <a:buNone/>
            </a:pPr>
            <a:r>
              <a:rPr lang="en-US" sz="2000" b="1" i="1" dirty="0">
                <a:solidFill>
                  <a:srgbClr val="FFC000"/>
                </a:solidFill>
              </a:rPr>
              <a:t>		r = </a:t>
            </a:r>
            <a:r>
              <a:rPr lang="en-US" sz="2000" b="1" dirty="0">
                <a:solidFill>
                  <a:srgbClr val="FFC000"/>
                </a:solidFill>
              </a:rPr>
              <a:t>∏</a:t>
            </a:r>
            <a:r>
              <a:rPr lang="en-US" sz="2000" b="1" i="1" baseline="-25000" dirty="0">
                <a:solidFill>
                  <a:srgbClr val="FFC000"/>
                </a:solidFill>
              </a:rPr>
              <a:t>R1</a:t>
            </a:r>
            <a:r>
              <a:rPr lang="en-US" sz="2000" b="1" baseline="-25000" dirty="0">
                <a:solidFill>
                  <a:srgbClr val="FFC000"/>
                </a:solidFill>
              </a:rPr>
              <a:t> </a:t>
            </a:r>
            <a:r>
              <a:rPr lang="en-US" sz="2000" b="1" dirty="0">
                <a:solidFill>
                  <a:srgbClr val="FFC000"/>
                </a:solidFill>
              </a:rPr>
              <a:t>(</a:t>
            </a:r>
            <a:r>
              <a:rPr lang="en-US" sz="2000" b="1" i="1" dirty="0">
                <a:solidFill>
                  <a:srgbClr val="FFC000"/>
                </a:solidFill>
              </a:rPr>
              <a:t>r </a:t>
            </a:r>
            <a:r>
              <a:rPr lang="en-US" sz="2000" b="1" dirty="0">
                <a:solidFill>
                  <a:srgbClr val="FFC000"/>
                </a:solidFill>
              </a:rPr>
              <a:t>)       ∏</a:t>
            </a:r>
            <a:r>
              <a:rPr lang="en-US" sz="2000" b="1" i="1" baseline="-25000" dirty="0">
                <a:solidFill>
                  <a:srgbClr val="FFC000"/>
                </a:solidFill>
              </a:rPr>
              <a:t>R2</a:t>
            </a:r>
            <a:r>
              <a:rPr lang="en-US" sz="2000" b="1" baseline="-25000" dirty="0">
                <a:solidFill>
                  <a:srgbClr val="FFC000"/>
                </a:solidFill>
              </a:rPr>
              <a:t> </a:t>
            </a:r>
            <a:r>
              <a:rPr lang="en-US" sz="2000" b="1" dirty="0">
                <a:solidFill>
                  <a:srgbClr val="FFC000"/>
                </a:solidFill>
              </a:rPr>
              <a:t>(</a:t>
            </a:r>
            <a:r>
              <a:rPr lang="en-US" sz="2000" b="1" i="1" dirty="0">
                <a:solidFill>
                  <a:srgbClr val="FFC000"/>
                </a:solidFill>
              </a:rPr>
              <a:t>r </a:t>
            </a:r>
            <a:r>
              <a:rPr lang="en-US" sz="2000" b="1" dirty="0">
                <a:solidFill>
                  <a:srgbClr val="FFC000"/>
                </a:solidFill>
              </a:rPr>
              <a:t>) </a:t>
            </a:r>
          </a:p>
          <a:p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dekomposisi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R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US" sz="2000" i="1" dirty="0"/>
              <a:t>R</a:t>
            </a:r>
            <a:r>
              <a:rPr lang="en-US" sz="2000" baseline="-25000" dirty="0"/>
              <a:t>1 </a:t>
            </a:r>
            <a:r>
              <a:rPr lang="en-ID" sz="2000" dirty="0"/>
              <a:t>dan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b="1" dirty="0"/>
              <a:t>lossless join</a:t>
            </a:r>
            <a:r>
              <a:rPr lang="en-ID" sz="2000" dirty="0"/>
              <a:t> (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kehilangan</a:t>
            </a:r>
            <a:r>
              <a:rPr lang="en-ID" sz="2000" dirty="0"/>
              <a:t> data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digabung</a:t>
            </a:r>
            <a:r>
              <a:rPr lang="en-ID" sz="2000" dirty="0"/>
              <a:t>) </a:t>
            </a:r>
            <a:r>
              <a:rPr lang="en-ID" sz="2000" dirty="0" err="1"/>
              <a:t>jika</a:t>
            </a:r>
            <a:r>
              <a:rPr lang="en-ID" sz="2000" dirty="0"/>
              <a:t> </a:t>
            </a:r>
            <a:r>
              <a:rPr lang="en-ID" sz="2000" dirty="0" err="1"/>
              <a:t>setidaknya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ketergantungan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 </a:t>
            </a:r>
            <a:r>
              <a:rPr lang="en-ID" sz="2000" dirty="0" err="1"/>
              <a:t>ada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US" sz="2000" i="1" dirty="0"/>
              <a:t>F</a:t>
            </a:r>
            <a:r>
              <a:rPr lang="en-US" sz="2800" baseline="30000" dirty="0"/>
              <a:t>+</a:t>
            </a:r>
            <a:r>
              <a:rPr lang="en-ID" sz="2000" dirty="0"/>
              <a:t>:</a:t>
            </a:r>
          </a:p>
          <a:p>
            <a:pPr marL="557213" lvl="1" indent="-214313">
              <a:spcBef>
                <a:spcPts val="420"/>
              </a:spcBef>
              <a:buSzPts val="2800"/>
            </a:pPr>
            <a:r>
              <a:rPr lang="en-US" sz="2000" i="1" dirty="0"/>
              <a:t> R</a:t>
            </a:r>
            <a:r>
              <a:rPr lang="en-US" sz="2000" baseline="-25000" dirty="0"/>
              <a:t>1</a:t>
            </a:r>
            <a:r>
              <a:rPr lang="en-US" sz="2000" dirty="0"/>
              <a:t> ∩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→ </a:t>
            </a:r>
            <a:r>
              <a:rPr lang="en-US" sz="2000" i="1" dirty="0"/>
              <a:t>R</a:t>
            </a:r>
            <a:r>
              <a:rPr lang="en-US" sz="2000" baseline="-25000" dirty="0"/>
              <a:t>1</a:t>
            </a:r>
            <a:endParaRPr lang="en-US" sz="2000" dirty="0"/>
          </a:p>
          <a:p>
            <a:pPr marL="557213" lvl="1" indent="-214313">
              <a:spcBef>
                <a:spcPts val="420"/>
              </a:spcBef>
              <a:buSzPts val="2800"/>
            </a:pPr>
            <a:r>
              <a:rPr lang="en-US" sz="2000" i="1" dirty="0"/>
              <a:t> R</a:t>
            </a:r>
            <a:r>
              <a:rPr lang="en-US" sz="2000" baseline="-25000" dirty="0"/>
              <a:t>1</a:t>
            </a:r>
            <a:r>
              <a:rPr lang="en-US" sz="2000" dirty="0"/>
              <a:t> ∩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r>
              <a:rPr lang="en-US" sz="2000" dirty="0"/>
              <a:t> → </a:t>
            </a:r>
            <a:r>
              <a:rPr lang="en-US" sz="2000" i="1" dirty="0"/>
              <a:t>R</a:t>
            </a:r>
            <a:r>
              <a:rPr lang="en-US" sz="2000" baseline="-25000" dirty="0"/>
              <a:t>2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Google Shape;488;p38">
            <a:extLst>
              <a:ext uri="{FF2B5EF4-FFF2-40B4-BE49-F238E27FC236}">
                <a16:creationId xmlns:a16="http://schemas.microsoft.com/office/drawing/2014/main" id="{232E1532-9C0F-F70D-FCF2-AC0BF7365280}"/>
              </a:ext>
            </a:extLst>
          </p:cNvPr>
          <p:cNvSpPr/>
          <p:nvPr/>
        </p:nvSpPr>
        <p:spPr>
          <a:xfrm>
            <a:off x="2917346" y="2355726"/>
            <a:ext cx="215168" cy="216024"/>
          </a:xfrm>
          <a:custGeom>
            <a:avLst/>
            <a:gdLst/>
            <a:ahLst/>
            <a:cxnLst/>
            <a:rect l="l" t="t" r="r" b="b"/>
            <a:pathLst>
              <a:path w="182" h="182" extrusionOk="0">
                <a:moveTo>
                  <a:pt x="0" y="0"/>
                </a:moveTo>
                <a:lnTo>
                  <a:pt x="0" y="182"/>
                </a:lnTo>
                <a:lnTo>
                  <a:pt x="182" y="0"/>
                </a:lnTo>
                <a:lnTo>
                  <a:pt x="182" y="182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26777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53DD-6A9E-FA40-73AC-CF421729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5D9D3-2E07-60E9-DD48-5D30F7C3A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6"/>
            <a:ext cx="7704000" cy="3434304"/>
          </a:xfrm>
        </p:spPr>
        <p:txBody>
          <a:bodyPr/>
          <a:lstStyle/>
          <a:p>
            <a:pPr marL="257175">
              <a:buSzPct val="100000"/>
            </a:pPr>
            <a:r>
              <a:rPr lang="en-US" sz="1600" i="1" dirty="0"/>
              <a:t>R = (A, B, C)</a:t>
            </a:r>
            <a:br>
              <a:rPr lang="en-US" sz="1600" i="1" dirty="0"/>
            </a:br>
            <a:r>
              <a:rPr lang="en-US" sz="1600" i="1" dirty="0"/>
              <a:t> F = {A </a:t>
            </a:r>
            <a:r>
              <a:rPr lang="en-US" sz="1600" dirty="0"/>
              <a:t>→ </a:t>
            </a:r>
            <a:r>
              <a:rPr lang="en-US" sz="1600" i="1" dirty="0"/>
              <a:t>B, B </a:t>
            </a:r>
            <a:r>
              <a:rPr lang="en-US" sz="1600" dirty="0"/>
              <a:t>→ </a:t>
            </a:r>
            <a:r>
              <a:rPr lang="en-US" sz="1600" i="1" dirty="0"/>
              <a:t>C)</a:t>
            </a:r>
            <a:endParaRPr lang="en-US" sz="1600" dirty="0"/>
          </a:p>
          <a:p>
            <a:pPr lvl="1"/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didekomposisi</a:t>
            </a:r>
            <a:r>
              <a:rPr lang="en-ID" sz="1600" dirty="0"/>
              <a:t> (</a:t>
            </a:r>
            <a:r>
              <a:rPr lang="en-ID" sz="1600" dirty="0" err="1"/>
              <a:t>dipecah</a:t>
            </a:r>
            <a:r>
              <a:rPr lang="en-ID" sz="1600" dirty="0"/>
              <a:t>) </a:t>
            </a:r>
            <a:r>
              <a:rPr lang="en-ID" sz="1600" dirty="0" err="1"/>
              <a:t>dengan</a:t>
            </a:r>
            <a:r>
              <a:rPr lang="en-ID" sz="1600" dirty="0"/>
              <a:t> dua </a:t>
            </a:r>
            <a:r>
              <a:rPr lang="en-ID" sz="1600" dirty="0" err="1"/>
              <a:t>cara</a:t>
            </a:r>
            <a:r>
              <a:rPr lang="en-ID" sz="1600" dirty="0"/>
              <a:t> </a:t>
            </a:r>
            <a:r>
              <a:rPr lang="en-ID" sz="1600" dirty="0" err="1"/>
              <a:t>berbeda</a:t>
            </a:r>
            <a:r>
              <a:rPr lang="en-ID" sz="1600" dirty="0"/>
              <a:t>:</a:t>
            </a:r>
          </a:p>
          <a:p>
            <a:r>
              <a:rPr lang="en-ID" sz="1600" b="1" dirty="0"/>
              <a:t>Cara 1: </a:t>
            </a:r>
            <a:r>
              <a:rPr lang="en-US" sz="1600" i="1" dirty="0"/>
              <a:t>R</a:t>
            </a:r>
            <a:r>
              <a:rPr lang="en-US" sz="1600" baseline="-25000" dirty="0"/>
              <a:t>1</a:t>
            </a:r>
            <a:r>
              <a:rPr lang="en-US" sz="1600" i="1" dirty="0"/>
              <a:t> = (A, B),   R</a:t>
            </a:r>
            <a:r>
              <a:rPr lang="en-US" sz="1600" baseline="-25000" dirty="0"/>
              <a:t>2</a:t>
            </a:r>
            <a:r>
              <a:rPr lang="en-US" sz="1600" i="1" dirty="0"/>
              <a:t> = (B, C)</a:t>
            </a:r>
            <a:endParaRPr lang="en-ID" sz="1600" dirty="0"/>
          </a:p>
          <a:p>
            <a:pPr lvl="1"/>
            <a:r>
              <a:rPr lang="en-ID" sz="1600" b="1" dirty="0">
                <a:solidFill>
                  <a:srgbClr val="FFC000"/>
                </a:solidFill>
              </a:rPr>
              <a:t>Lossless-join decomposition</a:t>
            </a:r>
            <a:r>
              <a:rPr lang="en-ID" sz="1600" b="1" dirty="0"/>
              <a:t>:</a:t>
            </a:r>
            <a:endParaRPr lang="en-ID" sz="1600" dirty="0"/>
          </a:p>
          <a:p>
            <a:pPr marL="609600" lvl="1" indent="0">
              <a:buNone/>
            </a:pPr>
            <a:r>
              <a:rPr lang="en-ID" sz="1600" dirty="0"/>
              <a:t>	</a:t>
            </a:r>
            <a:r>
              <a:rPr lang="en-US" sz="1600" i="1" dirty="0"/>
              <a:t>R</a:t>
            </a:r>
            <a:r>
              <a:rPr lang="en-US" sz="1600" baseline="-25000" dirty="0"/>
              <a:t>1  </a:t>
            </a:r>
            <a:r>
              <a:rPr lang="en-US" sz="1600" dirty="0"/>
              <a:t>∩ </a:t>
            </a:r>
            <a:r>
              <a:rPr lang="en-US" sz="1600" i="1" dirty="0"/>
              <a:t>R</a:t>
            </a:r>
            <a:r>
              <a:rPr lang="en-US" sz="1600" baseline="-25000" dirty="0"/>
              <a:t>2</a:t>
            </a:r>
            <a:r>
              <a:rPr lang="en-US" sz="1600" i="1" dirty="0"/>
              <a:t> = </a:t>
            </a:r>
            <a:r>
              <a:rPr lang="en-US" sz="1600" dirty="0"/>
              <a:t>{</a:t>
            </a:r>
            <a:r>
              <a:rPr lang="en-US" sz="1600" i="1" dirty="0"/>
              <a:t>B</a:t>
            </a:r>
            <a:r>
              <a:rPr lang="en-US" sz="1600" dirty="0"/>
              <a:t>}</a:t>
            </a:r>
            <a:r>
              <a:rPr lang="en-US" sz="1600" i="1" dirty="0"/>
              <a:t> </a:t>
            </a:r>
            <a:r>
              <a:rPr lang="en-US" sz="1600" dirty="0"/>
              <a:t>and </a:t>
            </a:r>
            <a:r>
              <a:rPr lang="en-US" sz="1600" i="1" dirty="0"/>
              <a:t>B </a:t>
            </a:r>
            <a:r>
              <a:rPr lang="en-US" sz="1600" dirty="0"/>
              <a:t>→ </a:t>
            </a:r>
            <a:r>
              <a:rPr lang="en-US" sz="1600" i="1" dirty="0"/>
              <a:t>BC</a:t>
            </a:r>
            <a:r>
              <a:rPr lang="en-ID" sz="1600" dirty="0"/>
              <a:t>.</a:t>
            </a:r>
          </a:p>
          <a:p>
            <a:pPr lvl="1"/>
            <a:r>
              <a:rPr lang="en-ID" sz="1600" b="1" dirty="0">
                <a:solidFill>
                  <a:srgbClr val="FFC000"/>
                </a:solidFill>
              </a:rPr>
              <a:t>Dependency preserving</a:t>
            </a:r>
            <a:r>
              <a:rPr lang="en-ID" sz="1600" dirty="0"/>
              <a:t> (</a:t>
            </a:r>
            <a:r>
              <a:rPr lang="en-ID" sz="1600" dirty="0" err="1"/>
              <a:t>Menjaga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):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</a:t>
            </a:r>
            <a:r>
              <a:rPr lang="en-ID" sz="1600" dirty="0" err="1"/>
              <a:t>asli</a:t>
            </a:r>
            <a:endParaRPr lang="en-ID" sz="1600" dirty="0"/>
          </a:p>
          <a:p>
            <a:pPr marL="609600" lvl="1" indent="0">
              <a:buNone/>
            </a:pPr>
            <a:r>
              <a:rPr lang="en-ID" sz="1600" dirty="0"/>
              <a:t>	(</a:t>
            </a:r>
            <a:r>
              <a:rPr lang="en-US" sz="1600" i="1" dirty="0"/>
              <a:t>A </a:t>
            </a:r>
            <a:r>
              <a:rPr lang="en-US" sz="1600" dirty="0"/>
              <a:t>→ </a:t>
            </a:r>
            <a:r>
              <a:rPr lang="en-US" sz="1600" i="1" dirty="0"/>
              <a:t>B dan B </a:t>
            </a:r>
            <a:r>
              <a:rPr lang="en-US" sz="1600" dirty="0"/>
              <a:t>→ </a:t>
            </a:r>
            <a:r>
              <a:rPr lang="en-US" sz="1600" i="1" dirty="0"/>
              <a:t>C)</a:t>
            </a:r>
            <a:endParaRPr lang="en-ID" sz="1600" dirty="0"/>
          </a:p>
          <a:p>
            <a:pPr marL="609600" lvl="1" indent="0">
              <a:buNone/>
            </a:pPr>
            <a:r>
              <a:rPr lang="en-ID" sz="1600" dirty="0"/>
              <a:t>	</a:t>
            </a:r>
            <a:r>
              <a:rPr lang="en-ID" sz="1600" dirty="0" err="1"/>
              <a:t>masih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dicek</a:t>
            </a:r>
            <a:r>
              <a:rPr lang="en-ID" sz="1600" dirty="0"/>
              <a:t> </a:t>
            </a:r>
            <a:r>
              <a:rPr lang="en-ID" sz="1600" dirty="0" err="1"/>
              <a:t>langsung</a:t>
            </a:r>
            <a:r>
              <a:rPr lang="en-ID" sz="1600" dirty="0"/>
              <a:t> di masing-masing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pecahannya</a:t>
            </a:r>
            <a:r>
              <a:rPr lang="en-ID" sz="1600" dirty="0"/>
              <a:t>.</a:t>
            </a:r>
          </a:p>
          <a:p>
            <a:r>
              <a:rPr lang="en-ID" sz="1600" b="1" dirty="0"/>
              <a:t>Cara 2: </a:t>
            </a:r>
            <a:r>
              <a:rPr lang="en-US" sz="1600" i="1" dirty="0"/>
              <a:t>R</a:t>
            </a:r>
            <a:r>
              <a:rPr lang="en-US" sz="1600" i="1" baseline="-25000" dirty="0"/>
              <a:t>1 </a:t>
            </a:r>
            <a:r>
              <a:rPr lang="en-US" sz="1600" i="1" dirty="0"/>
              <a:t>= (A, B),   R</a:t>
            </a:r>
            <a:r>
              <a:rPr lang="en-US" sz="1600" baseline="-25000" dirty="0"/>
              <a:t>2</a:t>
            </a:r>
            <a:r>
              <a:rPr lang="en-US" sz="1600" i="1" dirty="0"/>
              <a:t> = (A, C)</a:t>
            </a:r>
            <a:endParaRPr lang="en-ID" sz="1600" b="1" dirty="0"/>
          </a:p>
          <a:p>
            <a:pPr lvl="1"/>
            <a:r>
              <a:rPr lang="en-ID" sz="1600" b="1" dirty="0">
                <a:solidFill>
                  <a:srgbClr val="FFC000"/>
                </a:solidFill>
              </a:rPr>
              <a:t>Lossless-join decomposition</a:t>
            </a:r>
            <a:r>
              <a:rPr lang="en-ID" sz="1600" b="1" dirty="0"/>
              <a:t>:</a:t>
            </a:r>
          </a:p>
          <a:p>
            <a:pPr marL="609600" lvl="1" indent="0">
              <a:buNone/>
            </a:pPr>
            <a:r>
              <a:rPr lang="en-ID" sz="1600" b="1" i="1" dirty="0"/>
              <a:t>	</a:t>
            </a:r>
            <a:r>
              <a:rPr lang="en-US" sz="1600" i="1" dirty="0"/>
              <a:t>R</a:t>
            </a:r>
            <a:r>
              <a:rPr lang="en-US" sz="1600" baseline="-25000" dirty="0"/>
              <a:t>1  </a:t>
            </a:r>
            <a:r>
              <a:rPr lang="en-US" sz="1600" dirty="0"/>
              <a:t>∩ </a:t>
            </a:r>
            <a:r>
              <a:rPr lang="en-US" sz="1600" i="1" dirty="0"/>
              <a:t>R</a:t>
            </a:r>
            <a:r>
              <a:rPr lang="en-US" sz="1600" baseline="-25000" dirty="0"/>
              <a:t>2</a:t>
            </a:r>
            <a:r>
              <a:rPr lang="en-US" sz="1600" i="1" dirty="0"/>
              <a:t> =</a:t>
            </a:r>
            <a:r>
              <a:rPr lang="en-US" sz="1600" dirty="0"/>
              <a:t> {</a:t>
            </a:r>
            <a:r>
              <a:rPr lang="en-US" sz="1600" i="1" dirty="0"/>
              <a:t>A</a:t>
            </a:r>
            <a:r>
              <a:rPr lang="en-US" sz="1600" dirty="0"/>
              <a:t>}</a:t>
            </a:r>
            <a:r>
              <a:rPr lang="en-US" sz="1600" i="1" dirty="0"/>
              <a:t> </a:t>
            </a:r>
            <a:r>
              <a:rPr lang="en-US" sz="1600" dirty="0"/>
              <a:t>and </a:t>
            </a:r>
            <a:r>
              <a:rPr lang="en-US" sz="1600" i="1" dirty="0"/>
              <a:t>A </a:t>
            </a:r>
            <a:r>
              <a:rPr lang="en-US" sz="1600" dirty="0"/>
              <a:t>→ A</a:t>
            </a:r>
            <a:r>
              <a:rPr lang="en-US" sz="1600" i="1" dirty="0"/>
              <a:t>B</a:t>
            </a:r>
            <a:endParaRPr lang="en-ID" sz="1600" dirty="0"/>
          </a:p>
          <a:p>
            <a:pPr lvl="1"/>
            <a:r>
              <a:rPr lang="en-ID" sz="1600" b="1" dirty="0">
                <a:solidFill>
                  <a:srgbClr val="FFC000"/>
                </a:solidFill>
              </a:rPr>
              <a:t>Not dependency preserving</a:t>
            </a:r>
            <a:r>
              <a:rPr lang="en-ID" sz="1600" dirty="0"/>
              <a:t> (Tidak </a:t>
            </a:r>
            <a:r>
              <a:rPr lang="en-ID" sz="1600" dirty="0" err="1"/>
              <a:t>menjaga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): Kita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bisa</a:t>
            </a:r>
            <a:r>
              <a:rPr lang="en-ID" sz="1600" dirty="0"/>
              <a:t> </a:t>
            </a:r>
            <a:r>
              <a:rPr lang="en-ID" sz="1600" dirty="0" err="1"/>
              <a:t>mengecek</a:t>
            </a:r>
            <a:r>
              <a:rPr lang="en-ID" sz="1600" dirty="0"/>
              <a:t> </a:t>
            </a:r>
            <a:r>
              <a:rPr lang="en-ID" sz="1600" dirty="0" err="1"/>
              <a:t>aturan</a:t>
            </a:r>
            <a:r>
              <a:rPr lang="en-ID" sz="1600" dirty="0"/>
              <a:t>     </a:t>
            </a:r>
            <a:r>
              <a:rPr lang="en-US" sz="1600" i="1" dirty="0"/>
              <a:t>B </a:t>
            </a:r>
            <a:r>
              <a:rPr lang="en-US" sz="1600" dirty="0"/>
              <a:t>→ </a:t>
            </a:r>
            <a:r>
              <a:rPr lang="en-US" sz="1600" i="1" dirty="0"/>
              <a:t>C</a:t>
            </a:r>
            <a:r>
              <a:rPr lang="en-ID" sz="1600" dirty="0"/>
              <a:t> </a:t>
            </a:r>
            <a:r>
              <a:rPr lang="en-ID" sz="1600" dirty="0" err="1"/>
              <a:t>tanpa</a:t>
            </a:r>
            <a:r>
              <a:rPr lang="en-ID" sz="1600" dirty="0"/>
              <a:t> </a:t>
            </a:r>
            <a:r>
              <a:rPr lang="en-ID" sz="1600" dirty="0" err="1"/>
              <a:t>menggabungkan</a:t>
            </a:r>
            <a:r>
              <a:rPr lang="en-ID" sz="1600" dirty="0"/>
              <a:t> </a:t>
            </a:r>
            <a:r>
              <a:rPr lang="en-ID" sz="1600" dirty="0" err="1"/>
              <a:t>kembali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600" i="1" baseline="-25000" dirty="0"/>
              <a:t>1</a:t>
            </a:r>
            <a:r>
              <a:rPr lang="en-ID" sz="1600" dirty="0"/>
              <a:t> dan</a:t>
            </a:r>
            <a:r>
              <a:rPr lang="en-US" sz="1600" i="1" dirty="0"/>
              <a:t> R</a:t>
            </a:r>
            <a:r>
              <a:rPr lang="en-US" sz="1600" i="1" baseline="-25000" dirty="0"/>
              <a:t>2</a:t>
            </a:r>
            <a:r>
              <a:rPr lang="en-ID" sz="1600" dirty="0"/>
              <a:t>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68819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FBF2-DDF1-0F28-51E6-40AF0BB0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 err="1"/>
              <a:t>Pemeliharaan</a:t>
            </a:r>
            <a:r>
              <a:rPr lang="en-ID" b="1" dirty="0"/>
              <a:t> </a:t>
            </a:r>
            <a:r>
              <a:rPr lang="en-ID" b="1" dirty="0" err="1"/>
              <a:t>Ketergantungan</a:t>
            </a:r>
            <a:r>
              <a:rPr lang="en-ID" b="1" dirty="0"/>
              <a:t> (</a:t>
            </a:r>
            <a:r>
              <a:rPr lang="en-ID" b="1" i="1" dirty="0"/>
              <a:t>Dependency Preservation</a:t>
            </a:r>
            <a:r>
              <a:rPr lang="en-ID" b="1" dirty="0"/>
              <a:t>)</a:t>
            </a:r>
            <a:br>
              <a:rPr lang="en-ID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3AA4E-EA46-400B-2D22-32D77F7E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399922"/>
            <a:ext cx="7704000" cy="3600956"/>
          </a:xfrm>
        </p:spPr>
        <p:txBody>
          <a:bodyPr/>
          <a:lstStyle/>
          <a:p>
            <a:r>
              <a:rPr lang="en-ID" sz="1800" dirty="0" err="1"/>
              <a:t>Misalkan</a:t>
            </a:r>
            <a:r>
              <a:rPr lang="en-ID" sz="1800" dirty="0"/>
              <a:t> </a:t>
            </a:r>
            <a:r>
              <a:rPr lang="en-US" sz="1800" i="1" dirty="0"/>
              <a:t>F</a:t>
            </a:r>
            <a:r>
              <a:rPr lang="en-US" sz="1800" i="1" baseline="-25000" dirty="0"/>
              <a:t>i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himpunan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di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US" sz="1800" i="1" dirty="0"/>
              <a:t>F</a:t>
            </a:r>
            <a:r>
              <a:rPr lang="en-US" sz="1800" i="1" baseline="30000" dirty="0"/>
              <a:t>+</a:t>
            </a:r>
            <a:r>
              <a:rPr lang="en-ID" sz="1800" dirty="0"/>
              <a:t> yang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mencakup</a:t>
            </a:r>
            <a:r>
              <a:rPr lang="en-ID" sz="1800" dirty="0"/>
              <a:t> </a:t>
            </a:r>
            <a:r>
              <a:rPr lang="en-ID" sz="1800" dirty="0" err="1"/>
              <a:t>atribut-atribut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US" sz="1800" i="1" dirty="0"/>
              <a:t>R</a:t>
            </a:r>
            <a:r>
              <a:rPr lang="en-US" sz="1800" i="1" baseline="-25000" dirty="0"/>
              <a:t>i</a:t>
            </a:r>
            <a:r>
              <a:rPr lang="en-ID" sz="1800" dirty="0"/>
              <a:t>.</a:t>
            </a:r>
          </a:p>
          <a:p>
            <a:pPr lvl="1"/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dekomposisi</a:t>
            </a:r>
            <a:r>
              <a:rPr lang="en-ID" sz="1800" dirty="0"/>
              <a:t> </a:t>
            </a:r>
            <a:r>
              <a:rPr lang="en-ID" sz="1800" dirty="0" err="1"/>
              <a:t>disebut</a:t>
            </a:r>
            <a:r>
              <a:rPr lang="en-ID" sz="1800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dependency preserving</a:t>
            </a:r>
            <a:r>
              <a:rPr lang="en-ID" sz="1800" dirty="0"/>
              <a:t> (</a:t>
            </a:r>
            <a:r>
              <a:rPr lang="en-ID" sz="1800" dirty="0" err="1"/>
              <a:t>memelihara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), </a:t>
            </a:r>
            <a:r>
              <a:rPr lang="en-ID" sz="1800" dirty="0" err="1"/>
              <a:t>jika</a:t>
            </a:r>
            <a:r>
              <a:rPr lang="en-ID" sz="1800" dirty="0"/>
              <a:t>:</a:t>
            </a:r>
          </a:p>
          <a:p>
            <a:pPr lvl="1"/>
            <a:endParaRPr lang="en-ID" sz="1800" dirty="0"/>
          </a:p>
          <a:p>
            <a:pPr marL="857250" lvl="2" indent="-171450">
              <a:spcBef>
                <a:spcPts val="360"/>
              </a:spcBef>
              <a:buSzPts val="2400"/>
              <a:buNone/>
            </a:pPr>
            <a:r>
              <a:rPr lang="en-ID" sz="1800" dirty="0"/>
              <a:t>		</a:t>
            </a:r>
            <a:r>
              <a:rPr lang="en-US" sz="2000" b="1" dirty="0"/>
              <a:t>(</a:t>
            </a:r>
            <a:r>
              <a:rPr lang="en-US" sz="2000" b="1" i="1" dirty="0"/>
              <a:t>F</a:t>
            </a:r>
            <a:r>
              <a:rPr lang="en-US" sz="2000" b="1" baseline="-25000" dirty="0"/>
              <a:t>1</a:t>
            </a:r>
            <a:r>
              <a:rPr lang="en-US" sz="2000" b="1" i="1" dirty="0"/>
              <a:t> </a:t>
            </a:r>
            <a:r>
              <a:rPr lang="en-US" sz="2000" b="1" dirty="0"/>
              <a:t>∪</a:t>
            </a:r>
            <a:r>
              <a:rPr lang="en-US" sz="2000" b="1" i="1" dirty="0"/>
              <a:t> F</a:t>
            </a:r>
            <a:r>
              <a:rPr lang="en-US" sz="2000" b="1" baseline="-25000" dirty="0"/>
              <a:t>2 </a:t>
            </a:r>
            <a:r>
              <a:rPr lang="en-US" sz="2000" b="1" dirty="0"/>
              <a:t>∪</a:t>
            </a:r>
            <a:r>
              <a:rPr lang="en-US" sz="2000" b="1" i="1" dirty="0"/>
              <a:t> …</a:t>
            </a:r>
            <a:r>
              <a:rPr lang="en-US" sz="2000" b="1" dirty="0"/>
              <a:t> ∪</a:t>
            </a:r>
            <a:r>
              <a:rPr lang="en-US" sz="2000" b="1" i="1" dirty="0"/>
              <a:t> </a:t>
            </a:r>
            <a:r>
              <a:rPr lang="en-US" sz="2000" b="1" i="1" dirty="0" err="1"/>
              <a:t>F</a:t>
            </a:r>
            <a:r>
              <a:rPr lang="en-US" sz="2000" b="1" baseline="-25000" dirty="0" err="1"/>
              <a:t>n</a:t>
            </a:r>
            <a:r>
              <a:rPr lang="en-US" sz="2000" b="1" baseline="-25000" dirty="0"/>
              <a:t> </a:t>
            </a:r>
            <a:r>
              <a:rPr lang="en-US" sz="2000" b="1" dirty="0"/>
              <a:t>)</a:t>
            </a:r>
            <a:r>
              <a:rPr lang="en-US" sz="2000" b="1" baseline="30000" dirty="0"/>
              <a:t>+</a:t>
            </a:r>
            <a:r>
              <a:rPr lang="en-US" sz="2000" b="1" dirty="0"/>
              <a:t> = </a:t>
            </a:r>
            <a:r>
              <a:rPr lang="en-US" sz="2000" b="1" i="1" dirty="0"/>
              <a:t>F </a:t>
            </a:r>
            <a:r>
              <a:rPr lang="en-US" sz="2000" b="1" i="1" baseline="30000" dirty="0"/>
              <a:t>+</a:t>
            </a:r>
            <a:endParaRPr lang="en-US" sz="2000" b="1" dirty="0"/>
          </a:p>
          <a:p>
            <a:pPr lvl="1"/>
            <a:endParaRPr lang="en-ID" sz="1800" dirty="0"/>
          </a:p>
          <a:p>
            <a:pPr lvl="1"/>
            <a:r>
              <a:rPr lang="en-ID" sz="1800" b="1" dirty="0">
                <a:solidFill>
                  <a:srgbClr val="FFC000"/>
                </a:solidFill>
              </a:rPr>
              <a:t>Jika </a:t>
            </a:r>
            <a:r>
              <a:rPr lang="en-ID" sz="1800" b="1" dirty="0" err="1">
                <a:solidFill>
                  <a:srgbClr val="FFC000"/>
                </a:solidFill>
              </a:rPr>
              <a:t>tidak</a:t>
            </a:r>
            <a:r>
              <a:rPr lang="en-ID" sz="1800" dirty="0"/>
              <a:t>, </a:t>
            </a:r>
            <a:r>
              <a:rPr lang="en-ID" sz="1800" dirty="0" err="1"/>
              <a:t>maka</a:t>
            </a:r>
            <a:r>
              <a:rPr lang="en-ID" sz="1800" dirty="0"/>
              <a:t> </a:t>
            </a:r>
            <a:r>
              <a:rPr lang="en-ID" sz="1800" dirty="0" err="1"/>
              <a:t>pengecekan</a:t>
            </a:r>
            <a:r>
              <a:rPr lang="en-ID" sz="1800" dirty="0"/>
              <a:t> </a:t>
            </a:r>
            <a:r>
              <a:rPr lang="en-ID" sz="1800" dirty="0" err="1"/>
              <a:t>pembaruan</a:t>
            </a:r>
            <a:r>
              <a:rPr lang="en-ID" sz="1800" dirty="0"/>
              <a:t> (</a:t>
            </a:r>
            <a:r>
              <a:rPr lang="en-ID" sz="1800" i="1" dirty="0"/>
              <a:t>updates</a:t>
            </a:r>
            <a:r>
              <a:rPr lang="en-ID" sz="1800" dirty="0"/>
              <a:t>) </a:t>
            </a:r>
            <a:r>
              <a:rPr lang="en-ID" sz="1800" dirty="0" err="1"/>
              <a:t>terhadap</a:t>
            </a:r>
            <a:r>
              <a:rPr lang="en-ID" sz="1800" dirty="0"/>
              <a:t> </a:t>
            </a:r>
            <a:r>
              <a:rPr lang="en-ID" sz="1800" dirty="0" err="1"/>
              <a:t>pelanggaran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 </a:t>
            </a:r>
            <a:r>
              <a:rPr lang="en-ID" sz="1800" dirty="0" err="1"/>
              <a:t>fungsional</a:t>
            </a:r>
            <a:r>
              <a:rPr lang="en-ID" sz="1800" dirty="0"/>
              <a:t> </a:t>
            </a:r>
            <a:r>
              <a:rPr lang="en-ID" sz="1800" dirty="0" err="1"/>
              <a:t>mungkin</a:t>
            </a:r>
            <a:r>
              <a:rPr lang="en-ID" sz="1800" dirty="0"/>
              <a:t> </a:t>
            </a:r>
            <a:r>
              <a:rPr lang="en-ID" sz="1800" dirty="0" err="1"/>
              <a:t>memerlukan</a:t>
            </a:r>
            <a:r>
              <a:rPr lang="en-ID" sz="1800" dirty="0"/>
              <a:t> </a:t>
            </a:r>
            <a:r>
              <a:rPr lang="en-ID" sz="1800" dirty="0" err="1"/>
              <a:t>perhitungan</a:t>
            </a:r>
            <a:r>
              <a:rPr lang="en-ID" sz="1800" dirty="0"/>
              <a:t> </a:t>
            </a:r>
            <a:r>
              <a:rPr lang="en-ID" sz="1800" dirty="0" err="1"/>
              <a:t>gabungan</a:t>
            </a:r>
            <a:r>
              <a:rPr lang="en-ID" sz="1800" dirty="0"/>
              <a:t> (</a:t>
            </a:r>
            <a:r>
              <a:rPr lang="en-ID" sz="1800" i="1" dirty="0"/>
              <a:t>join</a:t>
            </a:r>
            <a:r>
              <a:rPr lang="en-ID" sz="1800" dirty="0"/>
              <a:t>), yang </a:t>
            </a:r>
            <a:r>
              <a:rPr lang="en-ID" sz="1800" dirty="0" err="1"/>
              <a:t>biayanya</a:t>
            </a:r>
            <a:r>
              <a:rPr lang="en-ID" sz="1800" dirty="0"/>
              <a:t> sangat mahal (</a:t>
            </a:r>
            <a:r>
              <a:rPr lang="en-ID" sz="1800" dirty="0" err="1"/>
              <a:t>memakan</a:t>
            </a:r>
            <a:r>
              <a:rPr lang="en-ID" sz="1800" dirty="0"/>
              <a:t> </a:t>
            </a:r>
            <a:r>
              <a:rPr lang="en-ID" sz="1800" dirty="0" err="1"/>
              <a:t>sumber</a:t>
            </a:r>
            <a:r>
              <a:rPr lang="en-ID" sz="1800" dirty="0"/>
              <a:t> </a:t>
            </a:r>
            <a:r>
              <a:rPr lang="en-ID" sz="1800" dirty="0" err="1"/>
              <a:t>daya</a:t>
            </a:r>
            <a:r>
              <a:rPr lang="en-ID" sz="1800" dirty="0"/>
              <a:t> </a:t>
            </a:r>
            <a:r>
              <a:rPr lang="en-ID" sz="1800" dirty="0" err="1"/>
              <a:t>komputasi</a:t>
            </a:r>
            <a:r>
              <a:rPr lang="en-ID" sz="1800" dirty="0"/>
              <a:t> yang </a:t>
            </a:r>
            <a:r>
              <a:rPr lang="en-ID" sz="1800" dirty="0" err="1"/>
              <a:t>tinggi</a:t>
            </a:r>
            <a:r>
              <a:rPr lang="en-ID" sz="1800" dirty="0"/>
              <a:t>).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372451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C2A3-20E9-1E3F-8E21-C5CEE37C8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for Dependency Preservation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A7E62-9E30-DD7E-5C67-9EA119AB9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790353"/>
          </a:xfrm>
        </p:spPr>
        <p:txBody>
          <a:bodyPr/>
          <a:lstStyle/>
          <a:p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memeriksa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US" sz="1600" dirty="0"/>
              <a:t>α → β</a:t>
            </a:r>
            <a:r>
              <a:rPr lang="en-ID" sz="1600" dirty="0"/>
              <a:t> </a:t>
            </a:r>
            <a:r>
              <a:rPr lang="en-ID" sz="1600" dirty="0" err="1"/>
              <a:t>terjaga</a:t>
            </a:r>
            <a:r>
              <a:rPr lang="en-ID" sz="1600" dirty="0"/>
              <a:t> (</a:t>
            </a:r>
            <a:r>
              <a:rPr lang="en-ID" sz="1600" b="1" i="1" dirty="0">
                <a:solidFill>
                  <a:srgbClr val="FFC000"/>
                </a:solidFill>
              </a:rPr>
              <a:t>preserved</a:t>
            </a:r>
            <a:r>
              <a:rPr lang="en-ID" sz="1600" dirty="0"/>
              <a:t>)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i="1" dirty="0"/>
              <a:t>R</a:t>
            </a:r>
            <a:r>
              <a:rPr lang="en-ID" sz="1600" dirty="0"/>
              <a:t> </a:t>
            </a:r>
            <a:r>
              <a:rPr lang="en-ID" sz="1600" dirty="0" err="1"/>
              <a:t>menjadi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800" baseline="-25000" dirty="0"/>
              <a:t>1</a:t>
            </a:r>
            <a:r>
              <a:rPr lang="en-US" sz="1600" dirty="0"/>
              <a:t>, </a:t>
            </a:r>
            <a:r>
              <a:rPr lang="en-US" sz="1600" i="1" dirty="0"/>
              <a:t>R</a:t>
            </a:r>
            <a:r>
              <a:rPr lang="en-US" sz="1800" baseline="-25000" dirty="0"/>
              <a:t>2</a:t>
            </a:r>
            <a:r>
              <a:rPr lang="en-US" sz="1600" dirty="0"/>
              <a:t>, …, </a:t>
            </a:r>
            <a:r>
              <a:rPr lang="en-US" sz="1600" i="1" dirty="0"/>
              <a:t>R</a:t>
            </a:r>
            <a:r>
              <a:rPr lang="en-US" sz="1800" baseline="-25000" dirty="0"/>
              <a:t>n</a:t>
            </a:r>
            <a:r>
              <a:rPr lang="en-ID" sz="1600" dirty="0"/>
              <a:t>, </a:t>
            </a:r>
            <a:r>
              <a:rPr lang="en-ID" sz="1600" dirty="0" err="1"/>
              <a:t>kita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menerapkan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pengujian</a:t>
            </a:r>
            <a:r>
              <a:rPr lang="en-ID" sz="1600" b="1" dirty="0">
                <a:solidFill>
                  <a:srgbClr val="FFC000"/>
                </a:solidFill>
              </a:rPr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berikut</a:t>
            </a:r>
            <a:r>
              <a:rPr lang="en-ID" sz="1600" dirty="0"/>
              <a:t> (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penutupan</a:t>
            </a:r>
            <a:r>
              <a:rPr lang="en-ID" sz="1600" dirty="0"/>
              <a:t> </a:t>
            </a:r>
            <a:r>
              <a:rPr lang="en-ID" sz="1600" dirty="0" err="1"/>
              <a:t>atribut</a:t>
            </a:r>
            <a:r>
              <a:rPr lang="en-ID" sz="1600" dirty="0"/>
              <a:t> </a:t>
            </a:r>
            <a:r>
              <a:rPr lang="en-ID" sz="1600" dirty="0" err="1"/>
              <a:t>atau</a:t>
            </a:r>
            <a:r>
              <a:rPr lang="en-ID" sz="1600" dirty="0"/>
              <a:t> </a:t>
            </a:r>
            <a:r>
              <a:rPr lang="en-ID" sz="1600" i="1" dirty="0"/>
              <a:t>attribute closure</a:t>
            </a:r>
            <a:r>
              <a:rPr lang="en-ID" sz="1600" dirty="0"/>
              <a:t> yang </a:t>
            </a:r>
            <a:r>
              <a:rPr lang="en-ID" sz="1600" dirty="0" err="1"/>
              <a:t>dilakukan</a:t>
            </a:r>
            <a:r>
              <a:rPr lang="en-ID" sz="1600" dirty="0"/>
              <a:t> </a:t>
            </a:r>
            <a:r>
              <a:rPr lang="en-ID" sz="1600" dirty="0" err="1"/>
              <a:t>terhadap</a:t>
            </a:r>
            <a:r>
              <a:rPr lang="en-ID" sz="1600" dirty="0"/>
              <a:t> F):</a:t>
            </a:r>
          </a:p>
          <a:p>
            <a:pPr lvl="1"/>
            <a:r>
              <a:rPr lang="en-US" sz="1600" i="1" dirty="0"/>
              <a:t>result </a:t>
            </a:r>
            <a:r>
              <a:rPr lang="en-US" sz="1600" dirty="0"/>
              <a:t>= α</a:t>
            </a:r>
            <a:br>
              <a:rPr lang="en-US" sz="1600" dirty="0"/>
            </a:br>
            <a:r>
              <a:rPr lang="en-ID" sz="1600" b="1" dirty="0">
                <a:solidFill>
                  <a:srgbClr val="FFC000"/>
                </a:solidFill>
              </a:rPr>
              <a:t>while</a:t>
            </a:r>
            <a:r>
              <a:rPr lang="en-ID" sz="1600" dirty="0"/>
              <a:t> (</a:t>
            </a:r>
            <a:r>
              <a:rPr lang="en-ID" sz="1600" dirty="0" err="1"/>
              <a:t>ada</a:t>
            </a:r>
            <a:r>
              <a:rPr lang="en-ID" sz="1600" dirty="0"/>
              <a:t> </a:t>
            </a:r>
            <a:r>
              <a:rPr lang="en-ID" sz="1600" dirty="0" err="1"/>
              <a:t>perubahan</a:t>
            </a:r>
            <a:r>
              <a:rPr lang="en-ID" sz="1600" dirty="0"/>
              <a:t> pada </a:t>
            </a:r>
            <a:r>
              <a:rPr lang="en-ID" sz="1600" i="1" dirty="0"/>
              <a:t>result</a:t>
            </a:r>
            <a:r>
              <a:rPr lang="en-ID" sz="1600" dirty="0"/>
              <a:t>) </a:t>
            </a:r>
            <a:r>
              <a:rPr lang="en-ID" sz="1600" b="1" dirty="0"/>
              <a:t>do</a:t>
            </a:r>
            <a:endParaRPr lang="en-ID" sz="1600" dirty="0"/>
          </a:p>
          <a:p>
            <a:pPr marL="1524000" lvl="3" indent="0">
              <a:buNone/>
            </a:pPr>
            <a:r>
              <a:rPr lang="en-ID" sz="1600" b="1" dirty="0">
                <a:solidFill>
                  <a:srgbClr val="FFC000"/>
                </a:solidFill>
              </a:rPr>
              <a:t>for each</a:t>
            </a:r>
            <a:r>
              <a:rPr lang="en-ID" sz="1600" dirty="0"/>
              <a:t> </a:t>
            </a:r>
            <a:r>
              <a:rPr lang="en-US" sz="1600" i="1" dirty="0"/>
              <a:t>R</a:t>
            </a:r>
            <a:r>
              <a:rPr lang="en-US" sz="1800" baseline="-25000" dirty="0"/>
              <a:t>i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:</a:t>
            </a:r>
          </a:p>
          <a:p>
            <a:pPr marL="1981200" lvl="4" indent="0">
              <a:buNone/>
            </a:pPr>
            <a:r>
              <a:rPr lang="en-US" sz="1600" i="1" dirty="0"/>
              <a:t>t</a:t>
            </a:r>
            <a:r>
              <a:rPr lang="en-US" sz="1600" dirty="0"/>
              <a:t> = (</a:t>
            </a:r>
            <a:r>
              <a:rPr lang="en-US" sz="1600" i="1" dirty="0"/>
              <a:t>result </a:t>
            </a:r>
            <a:r>
              <a:rPr lang="en-US" sz="1600" dirty="0"/>
              <a:t>∩ </a:t>
            </a:r>
            <a:r>
              <a:rPr lang="en-US" sz="1600" i="1" dirty="0"/>
              <a:t>R</a:t>
            </a:r>
            <a:r>
              <a:rPr lang="en-US" sz="1600" i="1" baseline="-25000" dirty="0"/>
              <a:t>i</a:t>
            </a:r>
            <a:r>
              <a:rPr lang="en-US" sz="1600" dirty="0"/>
              <a:t>)</a:t>
            </a:r>
            <a:r>
              <a:rPr lang="en-US" sz="1600" baseline="30000" dirty="0"/>
              <a:t>+ </a:t>
            </a:r>
            <a:r>
              <a:rPr lang="en-US" sz="1600" dirty="0"/>
              <a:t>∩ </a:t>
            </a:r>
            <a:r>
              <a:rPr lang="en-US" sz="1600" i="1" dirty="0"/>
              <a:t>R</a:t>
            </a:r>
            <a:r>
              <a:rPr lang="en-US" sz="1600" i="1" baseline="-25000" dirty="0"/>
              <a:t>i</a:t>
            </a:r>
          </a:p>
          <a:p>
            <a:pPr marL="1981200" lvl="4" indent="0">
              <a:buNone/>
            </a:pPr>
            <a:r>
              <a:rPr lang="en-US" sz="1600" i="1" dirty="0"/>
              <a:t>result  =  result  </a:t>
            </a:r>
            <a:r>
              <a:rPr lang="en-US" sz="1600" dirty="0"/>
              <a:t>∪ </a:t>
            </a:r>
            <a:r>
              <a:rPr lang="en-US" sz="1600" i="1" dirty="0"/>
              <a:t>t</a:t>
            </a:r>
            <a:endParaRPr lang="en-ID" sz="1600" dirty="0"/>
          </a:p>
          <a:p>
            <a:pPr lvl="1"/>
            <a:r>
              <a:rPr lang="en-ID" sz="1600" dirty="0"/>
              <a:t>Jika </a:t>
            </a:r>
            <a:r>
              <a:rPr lang="en-ID" sz="1600" i="1" dirty="0"/>
              <a:t>result</a:t>
            </a:r>
            <a:r>
              <a:rPr lang="en-ID" sz="1600" dirty="0"/>
              <a:t> </a:t>
            </a:r>
            <a:r>
              <a:rPr lang="en-ID" sz="1600" dirty="0" err="1"/>
              <a:t>mengandung</a:t>
            </a:r>
            <a:r>
              <a:rPr lang="en-ID" sz="1600" dirty="0"/>
              <a:t> </a:t>
            </a:r>
            <a:r>
              <a:rPr lang="en-ID" sz="1600" dirty="0" err="1">
                <a:solidFill>
                  <a:srgbClr val="FFC000"/>
                </a:solidFill>
              </a:rPr>
              <a:t>semua</a:t>
            </a:r>
            <a:r>
              <a:rPr lang="en-ID" sz="1600" dirty="0">
                <a:solidFill>
                  <a:srgbClr val="FFC000"/>
                </a:solidFill>
              </a:rPr>
              <a:t> </a:t>
            </a:r>
            <a:r>
              <a:rPr lang="en-ID" sz="1600" dirty="0" err="1">
                <a:solidFill>
                  <a:srgbClr val="FFC000"/>
                </a:solidFill>
              </a:rPr>
              <a:t>atribut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US" sz="1600" dirty="0"/>
              <a:t>β</a:t>
            </a:r>
            <a:r>
              <a:rPr lang="en-ID" sz="1600" dirty="0"/>
              <a:t>, </a:t>
            </a:r>
            <a:r>
              <a:rPr lang="en-ID" sz="1600" dirty="0" err="1"/>
              <a:t>maka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fungsional</a:t>
            </a:r>
            <a:r>
              <a:rPr lang="en-ID" sz="1600" dirty="0"/>
              <a:t> </a:t>
            </a:r>
            <a:r>
              <a:rPr lang="en-US" sz="1600" dirty="0"/>
              <a:t>α → β</a:t>
            </a:r>
            <a:r>
              <a:rPr lang="en-ID" sz="1600" dirty="0"/>
              <a:t> </a:t>
            </a:r>
            <a:r>
              <a:rPr lang="en-ID" sz="1600" dirty="0" err="1"/>
              <a:t>dinyatakan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terjaga</a:t>
            </a:r>
            <a:r>
              <a:rPr lang="en-ID" sz="1600" dirty="0"/>
              <a:t> (</a:t>
            </a:r>
            <a:r>
              <a:rPr lang="en-ID" sz="1600" i="1" dirty="0"/>
              <a:t>preserved</a:t>
            </a:r>
            <a:r>
              <a:rPr lang="en-ID" sz="1600" dirty="0"/>
              <a:t>).</a:t>
            </a:r>
          </a:p>
          <a:p>
            <a:r>
              <a:rPr lang="en-ID" sz="1600" dirty="0"/>
              <a:t>Kita </a:t>
            </a:r>
            <a:r>
              <a:rPr lang="en-ID" sz="1600" dirty="0" err="1"/>
              <a:t>menerapkan</a:t>
            </a:r>
            <a:r>
              <a:rPr lang="en-ID" sz="1600" dirty="0"/>
              <a:t> </a:t>
            </a:r>
            <a:r>
              <a:rPr lang="en-ID" sz="1600" dirty="0" err="1"/>
              <a:t>pengujian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pada </a:t>
            </a:r>
            <a:r>
              <a:rPr lang="en-ID" sz="1600" dirty="0" err="1"/>
              <a:t>semua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F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memeriksa</a:t>
            </a:r>
            <a:r>
              <a:rPr lang="en-ID" sz="1600" dirty="0"/>
              <a:t> </a:t>
            </a:r>
            <a:r>
              <a:rPr lang="en-ID" sz="1600" dirty="0" err="1"/>
              <a:t>apakah</a:t>
            </a:r>
            <a:r>
              <a:rPr lang="en-ID" sz="1600" dirty="0"/>
              <a:t> </a:t>
            </a:r>
            <a:r>
              <a:rPr lang="en-ID" sz="1600" dirty="0" err="1"/>
              <a:t>suatu</a:t>
            </a:r>
            <a:r>
              <a:rPr lang="en-ID" sz="1600" dirty="0"/>
              <a:t> </a:t>
            </a:r>
            <a:r>
              <a:rPr lang="en-ID" sz="1600" dirty="0" err="1"/>
              <a:t>dekomposisi</a:t>
            </a:r>
            <a:r>
              <a:rPr lang="en-ID" sz="1600" dirty="0"/>
              <a:t> </a:t>
            </a:r>
            <a:r>
              <a:rPr lang="en-ID" sz="1600" dirty="0" err="1"/>
              <a:t>bersifat</a:t>
            </a:r>
            <a:r>
              <a:rPr lang="en-ID" sz="1600" dirty="0"/>
              <a:t> </a:t>
            </a:r>
            <a:r>
              <a:rPr lang="en-ID" sz="1600" dirty="0" err="1"/>
              <a:t>memelihara</a:t>
            </a:r>
            <a:r>
              <a:rPr lang="en-ID" sz="1600" dirty="0"/>
              <a:t> </a:t>
            </a:r>
            <a:r>
              <a:rPr lang="en-ID" sz="1600" dirty="0" err="1"/>
              <a:t>ketergantungan</a:t>
            </a:r>
            <a:r>
              <a:rPr lang="en-ID" sz="1600" dirty="0"/>
              <a:t> (</a:t>
            </a:r>
            <a:r>
              <a:rPr lang="en-ID" sz="1600" i="1" dirty="0"/>
              <a:t>dependency preserving</a:t>
            </a:r>
            <a:r>
              <a:rPr lang="en-ID" sz="1600" dirty="0"/>
              <a:t>).</a:t>
            </a:r>
          </a:p>
          <a:p>
            <a:r>
              <a:rPr lang="en-ID" sz="1600" dirty="0" err="1"/>
              <a:t>Prosedur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memakan</a:t>
            </a:r>
            <a:r>
              <a:rPr lang="en-ID" sz="1600" dirty="0"/>
              <a:t> </a:t>
            </a:r>
            <a:r>
              <a:rPr lang="en-ID" sz="1600" dirty="0" err="1"/>
              <a:t>waktu</a:t>
            </a:r>
            <a:r>
              <a:rPr lang="en-ID" sz="1600" dirty="0"/>
              <a:t> </a:t>
            </a:r>
            <a:r>
              <a:rPr lang="en-ID" sz="1600" dirty="0" err="1"/>
              <a:t>polinomial</a:t>
            </a:r>
            <a:r>
              <a:rPr lang="en-ID" sz="1600" dirty="0"/>
              <a:t>, </a:t>
            </a:r>
            <a:r>
              <a:rPr lang="en-ID" sz="1600" dirty="0" err="1"/>
              <a:t>alih-alih</a:t>
            </a:r>
            <a:r>
              <a:rPr lang="en-ID" sz="1600" dirty="0"/>
              <a:t> </a:t>
            </a:r>
            <a:r>
              <a:rPr lang="en-ID" sz="1600" dirty="0" err="1"/>
              <a:t>waktu</a:t>
            </a:r>
            <a:r>
              <a:rPr lang="en-ID" sz="1600" dirty="0"/>
              <a:t> </a:t>
            </a:r>
            <a:r>
              <a:rPr lang="en-ID" sz="1600" dirty="0" err="1"/>
              <a:t>eksponensial</a:t>
            </a:r>
            <a:r>
              <a:rPr lang="en-ID" sz="1600" dirty="0"/>
              <a:t> yang </a:t>
            </a:r>
            <a:r>
              <a:rPr lang="en-ID" sz="1600" dirty="0" err="1"/>
              <a:t>diperlukan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menghitung</a:t>
            </a:r>
            <a:r>
              <a:rPr lang="en-ID" sz="1600" dirty="0"/>
              <a:t> </a:t>
            </a:r>
            <a:r>
              <a:rPr lang="en-US" sz="1600" i="1" dirty="0"/>
              <a:t>F</a:t>
            </a:r>
            <a:r>
              <a:rPr lang="en-US" sz="1600" i="1" baseline="30000" dirty="0"/>
              <a:t>+</a:t>
            </a:r>
            <a:r>
              <a:rPr lang="en-US" sz="1600" i="1" dirty="0"/>
              <a:t> </a:t>
            </a:r>
            <a:r>
              <a:rPr lang="en-US" sz="1600" dirty="0"/>
              <a:t>dan</a:t>
            </a:r>
            <a:r>
              <a:rPr lang="en-US" sz="1600" i="1" dirty="0"/>
              <a:t> </a:t>
            </a:r>
            <a:r>
              <a:rPr lang="en-US" sz="1600" dirty="0"/>
              <a:t>(</a:t>
            </a:r>
            <a:r>
              <a:rPr lang="en-US" sz="1600" i="1" dirty="0"/>
              <a:t>F</a:t>
            </a:r>
            <a:r>
              <a:rPr lang="en-US" sz="1600" baseline="-25000" dirty="0"/>
              <a:t>1</a:t>
            </a:r>
            <a:r>
              <a:rPr lang="en-US" sz="1600" i="1" dirty="0"/>
              <a:t> </a:t>
            </a:r>
            <a:r>
              <a:rPr lang="en-US" sz="1600" dirty="0"/>
              <a:t>∪</a:t>
            </a:r>
            <a:r>
              <a:rPr lang="en-US" sz="1600" i="1" dirty="0"/>
              <a:t> F</a:t>
            </a:r>
            <a:r>
              <a:rPr lang="en-US" sz="1600" baseline="-25000" dirty="0"/>
              <a:t>2</a:t>
            </a:r>
            <a:r>
              <a:rPr lang="en-US" sz="1600" dirty="0"/>
              <a:t> ∪</a:t>
            </a:r>
            <a:r>
              <a:rPr lang="en-US" sz="1600" i="1" dirty="0"/>
              <a:t> … </a:t>
            </a:r>
            <a:r>
              <a:rPr lang="en-US" sz="1600" dirty="0"/>
              <a:t>∪</a:t>
            </a:r>
            <a:r>
              <a:rPr lang="en-US" sz="1600" i="1" dirty="0"/>
              <a:t> </a:t>
            </a:r>
            <a:r>
              <a:rPr lang="en-US" sz="1600" i="1" dirty="0" err="1"/>
              <a:t>F</a:t>
            </a:r>
            <a:r>
              <a:rPr lang="en-US" sz="1600" baseline="-25000" dirty="0" err="1"/>
              <a:t>n</a:t>
            </a:r>
            <a:r>
              <a:rPr lang="en-US" sz="1600" dirty="0"/>
              <a:t>)</a:t>
            </a:r>
            <a:r>
              <a:rPr lang="en-US" sz="1800" baseline="30000" dirty="0"/>
              <a:t>+</a:t>
            </a:r>
            <a:r>
              <a:rPr lang="en-US" sz="1600" dirty="0"/>
              <a:t> </a:t>
            </a:r>
          </a:p>
          <a:p>
            <a:endParaRPr lang="en-ID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1348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DC61-53A7-CA72-4D9B-59ECD664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C8A89-E619-6A7B-1DD7-473F94547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56775"/>
            <a:ext cx="7704000" cy="3846997"/>
          </a:xfrm>
        </p:spPr>
        <p:txBody>
          <a:bodyPr/>
          <a:lstStyle/>
          <a:p>
            <a:pPr marL="152400" indent="0">
              <a:buNone/>
            </a:pPr>
            <a:endParaRPr lang="en-ID" sz="1800" b="1" dirty="0"/>
          </a:p>
          <a:p>
            <a:r>
              <a:rPr lang="en-US" sz="1800" i="1" dirty="0"/>
              <a:t>R = </a:t>
            </a:r>
            <a:r>
              <a:rPr lang="en-US" sz="1800" dirty="0"/>
              <a:t>(</a:t>
            </a:r>
            <a:r>
              <a:rPr lang="en-US" sz="1800" i="1" dirty="0"/>
              <a:t>A, B, C </a:t>
            </a:r>
            <a:r>
              <a:rPr lang="en-US" sz="1800" dirty="0"/>
              <a:t>)</a:t>
            </a:r>
            <a:br>
              <a:rPr lang="en-US" sz="1800" i="1" dirty="0"/>
            </a:br>
            <a:r>
              <a:rPr lang="en-US" sz="1800" i="1" dirty="0"/>
              <a:t>     F = </a:t>
            </a:r>
            <a:r>
              <a:rPr lang="en-US" sz="1800" dirty="0"/>
              <a:t>{</a:t>
            </a:r>
            <a:r>
              <a:rPr lang="en-US" sz="1800" i="1" dirty="0"/>
              <a:t>A</a:t>
            </a:r>
            <a:r>
              <a:rPr lang="en-US" sz="1800" dirty="0"/>
              <a:t> → </a:t>
            </a:r>
            <a:r>
              <a:rPr lang="en-US" sz="1800" i="1" dirty="0"/>
              <a:t>B</a:t>
            </a:r>
          </a:p>
          <a:p>
            <a:pPr marL="0" indent="0">
              <a:buSzPts val="3200"/>
              <a:buNone/>
            </a:pPr>
            <a:r>
              <a:rPr lang="en-US" sz="1800" i="1" dirty="0"/>
              <a:t>                         B </a:t>
            </a:r>
            <a:r>
              <a:rPr lang="en-US" sz="1800" dirty="0"/>
              <a:t>→</a:t>
            </a:r>
            <a:r>
              <a:rPr lang="en-US" sz="1800" i="1" dirty="0"/>
              <a:t> C</a:t>
            </a:r>
            <a:r>
              <a:rPr lang="en-US" sz="1800" dirty="0"/>
              <a:t>}</a:t>
            </a:r>
            <a:br>
              <a:rPr lang="en-US" sz="1800" dirty="0"/>
            </a:br>
            <a:r>
              <a:rPr lang="en-US" sz="1800" dirty="0"/>
              <a:t>            Key = {</a:t>
            </a:r>
            <a:r>
              <a:rPr lang="en-US" sz="1800" i="1" dirty="0"/>
              <a:t>A</a:t>
            </a:r>
            <a:r>
              <a:rPr lang="en-US" sz="1800" dirty="0"/>
              <a:t>}</a:t>
            </a:r>
            <a:endParaRPr lang="en-ID" sz="1800" b="1" dirty="0"/>
          </a:p>
          <a:p>
            <a:endParaRPr lang="en-ID" sz="1800" b="1" dirty="0"/>
          </a:p>
          <a:p>
            <a:r>
              <a:rPr lang="en-ID" sz="1800" b="1" dirty="0"/>
              <a:t>R </a:t>
            </a:r>
            <a:r>
              <a:rPr lang="en-ID" sz="1800" b="1" dirty="0" err="1"/>
              <a:t>tidak</a:t>
            </a:r>
            <a:r>
              <a:rPr lang="en-ID" sz="1800" b="1" dirty="0"/>
              <a:t> </a:t>
            </a:r>
            <a:r>
              <a:rPr lang="en-ID" sz="1800" b="1" dirty="0" err="1"/>
              <a:t>berada</a:t>
            </a:r>
            <a:r>
              <a:rPr lang="en-ID" sz="1800" b="1" dirty="0"/>
              <a:t> </a:t>
            </a:r>
            <a:r>
              <a:rPr lang="en-ID" sz="1800" b="1" dirty="0" err="1"/>
              <a:t>dalam</a:t>
            </a:r>
            <a:r>
              <a:rPr lang="en-ID" sz="1800" b="1" dirty="0"/>
              <a:t> BCNF</a:t>
            </a:r>
            <a:r>
              <a:rPr lang="en-ID" sz="1800" dirty="0"/>
              <a:t> (Boyce-Codd Normal Form)</a:t>
            </a:r>
          </a:p>
          <a:p>
            <a:r>
              <a:rPr lang="en-ID" sz="1800" b="1" dirty="0" err="1"/>
              <a:t>Dekomposisi</a:t>
            </a:r>
            <a:r>
              <a:rPr lang="en-ID" sz="1800" b="1" dirty="0"/>
              <a:t> </a:t>
            </a:r>
            <a:r>
              <a:rPr lang="en-US" sz="1800" i="1" dirty="0"/>
              <a:t>R</a:t>
            </a:r>
            <a:r>
              <a:rPr lang="en-US" sz="1800" baseline="-25000" dirty="0"/>
              <a:t>1</a:t>
            </a:r>
            <a:r>
              <a:rPr lang="en-US" sz="1800" dirty="0"/>
              <a:t> = (</a:t>
            </a:r>
            <a:r>
              <a:rPr lang="en-US" sz="1800" i="1" dirty="0"/>
              <a:t>A, B),  R</a:t>
            </a:r>
            <a:r>
              <a:rPr lang="en-US" sz="1800" baseline="-25000" dirty="0"/>
              <a:t>2</a:t>
            </a:r>
            <a:r>
              <a:rPr lang="en-US" sz="1800" dirty="0"/>
              <a:t> = </a:t>
            </a:r>
            <a:r>
              <a:rPr lang="en-US" sz="1800" i="1" dirty="0"/>
              <a:t>(B, C)</a:t>
            </a:r>
            <a:endParaRPr lang="en-US" sz="1800" dirty="0"/>
          </a:p>
          <a:p>
            <a:pPr lvl="1"/>
            <a:r>
              <a:rPr lang="en-US" sz="1800" i="1" dirty="0"/>
              <a:t>R</a:t>
            </a:r>
            <a:r>
              <a:rPr lang="en-US" sz="1800" baseline="-25000" dirty="0"/>
              <a:t>1</a:t>
            </a:r>
            <a:r>
              <a:rPr lang="en-ID" sz="1800" dirty="0"/>
              <a:t> dan </a:t>
            </a:r>
            <a:r>
              <a:rPr lang="en-US" sz="1800" i="1" dirty="0"/>
              <a:t>R</a:t>
            </a:r>
            <a:r>
              <a:rPr lang="en-US" sz="1800" baseline="-25000" dirty="0"/>
              <a:t>2</a:t>
            </a:r>
            <a:r>
              <a:rPr lang="en-ID" sz="1800" dirty="0"/>
              <a:t> </a:t>
            </a:r>
            <a:r>
              <a:rPr lang="en-ID" sz="1800" dirty="0" err="1"/>
              <a:t>berada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b="1" dirty="0"/>
              <a:t>BCNF</a:t>
            </a:r>
            <a:r>
              <a:rPr lang="en-ID" sz="1800" dirty="0"/>
              <a:t>.</a:t>
            </a:r>
          </a:p>
          <a:p>
            <a:pPr lvl="1"/>
            <a:r>
              <a:rPr lang="en-ID" sz="1800" dirty="0" err="1"/>
              <a:t>Merupakan</a:t>
            </a:r>
            <a:r>
              <a:rPr lang="en-ID" sz="1800" dirty="0"/>
              <a:t> </a:t>
            </a:r>
            <a:r>
              <a:rPr lang="en-ID" sz="1800" b="1" dirty="0"/>
              <a:t>Lossless-join decomposition</a:t>
            </a:r>
            <a:r>
              <a:rPr lang="en-ID" sz="1800" dirty="0"/>
              <a:t> (</a:t>
            </a:r>
            <a:r>
              <a:rPr lang="en-ID" sz="1800" dirty="0" err="1"/>
              <a:t>Gabungan</a:t>
            </a:r>
            <a:r>
              <a:rPr lang="en-ID" sz="1800" dirty="0"/>
              <a:t> </a:t>
            </a:r>
            <a:r>
              <a:rPr lang="en-ID" sz="1800" dirty="0" err="1"/>
              <a:t>tanpa</a:t>
            </a:r>
            <a:r>
              <a:rPr lang="en-ID" sz="1800" dirty="0"/>
              <a:t> </a:t>
            </a:r>
            <a:r>
              <a:rPr lang="en-ID" sz="1800" dirty="0" err="1"/>
              <a:t>kehilangan</a:t>
            </a:r>
            <a:r>
              <a:rPr lang="en-ID" sz="1800" dirty="0"/>
              <a:t> data).</a:t>
            </a:r>
          </a:p>
          <a:p>
            <a:pPr lvl="1"/>
            <a:r>
              <a:rPr lang="en-ID" sz="1800" dirty="0" err="1"/>
              <a:t>Bersifat</a:t>
            </a:r>
            <a:r>
              <a:rPr lang="en-ID" sz="1800" dirty="0"/>
              <a:t> </a:t>
            </a:r>
            <a:r>
              <a:rPr lang="en-ID" sz="1800" b="1" dirty="0"/>
              <a:t>Dependency preserving</a:t>
            </a:r>
            <a:r>
              <a:rPr lang="en-ID" sz="1800" dirty="0"/>
              <a:t> (</a:t>
            </a:r>
            <a:r>
              <a:rPr lang="en-ID" sz="1800" dirty="0" err="1"/>
              <a:t>Menjaga</a:t>
            </a:r>
            <a:r>
              <a:rPr lang="en-ID" sz="1800" dirty="0"/>
              <a:t> </a:t>
            </a:r>
            <a:r>
              <a:rPr lang="en-ID" sz="1800" dirty="0" err="1"/>
              <a:t>ketergantungan</a:t>
            </a:r>
            <a:r>
              <a:rPr lang="en-ID" sz="1800" dirty="0"/>
              <a:t>).</a:t>
            </a:r>
          </a:p>
          <a:p>
            <a:pPr marL="15240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509072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B858EF-1877-8373-1C39-40DC67F7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D28701-B18F-9242-916C-DE67CBB6F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Arigatou</a:t>
            </a:r>
            <a:r>
              <a:rPr lang="en-US" sz="4700" dirty="0"/>
              <a:t> </a:t>
            </a:r>
            <a:r>
              <a:rPr lang="en-US" sz="4700" dirty="0" err="1"/>
              <a:t>Gozaimasu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7504585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5539</TotalTime>
  <Words>7131</Words>
  <Application>Microsoft Macintosh PowerPoint</Application>
  <PresentationFormat>On-screen Show (16:9)</PresentationFormat>
  <Paragraphs>537</Paragraphs>
  <Slides>42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Times New Roman</vt:lpstr>
      <vt:lpstr>Wingdings</vt:lpstr>
      <vt:lpstr>Hanken Grotesk</vt:lpstr>
      <vt:lpstr>Raleway Black</vt:lpstr>
      <vt:lpstr>Noto Sans Symbols</vt:lpstr>
      <vt:lpstr>Arial</vt:lpstr>
      <vt:lpstr>Calibri</vt:lpstr>
      <vt:lpstr>Helvetica Neue</vt:lpstr>
      <vt:lpstr>Technology Market Research Pitch Deck by Slidesgo</vt:lpstr>
      <vt:lpstr>Normalisasi Data (1NF 2NF)</vt:lpstr>
      <vt:lpstr>Capaian pembelajaran</vt:lpstr>
      <vt:lpstr>Kombinasi Skema</vt:lpstr>
      <vt:lpstr>Skema Gabungan Tanpa Redudansi</vt:lpstr>
      <vt:lpstr>Kelemahan dalam Perancangan Basis Data Relasional</vt:lpstr>
      <vt:lpstr>Bagaimana dengan Skema yang Lebih Kecil? </vt:lpstr>
      <vt:lpstr>Lossy Decomposition</vt:lpstr>
      <vt:lpstr>Contoh dari Lossless-Join Decomposition </vt:lpstr>
      <vt:lpstr>1st normal form</vt:lpstr>
      <vt:lpstr>1st normal form (Continue)</vt:lpstr>
      <vt:lpstr>Tujuan(Goal) – Menyusun teori untuk hal-hal berikut</vt:lpstr>
      <vt:lpstr>Ketergantungan Fungsional  (Functional Depedencies) </vt:lpstr>
      <vt:lpstr>Ketergantungan Fungsional  (Continue) </vt:lpstr>
      <vt:lpstr>Ketergantungan Fungsional  (Continue) </vt:lpstr>
      <vt:lpstr>Penggunaan Ketergantungan Fungsional</vt:lpstr>
      <vt:lpstr>Contoh </vt:lpstr>
      <vt:lpstr>Ketergantungan Fungsional  (Continue) </vt:lpstr>
      <vt:lpstr>Teori Ketergantungan-Fungsional </vt:lpstr>
      <vt:lpstr>Penutupan (Closure) dari Sekumpulan Ketergantungan Fungsional</vt:lpstr>
      <vt:lpstr>Penutupan (Closure) dari Sekumpulan Ketergantungan Fungsional </vt:lpstr>
      <vt:lpstr>Contoh</vt:lpstr>
      <vt:lpstr>Contoh (lanjutan)</vt:lpstr>
      <vt:lpstr>Contoh (lanjutan)</vt:lpstr>
      <vt:lpstr>PowerPoint Presentation</vt:lpstr>
      <vt:lpstr>Prosedur untuk Menghitung F+</vt:lpstr>
      <vt:lpstr>Penutupan (Closure) dari Sekumpulan Ketergantungan Fungsional</vt:lpstr>
      <vt:lpstr>Penutupan dari Kumpulan Atribut </vt:lpstr>
      <vt:lpstr>Example of Attribute Set Closure</vt:lpstr>
      <vt:lpstr>Kegunaan dari Penutupan Atribut (Attribute Closure) </vt:lpstr>
      <vt:lpstr>Penutup Kanonik (Canonical Cover) </vt:lpstr>
      <vt:lpstr>Extraneous Attributes</vt:lpstr>
      <vt:lpstr>Testing if an Attribute is Extraneous </vt:lpstr>
      <vt:lpstr>Canonical cover</vt:lpstr>
      <vt:lpstr>Computing Canonical</vt:lpstr>
      <vt:lpstr>Bentuk Normal Kedua (2NF) </vt:lpstr>
      <vt:lpstr>Tujuan Normalisasi</vt:lpstr>
      <vt:lpstr>Dekomposisi Gabungan Tanpa Kehilangan (Lossless-join) </vt:lpstr>
      <vt:lpstr>Contoh</vt:lpstr>
      <vt:lpstr>Pemeliharaan Ketergantungan (Dependency Preservation) </vt:lpstr>
      <vt:lpstr>Testing for Dependency Preservation</vt:lpstr>
      <vt:lpstr>Contoh</vt:lpstr>
      <vt:lpstr>Arigatou Gozaimasu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182</cp:revision>
  <dcterms:modified xsi:type="dcterms:W3CDTF">2026-03-11T06:46:36Z</dcterms:modified>
</cp:coreProperties>
</file>